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06" d="100"/>
          <a:sy n="106" d="100"/>
        </p:scale>
        <p:origin x="1440"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7" name="bg object 17"/>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 name="Holder 2"/>
          <p:cNvSpPr>
            <a:spLocks noGrp="1"/>
          </p:cNvSpPr>
          <p:nvPr>
            <p:ph type="title"/>
          </p:nvPr>
        </p:nvSpPr>
        <p:spPr>
          <a:xfrm>
            <a:off x="95300" y="197711"/>
            <a:ext cx="2999105" cy="207645"/>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a:xfrm>
            <a:off x="309194" y="1369435"/>
            <a:ext cx="3929379" cy="12560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2/8/2025</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slide" Target="slide3.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BucketName.s3.amazonaws.com/ObjectName" TargetMode="Externa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13.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17.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7.xml"/></Relationships>
</file>

<file path=ppt/slides/_rels/slide2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2.xml"/></Relationships>
</file>

<file path=ppt/slides/_rels/slide23.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2.xml"/></Relationships>
</file>

<file path=ppt/slides/_rels/slide25.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image" Target="../media/image17.jpg"/></Relationships>
</file>

<file path=ppt/slides/_rels/slide28.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slide" Target="slide29.xml"/><Relationship Id="rId5" Type="http://schemas.openxmlformats.org/officeDocument/2006/relationships/image" Target="../media/image20.jpg"/><Relationship Id="rId4" Type="http://schemas.openxmlformats.org/officeDocument/2006/relationships/image" Target="../media/image19.jpg"/></Relationships>
</file>

<file path=ppt/slides/_rels/slide30.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9.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31.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31.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34.xml"/><Relationship Id="rId4" Type="http://schemas.openxmlformats.org/officeDocument/2006/relationships/image" Target="../media/image24.jpg"/></Relationships>
</file>

<file path=ppt/slides/_rels/slide35.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4.xml"/></Relationships>
</file>

<file path=ppt/slides/_rels/slide36.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34.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7.xml"/></Relationships>
</file>

<file path=ppt/slides/_rels/slide38.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7.xml"/></Relationships>
</file>

<file path=ppt/slides/_rels/slide39.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7.xml"/></Relationships>
</file>

<file path=ppt/slides/_rels/slide40.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40.xml"/><Relationship Id="rId4" Type="http://schemas.openxmlformats.org/officeDocument/2006/relationships/image" Target="../media/image26.jpg"/></Relationships>
</file>

<file path=ppt/slides/_rels/slide41.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44.xml"/><Relationship Id="rId4" Type="http://schemas.openxmlformats.org/officeDocument/2006/relationships/image" Target="../media/image29.jpg"/></Relationships>
</file>

<file path=ppt/slides/_rels/slide45.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44.xml"/></Relationships>
</file>

<file path=ppt/slides/_rels/slide46.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44.xml"/></Relationships>
</file>

<file path=ppt/slides/_rels/slide47.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7.xml"/><Relationship Id="rId4" Type="http://schemas.openxmlformats.org/officeDocument/2006/relationships/image" Target="../media/image30.jpg"/></Relationships>
</file>

<file path=ppt/slides/_rels/slide48.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7.xml"/><Relationship Id="rId4" Type="http://schemas.openxmlformats.org/officeDocument/2006/relationships/image" Target="../media/image30.jpg"/></Relationships>
</file>

<file path=ppt/slides/_rels/slide49.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7.xml"/><Relationship Id="rId4" Type="http://schemas.openxmlformats.org/officeDocument/2006/relationships/image" Target="../media/image31.jpg"/></Relationships>
</file>

<file path=ppt/slides/_rels/slide50.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7.xml"/><Relationship Id="rId4" Type="http://schemas.openxmlformats.org/officeDocument/2006/relationships/image" Target="../media/image32.jpg"/></Relationships>
</file>

<file path=ppt/slides/_rels/slide51.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7.xml"/><Relationship Id="rId4" Type="http://schemas.openxmlformats.org/officeDocument/2006/relationships/image" Target="../media/image33.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12303" y="626847"/>
            <a:ext cx="1783714" cy="496290"/>
          </a:xfrm>
          <a:prstGeom prst="rect">
            <a:avLst/>
          </a:prstGeom>
        </p:spPr>
        <p:txBody>
          <a:bodyPr vert="horz" wrap="square" lIns="0" tIns="140970" rIns="0" bIns="0" rtlCol="0">
            <a:spAutoFit/>
          </a:bodyPr>
          <a:lstStyle/>
          <a:p>
            <a:pPr marL="3810" algn="ctr">
              <a:lnSpc>
                <a:spcPct val="100000"/>
              </a:lnSpc>
              <a:spcBef>
                <a:spcPts val="610"/>
              </a:spcBef>
            </a:pPr>
            <a:r>
              <a:rPr lang="en-US" sz="900" dirty="0" err="1" smtClean="0">
                <a:solidFill>
                  <a:srgbClr val="3333B2"/>
                </a:solidFill>
                <a:latin typeface="Arial"/>
                <a:cs typeface="Arial"/>
              </a:rPr>
              <a:t>Hệ</a:t>
            </a:r>
            <a:r>
              <a:rPr lang="en-US" sz="900" dirty="0" smtClean="0">
                <a:solidFill>
                  <a:srgbClr val="3333B2"/>
                </a:solidFill>
                <a:latin typeface="Arial"/>
                <a:cs typeface="Arial"/>
              </a:rPr>
              <a:t> </a:t>
            </a:r>
            <a:r>
              <a:rPr lang="en-US" sz="900" dirty="0" err="1" smtClean="0">
                <a:solidFill>
                  <a:srgbClr val="3333B2"/>
                </a:solidFill>
                <a:latin typeface="Arial"/>
                <a:cs typeface="Arial"/>
              </a:rPr>
              <a:t>Thống</a:t>
            </a:r>
            <a:r>
              <a:rPr lang="en-US" sz="900" dirty="0" smtClean="0">
                <a:solidFill>
                  <a:srgbClr val="3333B2"/>
                </a:solidFill>
                <a:latin typeface="Arial"/>
                <a:cs typeface="Arial"/>
              </a:rPr>
              <a:t> </a:t>
            </a:r>
            <a:r>
              <a:rPr lang="en-US" sz="900" dirty="0" err="1" smtClean="0">
                <a:solidFill>
                  <a:srgbClr val="3333B2"/>
                </a:solidFill>
                <a:latin typeface="Arial"/>
                <a:cs typeface="Arial"/>
              </a:rPr>
              <a:t>Phân</a:t>
            </a:r>
            <a:r>
              <a:rPr lang="en-US" sz="900" dirty="0" smtClean="0">
                <a:solidFill>
                  <a:srgbClr val="3333B2"/>
                </a:solidFill>
                <a:latin typeface="Arial"/>
                <a:cs typeface="Arial"/>
              </a:rPr>
              <a:t> </a:t>
            </a:r>
            <a:r>
              <a:rPr lang="en-US" sz="900" dirty="0" err="1" smtClean="0">
                <a:solidFill>
                  <a:srgbClr val="3333B2"/>
                </a:solidFill>
                <a:latin typeface="Arial"/>
                <a:cs typeface="Arial"/>
              </a:rPr>
              <a:t>Tán</a:t>
            </a:r>
            <a:endParaRPr lang="en-US" sz="900" dirty="0">
              <a:solidFill>
                <a:srgbClr val="3333B2"/>
              </a:solidFill>
              <a:latin typeface="Arial"/>
              <a:cs typeface="Arial"/>
            </a:endParaRPr>
          </a:p>
          <a:p>
            <a:pPr marL="3810" algn="ctr">
              <a:lnSpc>
                <a:spcPct val="100000"/>
              </a:lnSpc>
              <a:spcBef>
                <a:spcPts val="610"/>
              </a:spcBef>
            </a:pPr>
            <a:r>
              <a:rPr sz="900" dirty="0" smtClean="0">
                <a:solidFill>
                  <a:srgbClr val="3333B2"/>
                </a:solidFill>
                <a:latin typeface="Arial"/>
                <a:cs typeface="Arial"/>
              </a:rPr>
              <a:t>(</a:t>
            </a:r>
            <a:r>
              <a:rPr sz="900" dirty="0" err="1" smtClean="0">
                <a:solidFill>
                  <a:srgbClr val="3333B2"/>
                </a:solidFill>
                <a:latin typeface="Arial"/>
                <a:cs typeface="Arial"/>
              </a:rPr>
              <a:t>phiên</a:t>
            </a:r>
            <a:r>
              <a:rPr sz="900" dirty="0" smtClean="0">
                <a:solidFill>
                  <a:srgbClr val="3333B2"/>
                </a:solidFill>
                <a:latin typeface="Arial"/>
                <a:cs typeface="Arial"/>
              </a:rPr>
              <a:t> </a:t>
            </a:r>
            <a:r>
              <a:rPr sz="900" dirty="0" err="1" smtClean="0">
                <a:solidFill>
                  <a:srgbClr val="3333B2"/>
                </a:solidFill>
                <a:latin typeface="Arial"/>
                <a:cs typeface="Arial"/>
              </a:rPr>
              <a:t>bản</a:t>
            </a:r>
            <a:r>
              <a:rPr lang="en-US" sz="900" dirty="0" smtClean="0">
                <a:solidFill>
                  <a:srgbClr val="3333B2"/>
                </a:solidFill>
                <a:latin typeface="Arial"/>
                <a:cs typeface="Arial"/>
              </a:rPr>
              <a:t> </a:t>
            </a:r>
            <a:r>
              <a:rPr lang="en-US" sz="900" dirty="0" err="1" smtClean="0">
                <a:solidFill>
                  <a:srgbClr val="3333B2"/>
                </a:solidFill>
                <a:latin typeface="Arial"/>
                <a:cs typeface="Arial"/>
              </a:rPr>
              <a:t>thứ</a:t>
            </a:r>
            <a:r>
              <a:rPr lang="en-US" sz="900" dirty="0" smtClean="0">
                <a:solidFill>
                  <a:srgbClr val="3333B2"/>
                </a:solidFill>
                <a:latin typeface="Arial"/>
                <a:cs typeface="Arial"/>
              </a:rPr>
              <a:t> 4</a:t>
            </a:r>
            <a:r>
              <a:rPr lang="en-US" sz="900" spc="-40" dirty="0" smtClean="0">
                <a:solidFill>
                  <a:srgbClr val="3333B2"/>
                </a:solidFill>
                <a:latin typeface="Arial"/>
                <a:cs typeface="Arial"/>
              </a:rPr>
              <a:t> </a:t>
            </a:r>
            <a:r>
              <a:rPr sz="900" dirty="0" smtClean="0">
                <a:solidFill>
                  <a:srgbClr val="3333B2"/>
                </a:solidFill>
                <a:latin typeface="Arial"/>
                <a:cs typeface="Arial"/>
              </a:rPr>
              <a:t>,</a:t>
            </a:r>
            <a:r>
              <a:rPr lang="en-US" sz="900" dirty="0" smtClean="0">
                <a:solidFill>
                  <a:srgbClr val="3333B2"/>
                </a:solidFill>
                <a:latin typeface="Arial"/>
                <a:cs typeface="Arial"/>
              </a:rPr>
              <a:t> </a:t>
            </a:r>
            <a:r>
              <a:rPr sz="900" dirty="0" err="1" smtClean="0">
                <a:solidFill>
                  <a:srgbClr val="3333B2"/>
                </a:solidFill>
                <a:latin typeface="Arial"/>
                <a:cs typeface="Arial"/>
              </a:rPr>
              <a:t>bản</a:t>
            </a:r>
            <a:r>
              <a:rPr sz="900" spc="-35" dirty="0" smtClean="0">
                <a:solidFill>
                  <a:srgbClr val="3333B2"/>
                </a:solidFill>
                <a:latin typeface="Arial"/>
                <a:cs typeface="Arial"/>
              </a:rPr>
              <a:t> </a:t>
            </a:r>
            <a:r>
              <a:rPr sz="900" spc="-25" dirty="0">
                <a:solidFill>
                  <a:srgbClr val="3333B2"/>
                </a:solidFill>
                <a:latin typeface="Arial"/>
                <a:cs typeface="Arial"/>
              </a:rPr>
              <a:t>01)</a:t>
            </a:r>
            <a:endParaRPr sz="900" dirty="0">
              <a:latin typeface="Arial"/>
              <a:cs typeface="Arial"/>
            </a:endParaRPr>
          </a:p>
        </p:txBody>
      </p:sp>
      <p:sp>
        <p:nvSpPr>
          <p:cNvPr id="3" name="object 3"/>
          <p:cNvSpPr txBox="1"/>
          <p:nvPr/>
        </p:nvSpPr>
        <p:spPr>
          <a:xfrm>
            <a:off x="1252435" y="2409530"/>
            <a:ext cx="2103755" cy="244475"/>
          </a:xfrm>
          <a:prstGeom prst="rect">
            <a:avLst/>
          </a:prstGeom>
        </p:spPr>
        <p:txBody>
          <a:bodyPr vert="horz" wrap="square" lIns="0" tIns="17145" rIns="0" bIns="0" rtlCol="0">
            <a:spAutoFit/>
          </a:bodyPr>
          <a:lstStyle/>
          <a:p>
            <a:pPr marL="12700">
              <a:lnSpc>
                <a:spcPct val="100000"/>
              </a:lnSpc>
              <a:spcBef>
                <a:spcPts val="135"/>
              </a:spcBef>
            </a:pPr>
            <a:r>
              <a:rPr sz="1400" dirty="0">
                <a:latin typeface="Arial"/>
                <a:cs typeface="Arial"/>
              </a:rPr>
              <a:t>Chương</a:t>
            </a:r>
            <a:r>
              <a:rPr sz="1400" spc="65" dirty="0">
                <a:latin typeface="Arial"/>
                <a:cs typeface="Arial"/>
              </a:rPr>
              <a:t> </a:t>
            </a:r>
            <a:r>
              <a:rPr sz="1400" dirty="0">
                <a:latin typeface="Arial"/>
                <a:cs typeface="Arial"/>
              </a:rPr>
              <a:t>02:</a:t>
            </a:r>
            <a:r>
              <a:rPr sz="1400" spc="175" dirty="0">
                <a:latin typeface="Arial"/>
                <a:cs typeface="Arial"/>
              </a:rPr>
              <a:t> </a:t>
            </a:r>
            <a:r>
              <a:rPr sz="1400" spc="-10" dirty="0">
                <a:latin typeface="Arial"/>
                <a:cs typeface="Arial"/>
              </a:rPr>
              <a:t>Kiến trúc</a:t>
            </a:r>
            <a:endParaRPr sz="1400">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5" name="object 5"/>
          <p:cNvSpPr txBox="1"/>
          <p:nvPr/>
        </p:nvSpPr>
        <p:spPr>
          <a:xfrm>
            <a:off x="57200" y="197711"/>
            <a:ext cx="3999865" cy="2094804"/>
          </a:xfrm>
          <a:prstGeom prst="rect">
            <a:avLst/>
          </a:prstGeom>
        </p:spPr>
        <p:txBody>
          <a:bodyPr vert="horz" wrap="square" lIns="0" tIns="12065" rIns="0" bIns="0" rtlCol="0">
            <a:spAutoFit/>
          </a:bodyPr>
          <a:lstStyle/>
          <a:p>
            <a:pPr marL="50800">
              <a:lnSpc>
                <a:spcPct val="100000"/>
              </a:lnSpc>
              <a:spcBef>
                <a:spcPts val="95"/>
              </a:spcBef>
            </a:pPr>
            <a:r>
              <a:rPr lang="en-US" sz="1200" spc="-10" dirty="0" err="1">
                <a:solidFill>
                  <a:srgbClr val="3333B2"/>
                </a:solidFill>
                <a:latin typeface="Arial"/>
                <a:cs typeface="Arial"/>
              </a:rPr>
              <a:t>P</a:t>
            </a:r>
            <a:r>
              <a:rPr sz="1200" spc="-10" dirty="0" err="1" smtClean="0">
                <a:solidFill>
                  <a:srgbClr val="3333B2"/>
                </a:solidFill>
                <a:latin typeface="Arial"/>
                <a:cs typeface="Arial"/>
              </a:rPr>
              <a:t>hong</a:t>
            </a:r>
            <a:r>
              <a:rPr sz="1200" spc="-10" dirty="0" smtClean="0">
                <a:solidFill>
                  <a:srgbClr val="3333B2"/>
                </a:solidFill>
                <a:latin typeface="Arial"/>
                <a:cs typeface="Arial"/>
              </a:rPr>
              <a:t> </a:t>
            </a:r>
            <a:r>
              <a:rPr sz="1200" spc="-10" dirty="0" err="1" smtClean="0">
                <a:solidFill>
                  <a:srgbClr val="3333B2"/>
                </a:solidFill>
                <a:latin typeface="Arial"/>
                <a:cs typeface="Arial"/>
              </a:rPr>
              <a:t>cách</a:t>
            </a:r>
            <a:r>
              <a:rPr lang="en-US" sz="1200" spc="-10" dirty="0" smtClean="0">
                <a:solidFill>
                  <a:srgbClr val="3333B2"/>
                </a:solidFill>
                <a:latin typeface="Arial"/>
                <a:cs typeface="Arial"/>
              </a:rPr>
              <a:t> </a:t>
            </a:r>
            <a:r>
              <a:rPr lang="en-US" sz="1200" spc="-10" dirty="0" err="1">
                <a:solidFill>
                  <a:srgbClr val="3333B2"/>
                </a:solidFill>
                <a:latin typeface="Arial"/>
                <a:cs typeface="Arial"/>
              </a:rPr>
              <a:t>k</a:t>
            </a:r>
            <a:r>
              <a:rPr lang="en-US" sz="1200" spc="-10" dirty="0" err="1" smtClean="0">
                <a:solidFill>
                  <a:srgbClr val="3333B2"/>
                </a:solidFill>
                <a:latin typeface="Arial"/>
                <a:cs typeface="Arial"/>
              </a:rPr>
              <a:t>iến</a:t>
            </a:r>
            <a:r>
              <a:rPr lang="en-US" sz="1200" spc="-10" dirty="0" smtClean="0">
                <a:solidFill>
                  <a:srgbClr val="3333B2"/>
                </a:solidFill>
                <a:latin typeface="Arial"/>
                <a:cs typeface="Arial"/>
              </a:rPr>
              <a:t> </a:t>
            </a:r>
            <a:r>
              <a:rPr lang="en-US" sz="1200" spc="-10" dirty="0" err="1" smtClean="0">
                <a:solidFill>
                  <a:srgbClr val="3333B2"/>
                </a:solidFill>
                <a:latin typeface="Arial"/>
                <a:cs typeface="Arial"/>
              </a:rPr>
              <a:t>trúc</a:t>
            </a:r>
            <a:r>
              <a:rPr lang="en-US" sz="1200" spc="40" dirty="0" smtClean="0">
                <a:solidFill>
                  <a:srgbClr val="3333B2"/>
                </a:solidFill>
                <a:latin typeface="Arial"/>
                <a:cs typeface="Arial"/>
              </a:rPr>
              <a:t> </a:t>
            </a:r>
            <a:endParaRPr sz="1200" dirty="0">
              <a:latin typeface="Arial"/>
              <a:cs typeface="Arial"/>
            </a:endParaRPr>
          </a:p>
          <a:p>
            <a:pPr marL="302260">
              <a:lnSpc>
                <a:spcPct val="100000"/>
              </a:lnSpc>
              <a:spcBef>
                <a:spcPts val="1055"/>
              </a:spcBef>
            </a:pPr>
            <a:r>
              <a:rPr sz="1000" dirty="0" err="1" smtClean="0">
                <a:solidFill>
                  <a:srgbClr val="3333B2"/>
                </a:solidFill>
                <a:latin typeface="Arial"/>
                <a:cs typeface="Arial"/>
              </a:rPr>
              <a:t>Nền</a:t>
            </a:r>
            <a:r>
              <a:rPr sz="1000" dirty="0" smtClean="0">
                <a:solidFill>
                  <a:srgbClr val="3333B2"/>
                </a:solidFill>
                <a:latin typeface="Arial"/>
                <a:cs typeface="Arial"/>
              </a:rPr>
              <a:t> </a:t>
            </a:r>
            <a:r>
              <a:rPr sz="1000" dirty="0" err="1" smtClean="0">
                <a:solidFill>
                  <a:srgbClr val="3333B2"/>
                </a:solidFill>
                <a:latin typeface="Arial"/>
                <a:cs typeface="Arial"/>
              </a:rPr>
              <a:t>tảng</a:t>
            </a:r>
            <a:r>
              <a:rPr sz="1000" spc="-30" dirty="0" smtClean="0">
                <a:solidFill>
                  <a:srgbClr val="3333B2"/>
                </a:solidFill>
                <a:latin typeface="Arial"/>
                <a:cs typeface="Arial"/>
              </a:rPr>
              <a:t> </a:t>
            </a:r>
            <a:r>
              <a:rPr lang="en-US" sz="1000" spc="-30" dirty="0" smtClean="0">
                <a:solidFill>
                  <a:srgbClr val="3333B2"/>
                </a:solidFill>
                <a:latin typeface="Arial"/>
                <a:cs typeface="Arial"/>
              </a:rPr>
              <a:t>ý</a:t>
            </a:r>
            <a:r>
              <a:rPr sz="1000" spc="-20" dirty="0" smtClean="0">
                <a:solidFill>
                  <a:srgbClr val="3333B2"/>
                </a:solidFill>
                <a:latin typeface="Arial"/>
                <a:cs typeface="Arial"/>
              </a:rPr>
              <a:t> </a:t>
            </a:r>
            <a:r>
              <a:rPr sz="1000" spc="-20" dirty="0" err="1" smtClean="0">
                <a:solidFill>
                  <a:srgbClr val="3333B2"/>
                </a:solidFill>
                <a:latin typeface="Arial"/>
                <a:cs typeface="Arial"/>
              </a:rPr>
              <a:t>tưởng</a:t>
            </a:r>
            <a:endParaRPr sz="1000" dirty="0" smtClean="0">
              <a:latin typeface="Arial"/>
              <a:cs typeface="Arial"/>
            </a:endParaRPr>
          </a:p>
          <a:p>
            <a:pPr marL="298450">
              <a:lnSpc>
                <a:spcPct val="100000"/>
              </a:lnSpc>
              <a:spcBef>
                <a:spcPts val="105"/>
              </a:spcBef>
            </a:pPr>
            <a:r>
              <a:rPr lang="vi-VN" sz="900" dirty="0" smtClean="0">
                <a:latin typeface="Arial"/>
                <a:cs typeface="Arial"/>
              </a:rPr>
              <a:t>Phong cách kiến trúc được xây dựng dựa trên:</a:t>
            </a:r>
            <a:endParaRPr lang="en-US" sz="900" dirty="0" smtClean="0">
              <a:latin typeface="Arial"/>
              <a:cs typeface="Arial"/>
            </a:endParaRPr>
          </a:p>
          <a:p>
            <a:pPr marL="469900" indent="-171450">
              <a:lnSpc>
                <a:spcPct val="100000"/>
              </a:lnSpc>
              <a:spcBef>
                <a:spcPts val="105"/>
              </a:spcBef>
              <a:buFont typeface="Arial" panose="020B0604020202020204" pitchFamily="34" charset="0"/>
              <a:buChar char="•"/>
            </a:pPr>
            <a:r>
              <a:rPr lang="vi-VN" sz="900" dirty="0" smtClean="0">
                <a:latin typeface="Arial"/>
                <a:cs typeface="Arial"/>
              </a:rPr>
              <a:t>Các thành phần có thể thay thế với giao diện được xác định rõ ràng.</a:t>
            </a:r>
          </a:p>
          <a:p>
            <a:pPr marL="469900" indent="-171450">
              <a:lnSpc>
                <a:spcPct val="100000"/>
              </a:lnSpc>
              <a:spcBef>
                <a:spcPts val="105"/>
              </a:spcBef>
              <a:buFont typeface="Arial" panose="020B0604020202020204" pitchFamily="34" charset="0"/>
              <a:buChar char="•"/>
            </a:pPr>
            <a:r>
              <a:rPr lang="vi-VN" sz="900" dirty="0" smtClean="0">
                <a:latin typeface="Arial"/>
                <a:cs typeface="Arial"/>
              </a:rPr>
              <a:t>Cách các thành phần kết nối với nhau.</a:t>
            </a:r>
          </a:p>
          <a:p>
            <a:pPr marL="469900" indent="-171450">
              <a:lnSpc>
                <a:spcPct val="100000"/>
              </a:lnSpc>
              <a:spcBef>
                <a:spcPts val="105"/>
              </a:spcBef>
              <a:buFont typeface="Arial" panose="020B0604020202020204" pitchFamily="34" charset="0"/>
              <a:buChar char="•"/>
            </a:pPr>
            <a:r>
              <a:rPr lang="vi-VN" sz="900" dirty="0" smtClean="0">
                <a:latin typeface="Arial"/>
                <a:cs typeface="Arial"/>
              </a:rPr>
              <a:t>Loại dữ liệu trao đổi giữa các thành phần.</a:t>
            </a:r>
          </a:p>
          <a:p>
            <a:pPr marL="298450">
              <a:lnSpc>
                <a:spcPct val="100000"/>
              </a:lnSpc>
              <a:spcBef>
                <a:spcPts val="105"/>
              </a:spcBef>
            </a:pPr>
            <a:endParaRPr lang="vi-VN" sz="900" dirty="0" smtClean="0">
              <a:latin typeface="Arial"/>
              <a:cs typeface="Arial"/>
            </a:endParaRPr>
          </a:p>
          <a:p>
            <a:pPr marL="302260">
              <a:lnSpc>
                <a:spcPct val="100000"/>
              </a:lnSpc>
            </a:pPr>
            <a:r>
              <a:rPr lang="en-US" sz="1000" spc="-10" dirty="0" err="1" smtClean="0">
                <a:solidFill>
                  <a:srgbClr val="3333B2"/>
                </a:solidFill>
                <a:latin typeface="Arial"/>
                <a:cs typeface="Arial"/>
              </a:rPr>
              <a:t>Kết</a:t>
            </a:r>
            <a:r>
              <a:rPr lang="en-US" sz="1000" spc="-10" dirty="0" smtClean="0">
                <a:solidFill>
                  <a:srgbClr val="3333B2"/>
                </a:solidFill>
                <a:latin typeface="Arial"/>
                <a:cs typeface="Arial"/>
              </a:rPr>
              <a:t> </a:t>
            </a:r>
            <a:r>
              <a:rPr lang="en-US" sz="1000" spc="-10" dirty="0" err="1" smtClean="0">
                <a:solidFill>
                  <a:srgbClr val="3333B2"/>
                </a:solidFill>
                <a:latin typeface="Arial"/>
                <a:cs typeface="Arial"/>
              </a:rPr>
              <a:t>nối</a:t>
            </a:r>
            <a:r>
              <a:rPr lang="en-US" sz="1000" spc="-10" dirty="0" smtClean="0">
                <a:solidFill>
                  <a:srgbClr val="3333B2"/>
                </a:solidFill>
                <a:latin typeface="Arial"/>
                <a:cs typeface="Arial"/>
              </a:rPr>
              <a:t> (Connectors) </a:t>
            </a:r>
          </a:p>
          <a:p>
            <a:pPr marL="302260">
              <a:lnSpc>
                <a:spcPct val="100000"/>
              </a:lnSpc>
            </a:pPr>
            <a:r>
              <a:rPr lang="vi-VN" sz="900" dirty="0" smtClean="0">
                <a:latin typeface="Arial"/>
                <a:cs typeface="Arial"/>
              </a:rPr>
              <a:t>Connectors là cơ chế trung gian hỗ trợ giao tiếp, phối hợp hoặc hợp tác giữa các thành phần. Ví dụ:</a:t>
            </a:r>
          </a:p>
          <a:p>
            <a:pPr marL="473710" indent="-171450">
              <a:lnSpc>
                <a:spcPct val="100000"/>
              </a:lnSpc>
              <a:buFont typeface="Arial" panose="020B0604020202020204" pitchFamily="34" charset="0"/>
              <a:buChar char="•"/>
            </a:pPr>
            <a:r>
              <a:rPr lang="vi-VN" sz="900" dirty="0" smtClean="0">
                <a:latin typeface="Arial"/>
                <a:cs typeface="Arial"/>
              </a:rPr>
              <a:t>Gọi thủ tục từ xa (Remote Procedure Call - RPC).</a:t>
            </a:r>
          </a:p>
          <a:p>
            <a:pPr marL="473710" indent="-171450">
              <a:lnSpc>
                <a:spcPct val="100000"/>
              </a:lnSpc>
              <a:buFont typeface="Arial" panose="020B0604020202020204" pitchFamily="34" charset="0"/>
              <a:buChar char="•"/>
            </a:pPr>
            <a:r>
              <a:rPr lang="vi-VN" sz="900" dirty="0" smtClean="0">
                <a:latin typeface="Arial"/>
                <a:cs typeface="Arial"/>
              </a:rPr>
              <a:t>Nhắn tin (Messaging).</a:t>
            </a:r>
          </a:p>
          <a:p>
            <a:pPr marL="473710" indent="-171450">
              <a:lnSpc>
                <a:spcPct val="100000"/>
              </a:lnSpc>
              <a:buFont typeface="Arial" panose="020B0604020202020204" pitchFamily="34" charset="0"/>
              <a:buChar char="•"/>
            </a:pPr>
            <a:r>
              <a:rPr lang="vi-VN" sz="900" dirty="0" smtClean="0">
                <a:latin typeface="Arial"/>
                <a:cs typeface="Arial"/>
              </a:rPr>
              <a:t>Truyền dữ liệu theo dòng (Streaming).</a:t>
            </a:r>
            <a:endParaRPr sz="900" dirty="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5" name="object 5"/>
          <p:cNvSpPr txBox="1"/>
          <p:nvPr/>
        </p:nvSpPr>
        <p:spPr>
          <a:xfrm>
            <a:off x="95300" y="197711"/>
            <a:ext cx="1983105" cy="517449"/>
          </a:xfrm>
          <a:prstGeom prst="rect">
            <a:avLst/>
          </a:prstGeom>
        </p:spPr>
        <p:txBody>
          <a:bodyPr vert="horz" wrap="square" lIns="0" tIns="12065" rIns="0" bIns="0" rtlCol="0">
            <a:spAutoFit/>
          </a:bodyPr>
          <a:lstStyle/>
          <a:p>
            <a:pPr marL="12700">
              <a:lnSpc>
                <a:spcPct val="100000"/>
              </a:lnSpc>
              <a:spcBef>
                <a:spcPts val="95"/>
              </a:spcBef>
            </a:pPr>
            <a:r>
              <a:rPr lang="en-US" sz="1200" spc="-10" dirty="0" err="1" smtClean="0">
                <a:solidFill>
                  <a:srgbClr val="3333B2"/>
                </a:solidFill>
                <a:latin typeface="Arial"/>
                <a:cs typeface="Arial"/>
              </a:rPr>
              <a:t>Kiến</a:t>
            </a:r>
            <a:r>
              <a:rPr lang="en-US" sz="1200" spc="-10" dirty="0" smtClean="0">
                <a:solidFill>
                  <a:srgbClr val="3333B2"/>
                </a:solidFill>
                <a:latin typeface="Arial"/>
                <a:cs typeface="Arial"/>
              </a:rPr>
              <a:t> </a:t>
            </a:r>
            <a:r>
              <a:rPr lang="en-US" sz="1200" spc="-10" dirty="0" err="1" smtClean="0">
                <a:solidFill>
                  <a:srgbClr val="3333B2"/>
                </a:solidFill>
                <a:latin typeface="Arial"/>
                <a:cs typeface="Arial"/>
              </a:rPr>
              <a:t>trúc</a:t>
            </a:r>
            <a:r>
              <a:rPr lang="en-US" sz="1200" spc="-10" dirty="0" smtClean="0">
                <a:solidFill>
                  <a:srgbClr val="3333B2"/>
                </a:solidFill>
                <a:latin typeface="Arial"/>
                <a:cs typeface="Arial"/>
              </a:rPr>
              <a:t> </a:t>
            </a:r>
            <a:r>
              <a:rPr lang="en-US" sz="1200" spc="-10" dirty="0" err="1" smtClean="0">
                <a:solidFill>
                  <a:srgbClr val="3333B2"/>
                </a:solidFill>
                <a:latin typeface="Arial"/>
                <a:cs typeface="Arial"/>
              </a:rPr>
              <a:t>phân</a:t>
            </a:r>
            <a:r>
              <a:rPr lang="en-US" sz="1200" spc="-10" dirty="0" smtClean="0">
                <a:solidFill>
                  <a:srgbClr val="3333B2"/>
                </a:solidFill>
                <a:latin typeface="Arial"/>
                <a:cs typeface="Arial"/>
              </a:rPr>
              <a:t> </a:t>
            </a:r>
            <a:r>
              <a:rPr lang="en-US" sz="1200" spc="-10" dirty="0" err="1" smtClean="0">
                <a:solidFill>
                  <a:srgbClr val="3333B2"/>
                </a:solidFill>
                <a:latin typeface="Arial"/>
                <a:cs typeface="Arial"/>
              </a:rPr>
              <a:t>tầng</a:t>
            </a:r>
            <a:r>
              <a:rPr lang="en-US" sz="1200" spc="-10" dirty="0" smtClean="0">
                <a:solidFill>
                  <a:srgbClr val="3333B2"/>
                </a:solidFill>
                <a:latin typeface="Arial"/>
                <a:cs typeface="Arial"/>
              </a:rPr>
              <a:t> </a:t>
            </a:r>
          </a:p>
          <a:p>
            <a:pPr marL="12700">
              <a:lnSpc>
                <a:spcPct val="100000"/>
              </a:lnSpc>
              <a:spcBef>
                <a:spcPts val="95"/>
              </a:spcBef>
            </a:pPr>
            <a:r>
              <a:rPr lang="vi-VN" sz="1000" spc="-10" dirty="0" smtClean="0">
                <a:solidFill>
                  <a:srgbClr val="3333B2"/>
                </a:solidFill>
                <a:latin typeface="Arial"/>
                <a:cs typeface="Arial"/>
              </a:rPr>
              <a:t>Hệ thống có thể được tổ chức theo nhiều cách khác nhau:</a:t>
            </a:r>
            <a:endParaRPr sz="1000" dirty="0">
              <a:latin typeface="Arial"/>
              <a:cs typeface="Arial"/>
            </a:endParaRPr>
          </a:p>
        </p:txBody>
      </p:sp>
      <p:pic>
        <p:nvPicPr>
          <p:cNvPr id="6" name="object 6"/>
          <p:cNvPicPr/>
          <p:nvPr/>
        </p:nvPicPr>
        <p:blipFill>
          <a:blip r:embed="rId3" cstate="print"/>
          <a:stretch>
            <a:fillRect/>
          </a:stretch>
        </p:blipFill>
        <p:spPr>
          <a:xfrm>
            <a:off x="642107" y="811420"/>
            <a:ext cx="873549" cy="1759503"/>
          </a:xfrm>
          <a:prstGeom prst="rect">
            <a:avLst/>
          </a:prstGeom>
        </p:spPr>
      </p:pic>
      <p:pic>
        <p:nvPicPr>
          <p:cNvPr id="7" name="object 7"/>
          <p:cNvPicPr/>
          <p:nvPr/>
        </p:nvPicPr>
        <p:blipFill>
          <a:blip r:embed="rId4" cstate="print"/>
          <a:stretch>
            <a:fillRect/>
          </a:stretch>
        </p:blipFill>
        <p:spPr>
          <a:xfrm>
            <a:off x="1791500" y="888581"/>
            <a:ext cx="874814" cy="1667164"/>
          </a:xfrm>
          <a:prstGeom prst="rect">
            <a:avLst/>
          </a:prstGeom>
        </p:spPr>
      </p:pic>
      <p:pic>
        <p:nvPicPr>
          <p:cNvPr id="8" name="object 8"/>
          <p:cNvPicPr/>
          <p:nvPr/>
        </p:nvPicPr>
        <p:blipFill>
          <a:blip r:embed="rId5" cstate="print"/>
          <a:stretch>
            <a:fillRect/>
          </a:stretch>
        </p:blipFill>
        <p:spPr>
          <a:xfrm>
            <a:off x="2945991" y="1207340"/>
            <a:ext cx="1040110" cy="1138427"/>
          </a:xfrm>
          <a:prstGeom prst="rect">
            <a:avLst/>
          </a:prstGeom>
        </p:spPr>
      </p:pic>
      <p:sp>
        <p:nvSpPr>
          <p:cNvPr id="9" name="object 9"/>
          <p:cNvSpPr txBox="1"/>
          <p:nvPr/>
        </p:nvSpPr>
        <p:spPr>
          <a:xfrm>
            <a:off x="994714" y="265336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(Một)</a:t>
            </a:r>
            <a:endParaRPr sz="900">
              <a:latin typeface="Arial"/>
              <a:cs typeface="Arial"/>
            </a:endParaRPr>
          </a:p>
        </p:txBody>
      </p:sp>
      <p:sp>
        <p:nvSpPr>
          <p:cNvPr id="10" name="object 10"/>
          <p:cNvSpPr txBox="1"/>
          <p:nvPr/>
        </p:nvSpPr>
        <p:spPr>
          <a:xfrm>
            <a:off x="2147909" y="265336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(b)</a:t>
            </a:r>
            <a:endParaRPr sz="900">
              <a:latin typeface="Arial"/>
              <a:cs typeface="Arial"/>
            </a:endParaRPr>
          </a:p>
        </p:txBody>
      </p:sp>
      <p:sp>
        <p:nvSpPr>
          <p:cNvPr id="11" name="object 11"/>
          <p:cNvSpPr txBox="1"/>
          <p:nvPr/>
        </p:nvSpPr>
        <p:spPr>
          <a:xfrm>
            <a:off x="3378082" y="2653367"/>
            <a:ext cx="15875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(c)</a:t>
            </a:r>
            <a:endParaRPr sz="900">
              <a:latin typeface="Arial"/>
              <a:cs typeface="Arial"/>
            </a:endParaRPr>
          </a:p>
        </p:txBody>
      </p:sp>
      <p:grpSp>
        <p:nvGrpSpPr>
          <p:cNvPr id="12" name="object 12"/>
          <p:cNvGrpSpPr/>
          <p:nvPr/>
        </p:nvGrpSpPr>
        <p:grpSpPr>
          <a:xfrm>
            <a:off x="0" y="3348469"/>
            <a:ext cx="4608195" cy="107950"/>
            <a:chOff x="0" y="3348469"/>
            <a:chExt cx="4608195" cy="107950"/>
          </a:xfrm>
        </p:grpSpPr>
        <p:sp>
          <p:nvSpPr>
            <p:cNvPr id="13" name="object 13"/>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4" name="object 14"/>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5" name="object 15"/>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6" action="ppaction://hlinksldjump"/>
              </a:rPr>
              <a:t>nhiều lớp</a:t>
            </a:r>
            <a:r>
              <a:rPr sz="500" spc="20" dirty="0">
                <a:latin typeface="Arial"/>
                <a:cs typeface="Arial"/>
                <a:hlinkClick r:id="rId6" action="ppaction://hlinksldjump"/>
              </a:rPr>
              <a:t> </a:t>
            </a:r>
            <a:r>
              <a:rPr sz="500" spc="-10" dirty="0">
                <a:latin typeface="Arial"/>
                <a:cs typeface="Arial"/>
                <a:hlinkClick r:id="rId6" action="ppaction://hlinksldjump"/>
              </a:rPr>
              <a:t>kiến trúc</a:t>
            </a:r>
            <a:endParaRPr sz="500">
              <a:latin typeface="Arial"/>
              <a:cs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5" name="object 5"/>
          <p:cNvSpPr txBox="1"/>
          <p:nvPr/>
        </p:nvSpPr>
        <p:spPr>
          <a:xfrm>
            <a:off x="95300" y="197711"/>
            <a:ext cx="238823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Ví dụ:</a:t>
            </a:r>
            <a:r>
              <a:rPr sz="1200" spc="65" dirty="0">
                <a:solidFill>
                  <a:srgbClr val="3333B2"/>
                </a:solidFill>
                <a:latin typeface="Arial"/>
                <a:cs typeface="Arial"/>
              </a:rPr>
              <a:t> </a:t>
            </a:r>
            <a:r>
              <a:rPr sz="1200" spc="-10" dirty="0" err="1" smtClean="0">
                <a:solidFill>
                  <a:srgbClr val="3333B2"/>
                </a:solidFill>
                <a:latin typeface="Arial"/>
                <a:cs typeface="Arial"/>
              </a:rPr>
              <a:t>giao</a:t>
            </a:r>
            <a:r>
              <a:rPr sz="1200" spc="-10" dirty="0" smtClean="0">
                <a:solidFill>
                  <a:srgbClr val="3333B2"/>
                </a:solidFill>
                <a:latin typeface="Arial"/>
                <a:cs typeface="Arial"/>
              </a:rPr>
              <a:t> </a:t>
            </a:r>
            <a:r>
              <a:rPr sz="1200" spc="-10" dirty="0" err="1" smtClean="0">
                <a:solidFill>
                  <a:srgbClr val="3333B2"/>
                </a:solidFill>
                <a:latin typeface="Arial"/>
                <a:cs typeface="Arial"/>
              </a:rPr>
              <a:t>thức</a:t>
            </a:r>
            <a:r>
              <a:rPr lang="en-US" sz="1200" spc="-10" dirty="0" smtClean="0">
                <a:solidFill>
                  <a:srgbClr val="3333B2"/>
                </a:solidFill>
                <a:latin typeface="Arial"/>
                <a:cs typeface="Arial"/>
              </a:rPr>
              <a:t> </a:t>
            </a:r>
            <a:r>
              <a:rPr lang="en-US" sz="1200" spc="-10" dirty="0" err="1" smtClean="0">
                <a:solidFill>
                  <a:srgbClr val="3333B2"/>
                </a:solidFill>
                <a:latin typeface="Arial"/>
                <a:cs typeface="Arial"/>
              </a:rPr>
              <a:t>giao</a:t>
            </a:r>
            <a:r>
              <a:rPr lang="en-US" sz="1200" spc="-10" dirty="0" smtClean="0">
                <a:solidFill>
                  <a:srgbClr val="3333B2"/>
                </a:solidFill>
                <a:latin typeface="Arial"/>
                <a:cs typeface="Arial"/>
              </a:rPr>
              <a:t> </a:t>
            </a:r>
            <a:r>
              <a:rPr lang="en-US" sz="1200" spc="-10" dirty="0" err="1" smtClean="0">
                <a:solidFill>
                  <a:srgbClr val="3333B2"/>
                </a:solidFill>
                <a:latin typeface="Arial"/>
                <a:cs typeface="Arial"/>
              </a:rPr>
              <a:t>tiếp</a:t>
            </a:r>
            <a:endParaRPr sz="1200" dirty="0">
              <a:latin typeface="Arial"/>
              <a:cs typeface="Arial"/>
            </a:endParaRPr>
          </a:p>
          <a:p>
            <a:pPr marL="264160">
              <a:lnSpc>
                <a:spcPct val="100000"/>
              </a:lnSpc>
              <a:spcBef>
                <a:spcPts val="1055"/>
              </a:spcBef>
            </a:pPr>
            <a:r>
              <a:rPr sz="1000" dirty="0">
                <a:solidFill>
                  <a:srgbClr val="3333B2"/>
                </a:solidFill>
                <a:latin typeface="Arial"/>
                <a:cs typeface="Arial"/>
              </a:rPr>
              <a:t>Giao thức,</a:t>
            </a:r>
            <a:r>
              <a:rPr sz="1000" spc="-40" dirty="0">
                <a:solidFill>
                  <a:srgbClr val="3333B2"/>
                </a:solidFill>
                <a:latin typeface="Arial"/>
                <a:cs typeface="Arial"/>
              </a:rPr>
              <a:t> </a:t>
            </a:r>
            <a:r>
              <a:rPr sz="1000" dirty="0">
                <a:solidFill>
                  <a:srgbClr val="3333B2"/>
                </a:solidFill>
                <a:latin typeface="Arial"/>
                <a:cs typeface="Arial"/>
              </a:rPr>
              <a:t>dịch vụ,</a:t>
            </a:r>
            <a:r>
              <a:rPr sz="1000" spc="-35" dirty="0">
                <a:solidFill>
                  <a:srgbClr val="3333B2"/>
                </a:solidFill>
                <a:latin typeface="Arial"/>
                <a:cs typeface="Arial"/>
              </a:rPr>
              <a:t> </a:t>
            </a:r>
            <a:r>
              <a:rPr sz="1000" spc="-10" dirty="0">
                <a:solidFill>
                  <a:srgbClr val="3333B2"/>
                </a:solidFill>
                <a:latin typeface="Arial"/>
                <a:cs typeface="Arial"/>
              </a:rPr>
              <a:t>giao diện</a:t>
            </a:r>
            <a:endParaRPr sz="1000" dirty="0">
              <a:latin typeface="Arial"/>
              <a:cs typeface="Arial"/>
            </a:endParaRPr>
          </a:p>
        </p:txBody>
      </p:sp>
      <p:pic>
        <p:nvPicPr>
          <p:cNvPr id="6" name="object 6"/>
          <p:cNvPicPr/>
          <p:nvPr/>
        </p:nvPicPr>
        <p:blipFill>
          <a:blip r:embed="rId3" cstate="print"/>
          <a:stretch>
            <a:fillRect/>
          </a:stretch>
        </p:blipFill>
        <p:spPr>
          <a:xfrm>
            <a:off x="759790" y="791886"/>
            <a:ext cx="3084625" cy="1593267"/>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nhiều lớp</a:t>
            </a:r>
            <a:r>
              <a:rPr sz="500" spc="20" dirty="0">
                <a:latin typeface="Arial"/>
                <a:cs typeface="Arial"/>
                <a:hlinkClick r:id="rId4" action="ppaction://hlinksldjump"/>
              </a:rPr>
              <a:t> </a:t>
            </a:r>
            <a:r>
              <a:rPr sz="500" spc="-10" dirty="0">
                <a:latin typeface="Arial"/>
                <a:cs typeface="Arial"/>
                <a:hlinkClick r:id="rId4" action="ppaction://hlinksldjump"/>
              </a:rPr>
              <a:t>kiến trúc</a:t>
            </a:r>
            <a:endParaRPr sz="500">
              <a:latin typeface="Arial"/>
              <a:cs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grpSp>
        <p:nvGrpSpPr>
          <p:cNvPr id="10" name="object 10"/>
          <p:cNvGrpSpPr/>
          <p:nvPr/>
        </p:nvGrpSpPr>
        <p:grpSpPr>
          <a:xfrm>
            <a:off x="0" y="3348469"/>
            <a:ext cx="4608195" cy="107950"/>
            <a:chOff x="0" y="3348469"/>
            <a:chExt cx="4608195" cy="107950"/>
          </a:xfrm>
        </p:grpSpPr>
        <p:sp>
          <p:nvSpPr>
            <p:cNvPr id="11" name="object 11"/>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3" name="object 13"/>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nhiều lớp</a:t>
            </a:r>
            <a:r>
              <a:rPr sz="500" spc="20" dirty="0">
                <a:latin typeface="Arial"/>
                <a:cs typeface="Arial"/>
                <a:hlinkClick r:id="rId3" action="ppaction://hlinksldjump"/>
              </a:rPr>
              <a:t> </a:t>
            </a:r>
            <a:r>
              <a:rPr sz="500" spc="-10" dirty="0">
                <a:latin typeface="Arial"/>
                <a:cs typeface="Arial"/>
                <a:hlinkClick r:id="rId3" action="ppaction://hlinksldjump"/>
              </a:rPr>
              <a:t>kiến trúc</a:t>
            </a:r>
            <a:endParaRPr sz="500">
              <a:latin typeface="Arial"/>
              <a:cs typeface="Arial"/>
            </a:endParaRPr>
          </a:p>
        </p:txBody>
      </p:sp>
      <p:sp>
        <p:nvSpPr>
          <p:cNvPr id="14"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15" name="object 5"/>
          <p:cNvSpPr txBox="1"/>
          <p:nvPr/>
        </p:nvSpPr>
        <p:spPr>
          <a:xfrm>
            <a:off x="57200" y="197711"/>
            <a:ext cx="3271520" cy="1022716"/>
          </a:xfrm>
          <a:prstGeom prst="rect">
            <a:avLst/>
          </a:prstGeom>
        </p:spPr>
        <p:txBody>
          <a:bodyPr vert="horz" wrap="square" lIns="0" tIns="12065" rIns="0" bIns="0" rtlCol="0">
            <a:spAutoFit/>
          </a:bodyPr>
          <a:lstStyle/>
          <a:p>
            <a:pPr marL="50800">
              <a:lnSpc>
                <a:spcPct val="100000"/>
              </a:lnSpc>
              <a:spcBef>
                <a:spcPts val="95"/>
              </a:spcBef>
            </a:pPr>
            <a:r>
              <a:rPr lang="en-US" sz="1200" spc="-55" dirty="0" err="1" smtClean="0">
                <a:solidFill>
                  <a:srgbClr val="3333B2"/>
                </a:solidFill>
                <a:latin typeface="Arial"/>
                <a:cs typeface="Arial"/>
              </a:rPr>
              <a:t>Mô</a:t>
            </a:r>
            <a:r>
              <a:rPr lang="en-US" sz="1200" spc="-55" dirty="0" smtClean="0">
                <a:solidFill>
                  <a:srgbClr val="3333B2"/>
                </a:solidFill>
                <a:latin typeface="Arial"/>
                <a:cs typeface="Arial"/>
              </a:rPr>
              <a:t> </a:t>
            </a:r>
            <a:r>
              <a:rPr lang="en-US" sz="1200" spc="-55" dirty="0" err="1" smtClean="0">
                <a:solidFill>
                  <a:srgbClr val="3333B2"/>
                </a:solidFill>
                <a:latin typeface="Arial"/>
                <a:cs typeface="Arial"/>
              </a:rPr>
              <a:t>hình</a:t>
            </a:r>
            <a:r>
              <a:rPr lang="en-US" sz="1200" spc="-55" dirty="0" smtClean="0">
                <a:solidFill>
                  <a:srgbClr val="3333B2"/>
                </a:solidFill>
                <a:latin typeface="Arial"/>
                <a:cs typeface="Arial"/>
              </a:rPr>
              <a:t> </a:t>
            </a:r>
            <a:r>
              <a:rPr lang="en-US" sz="1200" spc="-55" dirty="0" err="1" smtClean="0">
                <a:solidFill>
                  <a:srgbClr val="3333B2"/>
                </a:solidFill>
                <a:latin typeface="Arial"/>
                <a:cs typeface="Arial"/>
              </a:rPr>
              <a:t>giao</a:t>
            </a:r>
            <a:r>
              <a:rPr lang="en-US" sz="1200" spc="-55" dirty="0" smtClean="0">
                <a:solidFill>
                  <a:srgbClr val="3333B2"/>
                </a:solidFill>
                <a:latin typeface="Arial"/>
                <a:cs typeface="Arial"/>
              </a:rPr>
              <a:t> </a:t>
            </a:r>
            <a:r>
              <a:rPr lang="en-US" sz="1200" spc="-55" dirty="0" err="1" smtClean="0">
                <a:solidFill>
                  <a:srgbClr val="3333B2"/>
                </a:solidFill>
                <a:latin typeface="Arial"/>
                <a:cs typeface="Arial"/>
              </a:rPr>
              <a:t>tiếp</a:t>
            </a:r>
            <a:r>
              <a:rPr lang="en-US" sz="1200" spc="-55" dirty="0" smtClean="0">
                <a:solidFill>
                  <a:srgbClr val="3333B2"/>
                </a:solidFill>
                <a:latin typeface="Arial"/>
                <a:cs typeface="Arial"/>
              </a:rPr>
              <a:t> </a:t>
            </a:r>
            <a:r>
              <a:rPr lang="en-US" sz="1200" spc="-55" dirty="0" err="1" smtClean="0">
                <a:solidFill>
                  <a:srgbClr val="3333B2"/>
                </a:solidFill>
                <a:latin typeface="Arial"/>
                <a:cs typeface="Arial"/>
              </a:rPr>
              <a:t>hai</a:t>
            </a:r>
            <a:r>
              <a:rPr lang="en-US" sz="1200" spc="-55" dirty="0" smtClean="0">
                <a:solidFill>
                  <a:srgbClr val="3333B2"/>
                </a:solidFill>
                <a:latin typeface="Arial"/>
                <a:cs typeface="Arial"/>
              </a:rPr>
              <a:t> </a:t>
            </a:r>
            <a:r>
              <a:rPr lang="en-US" sz="1200" spc="-55" dirty="0" err="1" smtClean="0">
                <a:solidFill>
                  <a:srgbClr val="3333B2"/>
                </a:solidFill>
                <a:latin typeface="Arial"/>
                <a:cs typeface="Arial"/>
              </a:rPr>
              <a:t>bên</a:t>
            </a:r>
            <a:r>
              <a:rPr lang="en-US" sz="1200" spc="-55" dirty="0" smtClean="0">
                <a:solidFill>
                  <a:srgbClr val="3333B2"/>
                </a:solidFill>
                <a:latin typeface="Arial"/>
                <a:cs typeface="Arial"/>
              </a:rPr>
              <a:t> (Two-Party Communication)</a:t>
            </a:r>
          </a:p>
          <a:p>
            <a:pPr marL="50800">
              <a:lnSpc>
                <a:spcPct val="100000"/>
              </a:lnSpc>
              <a:spcBef>
                <a:spcPts val="95"/>
              </a:spcBef>
            </a:pPr>
            <a:r>
              <a:rPr sz="1000" spc="-10" dirty="0" smtClean="0">
                <a:solidFill>
                  <a:srgbClr val="3333B2"/>
                </a:solidFill>
                <a:latin typeface="Arial"/>
                <a:cs typeface="Arial"/>
              </a:rPr>
              <a:t>Server</a:t>
            </a:r>
            <a:endParaRPr sz="1000" dirty="0">
              <a:latin typeface="Arial"/>
              <a:cs typeface="Arial"/>
            </a:endParaRPr>
          </a:p>
          <a:p>
            <a:pPr marL="264795">
              <a:lnSpc>
                <a:spcPts val="800"/>
              </a:lnSpc>
            </a:pPr>
            <a:r>
              <a:rPr sz="500" dirty="0">
                <a:latin typeface="Times New Roman"/>
                <a:cs typeface="Times New Roman"/>
              </a:rPr>
              <a:t>1</a:t>
            </a:r>
            <a:r>
              <a:rPr sz="500" spc="484" dirty="0">
                <a:latin typeface="Times New Roman"/>
                <a:cs typeface="Times New Roman"/>
              </a:rPr>
              <a:t> </a:t>
            </a:r>
            <a:r>
              <a:rPr sz="700" b="1" dirty="0">
                <a:solidFill>
                  <a:srgbClr val="FF0059"/>
                </a:solidFill>
                <a:latin typeface="Times New Roman"/>
                <a:cs typeface="Times New Roman"/>
              </a:rPr>
              <a:t>from</a:t>
            </a:r>
            <a:r>
              <a:rPr sz="700" b="1" spc="85" dirty="0">
                <a:solidFill>
                  <a:srgbClr val="FF0059"/>
                </a:solidFill>
                <a:latin typeface="Times New Roman"/>
                <a:cs typeface="Times New Roman"/>
              </a:rPr>
              <a:t> </a:t>
            </a:r>
            <a:r>
              <a:rPr sz="700" spc="65" dirty="0">
                <a:latin typeface="Times New Roman"/>
                <a:cs typeface="Times New Roman"/>
              </a:rPr>
              <a:t>socket</a:t>
            </a:r>
            <a:r>
              <a:rPr sz="700" spc="480" dirty="0">
                <a:latin typeface="Times New Roman"/>
                <a:cs typeface="Times New Roman"/>
              </a:rPr>
              <a:t> </a:t>
            </a:r>
            <a:r>
              <a:rPr sz="700" b="1" dirty="0">
                <a:solidFill>
                  <a:srgbClr val="FF0059"/>
                </a:solidFill>
                <a:latin typeface="Times New Roman"/>
                <a:cs typeface="Times New Roman"/>
              </a:rPr>
              <a:t>import</a:t>
            </a:r>
            <a:r>
              <a:rPr sz="700" b="1" spc="110" dirty="0">
                <a:solidFill>
                  <a:srgbClr val="FF0059"/>
                </a:solidFill>
                <a:latin typeface="Times New Roman"/>
                <a:cs typeface="Times New Roman"/>
              </a:rPr>
              <a:t> </a:t>
            </a:r>
            <a:r>
              <a:rPr sz="1050" spc="22" baseline="-7936" dirty="0">
                <a:latin typeface="Times New Roman"/>
                <a:cs typeface="Times New Roman"/>
              </a:rPr>
              <a:t>*</a:t>
            </a:r>
            <a:endParaRPr sz="1050" baseline="-7936" dirty="0">
              <a:latin typeface="Times New Roman"/>
              <a:cs typeface="Times New Roman"/>
            </a:endParaRPr>
          </a:p>
          <a:p>
            <a:pPr marL="264795">
              <a:lnSpc>
                <a:spcPts val="560"/>
              </a:lnSpc>
              <a:spcBef>
                <a:spcPts val="80"/>
              </a:spcBef>
            </a:pPr>
            <a:r>
              <a:rPr sz="500" spc="45" dirty="0">
                <a:latin typeface="Times New Roman"/>
                <a:cs typeface="Times New Roman"/>
              </a:rPr>
              <a:t>2</a:t>
            </a:r>
            <a:endParaRPr sz="500" dirty="0">
              <a:latin typeface="Times New Roman"/>
              <a:cs typeface="Times New Roman"/>
            </a:endParaRPr>
          </a:p>
          <a:p>
            <a:pPr marL="264795">
              <a:lnSpc>
                <a:spcPts val="735"/>
              </a:lnSpc>
            </a:pPr>
            <a:r>
              <a:rPr sz="500" dirty="0">
                <a:latin typeface="Times New Roman"/>
                <a:cs typeface="Times New Roman"/>
              </a:rPr>
              <a:t>3</a:t>
            </a:r>
            <a:r>
              <a:rPr sz="500" spc="220" dirty="0">
                <a:latin typeface="Times New Roman"/>
                <a:cs typeface="Times New Roman"/>
              </a:rPr>
              <a:t>  </a:t>
            </a:r>
            <a:r>
              <a:rPr sz="700" spc="140" dirty="0">
                <a:latin typeface="Times New Roman"/>
                <a:cs typeface="Times New Roman"/>
              </a:rPr>
              <a:t>s</a:t>
            </a:r>
            <a:r>
              <a:rPr sz="700" spc="170" dirty="0">
                <a:latin typeface="Times New Roman"/>
                <a:cs typeface="Times New Roman"/>
              </a:rPr>
              <a:t> </a:t>
            </a:r>
            <a:r>
              <a:rPr sz="700" dirty="0">
                <a:latin typeface="Times New Roman"/>
                <a:cs typeface="Times New Roman"/>
              </a:rPr>
              <a:t>=</a:t>
            </a:r>
            <a:r>
              <a:rPr sz="700" spc="135" dirty="0">
                <a:latin typeface="Times New Roman"/>
                <a:cs typeface="Times New Roman"/>
              </a:rPr>
              <a:t> </a:t>
            </a:r>
            <a:r>
              <a:rPr sz="700" dirty="0">
                <a:latin typeface="Times New Roman"/>
                <a:cs typeface="Times New Roman"/>
              </a:rPr>
              <a:t>socket(AF_INET,</a:t>
            </a:r>
            <a:r>
              <a:rPr sz="700" spc="130" dirty="0">
                <a:latin typeface="Times New Roman"/>
                <a:cs typeface="Times New Roman"/>
              </a:rPr>
              <a:t> </a:t>
            </a:r>
            <a:r>
              <a:rPr sz="700" spc="-25" dirty="0">
                <a:latin typeface="Times New Roman"/>
                <a:cs typeface="Times New Roman"/>
              </a:rPr>
              <a:t>SOCK_STREAM)</a:t>
            </a:r>
            <a:endParaRPr sz="700" dirty="0">
              <a:latin typeface="Times New Roman"/>
              <a:cs typeface="Times New Roman"/>
            </a:endParaRPr>
          </a:p>
          <a:p>
            <a:pPr marL="264795">
              <a:lnSpc>
                <a:spcPts val="715"/>
              </a:lnSpc>
            </a:pPr>
            <a:r>
              <a:rPr sz="500" dirty="0">
                <a:latin typeface="Times New Roman"/>
                <a:cs typeface="Times New Roman"/>
              </a:rPr>
              <a:t>4</a:t>
            </a:r>
            <a:r>
              <a:rPr sz="500" spc="475" dirty="0">
                <a:latin typeface="Times New Roman"/>
                <a:cs typeface="Times New Roman"/>
              </a:rPr>
              <a:t> </a:t>
            </a:r>
            <a:r>
              <a:rPr sz="700" spc="60" dirty="0">
                <a:latin typeface="Times New Roman"/>
                <a:cs typeface="Times New Roman"/>
              </a:rPr>
              <a:t>(conn,</a:t>
            </a:r>
            <a:r>
              <a:rPr sz="700" spc="100" dirty="0">
                <a:latin typeface="Times New Roman"/>
                <a:cs typeface="Times New Roman"/>
              </a:rPr>
              <a:t> </a:t>
            </a:r>
            <a:r>
              <a:rPr sz="700" spc="65" dirty="0">
                <a:latin typeface="Times New Roman"/>
                <a:cs typeface="Times New Roman"/>
              </a:rPr>
              <a:t>addr)</a:t>
            </a:r>
            <a:r>
              <a:rPr sz="700" spc="120" dirty="0">
                <a:latin typeface="Times New Roman"/>
                <a:cs typeface="Times New Roman"/>
              </a:rPr>
              <a:t> </a:t>
            </a:r>
            <a:r>
              <a:rPr sz="700" dirty="0">
                <a:latin typeface="Times New Roman"/>
                <a:cs typeface="Times New Roman"/>
              </a:rPr>
              <a:t>=</a:t>
            </a:r>
            <a:r>
              <a:rPr sz="700" spc="120" dirty="0">
                <a:latin typeface="Times New Roman"/>
                <a:cs typeface="Times New Roman"/>
              </a:rPr>
              <a:t> </a:t>
            </a:r>
            <a:r>
              <a:rPr sz="700" spc="80" dirty="0">
                <a:latin typeface="Times New Roman"/>
                <a:cs typeface="Times New Roman"/>
              </a:rPr>
              <a:t>s.accept()</a:t>
            </a:r>
            <a:r>
              <a:rPr sz="700" spc="484" dirty="0">
                <a:latin typeface="Times New Roman"/>
                <a:cs typeface="Times New Roman"/>
              </a:rPr>
              <a:t> </a:t>
            </a:r>
            <a:r>
              <a:rPr sz="700" i="1" spc="65" dirty="0">
                <a:solidFill>
                  <a:srgbClr val="009600"/>
                </a:solidFill>
                <a:latin typeface="Times New Roman"/>
                <a:cs typeface="Times New Roman"/>
              </a:rPr>
              <a:t>#</a:t>
            </a:r>
            <a:r>
              <a:rPr sz="700" i="1" spc="95" dirty="0">
                <a:solidFill>
                  <a:srgbClr val="009600"/>
                </a:solidFill>
                <a:latin typeface="Times New Roman"/>
                <a:cs typeface="Times New Roman"/>
              </a:rPr>
              <a:t> </a:t>
            </a:r>
            <a:r>
              <a:rPr sz="700" i="1" spc="70" dirty="0">
                <a:solidFill>
                  <a:srgbClr val="009600"/>
                </a:solidFill>
                <a:latin typeface="Times New Roman"/>
                <a:cs typeface="Times New Roman"/>
              </a:rPr>
              <a:t>returns</a:t>
            </a:r>
            <a:r>
              <a:rPr sz="700" i="1" spc="75" dirty="0">
                <a:solidFill>
                  <a:srgbClr val="009600"/>
                </a:solidFill>
                <a:latin typeface="Times New Roman"/>
                <a:cs typeface="Times New Roman"/>
              </a:rPr>
              <a:t> </a:t>
            </a:r>
            <a:r>
              <a:rPr sz="700" i="1" dirty="0">
                <a:solidFill>
                  <a:srgbClr val="009600"/>
                </a:solidFill>
                <a:latin typeface="Times New Roman"/>
                <a:cs typeface="Times New Roman"/>
              </a:rPr>
              <a:t>new</a:t>
            </a:r>
            <a:r>
              <a:rPr sz="700" i="1" spc="80" dirty="0">
                <a:solidFill>
                  <a:srgbClr val="009600"/>
                </a:solidFill>
                <a:latin typeface="Times New Roman"/>
                <a:cs typeface="Times New Roman"/>
              </a:rPr>
              <a:t> </a:t>
            </a:r>
            <a:r>
              <a:rPr sz="700" i="1" spc="75" dirty="0">
                <a:solidFill>
                  <a:srgbClr val="009600"/>
                </a:solidFill>
                <a:latin typeface="Times New Roman"/>
                <a:cs typeface="Times New Roman"/>
              </a:rPr>
              <a:t>socket </a:t>
            </a:r>
            <a:r>
              <a:rPr sz="700" i="1" dirty="0">
                <a:solidFill>
                  <a:srgbClr val="009600"/>
                </a:solidFill>
                <a:latin typeface="Times New Roman"/>
                <a:cs typeface="Times New Roman"/>
              </a:rPr>
              <a:t>and</a:t>
            </a:r>
            <a:r>
              <a:rPr sz="700" i="1" spc="85" dirty="0">
                <a:solidFill>
                  <a:srgbClr val="009600"/>
                </a:solidFill>
                <a:latin typeface="Times New Roman"/>
                <a:cs typeface="Times New Roman"/>
              </a:rPr>
              <a:t> </a:t>
            </a:r>
            <a:r>
              <a:rPr sz="700" i="1" spc="60" dirty="0">
                <a:solidFill>
                  <a:srgbClr val="009600"/>
                </a:solidFill>
                <a:latin typeface="Times New Roman"/>
                <a:cs typeface="Times New Roman"/>
              </a:rPr>
              <a:t>addr.</a:t>
            </a:r>
            <a:r>
              <a:rPr sz="700" i="1" spc="95" dirty="0">
                <a:solidFill>
                  <a:srgbClr val="009600"/>
                </a:solidFill>
                <a:latin typeface="Times New Roman"/>
                <a:cs typeface="Times New Roman"/>
              </a:rPr>
              <a:t> client</a:t>
            </a:r>
            <a:endParaRPr sz="700" dirty="0">
              <a:latin typeface="Times New Roman"/>
              <a:cs typeface="Times New Roman"/>
            </a:endParaRPr>
          </a:p>
          <a:p>
            <a:pPr marL="264795">
              <a:lnSpc>
                <a:spcPts val="780"/>
              </a:lnSpc>
              <a:tabLst>
                <a:tab pos="1569720" algn="l"/>
              </a:tabLst>
            </a:pPr>
            <a:r>
              <a:rPr sz="500" dirty="0">
                <a:latin typeface="Times New Roman"/>
                <a:cs typeface="Times New Roman"/>
              </a:rPr>
              <a:t>5</a:t>
            </a:r>
            <a:r>
              <a:rPr sz="500" spc="245" dirty="0">
                <a:latin typeface="Times New Roman"/>
                <a:cs typeface="Times New Roman"/>
              </a:rPr>
              <a:t>  </a:t>
            </a:r>
            <a:r>
              <a:rPr sz="700" b="1" dirty="0">
                <a:solidFill>
                  <a:srgbClr val="FF0059"/>
                </a:solidFill>
                <a:latin typeface="Times New Roman"/>
                <a:cs typeface="Times New Roman"/>
              </a:rPr>
              <a:t>while</a:t>
            </a:r>
            <a:r>
              <a:rPr sz="700" b="1" spc="145" dirty="0">
                <a:solidFill>
                  <a:srgbClr val="FF0059"/>
                </a:solidFill>
                <a:latin typeface="Times New Roman"/>
                <a:cs typeface="Times New Roman"/>
              </a:rPr>
              <a:t> </a:t>
            </a:r>
            <a:r>
              <a:rPr sz="700" spc="35" dirty="0">
                <a:latin typeface="Times New Roman"/>
                <a:cs typeface="Times New Roman"/>
              </a:rPr>
              <a:t>True:</a:t>
            </a:r>
            <a:r>
              <a:rPr sz="700" dirty="0">
                <a:latin typeface="Times New Roman"/>
                <a:cs typeface="Times New Roman"/>
              </a:rPr>
              <a:t>	</a:t>
            </a:r>
            <a:r>
              <a:rPr sz="700" i="1" spc="65" dirty="0">
                <a:solidFill>
                  <a:srgbClr val="009600"/>
                </a:solidFill>
                <a:latin typeface="Times New Roman"/>
                <a:cs typeface="Times New Roman"/>
              </a:rPr>
              <a:t>#</a:t>
            </a:r>
            <a:r>
              <a:rPr sz="700" i="1" spc="75" dirty="0">
                <a:solidFill>
                  <a:srgbClr val="009600"/>
                </a:solidFill>
                <a:latin typeface="Times New Roman"/>
                <a:cs typeface="Times New Roman"/>
              </a:rPr>
              <a:t> </a:t>
            </a:r>
            <a:r>
              <a:rPr sz="700" i="1" spc="60" dirty="0">
                <a:solidFill>
                  <a:srgbClr val="009600"/>
                </a:solidFill>
                <a:latin typeface="Times New Roman"/>
                <a:cs typeface="Times New Roman"/>
              </a:rPr>
              <a:t>forever</a:t>
            </a:r>
            <a:endParaRPr sz="700" dirty="0">
              <a:latin typeface="Times New Roman"/>
              <a:cs typeface="Times New Roman"/>
            </a:endParaRPr>
          </a:p>
        </p:txBody>
      </p:sp>
      <p:sp>
        <p:nvSpPr>
          <p:cNvPr id="16" name="object 6"/>
          <p:cNvSpPr txBox="1"/>
          <p:nvPr/>
        </p:nvSpPr>
        <p:spPr>
          <a:xfrm>
            <a:off x="476250" y="1196975"/>
            <a:ext cx="3102610" cy="314325"/>
          </a:xfrm>
          <a:prstGeom prst="rect">
            <a:avLst/>
          </a:prstGeom>
        </p:spPr>
        <p:txBody>
          <a:bodyPr vert="horz" wrap="square" lIns="0" tIns="12065" rIns="0" bIns="0" rtlCol="0">
            <a:spAutoFit/>
          </a:bodyPr>
          <a:lstStyle/>
          <a:p>
            <a:pPr marL="38100">
              <a:lnSpc>
                <a:spcPts val="780"/>
              </a:lnSpc>
              <a:spcBef>
                <a:spcPts val="95"/>
              </a:spcBef>
            </a:pPr>
            <a:r>
              <a:rPr sz="700" spc="80" dirty="0">
                <a:latin typeface="Times New Roman"/>
                <a:cs typeface="Times New Roman"/>
              </a:rPr>
              <a:t>data</a:t>
            </a:r>
            <a:r>
              <a:rPr sz="700" spc="170" dirty="0">
                <a:latin typeface="Times New Roman"/>
                <a:cs typeface="Times New Roman"/>
              </a:rPr>
              <a:t> </a:t>
            </a:r>
            <a:r>
              <a:rPr sz="700" dirty="0">
                <a:latin typeface="Times New Roman"/>
                <a:cs typeface="Times New Roman"/>
              </a:rPr>
              <a:t>=</a:t>
            </a:r>
            <a:r>
              <a:rPr sz="700" spc="175" dirty="0">
                <a:latin typeface="Times New Roman"/>
                <a:cs typeface="Times New Roman"/>
              </a:rPr>
              <a:t> </a:t>
            </a:r>
            <a:r>
              <a:rPr sz="700" dirty="0">
                <a:latin typeface="Times New Roman"/>
                <a:cs typeface="Times New Roman"/>
              </a:rPr>
              <a:t>conn.recv(1024)</a:t>
            </a:r>
            <a:r>
              <a:rPr sz="700" spc="470" dirty="0">
                <a:latin typeface="Times New Roman"/>
                <a:cs typeface="Times New Roman"/>
              </a:rPr>
              <a:t>  </a:t>
            </a:r>
            <a:r>
              <a:rPr sz="700" i="1" spc="65" dirty="0">
                <a:solidFill>
                  <a:srgbClr val="009600"/>
                </a:solidFill>
                <a:latin typeface="Times New Roman"/>
                <a:cs typeface="Times New Roman"/>
              </a:rPr>
              <a:t>#</a:t>
            </a:r>
            <a:r>
              <a:rPr sz="700" i="1" spc="175" dirty="0">
                <a:solidFill>
                  <a:srgbClr val="009600"/>
                </a:solidFill>
                <a:latin typeface="Times New Roman"/>
                <a:cs typeface="Times New Roman"/>
              </a:rPr>
              <a:t> </a:t>
            </a:r>
            <a:r>
              <a:rPr sz="700" i="1" spc="70" dirty="0">
                <a:solidFill>
                  <a:srgbClr val="009600"/>
                </a:solidFill>
                <a:latin typeface="Times New Roman"/>
                <a:cs typeface="Times New Roman"/>
              </a:rPr>
              <a:t>receive</a:t>
            </a:r>
            <a:r>
              <a:rPr sz="700" i="1" spc="140" dirty="0">
                <a:solidFill>
                  <a:srgbClr val="009600"/>
                </a:solidFill>
                <a:latin typeface="Times New Roman"/>
                <a:cs typeface="Times New Roman"/>
              </a:rPr>
              <a:t> </a:t>
            </a:r>
            <a:r>
              <a:rPr sz="700" i="1" spc="60" dirty="0">
                <a:solidFill>
                  <a:srgbClr val="009600"/>
                </a:solidFill>
                <a:latin typeface="Times New Roman"/>
                <a:cs typeface="Times New Roman"/>
              </a:rPr>
              <a:t>data</a:t>
            </a:r>
            <a:r>
              <a:rPr sz="700" i="1" spc="145" dirty="0">
                <a:solidFill>
                  <a:srgbClr val="009600"/>
                </a:solidFill>
                <a:latin typeface="Times New Roman"/>
                <a:cs typeface="Times New Roman"/>
              </a:rPr>
              <a:t> </a:t>
            </a:r>
            <a:r>
              <a:rPr sz="700" i="1" dirty="0">
                <a:solidFill>
                  <a:srgbClr val="009600"/>
                </a:solidFill>
                <a:latin typeface="Times New Roman"/>
                <a:cs typeface="Times New Roman"/>
              </a:rPr>
              <a:t>from</a:t>
            </a:r>
            <a:r>
              <a:rPr sz="700" i="1" spc="140" dirty="0">
                <a:solidFill>
                  <a:srgbClr val="009600"/>
                </a:solidFill>
                <a:latin typeface="Times New Roman"/>
                <a:cs typeface="Times New Roman"/>
              </a:rPr>
              <a:t> </a:t>
            </a:r>
            <a:r>
              <a:rPr sz="700" i="1" spc="95" dirty="0">
                <a:solidFill>
                  <a:srgbClr val="009600"/>
                </a:solidFill>
                <a:latin typeface="Times New Roman"/>
                <a:cs typeface="Times New Roman"/>
              </a:rPr>
              <a:t>client</a:t>
            </a:r>
            <a:endParaRPr sz="700" dirty="0">
              <a:latin typeface="Times New Roman"/>
              <a:cs typeface="Times New Roman"/>
            </a:endParaRPr>
          </a:p>
          <a:p>
            <a:pPr marL="38735">
              <a:lnSpc>
                <a:spcPts val="715"/>
              </a:lnSpc>
              <a:tabLst>
                <a:tab pos="1147445" algn="l"/>
              </a:tabLst>
            </a:pPr>
            <a:r>
              <a:rPr sz="700" b="1" spc="175" dirty="0">
                <a:solidFill>
                  <a:srgbClr val="FF0059"/>
                </a:solidFill>
                <a:latin typeface="Times New Roman"/>
                <a:cs typeface="Times New Roman"/>
              </a:rPr>
              <a:t>if</a:t>
            </a:r>
            <a:r>
              <a:rPr sz="700" b="1" spc="75" dirty="0">
                <a:solidFill>
                  <a:srgbClr val="FF0059"/>
                </a:solidFill>
                <a:latin typeface="Times New Roman"/>
                <a:cs typeface="Times New Roman"/>
              </a:rPr>
              <a:t> </a:t>
            </a:r>
            <a:r>
              <a:rPr sz="700" b="1" spc="55" dirty="0">
                <a:solidFill>
                  <a:srgbClr val="FF0059"/>
                </a:solidFill>
                <a:latin typeface="Times New Roman"/>
                <a:cs typeface="Times New Roman"/>
              </a:rPr>
              <a:t>not</a:t>
            </a:r>
            <a:r>
              <a:rPr sz="700" b="1" spc="70" dirty="0">
                <a:solidFill>
                  <a:srgbClr val="FF0059"/>
                </a:solidFill>
                <a:latin typeface="Times New Roman"/>
                <a:cs typeface="Times New Roman"/>
              </a:rPr>
              <a:t> </a:t>
            </a:r>
            <a:r>
              <a:rPr sz="700" spc="90" dirty="0">
                <a:latin typeface="Times New Roman"/>
                <a:cs typeface="Times New Roman"/>
              </a:rPr>
              <a:t>data:</a:t>
            </a:r>
            <a:r>
              <a:rPr sz="700" spc="85" dirty="0">
                <a:latin typeface="Times New Roman"/>
                <a:cs typeface="Times New Roman"/>
              </a:rPr>
              <a:t> </a:t>
            </a:r>
            <a:r>
              <a:rPr sz="700" b="1" spc="-10" dirty="0">
                <a:solidFill>
                  <a:srgbClr val="FF0059"/>
                </a:solidFill>
                <a:latin typeface="Times New Roman"/>
                <a:cs typeface="Times New Roman"/>
              </a:rPr>
              <a:t>break</a:t>
            </a:r>
            <a:r>
              <a:rPr sz="700" b="1" dirty="0">
                <a:solidFill>
                  <a:srgbClr val="FF0059"/>
                </a:solidFill>
                <a:latin typeface="Times New Roman"/>
                <a:cs typeface="Times New Roman"/>
              </a:rPr>
              <a:t>	</a:t>
            </a:r>
            <a:r>
              <a:rPr sz="700" i="1" spc="65" dirty="0">
                <a:solidFill>
                  <a:srgbClr val="009600"/>
                </a:solidFill>
                <a:latin typeface="Times New Roman"/>
                <a:cs typeface="Times New Roman"/>
              </a:rPr>
              <a:t>#</a:t>
            </a:r>
            <a:r>
              <a:rPr sz="700" i="1" spc="85" dirty="0">
                <a:solidFill>
                  <a:srgbClr val="009600"/>
                </a:solidFill>
                <a:latin typeface="Times New Roman"/>
                <a:cs typeface="Times New Roman"/>
              </a:rPr>
              <a:t> </a:t>
            </a:r>
            <a:r>
              <a:rPr sz="700" i="1" spc="80" dirty="0">
                <a:solidFill>
                  <a:srgbClr val="009600"/>
                </a:solidFill>
                <a:latin typeface="Times New Roman"/>
                <a:cs typeface="Times New Roman"/>
              </a:rPr>
              <a:t>stop</a:t>
            </a:r>
            <a:r>
              <a:rPr sz="700" i="1" spc="75" dirty="0">
                <a:solidFill>
                  <a:srgbClr val="009600"/>
                </a:solidFill>
                <a:latin typeface="Times New Roman"/>
                <a:cs typeface="Times New Roman"/>
              </a:rPr>
              <a:t> </a:t>
            </a:r>
            <a:r>
              <a:rPr sz="700" i="1" spc="195" dirty="0">
                <a:solidFill>
                  <a:srgbClr val="009600"/>
                </a:solidFill>
                <a:latin typeface="Times New Roman"/>
                <a:cs typeface="Times New Roman"/>
              </a:rPr>
              <a:t>if</a:t>
            </a:r>
            <a:r>
              <a:rPr sz="700" i="1" spc="75" dirty="0">
                <a:solidFill>
                  <a:srgbClr val="009600"/>
                </a:solidFill>
                <a:latin typeface="Times New Roman"/>
                <a:cs typeface="Times New Roman"/>
              </a:rPr>
              <a:t> </a:t>
            </a:r>
            <a:r>
              <a:rPr sz="700" i="1" spc="105" dirty="0">
                <a:solidFill>
                  <a:srgbClr val="009600"/>
                </a:solidFill>
                <a:latin typeface="Times New Roman"/>
                <a:cs typeface="Times New Roman"/>
              </a:rPr>
              <a:t>client</a:t>
            </a:r>
            <a:r>
              <a:rPr sz="700" i="1" spc="55" dirty="0">
                <a:solidFill>
                  <a:srgbClr val="009600"/>
                </a:solidFill>
                <a:latin typeface="Times New Roman"/>
                <a:cs typeface="Times New Roman"/>
              </a:rPr>
              <a:t> </a:t>
            </a:r>
            <a:r>
              <a:rPr sz="700" i="1" spc="40" dirty="0">
                <a:solidFill>
                  <a:srgbClr val="009600"/>
                </a:solidFill>
                <a:latin typeface="Times New Roman"/>
                <a:cs typeface="Times New Roman"/>
              </a:rPr>
              <a:t>stopped</a:t>
            </a:r>
            <a:endParaRPr sz="700" dirty="0">
              <a:latin typeface="Times New Roman"/>
              <a:cs typeface="Times New Roman"/>
            </a:endParaRPr>
          </a:p>
          <a:p>
            <a:pPr marL="38100">
              <a:lnSpc>
                <a:spcPts val="780"/>
              </a:lnSpc>
            </a:pPr>
            <a:r>
              <a:rPr sz="700" dirty="0">
                <a:latin typeface="Times New Roman"/>
                <a:cs typeface="Times New Roman"/>
              </a:rPr>
              <a:t>msg</a:t>
            </a:r>
            <a:r>
              <a:rPr sz="700" spc="110" dirty="0">
                <a:latin typeface="Times New Roman"/>
                <a:cs typeface="Times New Roman"/>
              </a:rPr>
              <a:t> </a:t>
            </a:r>
            <a:r>
              <a:rPr sz="700" dirty="0">
                <a:latin typeface="Times New Roman"/>
                <a:cs typeface="Times New Roman"/>
              </a:rPr>
              <a:t>=</a:t>
            </a:r>
            <a:r>
              <a:rPr sz="700" spc="105" dirty="0">
                <a:latin typeface="Times New Roman"/>
                <a:cs typeface="Times New Roman"/>
              </a:rPr>
              <a:t> </a:t>
            </a:r>
            <a:r>
              <a:rPr sz="700" spc="50" dirty="0">
                <a:latin typeface="Times New Roman"/>
                <a:cs typeface="Times New Roman"/>
              </a:rPr>
              <a:t>data.decode()+</a:t>
            </a:r>
            <a:r>
              <a:rPr sz="700" spc="50" dirty="0">
                <a:solidFill>
                  <a:srgbClr val="C80000"/>
                </a:solidFill>
                <a:latin typeface="Times New Roman"/>
                <a:cs typeface="Times New Roman"/>
              </a:rPr>
              <a:t>"</a:t>
            </a:r>
            <a:r>
              <a:rPr sz="1050" spc="75" baseline="-7936" dirty="0">
                <a:solidFill>
                  <a:srgbClr val="C80000"/>
                </a:solidFill>
                <a:latin typeface="Times New Roman"/>
                <a:cs typeface="Times New Roman"/>
              </a:rPr>
              <a:t>*</a:t>
            </a:r>
            <a:r>
              <a:rPr sz="700" spc="50" dirty="0">
                <a:solidFill>
                  <a:srgbClr val="C80000"/>
                </a:solidFill>
                <a:latin typeface="Times New Roman"/>
                <a:cs typeface="Times New Roman"/>
              </a:rPr>
              <a:t>"</a:t>
            </a:r>
            <a:r>
              <a:rPr sz="700" spc="165" dirty="0">
                <a:solidFill>
                  <a:srgbClr val="C80000"/>
                </a:solidFill>
                <a:latin typeface="Times New Roman"/>
                <a:cs typeface="Times New Roman"/>
              </a:rPr>
              <a:t>  </a:t>
            </a:r>
            <a:r>
              <a:rPr sz="700" i="1" spc="65" dirty="0">
                <a:solidFill>
                  <a:srgbClr val="009600"/>
                </a:solidFill>
                <a:latin typeface="Times New Roman"/>
                <a:cs typeface="Times New Roman"/>
              </a:rPr>
              <a:t>#</a:t>
            </a:r>
            <a:r>
              <a:rPr sz="700" i="1" spc="105" dirty="0">
                <a:solidFill>
                  <a:srgbClr val="009600"/>
                </a:solidFill>
                <a:latin typeface="Times New Roman"/>
                <a:cs typeface="Times New Roman"/>
              </a:rPr>
              <a:t> </a:t>
            </a:r>
            <a:r>
              <a:rPr sz="700" i="1" spc="55" dirty="0">
                <a:solidFill>
                  <a:srgbClr val="009600"/>
                </a:solidFill>
                <a:latin typeface="Times New Roman"/>
                <a:cs typeface="Times New Roman"/>
              </a:rPr>
              <a:t>process</a:t>
            </a:r>
            <a:r>
              <a:rPr sz="700" i="1" spc="80"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80" dirty="0">
                <a:solidFill>
                  <a:srgbClr val="009600"/>
                </a:solidFill>
                <a:latin typeface="Times New Roman"/>
                <a:cs typeface="Times New Roman"/>
              </a:rPr>
              <a:t> </a:t>
            </a:r>
            <a:r>
              <a:rPr sz="700" i="1" dirty="0">
                <a:solidFill>
                  <a:srgbClr val="009600"/>
                </a:solidFill>
                <a:latin typeface="Times New Roman"/>
                <a:cs typeface="Times New Roman"/>
              </a:rPr>
              <a:t>incoming</a:t>
            </a:r>
            <a:r>
              <a:rPr sz="700" i="1" spc="75" dirty="0">
                <a:solidFill>
                  <a:srgbClr val="009600"/>
                </a:solidFill>
                <a:latin typeface="Times New Roman"/>
                <a:cs typeface="Times New Roman"/>
              </a:rPr>
              <a:t> </a:t>
            </a:r>
            <a:r>
              <a:rPr sz="700" i="1" spc="60" dirty="0">
                <a:solidFill>
                  <a:srgbClr val="009600"/>
                </a:solidFill>
                <a:latin typeface="Times New Roman"/>
                <a:cs typeface="Times New Roman"/>
              </a:rPr>
              <a:t>data</a:t>
            </a:r>
            <a:r>
              <a:rPr sz="700" i="1" spc="85" dirty="0">
                <a:solidFill>
                  <a:srgbClr val="009600"/>
                </a:solidFill>
                <a:latin typeface="Times New Roman"/>
                <a:cs typeface="Times New Roman"/>
              </a:rPr>
              <a:t> </a:t>
            </a:r>
            <a:r>
              <a:rPr sz="700" i="1" spc="100" dirty="0">
                <a:solidFill>
                  <a:srgbClr val="009600"/>
                </a:solidFill>
                <a:latin typeface="Times New Roman"/>
                <a:cs typeface="Times New Roman"/>
              </a:rPr>
              <a:t>into</a:t>
            </a:r>
            <a:r>
              <a:rPr sz="700" i="1" spc="105" dirty="0">
                <a:solidFill>
                  <a:srgbClr val="009600"/>
                </a:solidFill>
                <a:latin typeface="Times New Roman"/>
                <a:cs typeface="Times New Roman"/>
              </a:rPr>
              <a:t> </a:t>
            </a:r>
            <a:r>
              <a:rPr sz="700" i="1" spc="65" dirty="0">
                <a:solidFill>
                  <a:srgbClr val="009600"/>
                </a:solidFill>
                <a:latin typeface="Times New Roman"/>
                <a:cs typeface="Times New Roman"/>
              </a:rPr>
              <a:t>a</a:t>
            </a:r>
            <a:r>
              <a:rPr sz="700" i="1" spc="100" dirty="0">
                <a:solidFill>
                  <a:srgbClr val="009600"/>
                </a:solidFill>
                <a:latin typeface="Times New Roman"/>
                <a:cs typeface="Times New Roman"/>
              </a:rPr>
              <a:t> </a:t>
            </a:r>
            <a:r>
              <a:rPr sz="700" i="1" spc="35" dirty="0">
                <a:solidFill>
                  <a:srgbClr val="009600"/>
                </a:solidFill>
                <a:latin typeface="Times New Roman"/>
                <a:cs typeface="Times New Roman"/>
              </a:rPr>
              <a:t>response</a:t>
            </a:r>
            <a:endParaRPr sz="700" dirty="0">
              <a:latin typeface="Times New Roman"/>
              <a:cs typeface="Times New Roman"/>
            </a:endParaRPr>
          </a:p>
        </p:txBody>
      </p:sp>
      <p:sp>
        <p:nvSpPr>
          <p:cNvPr id="17" name="object 7"/>
          <p:cNvSpPr txBox="1"/>
          <p:nvPr/>
        </p:nvSpPr>
        <p:spPr>
          <a:xfrm>
            <a:off x="306298" y="1207098"/>
            <a:ext cx="63500" cy="389890"/>
          </a:xfrm>
          <a:prstGeom prst="rect">
            <a:avLst/>
          </a:prstGeom>
        </p:spPr>
        <p:txBody>
          <a:bodyPr vert="horz" wrap="square" lIns="0" tIns="27305" rIns="0" bIns="0" rtlCol="0">
            <a:spAutoFit/>
          </a:bodyPr>
          <a:lstStyle/>
          <a:p>
            <a:pPr marL="12700">
              <a:lnSpc>
                <a:spcPct val="100000"/>
              </a:lnSpc>
              <a:spcBef>
                <a:spcPts val="215"/>
              </a:spcBef>
            </a:pPr>
            <a:r>
              <a:rPr sz="500" spc="45" dirty="0">
                <a:latin typeface="Times New Roman"/>
                <a:cs typeface="Times New Roman"/>
              </a:rPr>
              <a:t>6</a:t>
            </a:r>
            <a:endParaRPr sz="500" dirty="0">
              <a:latin typeface="Times New Roman"/>
              <a:cs typeface="Times New Roman"/>
            </a:endParaRPr>
          </a:p>
          <a:p>
            <a:pPr marL="12700">
              <a:lnSpc>
                <a:spcPct val="100000"/>
              </a:lnSpc>
              <a:spcBef>
                <a:spcPts val="120"/>
              </a:spcBef>
            </a:pPr>
            <a:r>
              <a:rPr sz="500" spc="45" dirty="0">
                <a:latin typeface="Times New Roman"/>
                <a:cs typeface="Times New Roman"/>
              </a:rPr>
              <a:t>7</a:t>
            </a:r>
            <a:endParaRPr sz="500" dirty="0">
              <a:latin typeface="Times New Roman"/>
              <a:cs typeface="Times New Roman"/>
            </a:endParaRPr>
          </a:p>
          <a:p>
            <a:pPr marL="12700">
              <a:lnSpc>
                <a:spcPct val="100000"/>
              </a:lnSpc>
              <a:spcBef>
                <a:spcPts val="114"/>
              </a:spcBef>
            </a:pPr>
            <a:r>
              <a:rPr sz="500" spc="45" dirty="0">
                <a:latin typeface="Times New Roman"/>
                <a:cs typeface="Times New Roman"/>
              </a:rPr>
              <a:t>8</a:t>
            </a:r>
            <a:endParaRPr sz="500" dirty="0">
              <a:latin typeface="Times New Roman"/>
              <a:cs typeface="Times New Roman"/>
            </a:endParaRPr>
          </a:p>
          <a:p>
            <a:pPr marL="12700">
              <a:lnSpc>
                <a:spcPct val="100000"/>
              </a:lnSpc>
              <a:spcBef>
                <a:spcPts val="120"/>
              </a:spcBef>
            </a:pPr>
            <a:r>
              <a:rPr sz="500" spc="45" dirty="0">
                <a:latin typeface="Times New Roman"/>
                <a:cs typeface="Times New Roman"/>
              </a:rPr>
              <a:t>9</a:t>
            </a:r>
            <a:endParaRPr sz="500" dirty="0">
              <a:latin typeface="Times New Roman"/>
              <a:cs typeface="Times New Roman"/>
            </a:endParaRPr>
          </a:p>
        </p:txBody>
      </p:sp>
      <p:sp>
        <p:nvSpPr>
          <p:cNvPr id="18" name="object 8"/>
          <p:cNvSpPr txBox="1"/>
          <p:nvPr/>
        </p:nvSpPr>
        <p:spPr>
          <a:xfrm>
            <a:off x="501650" y="1470266"/>
            <a:ext cx="2077720" cy="132080"/>
          </a:xfrm>
          <a:prstGeom prst="rect">
            <a:avLst/>
          </a:prstGeom>
        </p:spPr>
        <p:txBody>
          <a:bodyPr vert="horz" wrap="square" lIns="0" tIns="12065" rIns="0" bIns="0" rtlCol="0">
            <a:spAutoFit/>
          </a:bodyPr>
          <a:lstStyle/>
          <a:p>
            <a:pPr marL="12700">
              <a:lnSpc>
                <a:spcPct val="100000"/>
              </a:lnSpc>
              <a:spcBef>
                <a:spcPts val="95"/>
              </a:spcBef>
            </a:pPr>
            <a:r>
              <a:rPr sz="700" dirty="0">
                <a:latin typeface="Times New Roman"/>
                <a:cs typeface="Times New Roman"/>
              </a:rPr>
              <a:t>conn.send(msg.encode())</a:t>
            </a:r>
            <a:r>
              <a:rPr sz="700" spc="350" dirty="0">
                <a:latin typeface="Times New Roman"/>
                <a:cs typeface="Times New Roman"/>
              </a:rPr>
              <a:t>  </a:t>
            </a:r>
            <a:r>
              <a:rPr sz="700" i="1" spc="65" dirty="0">
                <a:solidFill>
                  <a:srgbClr val="009600"/>
                </a:solidFill>
                <a:latin typeface="Times New Roman"/>
                <a:cs typeface="Times New Roman"/>
              </a:rPr>
              <a:t>#</a:t>
            </a:r>
            <a:r>
              <a:rPr sz="700" i="1" spc="254" dirty="0">
                <a:solidFill>
                  <a:srgbClr val="009600"/>
                </a:solidFill>
                <a:latin typeface="Times New Roman"/>
                <a:cs typeface="Times New Roman"/>
              </a:rPr>
              <a:t> </a:t>
            </a:r>
            <a:r>
              <a:rPr sz="700" i="1" spc="75" dirty="0">
                <a:solidFill>
                  <a:srgbClr val="009600"/>
                </a:solidFill>
                <a:latin typeface="Times New Roman"/>
                <a:cs typeface="Times New Roman"/>
              </a:rPr>
              <a:t>return</a:t>
            </a:r>
            <a:r>
              <a:rPr sz="700" i="1" spc="229"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220" dirty="0">
                <a:solidFill>
                  <a:srgbClr val="009600"/>
                </a:solidFill>
                <a:latin typeface="Times New Roman"/>
                <a:cs typeface="Times New Roman"/>
              </a:rPr>
              <a:t> </a:t>
            </a:r>
            <a:r>
              <a:rPr sz="700" i="1" spc="35" dirty="0">
                <a:solidFill>
                  <a:srgbClr val="009600"/>
                </a:solidFill>
                <a:latin typeface="Times New Roman"/>
                <a:cs typeface="Times New Roman"/>
              </a:rPr>
              <a:t>response</a:t>
            </a:r>
            <a:endParaRPr sz="700">
              <a:latin typeface="Times New Roman"/>
              <a:cs typeface="Times New Roman"/>
            </a:endParaRPr>
          </a:p>
        </p:txBody>
      </p:sp>
      <p:sp>
        <p:nvSpPr>
          <p:cNvPr id="19" name="object 9"/>
          <p:cNvSpPr txBox="1"/>
          <p:nvPr/>
        </p:nvSpPr>
        <p:spPr>
          <a:xfrm>
            <a:off x="260350" y="1730375"/>
            <a:ext cx="3168650" cy="1211580"/>
          </a:xfrm>
          <a:prstGeom prst="rect">
            <a:avLst/>
          </a:prstGeom>
        </p:spPr>
        <p:txBody>
          <a:bodyPr vert="horz" wrap="square" lIns="0" tIns="12065" rIns="0" bIns="0" rtlCol="0">
            <a:spAutoFit/>
          </a:bodyPr>
          <a:lstStyle/>
          <a:p>
            <a:pPr marL="25400">
              <a:lnSpc>
                <a:spcPct val="100000"/>
              </a:lnSpc>
              <a:spcBef>
                <a:spcPts val="95"/>
              </a:spcBef>
              <a:tabLst>
                <a:tab pos="1368425" algn="l"/>
              </a:tabLst>
            </a:pPr>
            <a:r>
              <a:rPr sz="500" dirty="0">
                <a:latin typeface="Times New Roman"/>
                <a:cs typeface="Times New Roman"/>
              </a:rPr>
              <a:t>10</a:t>
            </a:r>
            <a:r>
              <a:rPr sz="500" spc="190" dirty="0">
                <a:latin typeface="Times New Roman"/>
                <a:cs typeface="Times New Roman"/>
              </a:rPr>
              <a:t>  </a:t>
            </a:r>
            <a:r>
              <a:rPr sz="700" spc="55" dirty="0">
                <a:latin typeface="Times New Roman"/>
                <a:cs typeface="Times New Roman"/>
              </a:rPr>
              <a:t>conn.close()</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close</a:t>
            </a:r>
            <a:r>
              <a:rPr sz="700" i="1" spc="6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55" dirty="0">
                <a:solidFill>
                  <a:srgbClr val="009600"/>
                </a:solidFill>
                <a:latin typeface="Times New Roman"/>
                <a:cs typeface="Times New Roman"/>
              </a:rPr>
              <a:t> </a:t>
            </a:r>
            <a:r>
              <a:rPr sz="700" i="1" spc="40" dirty="0">
                <a:solidFill>
                  <a:srgbClr val="009600"/>
                </a:solidFill>
                <a:latin typeface="Times New Roman"/>
                <a:cs typeface="Times New Roman"/>
              </a:rPr>
              <a:t>connection</a:t>
            </a:r>
            <a:endParaRPr sz="700" dirty="0">
              <a:latin typeface="Times New Roman"/>
              <a:cs typeface="Times New Roman"/>
            </a:endParaRPr>
          </a:p>
          <a:p>
            <a:pPr>
              <a:lnSpc>
                <a:spcPct val="100000"/>
              </a:lnSpc>
            </a:pPr>
            <a:endParaRPr sz="700" dirty="0">
              <a:latin typeface="Times New Roman"/>
              <a:cs typeface="Times New Roman"/>
            </a:endParaRPr>
          </a:p>
          <a:p>
            <a:pPr marL="100965">
              <a:lnSpc>
                <a:spcPts val="1160"/>
              </a:lnSpc>
            </a:pPr>
            <a:r>
              <a:rPr sz="1000" spc="-10" dirty="0">
                <a:solidFill>
                  <a:srgbClr val="3333B2"/>
                </a:solidFill>
                <a:latin typeface="Arial"/>
                <a:cs typeface="Arial"/>
              </a:rPr>
              <a:t>Client</a:t>
            </a:r>
            <a:endParaRPr sz="1000" dirty="0">
              <a:latin typeface="Arial"/>
              <a:cs typeface="Arial"/>
            </a:endParaRPr>
          </a:p>
          <a:p>
            <a:pPr marL="63500">
              <a:lnSpc>
                <a:spcPts val="800"/>
              </a:lnSpc>
            </a:pPr>
            <a:r>
              <a:rPr sz="500" dirty="0">
                <a:latin typeface="Times New Roman"/>
                <a:cs typeface="Times New Roman"/>
              </a:rPr>
              <a:t>1</a:t>
            </a:r>
            <a:r>
              <a:rPr sz="500" spc="484" dirty="0">
                <a:latin typeface="Times New Roman"/>
                <a:cs typeface="Times New Roman"/>
              </a:rPr>
              <a:t> </a:t>
            </a:r>
            <a:r>
              <a:rPr sz="700" b="1" dirty="0">
                <a:solidFill>
                  <a:srgbClr val="FF0059"/>
                </a:solidFill>
                <a:latin typeface="Times New Roman"/>
                <a:cs typeface="Times New Roman"/>
              </a:rPr>
              <a:t>from</a:t>
            </a:r>
            <a:r>
              <a:rPr sz="700" b="1" spc="85" dirty="0">
                <a:solidFill>
                  <a:srgbClr val="FF0059"/>
                </a:solidFill>
                <a:latin typeface="Times New Roman"/>
                <a:cs typeface="Times New Roman"/>
              </a:rPr>
              <a:t> </a:t>
            </a:r>
            <a:r>
              <a:rPr sz="700" spc="65" dirty="0">
                <a:latin typeface="Times New Roman"/>
                <a:cs typeface="Times New Roman"/>
              </a:rPr>
              <a:t>socket</a:t>
            </a:r>
            <a:r>
              <a:rPr sz="700" spc="480" dirty="0">
                <a:latin typeface="Times New Roman"/>
                <a:cs typeface="Times New Roman"/>
              </a:rPr>
              <a:t> </a:t>
            </a:r>
            <a:r>
              <a:rPr sz="700" b="1" dirty="0">
                <a:solidFill>
                  <a:srgbClr val="FF0059"/>
                </a:solidFill>
                <a:latin typeface="Times New Roman"/>
                <a:cs typeface="Times New Roman"/>
              </a:rPr>
              <a:t>import</a:t>
            </a:r>
            <a:r>
              <a:rPr sz="700" b="1" spc="110" dirty="0">
                <a:solidFill>
                  <a:srgbClr val="FF0059"/>
                </a:solidFill>
                <a:latin typeface="Times New Roman"/>
                <a:cs typeface="Times New Roman"/>
              </a:rPr>
              <a:t> </a:t>
            </a:r>
            <a:r>
              <a:rPr sz="1050" spc="22" baseline="-7936" dirty="0">
                <a:latin typeface="Times New Roman"/>
                <a:cs typeface="Times New Roman"/>
              </a:rPr>
              <a:t>*</a:t>
            </a:r>
            <a:endParaRPr sz="1050" baseline="-7936" dirty="0">
              <a:latin typeface="Times New Roman"/>
              <a:cs typeface="Times New Roman"/>
            </a:endParaRPr>
          </a:p>
          <a:p>
            <a:pPr marL="63500">
              <a:lnSpc>
                <a:spcPts val="560"/>
              </a:lnSpc>
              <a:spcBef>
                <a:spcPts val="80"/>
              </a:spcBef>
            </a:pPr>
            <a:r>
              <a:rPr sz="500" spc="45" dirty="0">
                <a:latin typeface="Times New Roman"/>
                <a:cs typeface="Times New Roman"/>
              </a:rPr>
              <a:t>2</a:t>
            </a:r>
            <a:endParaRPr sz="500" dirty="0">
              <a:latin typeface="Times New Roman"/>
              <a:cs typeface="Times New Roman"/>
            </a:endParaRPr>
          </a:p>
          <a:p>
            <a:pPr marL="63500">
              <a:lnSpc>
                <a:spcPts val="735"/>
              </a:lnSpc>
            </a:pPr>
            <a:r>
              <a:rPr sz="500" dirty="0">
                <a:latin typeface="Times New Roman"/>
                <a:cs typeface="Times New Roman"/>
              </a:rPr>
              <a:t>3</a:t>
            </a:r>
            <a:r>
              <a:rPr sz="500" spc="220" dirty="0">
                <a:latin typeface="Times New Roman"/>
                <a:cs typeface="Times New Roman"/>
              </a:rPr>
              <a:t>  </a:t>
            </a:r>
            <a:r>
              <a:rPr sz="700" spc="140" dirty="0">
                <a:latin typeface="Times New Roman"/>
                <a:cs typeface="Times New Roman"/>
              </a:rPr>
              <a:t>s</a:t>
            </a:r>
            <a:r>
              <a:rPr sz="700" spc="170" dirty="0">
                <a:latin typeface="Times New Roman"/>
                <a:cs typeface="Times New Roman"/>
              </a:rPr>
              <a:t> </a:t>
            </a:r>
            <a:r>
              <a:rPr sz="700" dirty="0">
                <a:latin typeface="Times New Roman"/>
                <a:cs typeface="Times New Roman"/>
              </a:rPr>
              <a:t>=</a:t>
            </a:r>
            <a:r>
              <a:rPr sz="700" spc="135" dirty="0">
                <a:latin typeface="Times New Roman"/>
                <a:cs typeface="Times New Roman"/>
              </a:rPr>
              <a:t> </a:t>
            </a:r>
            <a:r>
              <a:rPr sz="700" dirty="0">
                <a:latin typeface="Times New Roman"/>
                <a:cs typeface="Times New Roman"/>
              </a:rPr>
              <a:t>socket(AF_INET,</a:t>
            </a:r>
            <a:r>
              <a:rPr sz="700" spc="130" dirty="0">
                <a:latin typeface="Times New Roman"/>
                <a:cs typeface="Times New Roman"/>
              </a:rPr>
              <a:t> </a:t>
            </a:r>
            <a:r>
              <a:rPr sz="700" spc="-25" dirty="0">
                <a:latin typeface="Times New Roman"/>
                <a:cs typeface="Times New Roman"/>
              </a:rPr>
              <a:t>SOCK_STREAM)</a:t>
            </a:r>
            <a:endParaRPr sz="700" dirty="0">
              <a:latin typeface="Times New Roman"/>
              <a:cs typeface="Times New Roman"/>
            </a:endParaRPr>
          </a:p>
          <a:p>
            <a:pPr marL="63500">
              <a:lnSpc>
                <a:spcPts val="715"/>
              </a:lnSpc>
            </a:pPr>
            <a:r>
              <a:rPr sz="500" dirty="0">
                <a:latin typeface="Times New Roman"/>
                <a:cs typeface="Times New Roman"/>
              </a:rPr>
              <a:t>4</a:t>
            </a:r>
            <a:r>
              <a:rPr sz="500" spc="210" dirty="0">
                <a:latin typeface="Times New Roman"/>
                <a:cs typeface="Times New Roman"/>
              </a:rPr>
              <a:t>  </a:t>
            </a:r>
            <a:r>
              <a:rPr sz="700" dirty="0">
                <a:latin typeface="Times New Roman"/>
                <a:cs typeface="Times New Roman"/>
              </a:rPr>
              <a:t>s.connect((HOST,</a:t>
            </a:r>
            <a:r>
              <a:rPr sz="700" spc="140" dirty="0">
                <a:latin typeface="Times New Roman"/>
                <a:cs typeface="Times New Roman"/>
              </a:rPr>
              <a:t> </a:t>
            </a:r>
            <a:r>
              <a:rPr sz="700" spc="-10" dirty="0">
                <a:latin typeface="Times New Roman"/>
                <a:cs typeface="Times New Roman"/>
              </a:rPr>
              <a:t>PORT))</a:t>
            </a:r>
            <a:r>
              <a:rPr sz="700" spc="145" dirty="0">
                <a:latin typeface="Times New Roman"/>
                <a:cs typeface="Times New Roman"/>
              </a:rPr>
              <a:t> </a:t>
            </a:r>
            <a:r>
              <a:rPr sz="700" i="1" spc="65" dirty="0">
                <a:solidFill>
                  <a:srgbClr val="009600"/>
                </a:solidFill>
                <a:latin typeface="Times New Roman"/>
                <a:cs typeface="Times New Roman"/>
              </a:rPr>
              <a:t>#</a:t>
            </a:r>
            <a:r>
              <a:rPr sz="700" i="1" spc="130" dirty="0">
                <a:solidFill>
                  <a:srgbClr val="009600"/>
                </a:solidFill>
                <a:latin typeface="Times New Roman"/>
                <a:cs typeface="Times New Roman"/>
              </a:rPr>
              <a:t> </a:t>
            </a:r>
            <a:r>
              <a:rPr sz="700" i="1" spc="50" dirty="0">
                <a:solidFill>
                  <a:srgbClr val="009600"/>
                </a:solidFill>
                <a:latin typeface="Times New Roman"/>
                <a:cs typeface="Times New Roman"/>
              </a:rPr>
              <a:t>connect</a:t>
            </a:r>
            <a:r>
              <a:rPr sz="700" i="1" spc="114" dirty="0">
                <a:solidFill>
                  <a:srgbClr val="009600"/>
                </a:solidFill>
                <a:latin typeface="Times New Roman"/>
                <a:cs typeface="Times New Roman"/>
              </a:rPr>
              <a:t> </a:t>
            </a:r>
            <a:r>
              <a:rPr sz="700" i="1" spc="120" dirty="0">
                <a:solidFill>
                  <a:srgbClr val="009600"/>
                </a:solidFill>
                <a:latin typeface="Times New Roman"/>
                <a:cs typeface="Times New Roman"/>
              </a:rPr>
              <a:t>to</a:t>
            </a:r>
            <a:r>
              <a:rPr sz="700" i="1" spc="114" dirty="0">
                <a:solidFill>
                  <a:srgbClr val="009600"/>
                </a:solidFill>
                <a:latin typeface="Times New Roman"/>
                <a:cs typeface="Times New Roman"/>
              </a:rPr>
              <a:t> </a:t>
            </a:r>
            <a:r>
              <a:rPr sz="700" i="1" spc="75" dirty="0">
                <a:solidFill>
                  <a:srgbClr val="009600"/>
                </a:solidFill>
                <a:latin typeface="Times New Roman"/>
                <a:cs typeface="Times New Roman"/>
              </a:rPr>
              <a:t>server</a:t>
            </a:r>
            <a:r>
              <a:rPr sz="700" i="1" spc="130" dirty="0">
                <a:solidFill>
                  <a:srgbClr val="009600"/>
                </a:solidFill>
                <a:latin typeface="Times New Roman"/>
                <a:cs typeface="Times New Roman"/>
              </a:rPr>
              <a:t> </a:t>
            </a:r>
            <a:r>
              <a:rPr sz="700" i="1" spc="65" dirty="0">
                <a:solidFill>
                  <a:srgbClr val="009600"/>
                </a:solidFill>
                <a:latin typeface="Times New Roman"/>
                <a:cs typeface="Times New Roman"/>
              </a:rPr>
              <a:t>(block</a:t>
            </a:r>
            <a:r>
              <a:rPr sz="700" i="1" spc="100" dirty="0">
                <a:solidFill>
                  <a:srgbClr val="009600"/>
                </a:solidFill>
                <a:latin typeface="Times New Roman"/>
                <a:cs typeface="Times New Roman"/>
              </a:rPr>
              <a:t> </a:t>
            </a:r>
            <a:r>
              <a:rPr sz="700" i="1" spc="110" dirty="0">
                <a:solidFill>
                  <a:srgbClr val="009600"/>
                </a:solidFill>
                <a:latin typeface="Times New Roman"/>
                <a:cs typeface="Times New Roman"/>
              </a:rPr>
              <a:t>until</a:t>
            </a:r>
            <a:r>
              <a:rPr sz="700" i="1" spc="100" dirty="0">
                <a:solidFill>
                  <a:srgbClr val="009600"/>
                </a:solidFill>
                <a:latin typeface="Times New Roman"/>
                <a:cs typeface="Times New Roman"/>
              </a:rPr>
              <a:t> </a:t>
            </a:r>
            <a:r>
              <a:rPr sz="700" i="1" spc="40" dirty="0">
                <a:solidFill>
                  <a:srgbClr val="009600"/>
                </a:solidFill>
                <a:latin typeface="Times New Roman"/>
                <a:cs typeface="Times New Roman"/>
              </a:rPr>
              <a:t>accepted)</a:t>
            </a:r>
            <a:endParaRPr sz="700" dirty="0">
              <a:latin typeface="Times New Roman"/>
              <a:cs typeface="Times New Roman"/>
            </a:endParaRPr>
          </a:p>
          <a:p>
            <a:pPr marL="63500">
              <a:lnSpc>
                <a:spcPts val="715"/>
              </a:lnSpc>
              <a:tabLst>
                <a:tab pos="1235075" algn="l"/>
              </a:tabLst>
            </a:pPr>
            <a:r>
              <a:rPr sz="500" dirty="0">
                <a:latin typeface="Times New Roman"/>
                <a:cs typeface="Times New Roman"/>
              </a:rPr>
              <a:t>5</a:t>
            </a:r>
            <a:r>
              <a:rPr sz="500" spc="445" dirty="0">
                <a:latin typeface="Times New Roman"/>
                <a:cs typeface="Times New Roman"/>
              </a:rPr>
              <a:t> </a:t>
            </a:r>
            <a:r>
              <a:rPr sz="700" dirty="0">
                <a:latin typeface="Times New Roman"/>
                <a:cs typeface="Times New Roman"/>
              </a:rPr>
              <a:t>msg</a:t>
            </a:r>
            <a:r>
              <a:rPr sz="700" spc="95" dirty="0">
                <a:latin typeface="Times New Roman"/>
                <a:cs typeface="Times New Roman"/>
              </a:rPr>
              <a:t> </a:t>
            </a:r>
            <a:r>
              <a:rPr sz="700" dirty="0">
                <a:latin typeface="Times New Roman"/>
                <a:cs typeface="Times New Roman"/>
              </a:rPr>
              <a:t>=</a:t>
            </a:r>
            <a:r>
              <a:rPr sz="700" spc="114" dirty="0">
                <a:latin typeface="Times New Roman"/>
                <a:cs typeface="Times New Roman"/>
              </a:rPr>
              <a:t> </a:t>
            </a:r>
            <a:r>
              <a:rPr sz="700" spc="50" dirty="0">
                <a:solidFill>
                  <a:srgbClr val="C80000"/>
                </a:solidFill>
                <a:latin typeface="Times New Roman"/>
                <a:cs typeface="Times New Roman"/>
              </a:rPr>
              <a:t>"Hello</a:t>
            </a:r>
            <a:r>
              <a:rPr sz="700" spc="65" dirty="0">
                <a:solidFill>
                  <a:srgbClr val="C80000"/>
                </a:solidFill>
                <a:latin typeface="Times New Roman"/>
                <a:cs typeface="Times New Roman"/>
              </a:rPr>
              <a:t> </a:t>
            </a:r>
            <a:r>
              <a:rPr sz="700" spc="-10" dirty="0">
                <a:solidFill>
                  <a:srgbClr val="C80000"/>
                </a:solidFill>
                <a:latin typeface="Times New Roman"/>
                <a:cs typeface="Times New Roman"/>
              </a:rPr>
              <a:t>World"</a:t>
            </a:r>
            <a:r>
              <a:rPr sz="700" dirty="0">
                <a:solidFill>
                  <a:srgbClr val="C80000"/>
                </a:solidFill>
                <a:latin typeface="Times New Roman"/>
                <a:cs typeface="Times New Roman"/>
              </a:rPr>
              <a:t>	</a:t>
            </a:r>
            <a:r>
              <a:rPr sz="700" i="1" spc="65" dirty="0">
                <a:solidFill>
                  <a:srgbClr val="009600"/>
                </a:solidFill>
                <a:latin typeface="Times New Roman"/>
                <a:cs typeface="Times New Roman"/>
              </a:rPr>
              <a:t>#</a:t>
            </a:r>
            <a:r>
              <a:rPr sz="700" i="1" spc="100" dirty="0">
                <a:solidFill>
                  <a:srgbClr val="009600"/>
                </a:solidFill>
                <a:latin typeface="Times New Roman"/>
                <a:cs typeface="Times New Roman"/>
              </a:rPr>
              <a:t> </a:t>
            </a:r>
            <a:r>
              <a:rPr sz="700" i="1" dirty="0">
                <a:solidFill>
                  <a:srgbClr val="009600"/>
                </a:solidFill>
                <a:latin typeface="Times New Roman"/>
                <a:cs typeface="Times New Roman"/>
              </a:rPr>
              <a:t>compose</a:t>
            </a:r>
            <a:r>
              <a:rPr sz="700" i="1" spc="100" dirty="0">
                <a:solidFill>
                  <a:srgbClr val="009600"/>
                </a:solidFill>
                <a:latin typeface="Times New Roman"/>
                <a:cs typeface="Times New Roman"/>
              </a:rPr>
              <a:t> </a:t>
            </a:r>
            <a:r>
              <a:rPr sz="700" i="1" spc="65" dirty="0">
                <a:solidFill>
                  <a:srgbClr val="009600"/>
                </a:solidFill>
                <a:latin typeface="Times New Roman"/>
                <a:cs typeface="Times New Roman"/>
              </a:rPr>
              <a:t>a</a:t>
            </a:r>
            <a:r>
              <a:rPr sz="700" i="1" spc="100" dirty="0">
                <a:solidFill>
                  <a:srgbClr val="009600"/>
                </a:solidFill>
                <a:latin typeface="Times New Roman"/>
                <a:cs typeface="Times New Roman"/>
              </a:rPr>
              <a:t> </a:t>
            </a:r>
            <a:r>
              <a:rPr sz="700" i="1" spc="-10" dirty="0">
                <a:solidFill>
                  <a:srgbClr val="009600"/>
                </a:solidFill>
                <a:latin typeface="Times New Roman"/>
                <a:cs typeface="Times New Roman"/>
              </a:rPr>
              <a:t>message</a:t>
            </a:r>
            <a:endParaRPr sz="700" dirty="0">
              <a:latin typeface="Times New Roman"/>
              <a:cs typeface="Times New Roman"/>
            </a:endParaRPr>
          </a:p>
          <a:p>
            <a:pPr marL="63500">
              <a:lnSpc>
                <a:spcPts val="715"/>
              </a:lnSpc>
              <a:tabLst>
                <a:tab pos="1235075" algn="l"/>
              </a:tabLst>
            </a:pPr>
            <a:r>
              <a:rPr sz="500" dirty="0">
                <a:latin typeface="Times New Roman"/>
                <a:cs typeface="Times New Roman"/>
              </a:rPr>
              <a:t>6</a:t>
            </a:r>
            <a:r>
              <a:rPr sz="500" spc="480" dirty="0">
                <a:latin typeface="Times New Roman"/>
                <a:cs typeface="Times New Roman"/>
              </a:rPr>
              <a:t> </a:t>
            </a:r>
            <a:r>
              <a:rPr sz="700" spc="35" dirty="0">
                <a:latin typeface="Times New Roman"/>
                <a:cs typeface="Times New Roman"/>
              </a:rPr>
              <a:t>s.send(msg.encode())</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a:t>
            </a:r>
            <a:r>
              <a:rPr sz="700" i="1" spc="50" dirty="0">
                <a:solidFill>
                  <a:srgbClr val="009600"/>
                </a:solidFill>
                <a:latin typeface="Times New Roman"/>
                <a:cs typeface="Times New Roman"/>
              </a:rPr>
              <a:t>send</a:t>
            </a:r>
            <a:r>
              <a:rPr sz="700" i="1" spc="6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65" dirty="0">
                <a:solidFill>
                  <a:srgbClr val="009600"/>
                </a:solidFill>
                <a:latin typeface="Times New Roman"/>
                <a:cs typeface="Times New Roman"/>
              </a:rPr>
              <a:t> </a:t>
            </a:r>
            <a:r>
              <a:rPr sz="700" i="1" spc="-10" dirty="0">
                <a:solidFill>
                  <a:srgbClr val="009600"/>
                </a:solidFill>
                <a:latin typeface="Times New Roman"/>
                <a:cs typeface="Times New Roman"/>
              </a:rPr>
              <a:t>message</a:t>
            </a:r>
            <a:endParaRPr sz="700" dirty="0">
              <a:latin typeface="Times New Roman"/>
              <a:cs typeface="Times New Roman"/>
            </a:endParaRPr>
          </a:p>
          <a:p>
            <a:pPr marL="63500">
              <a:lnSpc>
                <a:spcPts val="715"/>
              </a:lnSpc>
              <a:tabLst>
                <a:tab pos="1235075" algn="l"/>
              </a:tabLst>
            </a:pPr>
            <a:r>
              <a:rPr sz="500" dirty="0">
                <a:latin typeface="Times New Roman"/>
                <a:cs typeface="Times New Roman"/>
              </a:rPr>
              <a:t>7</a:t>
            </a:r>
            <a:r>
              <a:rPr sz="500" spc="445" dirty="0">
                <a:latin typeface="Times New Roman"/>
                <a:cs typeface="Times New Roman"/>
              </a:rPr>
              <a:t> </a:t>
            </a:r>
            <a:r>
              <a:rPr sz="700" spc="80" dirty="0">
                <a:latin typeface="Times New Roman"/>
                <a:cs typeface="Times New Roman"/>
              </a:rPr>
              <a:t>data</a:t>
            </a:r>
            <a:r>
              <a:rPr sz="700" spc="100" dirty="0">
                <a:latin typeface="Times New Roman"/>
                <a:cs typeface="Times New Roman"/>
              </a:rPr>
              <a:t> </a:t>
            </a:r>
            <a:r>
              <a:rPr sz="700" dirty="0">
                <a:latin typeface="Times New Roman"/>
                <a:cs typeface="Times New Roman"/>
              </a:rPr>
              <a:t>=</a:t>
            </a:r>
            <a:r>
              <a:rPr sz="700" spc="114" dirty="0">
                <a:latin typeface="Times New Roman"/>
                <a:cs typeface="Times New Roman"/>
              </a:rPr>
              <a:t> </a:t>
            </a:r>
            <a:r>
              <a:rPr sz="700" spc="45" dirty="0">
                <a:latin typeface="Times New Roman"/>
                <a:cs typeface="Times New Roman"/>
              </a:rPr>
              <a:t>s.recv(1024)</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a:t>
            </a:r>
            <a:r>
              <a:rPr sz="700" i="1" spc="70" dirty="0">
                <a:solidFill>
                  <a:srgbClr val="009600"/>
                </a:solidFill>
                <a:latin typeface="Times New Roman"/>
                <a:cs typeface="Times New Roman"/>
              </a:rPr>
              <a:t>receive</a:t>
            </a:r>
            <a:r>
              <a:rPr sz="700" i="1" spc="6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60" dirty="0">
                <a:solidFill>
                  <a:srgbClr val="009600"/>
                </a:solidFill>
                <a:latin typeface="Times New Roman"/>
                <a:cs typeface="Times New Roman"/>
              </a:rPr>
              <a:t> </a:t>
            </a:r>
            <a:r>
              <a:rPr sz="700" i="1" spc="35" dirty="0">
                <a:solidFill>
                  <a:srgbClr val="009600"/>
                </a:solidFill>
                <a:latin typeface="Times New Roman"/>
                <a:cs typeface="Times New Roman"/>
              </a:rPr>
              <a:t>response</a:t>
            </a:r>
            <a:endParaRPr sz="700" dirty="0">
              <a:latin typeface="Times New Roman"/>
              <a:cs typeface="Times New Roman"/>
            </a:endParaRPr>
          </a:p>
          <a:p>
            <a:pPr marL="63500">
              <a:lnSpc>
                <a:spcPts val="715"/>
              </a:lnSpc>
              <a:tabLst>
                <a:tab pos="1235075" algn="l"/>
              </a:tabLst>
            </a:pPr>
            <a:r>
              <a:rPr sz="500" dirty="0">
                <a:latin typeface="Times New Roman"/>
                <a:cs typeface="Times New Roman"/>
              </a:rPr>
              <a:t>8</a:t>
            </a:r>
            <a:r>
              <a:rPr sz="500" spc="455" dirty="0">
                <a:latin typeface="Times New Roman"/>
                <a:cs typeface="Times New Roman"/>
              </a:rPr>
              <a:t> </a:t>
            </a:r>
            <a:r>
              <a:rPr sz="700" b="1" spc="50" dirty="0">
                <a:solidFill>
                  <a:srgbClr val="FF0059"/>
                </a:solidFill>
                <a:latin typeface="Times New Roman"/>
                <a:cs typeface="Times New Roman"/>
              </a:rPr>
              <a:t>print</a:t>
            </a:r>
            <a:r>
              <a:rPr sz="700" spc="50" dirty="0">
                <a:latin typeface="Times New Roman"/>
                <a:cs typeface="Times New Roman"/>
              </a:rPr>
              <a:t>(data.decode())</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a:t>
            </a:r>
            <a:r>
              <a:rPr sz="700" i="1" spc="95" dirty="0">
                <a:solidFill>
                  <a:srgbClr val="009600"/>
                </a:solidFill>
                <a:latin typeface="Times New Roman"/>
                <a:cs typeface="Times New Roman"/>
              </a:rPr>
              <a:t>print</a:t>
            </a:r>
            <a:r>
              <a:rPr sz="700" i="1" spc="6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65" dirty="0">
                <a:solidFill>
                  <a:srgbClr val="009600"/>
                </a:solidFill>
                <a:latin typeface="Times New Roman"/>
                <a:cs typeface="Times New Roman"/>
              </a:rPr>
              <a:t> </a:t>
            </a:r>
            <a:r>
              <a:rPr sz="700" i="1" spc="90" dirty="0">
                <a:solidFill>
                  <a:srgbClr val="009600"/>
                </a:solidFill>
                <a:latin typeface="Times New Roman"/>
                <a:cs typeface="Times New Roman"/>
              </a:rPr>
              <a:t>result</a:t>
            </a:r>
            <a:endParaRPr sz="700" dirty="0">
              <a:latin typeface="Times New Roman"/>
              <a:cs typeface="Times New Roman"/>
            </a:endParaRPr>
          </a:p>
          <a:p>
            <a:pPr marL="63500">
              <a:lnSpc>
                <a:spcPts val="780"/>
              </a:lnSpc>
              <a:tabLst>
                <a:tab pos="1235075" algn="l"/>
              </a:tabLst>
            </a:pPr>
            <a:r>
              <a:rPr sz="500" dirty="0">
                <a:latin typeface="Times New Roman"/>
                <a:cs typeface="Times New Roman"/>
              </a:rPr>
              <a:t>9</a:t>
            </a:r>
            <a:r>
              <a:rPr sz="500" spc="480" dirty="0">
                <a:latin typeface="Times New Roman"/>
                <a:cs typeface="Times New Roman"/>
              </a:rPr>
              <a:t> </a:t>
            </a:r>
            <a:r>
              <a:rPr sz="700" spc="80" dirty="0">
                <a:latin typeface="Times New Roman"/>
                <a:cs typeface="Times New Roman"/>
              </a:rPr>
              <a:t>s.close()</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close</a:t>
            </a:r>
            <a:r>
              <a:rPr sz="700" i="1" spc="6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55" dirty="0">
                <a:solidFill>
                  <a:srgbClr val="009600"/>
                </a:solidFill>
                <a:latin typeface="Times New Roman"/>
                <a:cs typeface="Times New Roman"/>
              </a:rPr>
              <a:t> </a:t>
            </a:r>
            <a:r>
              <a:rPr sz="700" i="1" spc="40" dirty="0">
                <a:solidFill>
                  <a:srgbClr val="009600"/>
                </a:solidFill>
                <a:latin typeface="Times New Roman"/>
                <a:cs typeface="Times New Roman"/>
              </a:rPr>
              <a:t>connection</a:t>
            </a:r>
            <a:endParaRPr sz="700" dirty="0">
              <a:latin typeface="Times New Roman"/>
              <a:cs typeface="Times New Roman"/>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Kiến trúc</a:t>
            </a:r>
            <a:r>
              <a:rPr sz="500" dirty="0">
                <a:latin typeface="Arial"/>
                <a:cs typeface="Arial"/>
              </a:rPr>
              <a:t> </a:t>
            </a: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Ứng dụng</a:t>
            </a:r>
            <a:r>
              <a:rPr spc="-65" dirty="0"/>
              <a:t> </a:t>
            </a:r>
            <a:r>
              <a:rPr spc="-10" dirty="0"/>
              <a:t>Phân lớp</a:t>
            </a:r>
          </a:p>
        </p:txBody>
      </p:sp>
      <p:sp>
        <p:nvSpPr>
          <p:cNvPr id="4" name="object 4"/>
          <p:cNvSpPr txBox="1"/>
          <p:nvPr/>
        </p:nvSpPr>
        <p:spPr>
          <a:xfrm>
            <a:off x="330682" y="514774"/>
            <a:ext cx="3941445" cy="1169035"/>
          </a:xfrm>
          <a:prstGeom prst="rect">
            <a:avLst/>
          </a:prstGeom>
        </p:spPr>
        <p:txBody>
          <a:bodyPr vert="horz" wrap="square" lIns="0" tIns="12065" rIns="0" bIns="0" rtlCol="0">
            <a:spAutoFit/>
          </a:bodyPr>
          <a:lstStyle/>
          <a:p>
            <a:pPr marL="25400">
              <a:lnSpc>
                <a:spcPct val="100000"/>
              </a:lnSpc>
              <a:spcBef>
                <a:spcPts val="95"/>
              </a:spcBef>
            </a:pPr>
            <a:r>
              <a:rPr sz="1000" spc="-20" dirty="0">
                <a:solidFill>
                  <a:srgbClr val="3333B2"/>
                </a:solidFill>
                <a:latin typeface="Arial"/>
                <a:cs typeface="Arial"/>
              </a:rPr>
              <a:t>Truyền thống</a:t>
            </a:r>
            <a:r>
              <a:rPr sz="1000" spc="25" dirty="0">
                <a:solidFill>
                  <a:srgbClr val="3333B2"/>
                </a:solidFill>
                <a:latin typeface="Arial"/>
                <a:cs typeface="Arial"/>
              </a:rPr>
              <a:t> </a:t>
            </a:r>
            <a:r>
              <a:rPr sz="1000" spc="-10" dirty="0">
                <a:solidFill>
                  <a:srgbClr val="3333B2"/>
                </a:solidFill>
                <a:latin typeface="Arial"/>
                <a:cs typeface="Arial"/>
              </a:rPr>
              <a:t>ba lớp</a:t>
            </a:r>
            <a:r>
              <a:rPr sz="1000" spc="25" dirty="0">
                <a:solidFill>
                  <a:srgbClr val="3333B2"/>
                </a:solidFill>
                <a:latin typeface="Arial"/>
                <a:cs typeface="Arial"/>
              </a:rPr>
              <a:t> </a:t>
            </a:r>
            <a:r>
              <a:rPr sz="1000" spc="-20" dirty="0">
                <a:solidFill>
                  <a:srgbClr val="3333B2"/>
                </a:solidFill>
                <a:latin typeface="Arial"/>
                <a:cs typeface="Arial"/>
              </a:rPr>
              <a:t>xem</a:t>
            </a:r>
            <a:endParaRPr sz="1000">
              <a:latin typeface="Arial"/>
              <a:cs typeface="Arial"/>
            </a:endParaRPr>
          </a:p>
          <a:p>
            <a:pPr marL="281940" marR="337820" indent="-120650">
              <a:lnSpc>
                <a:spcPct val="111600"/>
              </a:lnSpc>
              <a:spcBef>
                <a:spcPts val="575"/>
              </a:spcBef>
              <a:buFont typeface="Apple Symbols"/>
              <a:buChar char="•"/>
              <a:tabLst>
                <a:tab pos="282575" algn="l"/>
              </a:tabLst>
            </a:pPr>
            <a:r>
              <a:rPr sz="900" spc="-10" dirty="0">
                <a:solidFill>
                  <a:srgbClr val="3333B2"/>
                </a:solidFill>
                <a:latin typeface="Arial"/>
                <a:cs typeface="Arial"/>
              </a:rPr>
              <a:t>Lớp giao diện ứng dụng</a:t>
            </a:r>
            <a:r>
              <a:rPr sz="900" spc="-5" dirty="0">
                <a:solidFill>
                  <a:srgbClr val="3333B2"/>
                </a:solidFill>
                <a:latin typeface="Arial"/>
                <a:cs typeface="Arial"/>
              </a:rPr>
              <a:t> </a:t>
            </a:r>
            <a:r>
              <a:rPr sz="900" dirty="0">
                <a:latin typeface="Arial"/>
                <a:cs typeface="Arial"/>
              </a:rPr>
              <a:t>chứa</a:t>
            </a:r>
            <a:r>
              <a:rPr sz="900" spc="-5" dirty="0">
                <a:latin typeface="Arial"/>
                <a:cs typeface="Arial"/>
              </a:rPr>
              <a:t> </a:t>
            </a:r>
            <a:r>
              <a:rPr sz="900" dirty="0">
                <a:latin typeface="Arial"/>
                <a:cs typeface="Arial"/>
              </a:rPr>
              <a:t>đơn vị</a:t>
            </a:r>
            <a:r>
              <a:rPr sz="900" spc="-5" dirty="0">
                <a:latin typeface="Arial"/>
                <a:cs typeface="Arial"/>
              </a:rPr>
              <a:t> </a:t>
            </a:r>
            <a:r>
              <a:rPr sz="900" dirty="0">
                <a:latin typeface="Arial"/>
                <a:cs typeface="Arial"/>
              </a:rPr>
              <a:t>vì</a:t>
            </a:r>
            <a:r>
              <a:rPr sz="900" spc="-5" dirty="0">
                <a:latin typeface="Arial"/>
                <a:cs typeface="Arial"/>
              </a:rPr>
              <a:t> </a:t>
            </a:r>
            <a:r>
              <a:rPr sz="900" spc="-10" dirty="0">
                <a:latin typeface="Arial"/>
                <a:cs typeface="Arial"/>
              </a:rPr>
              <a:t>giao diện</a:t>
            </a:r>
            <a:r>
              <a:rPr sz="900" spc="-5" dirty="0">
                <a:latin typeface="Arial"/>
                <a:cs typeface="Arial"/>
              </a:rPr>
              <a:t> </a:t>
            </a:r>
            <a:r>
              <a:rPr sz="900" dirty="0">
                <a:latin typeface="Arial"/>
                <a:cs typeface="Arial"/>
              </a:rPr>
              <a:t>ĐẾN</a:t>
            </a:r>
            <a:r>
              <a:rPr sz="900" spc="-5" dirty="0">
                <a:latin typeface="Arial"/>
                <a:cs typeface="Arial"/>
              </a:rPr>
              <a:t> </a:t>
            </a:r>
            <a:r>
              <a:rPr sz="900" dirty="0">
                <a:latin typeface="Arial"/>
                <a:cs typeface="Arial"/>
              </a:rPr>
              <a:t>người sử dụng</a:t>
            </a:r>
            <a:r>
              <a:rPr sz="900" spc="-10" dirty="0">
                <a:latin typeface="Arial"/>
                <a:cs typeface="Arial"/>
              </a:rPr>
              <a:t> </a:t>
            </a:r>
            <a:r>
              <a:rPr sz="900" spc="-35" dirty="0">
                <a:latin typeface="Arial"/>
                <a:cs typeface="Arial"/>
              </a:rPr>
              <a:t>hoặc </a:t>
            </a:r>
            <a:r>
              <a:rPr sz="900" dirty="0">
                <a:latin typeface="Arial"/>
                <a:cs typeface="Arial"/>
              </a:rPr>
              <a:t>bên ngoài</a:t>
            </a:r>
            <a:r>
              <a:rPr sz="900" spc="-50" dirty="0">
                <a:latin typeface="Arial"/>
                <a:cs typeface="Arial"/>
              </a:rPr>
              <a:t> </a:t>
            </a:r>
            <a:r>
              <a:rPr sz="900" spc="-10" dirty="0">
                <a:latin typeface="Arial"/>
                <a:cs typeface="Arial"/>
              </a:rPr>
              <a:t>ứng dụng</a:t>
            </a:r>
            <a:endParaRPr sz="900">
              <a:latin typeface="Arial"/>
              <a:cs typeface="Arial"/>
            </a:endParaRPr>
          </a:p>
          <a:p>
            <a:pPr marL="281940" marR="183515" indent="-120650">
              <a:lnSpc>
                <a:spcPct val="111600"/>
              </a:lnSpc>
              <a:buFont typeface="Apple Symbols"/>
              <a:buChar char="•"/>
              <a:tabLst>
                <a:tab pos="282575" algn="l"/>
              </a:tabLst>
            </a:pPr>
            <a:r>
              <a:rPr sz="900" dirty="0">
                <a:solidFill>
                  <a:srgbClr val="3333B2"/>
                </a:solidFill>
                <a:latin typeface="Arial"/>
                <a:cs typeface="Arial"/>
              </a:rPr>
              <a:t>Xử lý</a:t>
            </a:r>
            <a:r>
              <a:rPr sz="900" spc="-35" dirty="0">
                <a:solidFill>
                  <a:srgbClr val="3333B2"/>
                </a:solidFill>
                <a:latin typeface="Arial"/>
                <a:cs typeface="Arial"/>
              </a:rPr>
              <a:t> </a:t>
            </a:r>
            <a:r>
              <a:rPr sz="900" spc="-10" dirty="0">
                <a:solidFill>
                  <a:srgbClr val="3333B2"/>
                </a:solidFill>
                <a:latin typeface="Arial"/>
                <a:cs typeface="Arial"/>
              </a:rPr>
              <a:t>lớp</a:t>
            </a:r>
            <a:r>
              <a:rPr sz="900" spc="-30" dirty="0">
                <a:solidFill>
                  <a:srgbClr val="3333B2"/>
                </a:solidFill>
                <a:latin typeface="Arial"/>
                <a:cs typeface="Arial"/>
              </a:rPr>
              <a:t> </a:t>
            </a:r>
            <a:r>
              <a:rPr sz="900" dirty="0">
                <a:latin typeface="Arial"/>
                <a:cs typeface="Arial"/>
              </a:rPr>
              <a:t>chứa</a:t>
            </a:r>
            <a:r>
              <a:rPr sz="900" spc="-30" dirty="0">
                <a:latin typeface="Arial"/>
                <a:cs typeface="Arial"/>
              </a:rPr>
              <a:t> </a:t>
            </a:r>
            <a:r>
              <a:rPr sz="900" dirty="0">
                <a:latin typeface="Arial"/>
                <a:cs typeface="Arial"/>
              </a:rPr>
              <a:t>cái</a:t>
            </a:r>
            <a:r>
              <a:rPr sz="900" spc="-35" dirty="0">
                <a:latin typeface="Arial"/>
                <a:cs typeface="Arial"/>
              </a:rPr>
              <a:t> </a:t>
            </a:r>
            <a:r>
              <a:rPr sz="900" dirty="0">
                <a:latin typeface="Arial"/>
                <a:cs typeface="Arial"/>
              </a:rPr>
              <a:t>chức năng</a:t>
            </a:r>
            <a:r>
              <a:rPr sz="900" spc="-30" dirty="0">
                <a:latin typeface="Arial"/>
                <a:cs typeface="Arial"/>
              </a:rPr>
              <a:t> </a:t>
            </a:r>
            <a:r>
              <a:rPr sz="900" dirty="0">
                <a:latin typeface="Arial"/>
                <a:cs typeface="Arial"/>
              </a:rPr>
              <a:t>của</a:t>
            </a:r>
            <a:r>
              <a:rPr sz="900" spc="-30" dirty="0">
                <a:latin typeface="Arial"/>
                <a:cs typeface="Arial"/>
              </a:rPr>
              <a:t> </a:t>
            </a:r>
            <a:r>
              <a:rPr sz="900" dirty="0">
                <a:latin typeface="Arial"/>
                <a:cs typeface="Arial"/>
              </a:rPr>
              <a:t>MỘT</a:t>
            </a:r>
            <a:r>
              <a:rPr sz="900" spc="-35" dirty="0">
                <a:latin typeface="Arial"/>
                <a:cs typeface="Arial"/>
              </a:rPr>
              <a:t> </a:t>
            </a:r>
            <a:r>
              <a:rPr sz="900" dirty="0">
                <a:latin typeface="Arial"/>
                <a:cs typeface="Arial"/>
              </a:rPr>
              <a:t>ứng dụng,</a:t>
            </a:r>
            <a:r>
              <a:rPr sz="900" spc="-30" dirty="0">
                <a:latin typeface="Arial"/>
                <a:cs typeface="Arial"/>
              </a:rPr>
              <a:t> </a:t>
            </a:r>
            <a:r>
              <a:rPr sz="900" dirty="0">
                <a:latin typeface="Arial"/>
                <a:cs typeface="Arial"/>
              </a:rPr>
              <a:t>tức là,</a:t>
            </a:r>
            <a:r>
              <a:rPr sz="900" spc="-30" dirty="0">
                <a:latin typeface="Arial"/>
                <a:cs typeface="Arial"/>
              </a:rPr>
              <a:t> </a:t>
            </a:r>
            <a:r>
              <a:rPr sz="900" spc="-10" dirty="0">
                <a:latin typeface="Arial"/>
                <a:cs typeface="Arial"/>
              </a:rPr>
              <a:t>không </a:t>
            </a:r>
            <a:r>
              <a:rPr sz="900" dirty="0">
                <a:latin typeface="Arial"/>
                <a:cs typeface="Arial"/>
              </a:rPr>
              <a:t>cụ thể</a:t>
            </a:r>
            <a:r>
              <a:rPr sz="900" spc="-45" dirty="0">
                <a:latin typeface="Arial"/>
                <a:cs typeface="Arial"/>
              </a:rPr>
              <a:t> </a:t>
            </a:r>
            <a:r>
              <a:rPr sz="900" spc="-20" dirty="0">
                <a:latin typeface="Arial"/>
                <a:cs typeface="Arial"/>
              </a:rPr>
              <a:t>dữ liệu</a:t>
            </a:r>
            <a:endParaRPr sz="900">
              <a:latin typeface="Arial"/>
              <a:cs typeface="Arial"/>
            </a:endParaRPr>
          </a:p>
          <a:p>
            <a:pPr marL="281940" marR="17780" indent="-120650">
              <a:lnSpc>
                <a:spcPct val="111600"/>
              </a:lnSpc>
              <a:buFont typeface="Apple Symbols"/>
              <a:buChar char="•"/>
              <a:tabLst>
                <a:tab pos="282575" algn="l"/>
              </a:tabLst>
            </a:pPr>
            <a:r>
              <a:rPr sz="900" dirty="0">
                <a:solidFill>
                  <a:srgbClr val="3333B2"/>
                </a:solidFill>
                <a:latin typeface="Arial"/>
                <a:cs typeface="Arial"/>
              </a:rPr>
              <a:t>Dữ liệu</a:t>
            </a:r>
            <a:r>
              <a:rPr sz="900" spc="-25" dirty="0">
                <a:solidFill>
                  <a:srgbClr val="3333B2"/>
                </a:solidFill>
                <a:latin typeface="Arial"/>
                <a:cs typeface="Arial"/>
              </a:rPr>
              <a:t> </a:t>
            </a:r>
            <a:r>
              <a:rPr sz="900" spc="-10" dirty="0">
                <a:solidFill>
                  <a:srgbClr val="3333B2"/>
                </a:solidFill>
                <a:latin typeface="Arial"/>
                <a:cs typeface="Arial"/>
              </a:rPr>
              <a:t>lớp</a:t>
            </a:r>
            <a:r>
              <a:rPr sz="900" spc="-25" dirty="0">
                <a:solidFill>
                  <a:srgbClr val="3333B2"/>
                </a:solidFill>
                <a:latin typeface="Arial"/>
                <a:cs typeface="Arial"/>
              </a:rPr>
              <a:t> </a:t>
            </a:r>
            <a:r>
              <a:rPr sz="900" spc="-10" dirty="0">
                <a:latin typeface="Arial"/>
                <a:cs typeface="Arial"/>
              </a:rPr>
              <a:t>chứa</a:t>
            </a:r>
            <a:r>
              <a:rPr sz="900" spc="-20" dirty="0">
                <a:latin typeface="Arial"/>
                <a:cs typeface="Arial"/>
              </a:rPr>
              <a:t> </a:t>
            </a:r>
            <a:r>
              <a:rPr sz="900" dirty="0">
                <a:latin typeface="Arial"/>
                <a:cs typeface="Arial"/>
              </a:rPr>
              <a:t>cái</a:t>
            </a:r>
            <a:r>
              <a:rPr sz="900" spc="-25" dirty="0">
                <a:latin typeface="Arial"/>
                <a:cs typeface="Arial"/>
              </a:rPr>
              <a:t> </a:t>
            </a:r>
            <a:r>
              <a:rPr sz="900" dirty="0">
                <a:latin typeface="Arial"/>
                <a:cs typeface="Arial"/>
              </a:rPr>
              <a:t>dữ liệu</a:t>
            </a:r>
            <a:r>
              <a:rPr sz="900" spc="-20" dirty="0">
                <a:latin typeface="Arial"/>
                <a:cs typeface="Arial"/>
              </a:rPr>
              <a:t> </a:t>
            </a:r>
            <a:r>
              <a:rPr sz="900" dirty="0">
                <a:latin typeface="Arial"/>
                <a:cs typeface="Arial"/>
              </a:rPr>
              <a:t>cái đó</a:t>
            </a:r>
            <a:r>
              <a:rPr sz="900" spc="-25" dirty="0">
                <a:latin typeface="Arial"/>
                <a:cs typeface="Arial"/>
              </a:rPr>
              <a:t> </a:t>
            </a:r>
            <a:r>
              <a:rPr sz="900" dirty="0">
                <a:latin typeface="Arial"/>
                <a:cs typeface="Arial"/>
              </a:rPr>
              <a:t>Một</a:t>
            </a:r>
            <a:r>
              <a:rPr sz="900" spc="-20" dirty="0">
                <a:latin typeface="Arial"/>
                <a:cs typeface="Arial"/>
              </a:rPr>
              <a:t> </a:t>
            </a:r>
            <a:r>
              <a:rPr sz="900" dirty="0">
                <a:latin typeface="Arial"/>
                <a:cs typeface="Arial"/>
              </a:rPr>
              <a:t>khách hàng</a:t>
            </a:r>
            <a:r>
              <a:rPr sz="900" spc="-25" dirty="0">
                <a:latin typeface="Arial"/>
                <a:cs typeface="Arial"/>
              </a:rPr>
              <a:t> </a:t>
            </a:r>
            <a:r>
              <a:rPr sz="900" spc="-10" dirty="0">
                <a:latin typeface="Arial"/>
                <a:cs typeface="Arial"/>
              </a:rPr>
              <a:t>muốn</a:t>
            </a:r>
            <a:r>
              <a:rPr sz="900" spc="-20" dirty="0">
                <a:latin typeface="Arial"/>
                <a:cs typeface="Arial"/>
              </a:rPr>
              <a:t> </a:t>
            </a:r>
            <a:r>
              <a:rPr sz="900" dirty="0">
                <a:latin typeface="Arial"/>
                <a:cs typeface="Arial"/>
              </a:rPr>
              <a:t>ĐẾN</a:t>
            </a:r>
            <a:r>
              <a:rPr sz="900" spc="-25" dirty="0">
                <a:latin typeface="Arial"/>
                <a:cs typeface="Arial"/>
              </a:rPr>
              <a:t> </a:t>
            </a:r>
            <a:r>
              <a:rPr sz="900" spc="-10" dirty="0">
                <a:latin typeface="Arial"/>
                <a:cs typeface="Arial"/>
              </a:rPr>
              <a:t>thao túng</a:t>
            </a:r>
            <a:r>
              <a:rPr sz="900" spc="-20" dirty="0">
                <a:latin typeface="Arial"/>
                <a:cs typeface="Arial"/>
              </a:rPr>
              <a:t> </a:t>
            </a:r>
            <a:r>
              <a:rPr sz="900" spc="-10" dirty="0">
                <a:latin typeface="Arial"/>
                <a:cs typeface="Arial"/>
              </a:rPr>
              <a:t>thông qua </a:t>
            </a:r>
            <a:r>
              <a:rPr sz="900" spc="-25" dirty="0">
                <a:latin typeface="Arial"/>
                <a:cs typeface="Arial"/>
              </a:rPr>
              <a:t>ứng </a:t>
            </a:r>
            <a:r>
              <a:rPr sz="900" dirty="0">
                <a:latin typeface="Arial"/>
                <a:cs typeface="Arial"/>
              </a:rPr>
              <a:t>dụng</a:t>
            </a:r>
            <a:r>
              <a:rPr sz="900" spc="-50" dirty="0">
                <a:latin typeface="Arial"/>
                <a:cs typeface="Arial"/>
              </a:rPr>
              <a:t> </a:t>
            </a:r>
            <a:r>
              <a:rPr sz="900" spc="-10" dirty="0">
                <a:latin typeface="Arial"/>
                <a:cs typeface="Arial"/>
              </a:rPr>
              <a:t>thành phần</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nhiều lớp</a:t>
            </a:r>
            <a:r>
              <a:rPr sz="500" spc="20" dirty="0">
                <a:latin typeface="Arial"/>
                <a:cs typeface="Arial"/>
                <a:hlinkClick r:id="rId3" action="ppaction://hlinksldjump"/>
              </a:rPr>
              <a:t> </a:t>
            </a:r>
            <a:r>
              <a:rPr sz="500" spc="-10" dirty="0">
                <a:latin typeface="Arial"/>
                <a:cs typeface="Arial"/>
                <a:hlinkClick r:id="rId3" action="ppaction://hlinksldjump"/>
              </a:rPr>
              <a:t>kiến trúc</a:t>
            </a:r>
            <a:endParaRPr sz="500">
              <a:latin typeface="Arial"/>
              <a:cs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Kiến trúc</a:t>
            </a:r>
            <a:r>
              <a:rPr sz="500" dirty="0">
                <a:latin typeface="Arial"/>
                <a:cs typeface="Arial"/>
              </a:rPr>
              <a:t> </a:t>
            </a: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Ứng dụng</a:t>
            </a:r>
            <a:r>
              <a:rPr spc="-65" dirty="0"/>
              <a:t> </a:t>
            </a:r>
            <a:r>
              <a:rPr spc="-10" dirty="0"/>
              <a:t>Phân lớp</a:t>
            </a:r>
          </a:p>
        </p:txBody>
      </p:sp>
      <p:sp>
        <p:nvSpPr>
          <p:cNvPr id="4" name="object 4"/>
          <p:cNvSpPr txBox="1"/>
          <p:nvPr/>
        </p:nvSpPr>
        <p:spPr>
          <a:xfrm>
            <a:off x="317982" y="514774"/>
            <a:ext cx="3966845" cy="1802764"/>
          </a:xfrm>
          <a:prstGeom prst="rect">
            <a:avLst/>
          </a:prstGeom>
        </p:spPr>
        <p:txBody>
          <a:bodyPr vert="horz" wrap="square" lIns="0" tIns="12065" rIns="0" bIns="0" rtlCol="0">
            <a:spAutoFit/>
          </a:bodyPr>
          <a:lstStyle/>
          <a:p>
            <a:pPr marL="38100">
              <a:lnSpc>
                <a:spcPct val="100000"/>
              </a:lnSpc>
              <a:spcBef>
                <a:spcPts val="95"/>
              </a:spcBef>
            </a:pPr>
            <a:r>
              <a:rPr sz="1000" spc="-20" dirty="0">
                <a:solidFill>
                  <a:srgbClr val="3333B2"/>
                </a:solidFill>
                <a:latin typeface="Arial"/>
                <a:cs typeface="Arial"/>
              </a:rPr>
              <a:t>Truyền thống</a:t>
            </a:r>
            <a:r>
              <a:rPr sz="1000" spc="25" dirty="0">
                <a:solidFill>
                  <a:srgbClr val="3333B2"/>
                </a:solidFill>
                <a:latin typeface="Arial"/>
                <a:cs typeface="Arial"/>
              </a:rPr>
              <a:t> </a:t>
            </a:r>
            <a:r>
              <a:rPr sz="1000" spc="-10" dirty="0">
                <a:solidFill>
                  <a:srgbClr val="3333B2"/>
                </a:solidFill>
                <a:latin typeface="Arial"/>
                <a:cs typeface="Arial"/>
              </a:rPr>
              <a:t>ba lớp</a:t>
            </a:r>
            <a:r>
              <a:rPr sz="1000" spc="25" dirty="0">
                <a:solidFill>
                  <a:srgbClr val="3333B2"/>
                </a:solidFill>
                <a:latin typeface="Arial"/>
                <a:cs typeface="Arial"/>
              </a:rPr>
              <a:t> </a:t>
            </a:r>
            <a:r>
              <a:rPr sz="1000" spc="-20" dirty="0">
                <a:solidFill>
                  <a:srgbClr val="3333B2"/>
                </a:solidFill>
                <a:latin typeface="Arial"/>
                <a:cs typeface="Arial"/>
              </a:rPr>
              <a:t>xem</a:t>
            </a:r>
            <a:endParaRPr sz="1000" dirty="0">
              <a:latin typeface="Arial"/>
              <a:cs typeface="Arial"/>
            </a:endParaRPr>
          </a:p>
          <a:p>
            <a:pPr marL="294640" marR="350520" indent="-120650">
              <a:lnSpc>
                <a:spcPct val="111600"/>
              </a:lnSpc>
              <a:spcBef>
                <a:spcPts val="575"/>
              </a:spcBef>
              <a:buFont typeface="Apple Symbols"/>
              <a:buChar char="•"/>
              <a:tabLst>
                <a:tab pos="295275" algn="l"/>
              </a:tabLst>
            </a:pPr>
            <a:r>
              <a:rPr sz="900" spc="-10" dirty="0">
                <a:solidFill>
                  <a:srgbClr val="3333B2"/>
                </a:solidFill>
                <a:latin typeface="Arial"/>
                <a:cs typeface="Arial"/>
              </a:rPr>
              <a:t>Lớp giao diện ứng dụng</a:t>
            </a:r>
            <a:r>
              <a:rPr sz="900" spc="-5" dirty="0">
                <a:solidFill>
                  <a:srgbClr val="3333B2"/>
                </a:solidFill>
                <a:latin typeface="Arial"/>
                <a:cs typeface="Arial"/>
              </a:rPr>
              <a:t> </a:t>
            </a:r>
            <a:r>
              <a:rPr sz="900" dirty="0">
                <a:latin typeface="Arial"/>
                <a:cs typeface="Arial"/>
              </a:rPr>
              <a:t>chứa</a:t>
            </a:r>
            <a:r>
              <a:rPr sz="900" spc="-5" dirty="0">
                <a:latin typeface="Arial"/>
                <a:cs typeface="Arial"/>
              </a:rPr>
              <a:t> </a:t>
            </a:r>
            <a:r>
              <a:rPr sz="900" dirty="0">
                <a:latin typeface="Arial"/>
                <a:cs typeface="Arial"/>
              </a:rPr>
              <a:t>đơn vị</a:t>
            </a:r>
            <a:r>
              <a:rPr sz="900" spc="-5" dirty="0">
                <a:latin typeface="Arial"/>
                <a:cs typeface="Arial"/>
              </a:rPr>
              <a:t> </a:t>
            </a:r>
            <a:r>
              <a:rPr sz="900" dirty="0">
                <a:latin typeface="Arial"/>
                <a:cs typeface="Arial"/>
              </a:rPr>
              <a:t>vì</a:t>
            </a:r>
            <a:r>
              <a:rPr sz="900" spc="-5" dirty="0">
                <a:latin typeface="Arial"/>
                <a:cs typeface="Arial"/>
              </a:rPr>
              <a:t> </a:t>
            </a:r>
            <a:r>
              <a:rPr sz="900" spc="-10" dirty="0">
                <a:latin typeface="Arial"/>
                <a:cs typeface="Arial"/>
              </a:rPr>
              <a:t>giao diện</a:t>
            </a:r>
            <a:r>
              <a:rPr sz="900" spc="-5" dirty="0">
                <a:latin typeface="Arial"/>
                <a:cs typeface="Arial"/>
              </a:rPr>
              <a:t> </a:t>
            </a:r>
            <a:r>
              <a:rPr sz="900" dirty="0">
                <a:latin typeface="Arial"/>
                <a:cs typeface="Arial"/>
              </a:rPr>
              <a:t>ĐẾN</a:t>
            </a:r>
            <a:r>
              <a:rPr sz="900" spc="-5" dirty="0">
                <a:latin typeface="Arial"/>
                <a:cs typeface="Arial"/>
              </a:rPr>
              <a:t> </a:t>
            </a:r>
            <a:r>
              <a:rPr sz="900" dirty="0">
                <a:latin typeface="Arial"/>
                <a:cs typeface="Arial"/>
              </a:rPr>
              <a:t>người sử dụng</a:t>
            </a:r>
            <a:r>
              <a:rPr sz="900" spc="-10" dirty="0">
                <a:latin typeface="Arial"/>
                <a:cs typeface="Arial"/>
              </a:rPr>
              <a:t> </a:t>
            </a:r>
            <a:r>
              <a:rPr sz="900" spc="-35" dirty="0">
                <a:latin typeface="Arial"/>
                <a:cs typeface="Arial"/>
              </a:rPr>
              <a:t>hoặc </a:t>
            </a:r>
            <a:r>
              <a:rPr sz="900" dirty="0">
                <a:latin typeface="Arial"/>
                <a:cs typeface="Arial"/>
              </a:rPr>
              <a:t>bên ngoài</a:t>
            </a:r>
            <a:r>
              <a:rPr sz="900" spc="-50" dirty="0">
                <a:latin typeface="Arial"/>
                <a:cs typeface="Arial"/>
              </a:rPr>
              <a:t> </a:t>
            </a:r>
            <a:r>
              <a:rPr sz="900" spc="-10" dirty="0">
                <a:latin typeface="Arial"/>
                <a:cs typeface="Arial"/>
              </a:rPr>
              <a:t>ứng dụng</a:t>
            </a:r>
            <a:endParaRPr sz="900" dirty="0">
              <a:latin typeface="Arial"/>
              <a:cs typeface="Arial"/>
            </a:endParaRPr>
          </a:p>
          <a:p>
            <a:pPr marL="294640" marR="196215" indent="-120650">
              <a:lnSpc>
                <a:spcPct val="111600"/>
              </a:lnSpc>
              <a:buFont typeface="Apple Symbols"/>
              <a:buChar char="•"/>
              <a:tabLst>
                <a:tab pos="295275" algn="l"/>
              </a:tabLst>
            </a:pPr>
            <a:r>
              <a:rPr sz="900" dirty="0">
                <a:solidFill>
                  <a:srgbClr val="3333B2"/>
                </a:solidFill>
                <a:latin typeface="Arial"/>
                <a:cs typeface="Arial"/>
              </a:rPr>
              <a:t>Xử lý</a:t>
            </a:r>
            <a:r>
              <a:rPr sz="900" spc="-35" dirty="0">
                <a:solidFill>
                  <a:srgbClr val="3333B2"/>
                </a:solidFill>
                <a:latin typeface="Arial"/>
                <a:cs typeface="Arial"/>
              </a:rPr>
              <a:t> </a:t>
            </a:r>
            <a:r>
              <a:rPr sz="900" spc="-10" dirty="0">
                <a:solidFill>
                  <a:srgbClr val="3333B2"/>
                </a:solidFill>
                <a:latin typeface="Arial"/>
                <a:cs typeface="Arial"/>
              </a:rPr>
              <a:t>lớp</a:t>
            </a:r>
            <a:r>
              <a:rPr sz="900" spc="-30" dirty="0">
                <a:solidFill>
                  <a:srgbClr val="3333B2"/>
                </a:solidFill>
                <a:latin typeface="Arial"/>
                <a:cs typeface="Arial"/>
              </a:rPr>
              <a:t> </a:t>
            </a:r>
            <a:r>
              <a:rPr sz="900" dirty="0">
                <a:latin typeface="Arial"/>
                <a:cs typeface="Arial"/>
              </a:rPr>
              <a:t>chứa</a:t>
            </a:r>
            <a:r>
              <a:rPr sz="900" spc="-30" dirty="0">
                <a:latin typeface="Arial"/>
                <a:cs typeface="Arial"/>
              </a:rPr>
              <a:t> </a:t>
            </a:r>
            <a:r>
              <a:rPr sz="900" dirty="0">
                <a:latin typeface="Arial"/>
                <a:cs typeface="Arial"/>
              </a:rPr>
              <a:t>cái</a:t>
            </a:r>
            <a:r>
              <a:rPr sz="900" spc="-35" dirty="0">
                <a:latin typeface="Arial"/>
                <a:cs typeface="Arial"/>
              </a:rPr>
              <a:t> </a:t>
            </a:r>
            <a:r>
              <a:rPr sz="900" dirty="0">
                <a:latin typeface="Arial"/>
                <a:cs typeface="Arial"/>
              </a:rPr>
              <a:t>chức năng</a:t>
            </a:r>
            <a:r>
              <a:rPr sz="900" spc="-30" dirty="0">
                <a:latin typeface="Arial"/>
                <a:cs typeface="Arial"/>
              </a:rPr>
              <a:t> </a:t>
            </a:r>
            <a:r>
              <a:rPr sz="900" dirty="0">
                <a:latin typeface="Arial"/>
                <a:cs typeface="Arial"/>
              </a:rPr>
              <a:t>của</a:t>
            </a:r>
            <a:r>
              <a:rPr sz="900" spc="-30" dirty="0">
                <a:latin typeface="Arial"/>
                <a:cs typeface="Arial"/>
              </a:rPr>
              <a:t> </a:t>
            </a:r>
            <a:r>
              <a:rPr sz="900" dirty="0">
                <a:latin typeface="Arial"/>
                <a:cs typeface="Arial"/>
              </a:rPr>
              <a:t>MỘT</a:t>
            </a:r>
            <a:r>
              <a:rPr sz="900" spc="-35" dirty="0">
                <a:latin typeface="Arial"/>
                <a:cs typeface="Arial"/>
              </a:rPr>
              <a:t> </a:t>
            </a:r>
            <a:r>
              <a:rPr sz="900" dirty="0">
                <a:latin typeface="Arial"/>
                <a:cs typeface="Arial"/>
              </a:rPr>
              <a:t>ứng dụng,</a:t>
            </a:r>
            <a:r>
              <a:rPr sz="900" spc="-30" dirty="0">
                <a:latin typeface="Arial"/>
                <a:cs typeface="Arial"/>
              </a:rPr>
              <a:t> </a:t>
            </a:r>
            <a:r>
              <a:rPr sz="900" dirty="0">
                <a:latin typeface="Arial"/>
                <a:cs typeface="Arial"/>
              </a:rPr>
              <a:t>tức là,</a:t>
            </a:r>
            <a:r>
              <a:rPr sz="900" spc="-30" dirty="0">
                <a:latin typeface="Arial"/>
                <a:cs typeface="Arial"/>
              </a:rPr>
              <a:t> </a:t>
            </a:r>
            <a:r>
              <a:rPr sz="900" spc="-10" dirty="0">
                <a:latin typeface="Arial"/>
                <a:cs typeface="Arial"/>
              </a:rPr>
              <a:t>không </a:t>
            </a:r>
            <a:r>
              <a:rPr sz="900" dirty="0">
                <a:latin typeface="Arial"/>
                <a:cs typeface="Arial"/>
              </a:rPr>
              <a:t>cụ thể</a:t>
            </a:r>
            <a:r>
              <a:rPr sz="900" spc="-45" dirty="0">
                <a:latin typeface="Arial"/>
                <a:cs typeface="Arial"/>
              </a:rPr>
              <a:t> </a:t>
            </a:r>
            <a:r>
              <a:rPr sz="900" spc="-20" dirty="0">
                <a:latin typeface="Arial"/>
                <a:cs typeface="Arial"/>
              </a:rPr>
              <a:t>dữ liệu</a:t>
            </a:r>
            <a:endParaRPr sz="900" dirty="0">
              <a:latin typeface="Arial"/>
              <a:cs typeface="Arial"/>
            </a:endParaRPr>
          </a:p>
          <a:p>
            <a:pPr marL="294640" marR="30480" indent="-120650">
              <a:lnSpc>
                <a:spcPct val="111600"/>
              </a:lnSpc>
              <a:buFont typeface="Apple Symbols"/>
              <a:buChar char="•"/>
              <a:tabLst>
                <a:tab pos="295275" algn="l"/>
              </a:tabLst>
            </a:pPr>
            <a:r>
              <a:rPr sz="900" dirty="0">
                <a:solidFill>
                  <a:srgbClr val="3333B2"/>
                </a:solidFill>
                <a:latin typeface="Arial"/>
                <a:cs typeface="Arial"/>
              </a:rPr>
              <a:t>Dữ liệu</a:t>
            </a:r>
            <a:r>
              <a:rPr sz="900" spc="-25" dirty="0">
                <a:solidFill>
                  <a:srgbClr val="3333B2"/>
                </a:solidFill>
                <a:latin typeface="Arial"/>
                <a:cs typeface="Arial"/>
              </a:rPr>
              <a:t> </a:t>
            </a:r>
            <a:r>
              <a:rPr sz="900" spc="-10" dirty="0">
                <a:solidFill>
                  <a:srgbClr val="3333B2"/>
                </a:solidFill>
                <a:latin typeface="Arial"/>
                <a:cs typeface="Arial"/>
              </a:rPr>
              <a:t>lớp</a:t>
            </a:r>
            <a:r>
              <a:rPr sz="900" spc="-25" dirty="0">
                <a:solidFill>
                  <a:srgbClr val="3333B2"/>
                </a:solidFill>
                <a:latin typeface="Arial"/>
                <a:cs typeface="Arial"/>
              </a:rPr>
              <a:t> </a:t>
            </a:r>
            <a:r>
              <a:rPr sz="900" spc="-10" dirty="0">
                <a:latin typeface="Arial"/>
                <a:cs typeface="Arial"/>
              </a:rPr>
              <a:t>chứa</a:t>
            </a:r>
            <a:r>
              <a:rPr sz="900" spc="-20" dirty="0">
                <a:latin typeface="Arial"/>
                <a:cs typeface="Arial"/>
              </a:rPr>
              <a:t> </a:t>
            </a:r>
            <a:r>
              <a:rPr sz="900" dirty="0">
                <a:latin typeface="Arial"/>
                <a:cs typeface="Arial"/>
              </a:rPr>
              <a:t>cái</a:t>
            </a:r>
            <a:r>
              <a:rPr sz="900" spc="-25" dirty="0">
                <a:latin typeface="Arial"/>
                <a:cs typeface="Arial"/>
              </a:rPr>
              <a:t> </a:t>
            </a:r>
            <a:r>
              <a:rPr sz="900" dirty="0">
                <a:latin typeface="Arial"/>
                <a:cs typeface="Arial"/>
              </a:rPr>
              <a:t>dữ liệu</a:t>
            </a:r>
            <a:r>
              <a:rPr sz="900" spc="-20" dirty="0">
                <a:latin typeface="Arial"/>
                <a:cs typeface="Arial"/>
              </a:rPr>
              <a:t> </a:t>
            </a:r>
            <a:r>
              <a:rPr sz="900" dirty="0">
                <a:latin typeface="Arial"/>
                <a:cs typeface="Arial"/>
              </a:rPr>
              <a:t>cái đó</a:t>
            </a:r>
            <a:r>
              <a:rPr sz="900" spc="-25" dirty="0">
                <a:latin typeface="Arial"/>
                <a:cs typeface="Arial"/>
              </a:rPr>
              <a:t> </a:t>
            </a:r>
            <a:r>
              <a:rPr sz="900" dirty="0">
                <a:latin typeface="Arial"/>
                <a:cs typeface="Arial"/>
              </a:rPr>
              <a:t>Một</a:t>
            </a:r>
            <a:r>
              <a:rPr sz="900" spc="-20" dirty="0">
                <a:latin typeface="Arial"/>
                <a:cs typeface="Arial"/>
              </a:rPr>
              <a:t> </a:t>
            </a:r>
            <a:r>
              <a:rPr sz="900" dirty="0">
                <a:latin typeface="Arial"/>
                <a:cs typeface="Arial"/>
              </a:rPr>
              <a:t>khách hàng</a:t>
            </a:r>
            <a:r>
              <a:rPr sz="900" spc="-25" dirty="0">
                <a:latin typeface="Arial"/>
                <a:cs typeface="Arial"/>
              </a:rPr>
              <a:t> </a:t>
            </a:r>
            <a:r>
              <a:rPr sz="900" spc="-10" dirty="0">
                <a:latin typeface="Arial"/>
                <a:cs typeface="Arial"/>
              </a:rPr>
              <a:t>muốn</a:t>
            </a:r>
            <a:r>
              <a:rPr sz="900" spc="-20" dirty="0">
                <a:latin typeface="Arial"/>
                <a:cs typeface="Arial"/>
              </a:rPr>
              <a:t> </a:t>
            </a:r>
            <a:r>
              <a:rPr sz="900" dirty="0">
                <a:latin typeface="Arial"/>
                <a:cs typeface="Arial"/>
              </a:rPr>
              <a:t>ĐẾN</a:t>
            </a:r>
            <a:r>
              <a:rPr sz="900" spc="-25" dirty="0">
                <a:latin typeface="Arial"/>
                <a:cs typeface="Arial"/>
              </a:rPr>
              <a:t> </a:t>
            </a:r>
            <a:r>
              <a:rPr sz="900" spc="-10" dirty="0">
                <a:latin typeface="Arial"/>
                <a:cs typeface="Arial"/>
              </a:rPr>
              <a:t>thao túng</a:t>
            </a:r>
            <a:r>
              <a:rPr sz="900" spc="-20" dirty="0">
                <a:latin typeface="Arial"/>
                <a:cs typeface="Arial"/>
              </a:rPr>
              <a:t> </a:t>
            </a:r>
            <a:r>
              <a:rPr sz="900" spc="-10" dirty="0">
                <a:latin typeface="Arial"/>
                <a:cs typeface="Arial"/>
              </a:rPr>
              <a:t>thông qua </a:t>
            </a:r>
            <a:r>
              <a:rPr sz="900" spc="-25" dirty="0">
                <a:latin typeface="Arial"/>
                <a:cs typeface="Arial"/>
              </a:rPr>
              <a:t>ứng </a:t>
            </a:r>
            <a:r>
              <a:rPr sz="900" dirty="0">
                <a:latin typeface="Arial"/>
                <a:cs typeface="Arial"/>
              </a:rPr>
              <a:t>dụng</a:t>
            </a:r>
            <a:r>
              <a:rPr sz="900" spc="-50" dirty="0">
                <a:latin typeface="Arial"/>
                <a:cs typeface="Arial"/>
              </a:rPr>
              <a:t> </a:t>
            </a:r>
            <a:r>
              <a:rPr sz="900" spc="-10" dirty="0">
                <a:latin typeface="Arial"/>
                <a:cs typeface="Arial"/>
              </a:rPr>
              <a:t>thành phần</a:t>
            </a:r>
            <a:endParaRPr sz="900" dirty="0">
              <a:latin typeface="Arial"/>
              <a:cs typeface="Arial"/>
            </a:endParaRPr>
          </a:p>
          <a:p>
            <a:pPr>
              <a:lnSpc>
                <a:spcPct val="100000"/>
              </a:lnSpc>
              <a:spcBef>
                <a:spcPts val="15"/>
              </a:spcBef>
            </a:pPr>
            <a:endParaRPr sz="1200" dirty="0">
              <a:latin typeface="Arial"/>
              <a:cs typeface="Arial"/>
            </a:endParaRPr>
          </a:p>
          <a:p>
            <a:pPr marL="41910">
              <a:lnSpc>
                <a:spcPct val="100000"/>
              </a:lnSpc>
              <a:spcBef>
                <a:spcPts val="5"/>
              </a:spcBef>
            </a:pPr>
            <a:r>
              <a:rPr lang="en-US" sz="1000" spc="-10" dirty="0" err="1" smtClean="0">
                <a:solidFill>
                  <a:srgbClr val="C80000"/>
                </a:solidFill>
                <a:latin typeface="Arial"/>
                <a:cs typeface="Arial"/>
              </a:rPr>
              <a:t>Nhận</a:t>
            </a:r>
            <a:r>
              <a:rPr lang="en-US" sz="1000" spc="-10" dirty="0" smtClean="0">
                <a:solidFill>
                  <a:srgbClr val="C80000"/>
                </a:solidFill>
                <a:latin typeface="Arial"/>
                <a:cs typeface="Arial"/>
              </a:rPr>
              <a:t> </a:t>
            </a:r>
            <a:r>
              <a:rPr lang="en-US" sz="1000" spc="-10" dirty="0" err="1" smtClean="0">
                <a:solidFill>
                  <a:srgbClr val="C80000"/>
                </a:solidFill>
                <a:latin typeface="Arial"/>
                <a:cs typeface="Arial"/>
              </a:rPr>
              <a:t>xét</a:t>
            </a:r>
            <a:endParaRPr sz="1000" dirty="0">
              <a:latin typeface="Arial"/>
              <a:cs typeface="Arial"/>
            </a:endParaRPr>
          </a:p>
          <a:p>
            <a:pPr marL="41910" marR="28575" indent="-3810">
              <a:lnSpc>
                <a:spcPts val="1210"/>
              </a:lnSpc>
              <a:spcBef>
                <a:spcPts val="35"/>
              </a:spcBef>
            </a:pPr>
            <a:r>
              <a:rPr sz="900" dirty="0">
                <a:latin typeface="Arial"/>
                <a:cs typeface="Arial"/>
              </a:rPr>
              <a:t>Cái này</a:t>
            </a:r>
            <a:r>
              <a:rPr sz="900" spc="-30" dirty="0">
                <a:latin typeface="Arial"/>
                <a:cs typeface="Arial"/>
              </a:rPr>
              <a:t> </a:t>
            </a:r>
            <a:r>
              <a:rPr sz="900" spc="-20" dirty="0">
                <a:latin typeface="Arial"/>
                <a:cs typeface="Arial"/>
              </a:rPr>
              <a:t>phân lớp</a:t>
            </a:r>
            <a:r>
              <a:rPr sz="900" spc="-25" dirty="0">
                <a:latin typeface="Arial"/>
                <a:cs typeface="Arial"/>
              </a:rPr>
              <a:t> </a:t>
            </a:r>
            <a:r>
              <a:rPr sz="900" dirty="0">
                <a:latin typeface="Arial"/>
                <a:cs typeface="Arial"/>
              </a:rPr>
              <a:t>là</a:t>
            </a:r>
            <a:r>
              <a:rPr sz="900" spc="-30" dirty="0">
                <a:latin typeface="Arial"/>
                <a:cs typeface="Arial"/>
              </a:rPr>
              <a:t> </a:t>
            </a:r>
            <a:r>
              <a:rPr sz="900" spc="-20" dirty="0">
                <a:latin typeface="Arial"/>
                <a:cs typeface="Arial"/>
              </a:rPr>
              <a:t>thành lập</a:t>
            </a:r>
            <a:r>
              <a:rPr sz="900" spc="-25" dirty="0">
                <a:latin typeface="Arial"/>
                <a:cs typeface="Arial"/>
              </a:rPr>
              <a:t> </a:t>
            </a:r>
            <a:r>
              <a:rPr sz="900" dirty="0">
                <a:latin typeface="Arial"/>
                <a:cs typeface="Arial"/>
              </a:rPr>
              <a:t>TRONG</a:t>
            </a:r>
            <a:r>
              <a:rPr sz="900" spc="-25" dirty="0">
                <a:latin typeface="Arial"/>
                <a:cs typeface="Arial"/>
              </a:rPr>
              <a:t> </a:t>
            </a:r>
            <a:r>
              <a:rPr sz="900" spc="-10" dirty="0">
                <a:latin typeface="Arial"/>
                <a:cs typeface="Arial"/>
              </a:rPr>
              <a:t>nhiều</a:t>
            </a:r>
            <a:r>
              <a:rPr sz="900" spc="-30" dirty="0">
                <a:latin typeface="Arial"/>
                <a:cs typeface="Arial"/>
              </a:rPr>
              <a:t> </a:t>
            </a:r>
            <a:r>
              <a:rPr sz="900" spc="-10" dirty="0">
                <a:latin typeface="Arial"/>
                <a:cs typeface="Arial"/>
              </a:rPr>
              <a:t>phân phối</a:t>
            </a:r>
            <a:r>
              <a:rPr sz="900" spc="-25" dirty="0">
                <a:latin typeface="Arial"/>
                <a:cs typeface="Arial"/>
              </a:rPr>
              <a:t> </a:t>
            </a:r>
            <a:r>
              <a:rPr sz="900" spc="-10" dirty="0">
                <a:latin typeface="Arial"/>
                <a:cs typeface="Arial"/>
              </a:rPr>
              <a:t>thông tin</a:t>
            </a:r>
            <a:r>
              <a:rPr sz="900" spc="-30" dirty="0">
                <a:latin typeface="Arial"/>
                <a:cs typeface="Arial"/>
              </a:rPr>
              <a:t> </a:t>
            </a:r>
            <a:r>
              <a:rPr sz="900" spc="-10" dirty="0">
                <a:latin typeface="Arial"/>
                <a:cs typeface="Arial"/>
              </a:rPr>
              <a:t>hệ thống,</a:t>
            </a:r>
            <a:r>
              <a:rPr sz="900" spc="-25" dirty="0">
                <a:latin typeface="Arial"/>
                <a:cs typeface="Arial"/>
              </a:rPr>
              <a:t> </a:t>
            </a:r>
            <a:r>
              <a:rPr sz="900" spc="-10" dirty="0">
                <a:latin typeface="Arial"/>
                <a:cs typeface="Arial"/>
              </a:rPr>
              <a:t>sử dụng</a:t>
            </a:r>
            <a:r>
              <a:rPr sz="900" spc="-25" dirty="0">
                <a:latin typeface="Arial"/>
                <a:cs typeface="Arial"/>
              </a:rPr>
              <a:t> </a:t>
            </a:r>
            <a:r>
              <a:rPr sz="900" dirty="0">
                <a:latin typeface="Arial"/>
                <a:cs typeface="Arial"/>
              </a:rPr>
              <a:t>cơ sở dữ liệu </a:t>
            </a:r>
            <a:r>
              <a:rPr sz="900" spc="-10" dirty="0">
                <a:latin typeface="Arial"/>
                <a:cs typeface="Arial"/>
              </a:rPr>
              <a:t>truyền thống</a:t>
            </a:r>
            <a:r>
              <a:rPr sz="900" spc="-20" dirty="0">
                <a:latin typeface="Arial"/>
                <a:cs typeface="Arial"/>
              </a:rPr>
              <a:t> </a:t>
            </a:r>
            <a:r>
              <a:rPr sz="900" dirty="0">
                <a:latin typeface="Arial"/>
                <a:cs typeface="Arial"/>
              </a:rPr>
              <a:t>công nghệ</a:t>
            </a:r>
            <a:r>
              <a:rPr sz="900" spc="-15" dirty="0">
                <a:latin typeface="Arial"/>
                <a:cs typeface="Arial"/>
              </a:rPr>
              <a:t> </a:t>
            </a:r>
            <a:r>
              <a:rPr sz="900" dirty="0">
                <a:latin typeface="Arial"/>
                <a:cs typeface="Arial"/>
              </a:rPr>
              <a:t>Và</a:t>
            </a:r>
            <a:r>
              <a:rPr sz="900" spc="-20" dirty="0">
                <a:latin typeface="Arial"/>
                <a:cs typeface="Arial"/>
              </a:rPr>
              <a:t> </a:t>
            </a:r>
            <a:r>
              <a:rPr sz="900" spc="-10" dirty="0">
                <a:latin typeface="Arial"/>
                <a:cs typeface="Arial"/>
              </a:rPr>
              <a:t>đi kèm</a:t>
            </a:r>
            <a:r>
              <a:rPr sz="900" spc="-15" dirty="0">
                <a:latin typeface="Arial"/>
                <a:cs typeface="Arial"/>
              </a:rPr>
              <a:t> </a:t>
            </a:r>
            <a:r>
              <a:rPr sz="900" spc="-10" dirty="0">
                <a:latin typeface="Arial"/>
                <a:cs typeface="Arial"/>
              </a:rPr>
              <a:t>ứng dụng.</a:t>
            </a:r>
            <a:endParaRPr sz="900" dirty="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nhiều lớp</a:t>
            </a:r>
            <a:r>
              <a:rPr sz="500" spc="20" dirty="0">
                <a:latin typeface="Arial"/>
                <a:cs typeface="Arial"/>
                <a:hlinkClick r:id="rId3" action="ppaction://hlinksldjump"/>
              </a:rPr>
              <a:t> </a:t>
            </a:r>
            <a:r>
              <a:rPr sz="500" spc="-10" dirty="0">
                <a:latin typeface="Arial"/>
                <a:cs typeface="Arial"/>
                <a:hlinkClick r:id="rId3" action="ppaction://hlinksldjump"/>
              </a:rPr>
              <a:t>kiến trúc</a:t>
            </a:r>
            <a:endParaRPr sz="500">
              <a:latin typeface="Arial"/>
              <a:cs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5" name="object 5"/>
          <p:cNvSpPr txBox="1"/>
          <p:nvPr/>
        </p:nvSpPr>
        <p:spPr>
          <a:xfrm>
            <a:off x="95300" y="197711"/>
            <a:ext cx="2149475" cy="645690"/>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Ứng dụng</a:t>
            </a:r>
            <a:r>
              <a:rPr sz="1200" spc="-65" dirty="0">
                <a:solidFill>
                  <a:srgbClr val="3333B2"/>
                </a:solidFill>
                <a:latin typeface="Arial"/>
                <a:cs typeface="Arial"/>
              </a:rPr>
              <a:t> </a:t>
            </a:r>
            <a:r>
              <a:rPr sz="1200" spc="-10" dirty="0">
                <a:solidFill>
                  <a:srgbClr val="3333B2"/>
                </a:solidFill>
                <a:latin typeface="Arial"/>
                <a:cs typeface="Arial"/>
              </a:rPr>
              <a:t>Phân lớp</a:t>
            </a:r>
            <a:endParaRPr sz="1200" dirty="0">
              <a:latin typeface="Arial"/>
              <a:cs typeface="Arial"/>
            </a:endParaRPr>
          </a:p>
          <a:p>
            <a:pPr marL="264160">
              <a:lnSpc>
                <a:spcPct val="100000"/>
              </a:lnSpc>
              <a:spcBef>
                <a:spcPts val="1055"/>
              </a:spcBef>
            </a:pPr>
            <a:r>
              <a:rPr sz="1000" dirty="0">
                <a:solidFill>
                  <a:srgbClr val="3333B2"/>
                </a:solidFill>
                <a:latin typeface="Arial"/>
                <a:cs typeface="Arial"/>
              </a:rPr>
              <a:t>Ví dụ:</a:t>
            </a:r>
            <a:r>
              <a:rPr sz="1000" spc="25" dirty="0">
                <a:solidFill>
                  <a:srgbClr val="3333B2"/>
                </a:solidFill>
                <a:latin typeface="Arial"/>
                <a:cs typeface="Arial"/>
              </a:rPr>
              <a:t> </a:t>
            </a:r>
            <a:r>
              <a:rPr sz="1000" dirty="0" err="1">
                <a:solidFill>
                  <a:srgbClr val="3333B2"/>
                </a:solidFill>
                <a:latin typeface="Arial"/>
                <a:cs typeface="Arial"/>
              </a:rPr>
              <a:t>Một</a:t>
            </a:r>
            <a:r>
              <a:rPr sz="1000" spc="-30" dirty="0">
                <a:solidFill>
                  <a:srgbClr val="3333B2"/>
                </a:solidFill>
                <a:latin typeface="Arial"/>
                <a:cs typeface="Arial"/>
              </a:rPr>
              <a:t> </a:t>
            </a:r>
            <a:r>
              <a:rPr lang="en-US" sz="1000" spc="-30" dirty="0" smtClean="0">
                <a:solidFill>
                  <a:srgbClr val="3333B2"/>
                </a:solidFill>
                <a:latin typeface="Arial"/>
                <a:cs typeface="Arial"/>
              </a:rPr>
              <a:t>engine </a:t>
            </a:r>
            <a:r>
              <a:rPr lang="en-US" sz="1000" spc="-30" dirty="0" err="1" smtClean="0">
                <a:solidFill>
                  <a:srgbClr val="3333B2"/>
                </a:solidFill>
                <a:latin typeface="Arial"/>
                <a:cs typeface="Arial"/>
              </a:rPr>
              <a:t>tìm</a:t>
            </a:r>
            <a:r>
              <a:rPr lang="en-US" sz="1000" spc="-30" dirty="0" smtClean="0">
                <a:solidFill>
                  <a:srgbClr val="3333B2"/>
                </a:solidFill>
                <a:latin typeface="Arial"/>
                <a:cs typeface="Arial"/>
              </a:rPr>
              <a:t> </a:t>
            </a:r>
            <a:r>
              <a:rPr lang="en-US" sz="1000" spc="-30" dirty="0" err="1" smtClean="0">
                <a:solidFill>
                  <a:srgbClr val="3333B2"/>
                </a:solidFill>
                <a:latin typeface="Arial"/>
                <a:cs typeface="Arial"/>
              </a:rPr>
              <a:t>kiếm</a:t>
            </a:r>
            <a:r>
              <a:rPr lang="en-US" sz="1000" spc="-30" dirty="0" smtClean="0">
                <a:solidFill>
                  <a:srgbClr val="3333B2"/>
                </a:solidFill>
                <a:latin typeface="Arial"/>
                <a:cs typeface="Arial"/>
              </a:rPr>
              <a:t> </a:t>
            </a:r>
            <a:r>
              <a:rPr sz="1000" dirty="0" err="1" smtClean="0">
                <a:solidFill>
                  <a:srgbClr val="3333B2"/>
                </a:solidFill>
                <a:latin typeface="Arial"/>
                <a:cs typeface="Arial"/>
              </a:rPr>
              <a:t>đơn</a:t>
            </a:r>
            <a:r>
              <a:rPr sz="1000" dirty="0" smtClean="0">
                <a:solidFill>
                  <a:srgbClr val="3333B2"/>
                </a:solidFill>
                <a:latin typeface="Arial"/>
                <a:cs typeface="Arial"/>
              </a:rPr>
              <a:t> </a:t>
            </a:r>
            <a:r>
              <a:rPr sz="1000" dirty="0" err="1" smtClean="0">
                <a:solidFill>
                  <a:srgbClr val="3333B2"/>
                </a:solidFill>
                <a:latin typeface="Arial"/>
                <a:cs typeface="Arial"/>
              </a:rPr>
              <a:t>giản</a:t>
            </a:r>
            <a:endParaRPr sz="1000" dirty="0">
              <a:latin typeface="Arial"/>
              <a:cs typeface="Arial"/>
            </a:endParaRPr>
          </a:p>
        </p:txBody>
      </p:sp>
      <p:pic>
        <p:nvPicPr>
          <p:cNvPr id="6" name="object 6"/>
          <p:cNvPicPr/>
          <p:nvPr/>
        </p:nvPicPr>
        <p:blipFill>
          <a:blip r:embed="rId3" cstate="print"/>
          <a:stretch>
            <a:fillRect/>
          </a:stretch>
        </p:blipFill>
        <p:spPr>
          <a:xfrm>
            <a:off x="858268" y="797506"/>
            <a:ext cx="3088934" cy="1731675"/>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nhiều lớp</a:t>
            </a:r>
            <a:r>
              <a:rPr sz="500" spc="20" dirty="0">
                <a:latin typeface="Arial"/>
                <a:cs typeface="Arial"/>
                <a:hlinkClick r:id="rId4" action="ppaction://hlinksldjump"/>
              </a:rPr>
              <a:t> </a:t>
            </a:r>
            <a:r>
              <a:rPr sz="500" spc="-10" dirty="0">
                <a:latin typeface="Arial"/>
                <a:cs typeface="Arial"/>
                <a:hlinkClick r:id="rId4" action="ppaction://hlinksldjump"/>
              </a:rPr>
              <a:t>kiến trúc</a:t>
            </a:r>
            <a:endParaRPr sz="500">
              <a:latin typeface="Arial"/>
              <a:cs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Kiến trúc</a:t>
            </a:r>
            <a:r>
              <a:rPr sz="500" dirty="0">
                <a:latin typeface="Arial"/>
                <a:cs typeface="Arial"/>
              </a:rPr>
              <a:t> </a:t>
            </a: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3" name="object 3"/>
          <p:cNvSpPr txBox="1">
            <a:spLocks noGrp="1"/>
          </p:cNvSpPr>
          <p:nvPr>
            <p:ph type="title"/>
          </p:nvPr>
        </p:nvSpPr>
        <p:spPr>
          <a:xfrm>
            <a:off x="95300" y="197711"/>
            <a:ext cx="2999105" cy="381515"/>
          </a:xfrm>
          <a:prstGeom prst="rect">
            <a:avLst/>
          </a:prstGeom>
        </p:spPr>
        <p:txBody>
          <a:bodyPr vert="horz" wrap="square" lIns="0" tIns="12065" rIns="0" bIns="0" rtlCol="0">
            <a:spAutoFit/>
          </a:bodyPr>
          <a:lstStyle/>
          <a:p>
            <a:pPr marL="12700">
              <a:lnSpc>
                <a:spcPct val="100000"/>
              </a:lnSpc>
              <a:spcBef>
                <a:spcPts val="95"/>
              </a:spcBef>
            </a:pPr>
            <a:r>
              <a:rPr lang="vi-VN" spc="-10" dirty="0"/>
              <a:t>Kiến trúc dựa trên đối tượng (Object-Based Architecture)</a:t>
            </a:r>
            <a:endParaRPr spc="-10" dirty="0"/>
          </a:p>
        </p:txBody>
      </p:sp>
      <p:sp>
        <p:nvSpPr>
          <p:cNvPr id="4" name="object 4"/>
          <p:cNvSpPr txBox="1"/>
          <p:nvPr/>
        </p:nvSpPr>
        <p:spPr>
          <a:xfrm>
            <a:off x="323850" y="587375"/>
            <a:ext cx="3913504" cy="649605"/>
          </a:xfrm>
          <a:prstGeom prst="rect">
            <a:avLst/>
          </a:prstGeom>
        </p:spPr>
        <p:txBody>
          <a:bodyPr vert="horz" wrap="square" lIns="0" tIns="27305" rIns="0" bIns="0" rtlCol="0">
            <a:spAutoFit/>
          </a:bodyPr>
          <a:lstStyle/>
          <a:p>
            <a:pPr marL="12700">
              <a:lnSpc>
                <a:spcPct val="100000"/>
              </a:lnSpc>
              <a:spcBef>
                <a:spcPts val="215"/>
              </a:spcBef>
            </a:pPr>
            <a:r>
              <a:rPr lang="en-US" sz="1000" spc="-10" dirty="0" err="1" smtClean="0">
                <a:solidFill>
                  <a:srgbClr val="3333B2"/>
                </a:solidFill>
                <a:latin typeface="Arial"/>
                <a:cs typeface="Arial"/>
              </a:rPr>
              <a:t>Bản</a:t>
            </a:r>
            <a:r>
              <a:rPr lang="en-US" sz="1000" spc="-10" dirty="0" smtClean="0">
                <a:solidFill>
                  <a:srgbClr val="3333B2"/>
                </a:solidFill>
                <a:latin typeface="Arial"/>
                <a:cs typeface="Arial"/>
              </a:rPr>
              <a:t> </a:t>
            </a:r>
            <a:r>
              <a:rPr lang="en-US" sz="1000" spc="-10" dirty="0" err="1" smtClean="0">
                <a:solidFill>
                  <a:srgbClr val="3333B2"/>
                </a:solidFill>
                <a:latin typeface="Arial"/>
                <a:cs typeface="Arial"/>
              </a:rPr>
              <a:t>chất</a:t>
            </a:r>
            <a:endParaRPr sz="1000" dirty="0">
              <a:latin typeface="Arial"/>
              <a:cs typeface="Arial"/>
            </a:endParaRPr>
          </a:p>
          <a:p>
            <a:pPr marL="12700" marR="5080">
              <a:lnSpc>
                <a:spcPts val="1210"/>
              </a:lnSpc>
              <a:spcBef>
                <a:spcPts val="35"/>
              </a:spcBef>
            </a:pPr>
            <a:r>
              <a:rPr sz="900" dirty="0">
                <a:latin typeface="Arial"/>
                <a:cs typeface="Arial"/>
              </a:rPr>
              <a:t>Thành phần</a:t>
            </a:r>
            <a:r>
              <a:rPr sz="900" spc="-35" dirty="0">
                <a:latin typeface="Arial"/>
                <a:cs typeface="Arial"/>
              </a:rPr>
              <a:t> </a:t>
            </a:r>
            <a:r>
              <a:rPr sz="900" dirty="0">
                <a:latin typeface="Arial"/>
                <a:cs typeface="Arial"/>
              </a:rPr>
              <a:t>là</a:t>
            </a:r>
            <a:r>
              <a:rPr sz="900" spc="-35" dirty="0">
                <a:latin typeface="Arial"/>
                <a:cs typeface="Arial"/>
              </a:rPr>
              <a:t> </a:t>
            </a:r>
            <a:r>
              <a:rPr sz="900" dirty="0">
                <a:latin typeface="Arial"/>
                <a:cs typeface="Arial"/>
              </a:rPr>
              <a:t>các đối tượng,</a:t>
            </a:r>
            <a:r>
              <a:rPr sz="900" spc="-40" dirty="0">
                <a:latin typeface="Arial"/>
                <a:cs typeface="Arial"/>
              </a:rPr>
              <a:t> </a:t>
            </a:r>
            <a:r>
              <a:rPr sz="900" dirty="0">
                <a:latin typeface="Arial"/>
                <a:cs typeface="Arial"/>
              </a:rPr>
              <a:t>đã kết </a:t>
            </a:r>
            <a:r>
              <a:rPr sz="900" dirty="0" err="1">
                <a:latin typeface="Arial"/>
                <a:cs typeface="Arial"/>
              </a:rPr>
              <a:t>nối</a:t>
            </a:r>
            <a:r>
              <a:rPr sz="900" spc="-35" dirty="0">
                <a:latin typeface="Arial"/>
                <a:cs typeface="Arial"/>
              </a:rPr>
              <a:t> </a:t>
            </a:r>
            <a:r>
              <a:rPr lang="en-US" sz="900" spc="-35" dirty="0" err="1" smtClean="0">
                <a:latin typeface="Arial"/>
                <a:cs typeface="Arial"/>
              </a:rPr>
              <a:t>với</a:t>
            </a:r>
            <a:r>
              <a:rPr lang="en-US" sz="900" spc="-35" dirty="0" smtClean="0">
                <a:latin typeface="Arial"/>
                <a:cs typeface="Arial"/>
              </a:rPr>
              <a:t> </a:t>
            </a:r>
            <a:r>
              <a:rPr lang="en-US" sz="900" spc="-35" dirty="0" err="1" smtClean="0">
                <a:latin typeface="Arial"/>
                <a:cs typeface="Arial"/>
              </a:rPr>
              <a:t>nhau</a:t>
            </a:r>
            <a:r>
              <a:rPr lang="en-US" sz="900" spc="-35" dirty="0" smtClean="0">
                <a:latin typeface="Arial"/>
                <a:cs typeface="Arial"/>
              </a:rPr>
              <a:t> </a:t>
            </a:r>
            <a:r>
              <a:rPr sz="900" dirty="0" err="1" smtClean="0">
                <a:latin typeface="Arial"/>
                <a:cs typeface="Arial"/>
              </a:rPr>
              <a:t>khác</a:t>
            </a:r>
            <a:r>
              <a:rPr sz="900" spc="-35" dirty="0" smtClean="0">
                <a:latin typeface="Arial"/>
                <a:cs typeface="Arial"/>
              </a:rPr>
              <a:t> </a:t>
            </a:r>
            <a:r>
              <a:rPr sz="900" dirty="0" err="1">
                <a:latin typeface="Arial"/>
                <a:cs typeface="Arial"/>
              </a:rPr>
              <a:t>bởi</a:t>
            </a:r>
            <a:r>
              <a:rPr sz="900" dirty="0">
                <a:latin typeface="Arial"/>
                <a:cs typeface="Arial"/>
              </a:rPr>
              <a:t> </a:t>
            </a:r>
            <a:r>
              <a:rPr sz="900" dirty="0" err="1" smtClean="0">
                <a:latin typeface="Arial"/>
                <a:cs typeface="Arial"/>
              </a:rPr>
              <a:t>vì</a:t>
            </a:r>
            <a:r>
              <a:rPr lang="en-US" sz="900" dirty="0" smtClean="0">
                <a:latin typeface="Arial"/>
                <a:cs typeface="Arial"/>
              </a:rPr>
              <a:t> </a:t>
            </a:r>
            <a:r>
              <a:rPr lang="en-US" sz="900" dirty="0" err="1" smtClean="0">
                <a:latin typeface="Arial"/>
                <a:cs typeface="Arial"/>
              </a:rPr>
              <a:t>lời</a:t>
            </a:r>
            <a:r>
              <a:rPr lang="en-US" sz="900" dirty="0" smtClean="0">
                <a:latin typeface="Arial"/>
                <a:cs typeface="Arial"/>
              </a:rPr>
              <a:t> </a:t>
            </a:r>
            <a:r>
              <a:rPr lang="en-US" sz="900" dirty="0" err="1" smtClean="0">
                <a:latin typeface="Arial"/>
                <a:cs typeface="Arial"/>
              </a:rPr>
              <a:t>gọi</a:t>
            </a:r>
            <a:r>
              <a:rPr sz="900" spc="-35" dirty="0" smtClean="0">
                <a:latin typeface="Arial"/>
                <a:cs typeface="Arial"/>
              </a:rPr>
              <a:t> </a:t>
            </a:r>
            <a:r>
              <a:rPr sz="900" dirty="0" err="1">
                <a:latin typeface="Arial"/>
                <a:cs typeface="Arial"/>
              </a:rPr>
              <a:t>thủ</a:t>
            </a:r>
            <a:r>
              <a:rPr sz="900" dirty="0">
                <a:latin typeface="Arial"/>
                <a:cs typeface="Arial"/>
              </a:rPr>
              <a:t> </a:t>
            </a:r>
            <a:r>
              <a:rPr sz="900" dirty="0" err="1" smtClean="0">
                <a:latin typeface="Arial"/>
                <a:cs typeface="Arial"/>
              </a:rPr>
              <a:t>tục</a:t>
            </a:r>
            <a:r>
              <a:rPr sz="900" spc="-10" dirty="0" smtClean="0">
                <a:latin typeface="Arial"/>
                <a:cs typeface="Arial"/>
              </a:rPr>
              <a:t>. </a:t>
            </a:r>
            <a:r>
              <a:rPr sz="900" dirty="0">
                <a:latin typeface="Arial"/>
                <a:cs typeface="Arial"/>
              </a:rPr>
              <a:t>Đối tượng</a:t>
            </a:r>
            <a:r>
              <a:rPr sz="900" spc="-25" dirty="0">
                <a:latin typeface="Arial"/>
                <a:cs typeface="Arial"/>
              </a:rPr>
              <a:t> </a:t>
            </a:r>
            <a:r>
              <a:rPr sz="900" dirty="0">
                <a:latin typeface="Arial"/>
                <a:cs typeface="Arial"/>
              </a:rPr>
              <a:t>có thể</a:t>
            </a:r>
            <a:r>
              <a:rPr sz="900" spc="-25" dirty="0">
                <a:latin typeface="Arial"/>
                <a:cs typeface="Arial"/>
              </a:rPr>
              <a:t> </a:t>
            </a:r>
            <a:r>
              <a:rPr sz="900" dirty="0">
                <a:latin typeface="Arial"/>
                <a:cs typeface="Arial"/>
              </a:rPr>
              <a:t>là</a:t>
            </a:r>
            <a:r>
              <a:rPr sz="900" spc="-25" dirty="0">
                <a:latin typeface="Arial"/>
                <a:cs typeface="Arial"/>
              </a:rPr>
              <a:t> </a:t>
            </a:r>
            <a:r>
              <a:rPr sz="900" dirty="0">
                <a:latin typeface="Arial"/>
                <a:cs typeface="Arial"/>
              </a:rPr>
              <a:t>được </a:t>
            </a:r>
            <a:r>
              <a:rPr sz="900" dirty="0" err="1">
                <a:latin typeface="Arial"/>
                <a:cs typeface="Arial"/>
              </a:rPr>
              <a:t>đặt</a:t>
            </a:r>
            <a:r>
              <a:rPr sz="900" spc="-30" dirty="0">
                <a:latin typeface="Arial"/>
                <a:cs typeface="Arial"/>
              </a:rPr>
              <a:t> </a:t>
            </a:r>
            <a:r>
              <a:rPr sz="900" dirty="0" smtClean="0">
                <a:latin typeface="Arial"/>
                <a:cs typeface="Arial"/>
              </a:rPr>
              <a:t>TRÊN</a:t>
            </a:r>
            <a:r>
              <a:rPr lang="en-US" sz="900" dirty="0">
                <a:latin typeface="Arial"/>
                <a:cs typeface="Arial"/>
              </a:rPr>
              <a:t> </a:t>
            </a:r>
            <a:r>
              <a:rPr lang="en-US" sz="900" dirty="0" err="1" smtClean="0">
                <a:latin typeface="Arial"/>
                <a:cs typeface="Arial"/>
              </a:rPr>
              <a:t>máy</a:t>
            </a:r>
            <a:r>
              <a:rPr lang="en-US" sz="900" dirty="0" smtClean="0">
                <a:latin typeface="Arial"/>
                <a:cs typeface="Arial"/>
              </a:rPr>
              <a:t> </a:t>
            </a:r>
            <a:r>
              <a:rPr lang="en-US" sz="900" dirty="0" err="1" smtClean="0">
                <a:latin typeface="Arial"/>
                <a:cs typeface="Arial"/>
              </a:rPr>
              <a:t>khác</a:t>
            </a:r>
            <a:r>
              <a:rPr lang="en-US" sz="900" dirty="0" smtClean="0">
                <a:latin typeface="Arial"/>
                <a:cs typeface="Arial"/>
              </a:rPr>
              <a:t> </a:t>
            </a:r>
            <a:r>
              <a:rPr lang="en-US" sz="900" dirty="0" err="1" smtClean="0">
                <a:latin typeface="Arial"/>
                <a:cs typeface="Arial"/>
              </a:rPr>
              <a:t>nhau</a:t>
            </a:r>
            <a:r>
              <a:rPr sz="900" dirty="0" smtClean="0">
                <a:latin typeface="Arial"/>
                <a:cs typeface="Arial"/>
              </a:rPr>
              <a:t>;</a:t>
            </a:r>
            <a:r>
              <a:rPr sz="900" spc="-25" dirty="0" smtClean="0">
                <a:latin typeface="Arial"/>
                <a:cs typeface="Arial"/>
              </a:rPr>
              <a:t> </a:t>
            </a:r>
            <a:r>
              <a:rPr sz="900" dirty="0">
                <a:latin typeface="Arial"/>
                <a:cs typeface="Arial"/>
              </a:rPr>
              <a:t>gọi</a:t>
            </a:r>
            <a:r>
              <a:rPr sz="900" spc="-25" dirty="0">
                <a:latin typeface="Arial"/>
                <a:cs typeface="Arial"/>
              </a:rPr>
              <a:t> </a:t>
            </a:r>
            <a:r>
              <a:rPr sz="900" dirty="0">
                <a:latin typeface="Arial"/>
                <a:cs typeface="Arial"/>
              </a:rPr>
              <a:t>Có thể</a:t>
            </a:r>
            <a:r>
              <a:rPr sz="900" spc="-25" dirty="0">
                <a:latin typeface="Arial"/>
                <a:cs typeface="Arial"/>
              </a:rPr>
              <a:t> </a:t>
            </a:r>
            <a:r>
              <a:rPr sz="900" dirty="0">
                <a:latin typeface="Arial"/>
                <a:cs typeface="Arial"/>
              </a:rPr>
              <a:t>do đó</a:t>
            </a:r>
            <a:r>
              <a:rPr sz="900" spc="-25" dirty="0">
                <a:latin typeface="Arial"/>
                <a:cs typeface="Arial"/>
              </a:rPr>
              <a:t> </a:t>
            </a:r>
            <a:r>
              <a:rPr sz="900" spc="-10" dirty="0">
                <a:latin typeface="Arial"/>
                <a:cs typeface="Arial"/>
              </a:rPr>
              <a:t>thực hiện</a:t>
            </a:r>
            <a:r>
              <a:rPr sz="900" spc="-25" dirty="0">
                <a:latin typeface="Arial"/>
                <a:cs typeface="Arial"/>
              </a:rPr>
              <a:t> </a:t>
            </a:r>
            <a:r>
              <a:rPr sz="900" dirty="0">
                <a:latin typeface="Arial"/>
                <a:cs typeface="Arial"/>
              </a:rPr>
              <a:t>sang</a:t>
            </a:r>
            <a:r>
              <a:rPr sz="900" spc="-25" dirty="0">
                <a:latin typeface="Arial"/>
                <a:cs typeface="Arial"/>
              </a:rPr>
              <a:t> </a:t>
            </a:r>
            <a:r>
              <a:rPr sz="900" spc="-50" dirty="0">
                <a:latin typeface="Arial"/>
                <a:cs typeface="Arial"/>
              </a:rPr>
              <a:t>một </a:t>
            </a:r>
            <a:r>
              <a:rPr sz="900" spc="-10" dirty="0">
                <a:latin typeface="Arial"/>
                <a:cs typeface="Arial"/>
              </a:rPr>
              <a:t>mạng lưới.</a:t>
            </a:r>
            <a:endParaRPr sz="900" dirty="0">
              <a:latin typeface="Arial"/>
              <a:cs typeface="Arial"/>
            </a:endParaRPr>
          </a:p>
        </p:txBody>
      </p:sp>
      <p:pic>
        <p:nvPicPr>
          <p:cNvPr id="5" name="object 5"/>
          <p:cNvPicPr/>
          <p:nvPr/>
        </p:nvPicPr>
        <p:blipFill>
          <a:blip r:embed="rId3" cstate="print"/>
          <a:stretch>
            <a:fillRect/>
          </a:stretch>
        </p:blipFill>
        <p:spPr>
          <a:xfrm>
            <a:off x="471371" y="1407741"/>
            <a:ext cx="1863692" cy="843701"/>
          </a:xfrm>
          <a:prstGeom prst="rect">
            <a:avLst/>
          </a:prstGeom>
        </p:spPr>
      </p:pic>
      <p:pic>
        <p:nvPicPr>
          <p:cNvPr id="6" name="object 6"/>
          <p:cNvPicPr/>
          <p:nvPr/>
        </p:nvPicPr>
        <p:blipFill>
          <a:blip r:embed="rId4" cstate="print"/>
          <a:stretch>
            <a:fillRect/>
          </a:stretch>
        </p:blipFill>
        <p:spPr>
          <a:xfrm>
            <a:off x="2715874" y="1376629"/>
            <a:ext cx="1283893" cy="874814"/>
          </a:xfrm>
          <a:prstGeom prst="rect">
            <a:avLst/>
          </a:prstGeom>
        </p:spPr>
      </p:pic>
      <p:sp>
        <p:nvSpPr>
          <p:cNvPr id="7" name="object 7"/>
          <p:cNvSpPr txBox="1"/>
          <p:nvPr/>
        </p:nvSpPr>
        <p:spPr>
          <a:xfrm>
            <a:off x="347294" y="2342989"/>
            <a:ext cx="3845560" cy="389787"/>
          </a:xfrm>
          <a:prstGeom prst="rect">
            <a:avLst/>
          </a:prstGeom>
        </p:spPr>
        <p:txBody>
          <a:bodyPr vert="horz" wrap="square" lIns="0" tIns="54610" rIns="0" bIns="0" rtlCol="0">
            <a:spAutoFit/>
          </a:bodyPr>
          <a:lstStyle/>
          <a:p>
            <a:pPr marL="12700">
              <a:lnSpc>
                <a:spcPct val="100000"/>
              </a:lnSpc>
              <a:spcBef>
                <a:spcPts val="430"/>
              </a:spcBef>
            </a:pPr>
            <a:r>
              <a:rPr sz="1000" spc="-10" dirty="0">
                <a:solidFill>
                  <a:srgbClr val="3333B2"/>
                </a:solidFill>
                <a:latin typeface="Arial"/>
                <a:cs typeface="Arial"/>
              </a:rPr>
              <a:t>Đóng gói</a:t>
            </a:r>
            <a:endParaRPr sz="1000" dirty="0">
              <a:latin typeface="Arial"/>
              <a:cs typeface="Arial"/>
            </a:endParaRPr>
          </a:p>
          <a:p>
            <a:pPr marL="12700" marR="5080">
              <a:lnSpc>
                <a:spcPct val="111600"/>
              </a:lnSpc>
              <a:spcBef>
                <a:spcPts val="170"/>
              </a:spcBef>
            </a:pPr>
            <a:r>
              <a:rPr lang="vi-VN" sz="900" dirty="0" smtClean="0">
                <a:latin typeface="Arial"/>
                <a:cs typeface="Arial"/>
              </a:rPr>
              <a:t>Đối tượng có thể được đặt trên các máy khác nhau và gọi hàm qua mạng.</a:t>
            </a:r>
            <a:endParaRPr sz="900" dirty="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Hướng tới </a:t>
            </a:r>
            <a:r>
              <a:rPr sz="500" spc="-10" dirty="0">
                <a:latin typeface="Arial"/>
                <a:cs typeface="Arial"/>
                <a:hlinkClick r:id="rId5" action="ppaction://hlinksldjump"/>
              </a:rPr>
              <a:t>dịch vụ</a:t>
            </a:r>
            <a:r>
              <a:rPr sz="500" spc="50" dirty="0">
                <a:latin typeface="Arial"/>
                <a:cs typeface="Arial"/>
                <a:hlinkClick r:id="rId5" action="ppaction://hlinksldjump"/>
              </a:rPr>
              <a:t> </a:t>
            </a:r>
            <a:r>
              <a:rPr sz="500" spc="-10" dirty="0">
                <a:latin typeface="Arial"/>
                <a:cs typeface="Arial"/>
                <a:hlinkClick r:id="rId5" action="ppaction://hlinksldjump"/>
              </a:rPr>
              <a:t>kiến trúc</a:t>
            </a:r>
            <a:endParaRPr sz="500">
              <a:latin typeface="Arial"/>
              <a:cs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Kiến trúc</a:t>
            </a:r>
            <a:r>
              <a:rPr sz="500" dirty="0">
                <a:latin typeface="Arial"/>
                <a:cs typeface="Arial"/>
              </a:rPr>
              <a:t> </a:t>
            </a: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3" name="object 3"/>
          <p:cNvSpPr txBox="1">
            <a:spLocks noGrp="1"/>
          </p:cNvSpPr>
          <p:nvPr>
            <p:ph type="title"/>
          </p:nvPr>
        </p:nvSpPr>
        <p:spPr>
          <a:xfrm>
            <a:off x="95300" y="197711"/>
            <a:ext cx="2999105" cy="196849"/>
          </a:xfrm>
          <a:prstGeom prst="rect">
            <a:avLst/>
          </a:prstGeom>
        </p:spPr>
        <p:txBody>
          <a:bodyPr vert="horz" wrap="square" lIns="0" tIns="12065" rIns="0" bIns="0" rtlCol="0">
            <a:spAutoFit/>
          </a:bodyPr>
          <a:lstStyle/>
          <a:p>
            <a:pPr marL="12700">
              <a:lnSpc>
                <a:spcPct val="100000"/>
              </a:lnSpc>
              <a:spcBef>
                <a:spcPts val="95"/>
              </a:spcBef>
            </a:pPr>
            <a:r>
              <a:rPr lang="en-US" spc="-10" dirty="0" err="1"/>
              <a:t>K</a:t>
            </a:r>
            <a:r>
              <a:rPr spc="-10" dirty="0" err="1" smtClean="0"/>
              <a:t>iến</a:t>
            </a:r>
            <a:r>
              <a:rPr spc="-10" dirty="0" smtClean="0"/>
              <a:t> </a:t>
            </a:r>
            <a:r>
              <a:rPr spc="-10" dirty="0" err="1" smtClean="0"/>
              <a:t>trúc</a:t>
            </a:r>
            <a:r>
              <a:rPr lang="en-US" spc="-10" dirty="0" smtClean="0"/>
              <a:t> Restful</a:t>
            </a:r>
            <a:endParaRPr spc="-10" dirty="0"/>
          </a:p>
        </p:txBody>
      </p:sp>
      <p:sp>
        <p:nvSpPr>
          <p:cNvPr id="4" name="object 4"/>
          <p:cNvSpPr txBox="1"/>
          <p:nvPr/>
        </p:nvSpPr>
        <p:spPr>
          <a:xfrm>
            <a:off x="343547" y="499476"/>
            <a:ext cx="3920490" cy="1815241"/>
          </a:xfrm>
          <a:prstGeom prst="rect">
            <a:avLst/>
          </a:prstGeom>
        </p:spPr>
        <p:txBody>
          <a:bodyPr vert="horz" wrap="square" lIns="0" tIns="27305" rIns="0" bIns="0" rtlCol="0">
            <a:spAutoFit/>
          </a:bodyPr>
          <a:lstStyle/>
          <a:p>
            <a:pPr marL="15875">
              <a:lnSpc>
                <a:spcPct val="100000"/>
              </a:lnSpc>
              <a:spcBef>
                <a:spcPts val="215"/>
              </a:spcBef>
            </a:pPr>
            <a:r>
              <a:rPr lang="en-US" sz="1000" spc="-10" dirty="0" err="1" smtClean="0">
                <a:solidFill>
                  <a:srgbClr val="3333B2"/>
                </a:solidFill>
                <a:latin typeface="Arial"/>
                <a:cs typeface="Arial"/>
              </a:rPr>
              <a:t>Bản</a:t>
            </a:r>
            <a:r>
              <a:rPr lang="en-US" sz="1000" spc="-10" dirty="0" smtClean="0">
                <a:solidFill>
                  <a:srgbClr val="3333B2"/>
                </a:solidFill>
                <a:latin typeface="Arial"/>
                <a:cs typeface="Arial"/>
              </a:rPr>
              <a:t> </a:t>
            </a:r>
            <a:r>
              <a:rPr lang="en-US" sz="1000" spc="-10" dirty="0" err="1" smtClean="0">
                <a:solidFill>
                  <a:srgbClr val="3333B2"/>
                </a:solidFill>
                <a:latin typeface="Arial"/>
                <a:cs typeface="Arial"/>
              </a:rPr>
              <a:t>chất</a:t>
            </a:r>
            <a:endParaRPr sz="1000" dirty="0" smtClean="0">
              <a:latin typeface="Arial"/>
              <a:cs typeface="Arial"/>
            </a:endParaRPr>
          </a:p>
          <a:p>
            <a:pPr marL="12700" marR="5080">
              <a:lnSpc>
                <a:spcPts val="1210"/>
              </a:lnSpc>
              <a:spcBef>
                <a:spcPts val="35"/>
              </a:spcBef>
            </a:pPr>
            <a:r>
              <a:rPr lang="vi-VN" sz="900" spc="-10" dirty="0" smtClean="0">
                <a:latin typeface="Arial"/>
                <a:cs typeface="Arial"/>
              </a:rPr>
              <a:t>Hãy xem một hệ thống phân tán như một tập hợp các tài nguyên, được quản lý riêng lẻ bởi các thành phần khác nhau. Các tài nguyên này có thể được thêm vào, xóa bỏ, truy xuất hoặc sửa đổi bởi các ứng dụng (từ xa).</a:t>
            </a:r>
            <a:r>
              <a:rPr sz="900" dirty="0" smtClean="0">
                <a:latin typeface="Arial"/>
                <a:cs typeface="Arial"/>
              </a:rPr>
              <a:t> </a:t>
            </a:r>
            <a:endParaRPr lang="en-US" sz="900" dirty="0" smtClean="0">
              <a:latin typeface="Arial"/>
              <a:cs typeface="Arial"/>
            </a:endParaRPr>
          </a:p>
          <a:p>
            <a:pPr marL="269240" indent="-158750">
              <a:lnSpc>
                <a:spcPct val="100000"/>
              </a:lnSpc>
              <a:spcBef>
                <a:spcPts val="125"/>
              </a:spcBef>
              <a:buClr>
                <a:srgbClr val="3333B2"/>
              </a:buClr>
              <a:buAutoNum type="arabicPeriod"/>
              <a:tabLst>
                <a:tab pos="269875" algn="l"/>
              </a:tabLst>
            </a:pPr>
            <a:r>
              <a:rPr lang="vi-VN" sz="900" dirty="0" smtClean="0">
                <a:latin typeface="Arial"/>
                <a:cs typeface="Arial"/>
              </a:rPr>
              <a:t>Mỗi tài nguyên được nhận diện thông qua một hệ thống đặt tên thống nhất.</a:t>
            </a:r>
          </a:p>
          <a:p>
            <a:pPr marL="269240" indent="-158750">
              <a:lnSpc>
                <a:spcPct val="100000"/>
              </a:lnSpc>
              <a:spcBef>
                <a:spcPts val="125"/>
              </a:spcBef>
              <a:buClr>
                <a:srgbClr val="3333B2"/>
              </a:buClr>
              <a:buAutoNum type="arabicPeriod"/>
              <a:tabLst>
                <a:tab pos="269875" algn="l"/>
              </a:tabLst>
            </a:pPr>
            <a:r>
              <a:rPr lang="vi-VN" sz="900" dirty="0" smtClean="0">
                <a:latin typeface="Arial"/>
                <a:cs typeface="Arial"/>
              </a:rPr>
              <a:t>Tất cả các dịch vụ đều cung cấp cùng một giao diện.</a:t>
            </a:r>
          </a:p>
          <a:p>
            <a:pPr marL="269240" indent="-158750">
              <a:lnSpc>
                <a:spcPct val="100000"/>
              </a:lnSpc>
              <a:spcBef>
                <a:spcPts val="125"/>
              </a:spcBef>
              <a:buClr>
                <a:srgbClr val="3333B2"/>
              </a:buClr>
              <a:buAutoNum type="arabicPeriod"/>
              <a:tabLst>
                <a:tab pos="269875" algn="l"/>
              </a:tabLst>
            </a:pPr>
            <a:r>
              <a:rPr lang="vi-VN" sz="900" dirty="0" smtClean="0">
                <a:latin typeface="Arial"/>
                <a:cs typeface="Arial"/>
              </a:rPr>
              <a:t>Các thông điệp gửi đến hoặc nhận từ một dịch vụ đều có nội dung mô tả đầy đủ.</a:t>
            </a:r>
          </a:p>
          <a:p>
            <a:pPr marL="269240" indent="-158750">
              <a:lnSpc>
                <a:spcPct val="100000"/>
              </a:lnSpc>
              <a:spcBef>
                <a:spcPts val="125"/>
              </a:spcBef>
              <a:buClr>
                <a:srgbClr val="3333B2"/>
              </a:buClr>
              <a:buAutoNum type="arabicPeriod"/>
              <a:tabLst>
                <a:tab pos="269875" algn="l"/>
              </a:tabLst>
            </a:pPr>
            <a:r>
              <a:rPr lang="vi-VN" sz="900" dirty="0" smtClean="0">
                <a:latin typeface="Arial"/>
                <a:cs typeface="Arial"/>
              </a:rPr>
              <a:t>Sau khi thực hiện một thao tác trên dịch vụ, thành phần đó sẽ quên mọi thông tin về người gọi.</a:t>
            </a:r>
            <a:endParaRPr lang="en-US" sz="900" dirty="0">
              <a:latin typeface="Arial"/>
              <a:cs typeface="Arial"/>
            </a:endParaRPr>
          </a:p>
          <a:p>
            <a:pPr marL="110490">
              <a:lnSpc>
                <a:spcPct val="100000"/>
              </a:lnSpc>
              <a:spcBef>
                <a:spcPts val="125"/>
              </a:spcBef>
              <a:buClr>
                <a:srgbClr val="3333B2"/>
              </a:buClr>
              <a:tabLst>
                <a:tab pos="269875" algn="l"/>
              </a:tabLst>
            </a:pPr>
            <a:r>
              <a:rPr lang="en-US" sz="900" dirty="0" err="1" smtClean="0">
                <a:latin typeface="Arial"/>
                <a:cs typeface="Arial"/>
              </a:rPr>
              <a:t>Toán</a:t>
            </a:r>
            <a:r>
              <a:rPr lang="en-US" sz="900" dirty="0" smtClean="0">
                <a:latin typeface="Arial"/>
                <a:cs typeface="Arial"/>
              </a:rPr>
              <a:t> </a:t>
            </a:r>
            <a:r>
              <a:rPr lang="en-US" sz="900" dirty="0" err="1" smtClean="0">
                <a:latin typeface="Arial"/>
                <a:cs typeface="Arial"/>
              </a:rPr>
              <a:t>tử</a:t>
            </a:r>
            <a:r>
              <a:rPr lang="en-US" sz="900" dirty="0" smtClean="0">
                <a:latin typeface="Arial"/>
                <a:cs typeface="Arial"/>
              </a:rPr>
              <a:t> </a:t>
            </a:r>
            <a:r>
              <a:rPr lang="en-US" sz="900" dirty="0" err="1" smtClean="0">
                <a:latin typeface="Arial"/>
                <a:cs typeface="Arial"/>
              </a:rPr>
              <a:t>cơ</a:t>
            </a:r>
            <a:r>
              <a:rPr lang="en-US" sz="900" dirty="0" smtClean="0">
                <a:latin typeface="Arial"/>
                <a:cs typeface="Arial"/>
              </a:rPr>
              <a:t> </a:t>
            </a:r>
            <a:r>
              <a:rPr lang="en-US" sz="900" dirty="0" err="1" smtClean="0">
                <a:latin typeface="Arial"/>
                <a:cs typeface="Arial"/>
              </a:rPr>
              <a:t>bản</a:t>
            </a:r>
            <a:endParaRPr lang="vi-VN" sz="900" dirty="0" smtClean="0">
              <a:latin typeface="Arial"/>
              <a:cs typeface="Arial"/>
            </a:endParaRPr>
          </a:p>
        </p:txBody>
      </p:sp>
      <p:graphicFrame>
        <p:nvGraphicFramePr>
          <p:cNvPr id="5" name="object 5"/>
          <p:cNvGraphicFramePr>
            <a:graphicFrameLocks noGrp="1"/>
          </p:cNvGraphicFramePr>
          <p:nvPr>
            <p:extLst>
              <p:ext uri="{D42A27DB-BD31-4B8C-83A1-F6EECF244321}">
                <p14:modId xmlns:p14="http://schemas.microsoft.com/office/powerpoint/2010/main" val="2861575859"/>
              </p:ext>
            </p:extLst>
          </p:nvPr>
        </p:nvGraphicFramePr>
        <p:xfrm>
          <a:off x="857250" y="2416175"/>
          <a:ext cx="2889885" cy="713105"/>
        </p:xfrm>
        <a:graphic>
          <a:graphicData uri="http://schemas.openxmlformats.org/drawingml/2006/table">
            <a:tbl>
              <a:tblPr firstRow="1" bandRow="1">
                <a:tableStyleId>{2D5ABB26-0587-4C30-8999-92F81FD0307C}</a:tableStyleId>
              </a:tblPr>
              <a:tblGrid>
                <a:gridCol w="575310">
                  <a:extLst>
                    <a:ext uri="{9D8B030D-6E8A-4147-A177-3AD203B41FA5}">
                      <a16:colId xmlns:a16="http://schemas.microsoft.com/office/drawing/2014/main" val="20000"/>
                    </a:ext>
                  </a:extLst>
                </a:gridCol>
                <a:gridCol w="2314575">
                  <a:extLst>
                    <a:ext uri="{9D8B030D-6E8A-4147-A177-3AD203B41FA5}">
                      <a16:colId xmlns:a16="http://schemas.microsoft.com/office/drawing/2014/main" val="20001"/>
                    </a:ext>
                  </a:extLst>
                </a:gridCol>
              </a:tblGrid>
              <a:tr h="152400">
                <a:tc>
                  <a:txBody>
                    <a:bodyPr/>
                    <a:lstStyle/>
                    <a:p>
                      <a:pPr marL="78105">
                        <a:lnSpc>
                          <a:spcPct val="100000"/>
                        </a:lnSpc>
                        <a:spcBef>
                          <a:spcPts val="55"/>
                        </a:spcBef>
                      </a:pPr>
                      <a:r>
                        <a:rPr sz="700" b="1" spc="-10" dirty="0">
                          <a:latin typeface="Arial"/>
                          <a:cs typeface="Arial"/>
                        </a:rPr>
                        <a:t>Hoạt động</a:t>
                      </a:r>
                      <a:endParaRPr sz="700">
                        <a:latin typeface="Arial"/>
                        <a:cs typeface="Arial"/>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55"/>
                        </a:spcBef>
                      </a:pPr>
                      <a:r>
                        <a:rPr lang="en-US" sz="700" dirty="0" err="1" smtClean="0">
                          <a:latin typeface="Arial"/>
                          <a:cs typeface="Arial"/>
                        </a:rPr>
                        <a:t>Mô</a:t>
                      </a:r>
                      <a:r>
                        <a:rPr lang="en-US" sz="700" baseline="0" dirty="0" smtClean="0">
                          <a:latin typeface="Arial"/>
                          <a:cs typeface="Arial"/>
                        </a:rPr>
                        <a:t> </a:t>
                      </a:r>
                      <a:r>
                        <a:rPr lang="en-US" sz="700" baseline="0" dirty="0" err="1" smtClean="0">
                          <a:latin typeface="Arial"/>
                          <a:cs typeface="Arial"/>
                        </a:rPr>
                        <a:t>tả</a:t>
                      </a:r>
                      <a:endParaRPr sz="700" dirty="0">
                        <a:latin typeface="Arial"/>
                        <a:cs typeface="Arial"/>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45415">
                <a:tc>
                  <a:txBody>
                    <a:bodyPr/>
                    <a:lstStyle/>
                    <a:p>
                      <a:pPr marL="71755">
                        <a:lnSpc>
                          <a:spcPts val="1010"/>
                        </a:lnSpc>
                      </a:pPr>
                      <a:r>
                        <a:rPr lang="en-US" sz="1000" spc="-25" dirty="0" smtClean="0">
                          <a:latin typeface="Times New Roman"/>
                          <a:cs typeface="Times New Roman"/>
                        </a:rPr>
                        <a:t>Put</a:t>
                      </a:r>
                      <a:endParaRPr sz="10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10"/>
                        </a:spcBef>
                      </a:pPr>
                      <a:r>
                        <a:rPr sz="700" dirty="0" err="1">
                          <a:latin typeface="Arial"/>
                          <a:cs typeface="Arial"/>
                        </a:rPr>
                        <a:t>Tạo</a:t>
                      </a:r>
                      <a:r>
                        <a:rPr sz="700" dirty="0">
                          <a:latin typeface="Arial"/>
                          <a:cs typeface="Arial"/>
                        </a:rPr>
                        <a:t> </a:t>
                      </a:r>
                      <a:r>
                        <a:rPr lang="en-US" sz="700" dirty="0" err="1" smtClean="0">
                          <a:latin typeface="Arial"/>
                          <a:cs typeface="Arial"/>
                        </a:rPr>
                        <a:t>mới</a:t>
                      </a:r>
                      <a:r>
                        <a:rPr lang="en-US" sz="700" dirty="0" smtClean="0">
                          <a:latin typeface="Arial"/>
                          <a:cs typeface="Arial"/>
                        </a:rPr>
                        <a:t> </a:t>
                      </a:r>
                      <a:r>
                        <a:rPr lang="en-US" sz="700" dirty="0" err="1" smtClean="0">
                          <a:latin typeface="Arial"/>
                          <a:cs typeface="Arial"/>
                        </a:rPr>
                        <a:t>m</a:t>
                      </a:r>
                      <a:r>
                        <a:rPr sz="700" dirty="0" err="1" smtClean="0">
                          <a:latin typeface="Arial"/>
                          <a:cs typeface="Arial"/>
                        </a:rPr>
                        <a:t>ột</a:t>
                      </a:r>
                      <a:r>
                        <a:rPr sz="700" spc="-25" dirty="0" smtClean="0">
                          <a:latin typeface="Arial"/>
                          <a:cs typeface="Arial"/>
                        </a:rPr>
                        <a:t> </a:t>
                      </a:r>
                      <a:r>
                        <a:rPr sz="700" dirty="0">
                          <a:latin typeface="Arial"/>
                          <a:cs typeface="Arial"/>
                        </a:rPr>
                        <a:t>mới</a:t>
                      </a:r>
                      <a:r>
                        <a:rPr sz="700" spc="-20" dirty="0">
                          <a:latin typeface="Arial"/>
                          <a:cs typeface="Arial"/>
                        </a:rPr>
                        <a:t> </a:t>
                      </a:r>
                      <a:r>
                        <a:rPr sz="700" spc="-10" dirty="0">
                          <a:latin typeface="Arial"/>
                          <a:cs typeface="Arial"/>
                        </a:rPr>
                        <a:t>tài nguyên</a:t>
                      </a:r>
                      <a:endParaRPr sz="700" dirty="0">
                        <a:latin typeface="Arial"/>
                        <a:cs typeface="Arial"/>
                      </a:endParaRPr>
                    </a:p>
                  </a:txBody>
                  <a:tcPr marL="0" marR="0" marT="1397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38430">
                <a:tc>
                  <a:txBody>
                    <a:bodyPr/>
                    <a:lstStyle/>
                    <a:p>
                      <a:pPr marL="71755">
                        <a:lnSpc>
                          <a:spcPts val="955"/>
                        </a:lnSpc>
                      </a:pPr>
                      <a:r>
                        <a:rPr lang="en-US" sz="1000" spc="-25" dirty="0" smtClean="0">
                          <a:latin typeface="Times New Roman"/>
                          <a:cs typeface="Times New Roman"/>
                        </a:rPr>
                        <a:t>Get</a:t>
                      </a:r>
                      <a:endParaRPr sz="10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55"/>
                        </a:spcBef>
                      </a:pPr>
                      <a:r>
                        <a:rPr sz="700" spc="-10" dirty="0">
                          <a:latin typeface="Arial"/>
                          <a:cs typeface="Arial"/>
                        </a:rPr>
                        <a:t>Lấy lại</a:t>
                      </a:r>
                      <a:r>
                        <a:rPr sz="700" spc="-15" dirty="0">
                          <a:latin typeface="Arial"/>
                          <a:cs typeface="Arial"/>
                        </a:rPr>
                        <a:t> </a:t>
                      </a:r>
                      <a:r>
                        <a:rPr sz="700" dirty="0">
                          <a:latin typeface="Arial"/>
                          <a:cs typeface="Arial"/>
                        </a:rPr>
                        <a:t>cái</a:t>
                      </a:r>
                      <a:r>
                        <a:rPr sz="700" spc="-15" dirty="0">
                          <a:latin typeface="Arial"/>
                          <a:cs typeface="Arial"/>
                        </a:rPr>
                        <a:t> </a:t>
                      </a:r>
                      <a:r>
                        <a:rPr sz="700" dirty="0">
                          <a:latin typeface="Arial"/>
                          <a:cs typeface="Arial"/>
                        </a:rPr>
                        <a:t>tình </a:t>
                      </a:r>
                      <a:r>
                        <a:rPr sz="700" dirty="0" err="1">
                          <a:latin typeface="Arial"/>
                          <a:cs typeface="Arial"/>
                        </a:rPr>
                        <a:t>trạng</a:t>
                      </a:r>
                      <a:r>
                        <a:rPr sz="700" spc="-10" dirty="0">
                          <a:latin typeface="Arial"/>
                          <a:cs typeface="Arial"/>
                        </a:rPr>
                        <a:t> </a:t>
                      </a:r>
                      <a:r>
                        <a:rPr sz="700" dirty="0" err="1" smtClean="0">
                          <a:latin typeface="Arial"/>
                          <a:cs typeface="Arial"/>
                        </a:rPr>
                        <a:t>của</a:t>
                      </a:r>
                      <a:r>
                        <a:rPr lang="en-US" sz="700" spc="-15" baseline="0" dirty="0" smtClean="0">
                          <a:latin typeface="Arial"/>
                          <a:cs typeface="Arial"/>
                        </a:rPr>
                        <a:t> </a:t>
                      </a:r>
                      <a:r>
                        <a:rPr sz="700" dirty="0" err="1" smtClean="0">
                          <a:latin typeface="Arial"/>
                          <a:cs typeface="Arial"/>
                        </a:rPr>
                        <a:t>tài</a:t>
                      </a:r>
                      <a:r>
                        <a:rPr sz="700" dirty="0" smtClean="0">
                          <a:latin typeface="Arial"/>
                          <a:cs typeface="Arial"/>
                        </a:rPr>
                        <a:t> </a:t>
                      </a:r>
                      <a:r>
                        <a:rPr sz="700" dirty="0" err="1">
                          <a:latin typeface="Arial"/>
                          <a:cs typeface="Arial"/>
                        </a:rPr>
                        <a:t>nguyên</a:t>
                      </a:r>
                      <a:r>
                        <a:rPr sz="700" spc="-10" dirty="0">
                          <a:latin typeface="Arial"/>
                          <a:cs typeface="Arial"/>
                        </a:rPr>
                        <a:t> </a:t>
                      </a:r>
                      <a:r>
                        <a:rPr lang="en-US" sz="700" spc="-10" dirty="0" err="1" smtClean="0">
                          <a:latin typeface="Arial"/>
                          <a:cs typeface="Arial"/>
                        </a:rPr>
                        <a:t>trong</a:t>
                      </a:r>
                      <a:r>
                        <a:rPr lang="en-US" sz="700" spc="-10" dirty="0" smtClean="0">
                          <a:latin typeface="Arial"/>
                          <a:cs typeface="Arial"/>
                        </a:rPr>
                        <a:t> </a:t>
                      </a:r>
                      <a:r>
                        <a:rPr sz="700" dirty="0" err="1" smtClean="0">
                          <a:latin typeface="Arial"/>
                          <a:cs typeface="Arial"/>
                        </a:rPr>
                        <a:t>một</a:t>
                      </a:r>
                      <a:r>
                        <a:rPr sz="700" dirty="0" smtClean="0">
                          <a:latin typeface="Arial"/>
                          <a:cs typeface="Arial"/>
                        </a:rPr>
                        <a:t> </a:t>
                      </a:r>
                      <a:r>
                        <a:rPr sz="700" dirty="0">
                          <a:latin typeface="Arial"/>
                          <a:cs typeface="Arial"/>
                        </a:rPr>
                        <a:t>số</a:t>
                      </a:r>
                      <a:r>
                        <a:rPr sz="700" spc="-15" dirty="0">
                          <a:latin typeface="Arial"/>
                          <a:cs typeface="Arial"/>
                        </a:rPr>
                        <a:t> </a:t>
                      </a:r>
                      <a:r>
                        <a:rPr sz="700" spc="-10" dirty="0">
                          <a:latin typeface="Arial"/>
                          <a:cs typeface="Arial"/>
                        </a:rPr>
                        <a:t>đại diện</a:t>
                      </a:r>
                      <a:endParaRPr sz="700" dirty="0">
                        <a:latin typeface="Arial"/>
                        <a:cs typeface="Arial"/>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38430">
                <a:tc>
                  <a:txBody>
                    <a:bodyPr/>
                    <a:lstStyle/>
                    <a:p>
                      <a:pPr marL="71755">
                        <a:lnSpc>
                          <a:spcPts val="955"/>
                        </a:lnSpc>
                      </a:pPr>
                      <a:r>
                        <a:rPr lang="en-US" sz="1000" spc="-10" dirty="0" smtClean="0">
                          <a:latin typeface="Times New Roman"/>
                          <a:cs typeface="Times New Roman"/>
                        </a:rPr>
                        <a:t>Delete</a:t>
                      </a:r>
                      <a:endParaRPr sz="10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55"/>
                        </a:spcBef>
                      </a:pPr>
                      <a:r>
                        <a:rPr sz="700" dirty="0" err="1">
                          <a:latin typeface="Arial"/>
                          <a:cs typeface="Arial"/>
                        </a:rPr>
                        <a:t>Xóa</a:t>
                      </a:r>
                      <a:r>
                        <a:rPr sz="700" dirty="0">
                          <a:latin typeface="Arial"/>
                          <a:cs typeface="Arial"/>
                        </a:rPr>
                        <a:t> </a:t>
                      </a:r>
                      <a:r>
                        <a:rPr sz="700" dirty="0" err="1" smtClean="0">
                          <a:latin typeface="Arial"/>
                          <a:cs typeface="Arial"/>
                        </a:rPr>
                        <a:t>bỏ</a:t>
                      </a:r>
                      <a:r>
                        <a:rPr lang="en-US" sz="700" spc="-20" baseline="0" dirty="0" smtClean="0">
                          <a:latin typeface="Arial"/>
                          <a:cs typeface="Arial"/>
                        </a:rPr>
                        <a:t> </a:t>
                      </a:r>
                      <a:r>
                        <a:rPr lang="en-US" sz="700" spc="-20" baseline="0" dirty="0" err="1" smtClean="0">
                          <a:latin typeface="Arial"/>
                          <a:cs typeface="Arial"/>
                        </a:rPr>
                        <a:t>một</a:t>
                      </a:r>
                      <a:r>
                        <a:rPr sz="700" spc="-15" dirty="0" smtClean="0">
                          <a:latin typeface="Arial"/>
                          <a:cs typeface="Arial"/>
                        </a:rPr>
                        <a:t> </a:t>
                      </a:r>
                      <a:r>
                        <a:rPr sz="700" spc="-10" dirty="0">
                          <a:latin typeface="Arial"/>
                          <a:cs typeface="Arial"/>
                        </a:rPr>
                        <a:t>tài nguyên</a:t>
                      </a:r>
                      <a:endParaRPr sz="700" dirty="0">
                        <a:latin typeface="Arial"/>
                        <a:cs typeface="Arial"/>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38430">
                <a:tc>
                  <a:txBody>
                    <a:bodyPr/>
                    <a:lstStyle/>
                    <a:p>
                      <a:pPr marL="71755">
                        <a:lnSpc>
                          <a:spcPts val="955"/>
                        </a:lnSpc>
                      </a:pPr>
                      <a:r>
                        <a:rPr lang="en-US" sz="1000" spc="-20" dirty="0" smtClean="0">
                          <a:latin typeface="Times New Roman"/>
                          <a:cs typeface="Times New Roman"/>
                        </a:rPr>
                        <a:t>Post</a:t>
                      </a:r>
                      <a:endParaRPr sz="10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55"/>
                        </a:spcBef>
                      </a:pPr>
                      <a:r>
                        <a:rPr sz="700" dirty="0">
                          <a:latin typeface="Arial"/>
                          <a:cs typeface="Arial"/>
                        </a:rPr>
                        <a:t>Biến </a:t>
                      </a:r>
                      <a:r>
                        <a:rPr sz="700" dirty="0" err="1">
                          <a:latin typeface="Arial"/>
                          <a:cs typeface="Arial"/>
                        </a:rPr>
                        <a:t>đổi</a:t>
                      </a:r>
                      <a:r>
                        <a:rPr sz="700" spc="-15" dirty="0">
                          <a:latin typeface="Arial"/>
                          <a:cs typeface="Arial"/>
                        </a:rPr>
                        <a:t> </a:t>
                      </a:r>
                      <a:r>
                        <a:rPr lang="en-US" sz="700" spc="0" dirty="0" err="1" smtClean="0">
                          <a:latin typeface="Arial"/>
                          <a:cs typeface="Arial"/>
                        </a:rPr>
                        <a:t>một</a:t>
                      </a:r>
                      <a:r>
                        <a:rPr sz="700" spc="-10" dirty="0" smtClean="0">
                          <a:latin typeface="Arial"/>
                          <a:cs typeface="Arial"/>
                        </a:rPr>
                        <a:t> </a:t>
                      </a:r>
                      <a:r>
                        <a:rPr sz="700" dirty="0">
                          <a:latin typeface="Arial"/>
                          <a:cs typeface="Arial"/>
                        </a:rPr>
                        <a:t>tài nguyên</a:t>
                      </a:r>
                      <a:r>
                        <a:rPr sz="700" spc="-10" dirty="0">
                          <a:latin typeface="Arial"/>
                          <a:cs typeface="Arial"/>
                        </a:rPr>
                        <a:t> </a:t>
                      </a:r>
                      <a:r>
                        <a:rPr sz="700" dirty="0">
                          <a:latin typeface="Arial"/>
                          <a:cs typeface="Arial"/>
                        </a:rPr>
                        <a:t>qua</a:t>
                      </a:r>
                      <a:r>
                        <a:rPr sz="700" spc="-15" dirty="0">
                          <a:latin typeface="Arial"/>
                          <a:cs typeface="Arial"/>
                        </a:rPr>
                        <a:t> </a:t>
                      </a:r>
                      <a:r>
                        <a:rPr sz="700" spc="-10" dirty="0">
                          <a:latin typeface="Arial"/>
                          <a:cs typeface="Arial"/>
                        </a:rPr>
                        <a:t>chuyển </a:t>
                      </a:r>
                      <a:r>
                        <a:rPr sz="700" dirty="0" err="1">
                          <a:latin typeface="Arial"/>
                          <a:cs typeface="Arial"/>
                        </a:rPr>
                        <a:t>một</a:t>
                      </a:r>
                      <a:r>
                        <a:rPr sz="700" spc="-10" dirty="0">
                          <a:latin typeface="Arial"/>
                          <a:cs typeface="Arial"/>
                        </a:rPr>
                        <a:t> </a:t>
                      </a:r>
                      <a:r>
                        <a:rPr lang="en-US" sz="700" spc="0" dirty="0" err="1" smtClean="0">
                          <a:latin typeface="Arial"/>
                          <a:cs typeface="Arial"/>
                        </a:rPr>
                        <a:t>trạng</a:t>
                      </a:r>
                      <a:r>
                        <a:rPr lang="en-US" sz="700" spc="0" baseline="0" dirty="0" smtClean="0">
                          <a:latin typeface="Arial"/>
                          <a:cs typeface="Arial"/>
                        </a:rPr>
                        <a:t> </a:t>
                      </a:r>
                      <a:r>
                        <a:rPr lang="en-US" sz="700" spc="0" baseline="0" dirty="0" err="1" smtClean="0">
                          <a:latin typeface="Arial"/>
                          <a:cs typeface="Arial"/>
                        </a:rPr>
                        <a:t>thái</a:t>
                      </a:r>
                      <a:r>
                        <a:rPr lang="en-US" sz="700" spc="0" baseline="0" dirty="0" smtClean="0">
                          <a:latin typeface="Arial"/>
                          <a:cs typeface="Arial"/>
                        </a:rPr>
                        <a:t> </a:t>
                      </a:r>
                      <a:r>
                        <a:rPr lang="en-US" sz="700" spc="0" baseline="0" dirty="0" err="1" smtClean="0">
                          <a:latin typeface="Arial"/>
                          <a:cs typeface="Arial"/>
                        </a:rPr>
                        <a:t>mới</a:t>
                      </a:r>
                      <a:endParaRPr sz="700" dirty="0">
                        <a:latin typeface="Arial"/>
                        <a:cs typeface="Arial"/>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Hướng tới </a:t>
            </a:r>
            <a:r>
              <a:rPr sz="500" spc="-10" dirty="0">
                <a:latin typeface="Arial"/>
                <a:cs typeface="Arial"/>
                <a:hlinkClick r:id="rId3" action="ppaction://hlinksldjump"/>
              </a:rPr>
              <a:t>dịch vụ</a:t>
            </a:r>
            <a:r>
              <a:rPr sz="500" spc="50" dirty="0">
                <a:latin typeface="Arial"/>
                <a:cs typeface="Arial"/>
                <a:hlinkClick r:id="rId3" action="ppaction://hlinksldjump"/>
              </a:rPr>
              <a:t> </a:t>
            </a:r>
            <a:r>
              <a:rPr sz="500" spc="-10" dirty="0">
                <a:latin typeface="Arial"/>
                <a:cs typeface="Arial"/>
                <a:hlinkClick r:id="rId3" action="ppaction://hlinksldjump"/>
              </a:rPr>
              <a:t>kiến trúc</a:t>
            </a:r>
            <a:endParaRPr sz="500">
              <a:latin typeface="Arial"/>
              <a:cs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Kiến trúc</a:t>
            </a:r>
            <a:r>
              <a:rPr sz="500" dirty="0">
                <a:latin typeface="Arial"/>
                <a:cs typeface="Arial"/>
              </a:rPr>
              <a:t> </a:t>
            </a: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3" name="object 3"/>
          <p:cNvSpPr txBox="1">
            <a:spLocks noGrp="1"/>
          </p:cNvSpPr>
          <p:nvPr>
            <p:ph type="title"/>
          </p:nvPr>
        </p:nvSpPr>
        <p:spPr>
          <a:xfrm>
            <a:off x="95300" y="197711"/>
            <a:ext cx="2999105" cy="196849"/>
          </a:xfrm>
          <a:prstGeom prst="rect">
            <a:avLst/>
          </a:prstGeom>
        </p:spPr>
        <p:txBody>
          <a:bodyPr vert="horz" wrap="square" lIns="0" tIns="12065" rIns="0" bIns="0" rtlCol="0">
            <a:spAutoFit/>
          </a:bodyPr>
          <a:lstStyle/>
          <a:p>
            <a:pPr marL="12700">
              <a:lnSpc>
                <a:spcPct val="100000"/>
              </a:lnSpc>
              <a:spcBef>
                <a:spcPts val="95"/>
              </a:spcBef>
            </a:pPr>
            <a:r>
              <a:rPr dirty="0"/>
              <a:t>Ví dụ:</a:t>
            </a:r>
            <a:r>
              <a:rPr spc="15" dirty="0"/>
              <a:t> </a:t>
            </a:r>
            <a:r>
              <a:rPr lang="en-US" dirty="0"/>
              <a:t>Kho</a:t>
            </a:r>
            <a:r>
              <a:rPr lang="en-US" spc="-50" dirty="0"/>
              <a:t> </a:t>
            </a:r>
            <a:r>
              <a:rPr lang="en-US" spc="-10" dirty="0" err="1"/>
              <a:t>Dịch</a:t>
            </a:r>
            <a:r>
              <a:rPr lang="en-US" spc="-10" dirty="0"/>
              <a:t> </a:t>
            </a:r>
            <a:r>
              <a:rPr lang="en-US" spc="-10" dirty="0" err="1"/>
              <a:t>vụ</a:t>
            </a:r>
            <a:r>
              <a:rPr lang="en-US" spc="15" dirty="0" smtClean="0"/>
              <a:t> </a:t>
            </a:r>
            <a:r>
              <a:rPr lang="vi-VN" dirty="0"/>
              <a:t>Đơn giản</a:t>
            </a:r>
            <a:r>
              <a:rPr lang="en-US" spc="15" dirty="0" smtClean="0"/>
              <a:t> </a:t>
            </a:r>
            <a:r>
              <a:rPr spc="-10" dirty="0" err="1" smtClean="0"/>
              <a:t>của</a:t>
            </a:r>
            <a:r>
              <a:rPr spc="-10" dirty="0" smtClean="0"/>
              <a:t> Amazon</a:t>
            </a:r>
            <a:endParaRPr spc="-10" dirty="0"/>
          </a:p>
        </p:txBody>
      </p:sp>
      <p:sp>
        <p:nvSpPr>
          <p:cNvPr id="4" name="object 4"/>
          <p:cNvSpPr txBox="1"/>
          <p:nvPr/>
        </p:nvSpPr>
        <p:spPr>
          <a:xfrm>
            <a:off x="305282" y="499476"/>
            <a:ext cx="3968115" cy="2154692"/>
          </a:xfrm>
          <a:prstGeom prst="rect">
            <a:avLst/>
          </a:prstGeom>
        </p:spPr>
        <p:txBody>
          <a:bodyPr vert="horz" wrap="square" lIns="0" tIns="27305" rIns="0" bIns="0" rtlCol="0">
            <a:spAutoFit/>
          </a:bodyPr>
          <a:lstStyle/>
          <a:p>
            <a:pPr marL="54610">
              <a:lnSpc>
                <a:spcPct val="100000"/>
              </a:lnSpc>
              <a:spcBef>
                <a:spcPts val="215"/>
              </a:spcBef>
            </a:pPr>
            <a:r>
              <a:rPr lang="en-US" sz="1000" spc="-10" dirty="0" err="1" smtClean="0">
                <a:solidFill>
                  <a:srgbClr val="3333B2"/>
                </a:solidFill>
                <a:latin typeface="Arial"/>
                <a:cs typeface="Arial"/>
              </a:rPr>
              <a:t>Bản</a:t>
            </a:r>
            <a:r>
              <a:rPr lang="en-US" sz="1000" spc="-10" dirty="0" smtClean="0">
                <a:solidFill>
                  <a:srgbClr val="3333B2"/>
                </a:solidFill>
                <a:latin typeface="Arial"/>
                <a:cs typeface="Arial"/>
              </a:rPr>
              <a:t> </a:t>
            </a:r>
            <a:r>
              <a:rPr lang="en-US" sz="1000" spc="-10" dirty="0" err="1" smtClean="0">
                <a:solidFill>
                  <a:srgbClr val="3333B2"/>
                </a:solidFill>
                <a:latin typeface="Arial"/>
                <a:cs typeface="Arial"/>
              </a:rPr>
              <a:t>chất</a:t>
            </a:r>
            <a:endParaRPr sz="1000" dirty="0" smtClean="0">
              <a:latin typeface="Arial"/>
              <a:cs typeface="Arial"/>
            </a:endParaRPr>
          </a:p>
          <a:p>
            <a:pPr marL="54610" marR="17780">
              <a:lnSpc>
                <a:spcPct val="105600"/>
              </a:lnSpc>
              <a:spcBef>
                <a:spcPts val="45"/>
              </a:spcBef>
            </a:pPr>
            <a:r>
              <a:rPr sz="900" spc="-10" dirty="0" err="1" smtClean="0">
                <a:solidFill>
                  <a:srgbClr val="C80000"/>
                </a:solidFill>
                <a:latin typeface="Arial"/>
                <a:cs typeface="Arial"/>
              </a:rPr>
              <a:t>Đối</a:t>
            </a:r>
            <a:r>
              <a:rPr sz="900" spc="-10" dirty="0" smtClean="0">
                <a:solidFill>
                  <a:srgbClr val="C80000"/>
                </a:solidFill>
                <a:latin typeface="Arial"/>
                <a:cs typeface="Arial"/>
              </a:rPr>
              <a:t> </a:t>
            </a:r>
            <a:r>
              <a:rPr sz="900" spc="-10" dirty="0" err="1">
                <a:solidFill>
                  <a:srgbClr val="C80000"/>
                </a:solidFill>
                <a:latin typeface="Arial"/>
                <a:cs typeface="Arial"/>
              </a:rPr>
              <a:t>tượng</a:t>
            </a:r>
            <a:r>
              <a:rPr sz="900" spc="-30" dirty="0">
                <a:solidFill>
                  <a:srgbClr val="C80000"/>
                </a:solidFill>
                <a:latin typeface="Arial"/>
                <a:cs typeface="Arial"/>
              </a:rPr>
              <a:t> </a:t>
            </a:r>
            <a:r>
              <a:rPr sz="900" spc="-10" dirty="0" smtClean="0">
                <a:latin typeface="Arial"/>
                <a:cs typeface="Arial"/>
              </a:rPr>
              <a:t>(</a:t>
            </a:r>
            <a:r>
              <a:rPr sz="900" dirty="0" err="1" smtClean="0">
                <a:latin typeface="Arial"/>
                <a:cs typeface="Arial"/>
              </a:rPr>
              <a:t>tập</a:t>
            </a:r>
            <a:r>
              <a:rPr sz="900" dirty="0" smtClean="0">
                <a:latin typeface="Arial"/>
                <a:cs typeface="Arial"/>
              </a:rPr>
              <a:t> </a:t>
            </a:r>
            <a:r>
              <a:rPr sz="900" dirty="0">
                <a:latin typeface="Arial"/>
                <a:cs typeface="Arial"/>
              </a:rPr>
              <a:t>tin)</a:t>
            </a:r>
            <a:r>
              <a:rPr sz="900" spc="-25" dirty="0">
                <a:latin typeface="Arial"/>
                <a:cs typeface="Arial"/>
              </a:rPr>
              <a:t> </a:t>
            </a:r>
            <a:r>
              <a:rPr sz="900" dirty="0">
                <a:latin typeface="Arial"/>
                <a:cs typeface="Arial"/>
              </a:rPr>
              <a:t>là</a:t>
            </a:r>
            <a:r>
              <a:rPr sz="900" spc="-25" dirty="0">
                <a:latin typeface="Arial"/>
                <a:cs typeface="Arial"/>
              </a:rPr>
              <a:t> </a:t>
            </a:r>
            <a:r>
              <a:rPr sz="900" spc="-10" dirty="0">
                <a:latin typeface="Arial"/>
                <a:cs typeface="Arial"/>
              </a:rPr>
              <a:t>được đặt</a:t>
            </a:r>
            <a:r>
              <a:rPr sz="900" spc="-25" dirty="0">
                <a:latin typeface="Arial"/>
                <a:cs typeface="Arial"/>
              </a:rPr>
              <a:t> </a:t>
            </a:r>
            <a:r>
              <a:rPr sz="900" dirty="0">
                <a:latin typeface="Arial"/>
                <a:cs typeface="Arial"/>
              </a:rPr>
              <a:t>vào trong</a:t>
            </a:r>
            <a:r>
              <a:rPr sz="900" spc="-25" dirty="0">
                <a:latin typeface="Arial"/>
                <a:cs typeface="Arial"/>
              </a:rPr>
              <a:t> </a:t>
            </a:r>
            <a:r>
              <a:rPr sz="900" spc="-20" dirty="0" err="1">
                <a:solidFill>
                  <a:srgbClr val="C80000"/>
                </a:solidFill>
                <a:latin typeface="Arial"/>
                <a:cs typeface="Arial"/>
              </a:rPr>
              <a:t>xô</a:t>
            </a:r>
            <a:r>
              <a:rPr sz="900" spc="-25" dirty="0">
                <a:solidFill>
                  <a:srgbClr val="C80000"/>
                </a:solidFill>
                <a:latin typeface="Arial"/>
                <a:cs typeface="Arial"/>
              </a:rPr>
              <a:t> </a:t>
            </a:r>
            <a:r>
              <a:rPr sz="900" spc="-10" dirty="0" smtClean="0">
                <a:latin typeface="Arial"/>
                <a:cs typeface="Arial"/>
              </a:rPr>
              <a:t>(</a:t>
            </a:r>
            <a:r>
              <a:rPr sz="900" spc="-10" dirty="0" err="1" smtClean="0">
                <a:latin typeface="Arial"/>
                <a:cs typeface="Arial"/>
              </a:rPr>
              <a:t>thư</a:t>
            </a:r>
            <a:r>
              <a:rPr sz="900" spc="-10" dirty="0" smtClean="0">
                <a:latin typeface="Arial"/>
                <a:cs typeface="Arial"/>
              </a:rPr>
              <a:t> </a:t>
            </a:r>
            <a:r>
              <a:rPr sz="900" spc="-10" dirty="0">
                <a:latin typeface="Arial"/>
                <a:cs typeface="Arial"/>
              </a:rPr>
              <a:t>mục).</a:t>
            </a:r>
            <a:r>
              <a:rPr sz="900" spc="30" dirty="0">
                <a:latin typeface="Arial"/>
                <a:cs typeface="Arial"/>
              </a:rPr>
              <a:t> </a:t>
            </a:r>
            <a:r>
              <a:rPr sz="900" spc="-20" dirty="0">
                <a:latin typeface="Arial"/>
                <a:cs typeface="Arial"/>
              </a:rPr>
              <a:t>Xô</a:t>
            </a:r>
            <a:r>
              <a:rPr sz="900" spc="-25" dirty="0">
                <a:latin typeface="Arial"/>
                <a:cs typeface="Arial"/>
              </a:rPr>
              <a:t> </a:t>
            </a:r>
            <a:r>
              <a:rPr sz="900" spc="-10" dirty="0">
                <a:latin typeface="Arial"/>
                <a:cs typeface="Arial"/>
              </a:rPr>
              <a:t>không thể </a:t>
            </a:r>
            <a:r>
              <a:rPr sz="900" spc="-25" dirty="0">
                <a:latin typeface="Arial"/>
                <a:cs typeface="Arial"/>
              </a:rPr>
              <a:t>đặt </a:t>
            </a:r>
            <a:r>
              <a:rPr sz="900" dirty="0">
                <a:latin typeface="Arial"/>
                <a:cs typeface="Arial"/>
              </a:rPr>
              <a:t>được</a:t>
            </a:r>
            <a:r>
              <a:rPr sz="900" spc="-30" dirty="0">
                <a:latin typeface="Arial"/>
                <a:cs typeface="Arial"/>
              </a:rPr>
              <a:t> </a:t>
            </a:r>
            <a:r>
              <a:rPr sz="900" dirty="0">
                <a:latin typeface="Arial"/>
                <a:cs typeface="Arial"/>
              </a:rPr>
              <a:t>vào trong</a:t>
            </a:r>
            <a:r>
              <a:rPr sz="900" spc="-20" dirty="0">
                <a:latin typeface="Arial"/>
                <a:cs typeface="Arial"/>
              </a:rPr>
              <a:t> </a:t>
            </a:r>
            <a:r>
              <a:rPr sz="900" spc="-10" dirty="0">
                <a:latin typeface="Arial"/>
                <a:cs typeface="Arial"/>
              </a:rPr>
              <a:t>xô.</a:t>
            </a:r>
            <a:r>
              <a:rPr sz="900" spc="40" dirty="0">
                <a:latin typeface="Arial"/>
                <a:cs typeface="Arial"/>
              </a:rPr>
              <a:t> </a:t>
            </a:r>
            <a:r>
              <a:rPr lang="vi-VN" sz="900" dirty="0" smtClean="0"/>
              <a:t>Để thao tác trên một đối tượng </a:t>
            </a:r>
            <a:r>
              <a:rPr lang="vi-VN" sz="900" b="1" dirty="0" smtClean="0"/>
              <a:t>ObjectName</a:t>
            </a:r>
            <a:r>
              <a:rPr lang="vi-VN" sz="900" dirty="0" smtClean="0"/>
              <a:t> trong </a:t>
            </a:r>
            <a:r>
              <a:rPr lang="vi-VN" sz="900" b="1" dirty="0" smtClean="0"/>
              <a:t>bucket</a:t>
            </a:r>
            <a:r>
              <a:rPr lang="vi-VN" sz="900" dirty="0" smtClean="0"/>
              <a:t> </a:t>
            </a:r>
            <a:r>
              <a:rPr lang="vi-VN" sz="900" b="1" dirty="0" smtClean="0"/>
              <a:t>BucketName</a:t>
            </a:r>
            <a:r>
              <a:rPr lang="vi-VN" sz="900" dirty="0" smtClean="0"/>
              <a:t>, cần sử dụng định danh sau:</a:t>
            </a:r>
            <a:endParaRPr lang="en-US" sz="900" dirty="0" smtClean="0"/>
          </a:p>
          <a:p>
            <a:pPr marL="54610" marR="17780">
              <a:lnSpc>
                <a:spcPct val="105600"/>
              </a:lnSpc>
              <a:spcBef>
                <a:spcPts val="45"/>
              </a:spcBef>
            </a:pPr>
            <a:r>
              <a:rPr sz="1000" spc="-10" dirty="0" smtClean="0">
                <a:latin typeface="Times New Roman"/>
                <a:cs typeface="Times New Roman"/>
                <a:hlinkClick r:id="rId3"/>
              </a:rPr>
              <a:t>http</a:t>
            </a:r>
            <a:r>
              <a:rPr sz="1000" spc="-10" dirty="0">
                <a:latin typeface="Times New Roman"/>
                <a:cs typeface="Times New Roman"/>
                <a:hlinkClick r:id="rId3"/>
              </a:rPr>
              <a:t>://BucketName.s3.amazonaws.com/ObjectName</a:t>
            </a:r>
            <a:endParaRPr sz="1000" dirty="0">
              <a:latin typeface="Times New Roman"/>
              <a:cs typeface="Times New Roman"/>
            </a:endParaRPr>
          </a:p>
          <a:p>
            <a:pPr>
              <a:lnSpc>
                <a:spcPct val="100000"/>
              </a:lnSpc>
            </a:pPr>
            <a:endParaRPr sz="1000" dirty="0">
              <a:latin typeface="Times New Roman"/>
              <a:cs typeface="Times New Roman"/>
            </a:endParaRPr>
          </a:p>
          <a:p>
            <a:pPr marL="50800">
              <a:lnSpc>
                <a:spcPct val="100000"/>
              </a:lnSpc>
              <a:spcBef>
                <a:spcPts val="600"/>
              </a:spcBef>
            </a:pPr>
            <a:r>
              <a:rPr sz="1000" spc="-10" dirty="0" err="1">
                <a:solidFill>
                  <a:srgbClr val="4C994C"/>
                </a:solidFill>
                <a:latin typeface="Arial"/>
                <a:cs typeface="Arial"/>
              </a:rPr>
              <a:t>Các</a:t>
            </a:r>
            <a:r>
              <a:rPr sz="1000" spc="-10" dirty="0">
                <a:solidFill>
                  <a:srgbClr val="4C994C"/>
                </a:solidFill>
                <a:latin typeface="Arial"/>
                <a:cs typeface="Arial"/>
              </a:rPr>
              <a:t> </a:t>
            </a:r>
            <a:r>
              <a:rPr lang="en-US" sz="1000" spc="-10" dirty="0" err="1" smtClean="0">
                <a:solidFill>
                  <a:srgbClr val="4C994C"/>
                </a:solidFill>
                <a:latin typeface="Arial"/>
                <a:cs typeface="Arial"/>
              </a:rPr>
              <a:t>thao</a:t>
            </a:r>
            <a:r>
              <a:rPr lang="en-US" sz="1000" spc="-10" dirty="0" smtClean="0">
                <a:solidFill>
                  <a:srgbClr val="4C994C"/>
                </a:solidFill>
                <a:latin typeface="Arial"/>
                <a:cs typeface="Arial"/>
              </a:rPr>
              <a:t> </a:t>
            </a:r>
            <a:r>
              <a:rPr lang="en-US" sz="1000" spc="-10" dirty="0" err="1" smtClean="0">
                <a:solidFill>
                  <a:srgbClr val="4C994C"/>
                </a:solidFill>
                <a:latin typeface="Arial"/>
                <a:cs typeface="Arial"/>
              </a:rPr>
              <a:t>tác</a:t>
            </a:r>
            <a:r>
              <a:rPr lang="en-US" sz="1000" spc="-10" dirty="0" smtClean="0">
                <a:solidFill>
                  <a:srgbClr val="4C994C"/>
                </a:solidFill>
                <a:latin typeface="Arial"/>
                <a:cs typeface="Arial"/>
              </a:rPr>
              <a:t> </a:t>
            </a:r>
            <a:r>
              <a:rPr lang="en-US" sz="1000" spc="-10" dirty="0" err="1" smtClean="0">
                <a:solidFill>
                  <a:srgbClr val="4C994C"/>
                </a:solidFill>
                <a:latin typeface="Arial"/>
                <a:cs typeface="Arial"/>
              </a:rPr>
              <a:t>điểm</a:t>
            </a:r>
            <a:r>
              <a:rPr lang="en-US" sz="1000" spc="-10" dirty="0" smtClean="0">
                <a:solidFill>
                  <a:srgbClr val="4C994C"/>
                </a:solidFill>
                <a:latin typeface="Arial"/>
                <a:cs typeface="Arial"/>
              </a:rPr>
              <a:t> </a:t>
            </a:r>
            <a:r>
              <a:rPr lang="en-US" sz="1000" spc="-10" dirty="0" err="1" smtClean="0">
                <a:solidFill>
                  <a:srgbClr val="4C994C"/>
                </a:solidFill>
                <a:latin typeface="Arial"/>
                <a:cs typeface="Arial"/>
              </a:rPr>
              <a:t>hình</a:t>
            </a:r>
            <a:endParaRPr sz="1000" dirty="0">
              <a:latin typeface="Arial"/>
              <a:cs typeface="Arial"/>
            </a:endParaRPr>
          </a:p>
          <a:p>
            <a:pPr marL="50800">
              <a:lnSpc>
                <a:spcPct val="100000"/>
              </a:lnSpc>
              <a:spcBef>
                <a:spcPts val="300"/>
              </a:spcBef>
            </a:pPr>
            <a:r>
              <a:rPr lang="vi-VN" sz="900" dirty="0" smtClean="0">
                <a:latin typeface="Arial"/>
                <a:cs typeface="Arial"/>
              </a:rPr>
              <a:t>Tất cả các thao tác đều được thực hiện bằng cách gửi yêu cầu HTTP:</a:t>
            </a:r>
          </a:p>
          <a:p>
            <a:pPr marL="222250" indent="-171450">
              <a:lnSpc>
                <a:spcPct val="100000"/>
              </a:lnSpc>
              <a:spcBef>
                <a:spcPts val="300"/>
              </a:spcBef>
              <a:buFont typeface="Arial" panose="020B0604020202020204" pitchFamily="34" charset="0"/>
              <a:buChar char="•"/>
            </a:pPr>
            <a:r>
              <a:rPr lang="vi-VN" sz="900" dirty="0" smtClean="0">
                <a:latin typeface="Arial"/>
                <a:cs typeface="Arial"/>
              </a:rPr>
              <a:t>Tạo bucket hoặc đối tượng: Sử dụng phương thức PUT với đường dẫn URI.</a:t>
            </a:r>
          </a:p>
          <a:p>
            <a:pPr marL="222250" indent="-171450">
              <a:lnSpc>
                <a:spcPct val="100000"/>
              </a:lnSpc>
              <a:spcBef>
                <a:spcPts val="300"/>
              </a:spcBef>
              <a:buFont typeface="Arial" panose="020B0604020202020204" pitchFamily="34" charset="0"/>
              <a:buChar char="•"/>
            </a:pPr>
            <a:r>
              <a:rPr lang="vi-VN" sz="900" dirty="0" smtClean="0">
                <a:latin typeface="Arial"/>
                <a:cs typeface="Arial"/>
              </a:rPr>
              <a:t>Liệt kê các đối tượng: Sử dụng phương thức GET trên tên bucket.</a:t>
            </a:r>
          </a:p>
          <a:p>
            <a:pPr marL="222250" indent="-171450">
              <a:lnSpc>
                <a:spcPct val="100000"/>
              </a:lnSpc>
              <a:spcBef>
                <a:spcPts val="300"/>
              </a:spcBef>
              <a:buFont typeface="Arial" panose="020B0604020202020204" pitchFamily="34" charset="0"/>
              <a:buChar char="•"/>
            </a:pPr>
            <a:r>
              <a:rPr lang="vi-VN" sz="900" dirty="0" smtClean="0">
                <a:latin typeface="Arial"/>
                <a:cs typeface="Arial"/>
              </a:rPr>
              <a:t>Đọc một đối tượng: Sử dụng phương thức GET trên đường dẫn URI đầy đủ.</a:t>
            </a:r>
            <a:endParaRPr lang="vi-VN" sz="900" dirty="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Hướng tới </a:t>
            </a:r>
            <a:r>
              <a:rPr sz="500" spc="-10" dirty="0">
                <a:latin typeface="Arial"/>
                <a:cs typeface="Arial"/>
                <a:hlinkClick r:id="rId4" action="ppaction://hlinksldjump"/>
              </a:rPr>
              <a:t>dịch vụ</a:t>
            </a:r>
            <a:r>
              <a:rPr sz="500" spc="50" dirty="0">
                <a:latin typeface="Arial"/>
                <a:cs typeface="Arial"/>
                <a:hlinkClick r:id="rId4" action="ppaction://hlinksldjump"/>
              </a:rPr>
              <a:t> </a:t>
            </a:r>
            <a:r>
              <a:rPr sz="500" spc="-10" dirty="0">
                <a:latin typeface="Arial"/>
                <a:cs typeface="Arial"/>
                <a:hlinkClick r:id="rId4" action="ppaction://hlinksldjump"/>
              </a:rPr>
              <a:t>kiến trúc</a:t>
            </a:r>
            <a:endParaRPr sz="500">
              <a:latin typeface="Arial"/>
              <a:cs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Kiến trúc</a:t>
            </a:r>
            <a:r>
              <a:rPr sz="500" dirty="0">
                <a:latin typeface="Arial"/>
                <a:cs typeface="Arial"/>
              </a:rPr>
              <a:t> </a:t>
            </a: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3" name="object 3"/>
          <p:cNvSpPr txBox="1">
            <a:spLocks noGrp="1"/>
          </p:cNvSpPr>
          <p:nvPr>
            <p:ph type="title"/>
          </p:nvPr>
        </p:nvSpPr>
        <p:spPr>
          <a:xfrm>
            <a:off x="95300" y="197711"/>
            <a:ext cx="2999105" cy="196849"/>
          </a:xfrm>
          <a:prstGeom prst="rect">
            <a:avLst/>
          </a:prstGeom>
        </p:spPr>
        <p:txBody>
          <a:bodyPr vert="horz" wrap="square" lIns="0" tIns="12065" rIns="0" bIns="0" rtlCol="0">
            <a:spAutoFit/>
          </a:bodyPr>
          <a:lstStyle/>
          <a:p>
            <a:pPr marL="12700">
              <a:lnSpc>
                <a:spcPct val="100000"/>
              </a:lnSpc>
              <a:spcBef>
                <a:spcPts val="95"/>
              </a:spcBef>
            </a:pPr>
            <a:r>
              <a:rPr lang="en-US" spc="-10" dirty="0" err="1" smtClean="0"/>
              <a:t>Tại</a:t>
            </a:r>
            <a:r>
              <a:rPr lang="en-US" spc="-10" dirty="0" smtClean="0"/>
              <a:t> </a:t>
            </a:r>
            <a:r>
              <a:rPr spc="-10" dirty="0" err="1" smtClean="0"/>
              <a:t>giao</a:t>
            </a:r>
            <a:r>
              <a:rPr spc="-10" dirty="0" smtClean="0"/>
              <a:t> </a:t>
            </a:r>
            <a:r>
              <a:rPr spc="-10" dirty="0"/>
              <a:t>diện</a:t>
            </a:r>
          </a:p>
        </p:txBody>
      </p:sp>
      <p:sp>
        <p:nvSpPr>
          <p:cNvPr id="4" name="object 4"/>
          <p:cNvSpPr txBox="1"/>
          <p:nvPr/>
        </p:nvSpPr>
        <p:spPr>
          <a:xfrm>
            <a:off x="343128" y="499476"/>
            <a:ext cx="3916045" cy="1104790"/>
          </a:xfrm>
          <a:prstGeom prst="rect">
            <a:avLst/>
          </a:prstGeom>
        </p:spPr>
        <p:txBody>
          <a:bodyPr vert="horz" wrap="square" lIns="0" tIns="27305" rIns="0" bIns="0" rtlCol="0">
            <a:spAutoFit/>
          </a:bodyPr>
          <a:lstStyle/>
          <a:p>
            <a:pPr marL="16510">
              <a:lnSpc>
                <a:spcPct val="100000"/>
              </a:lnSpc>
              <a:spcBef>
                <a:spcPts val="215"/>
              </a:spcBef>
            </a:pPr>
            <a:r>
              <a:rPr sz="1000" spc="-10" dirty="0">
                <a:solidFill>
                  <a:srgbClr val="C80000"/>
                </a:solidFill>
                <a:latin typeface="Arial"/>
                <a:cs typeface="Arial"/>
              </a:rPr>
              <a:t>Vấn đề</a:t>
            </a:r>
            <a:endParaRPr sz="1000" dirty="0">
              <a:latin typeface="Arial"/>
              <a:cs typeface="Arial"/>
            </a:endParaRPr>
          </a:p>
          <a:p>
            <a:pPr marL="16510" marR="5080">
              <a:lnSpc>
                <a:spcPts val="1210"/>
              </a:lnSpc>
              <a:spcBef>
                <a:spcPts val="35"/>
              </a:spcBef>
            </a:pPr>
            <a:r>
              <a:rPr sz="900" spc="-10" dirty="0" err="1">
                <a:latin typeface="Arial"/>
                <a:cs typeface="Arial"/>
              </a:rPr>
              <a:t>Nhiều</a:t>
            </a:r>
            <a:r>
              <a:rPr sz="900" spc="-25" dirty="0">
                <a:latin typeface="Arial"/>
                <a:cs typeface="Arial"/>
              </a:rPr>
              <a:t> </a:t>
            </a:r>
            <a:r>
              <a:rPr sz="900" dirty="0" err="1" smtClean="0">
                <a:latin typeface="Arial"/>
                <a:cs typeface="Arial"/>
              </a:rPr>
              <a:t>người</a:t>
            </a:r>
            <a:r>
              <a:rPr sz="900" spc="-25" dirty="0" smtClean="0">
                <a:latin typeface="Arial"/>
                <a:cs typeface="Arial"/>
              </a:rPr>
              <a:t> </a:t>
            </a:r>
            <a:r>
              <a:rPr lang="en-US" sz="900" dirty="0" err="1" smtClean="0">
                <a:latin typeface="Arial"/>
                <a:cs typeface="Arial"/>
              </a:rPr>
              <a:t>thích</a:t>
            </a:r>
            <a:r>
              <a:rPr sz="900" spc="-20" dirty="0" smtClean="0">
                <a:latin typeface="Arial"/>
                <a:cs typeface="Arial"/>
              </a:rPr>
              <a:t> </a:t>
            </a:r>
            <a:r>
              <a:rPr sz="900" spc="-10" dirty="0" err="1" smtClean="0">
                <a:latin typeface="Arial"/>
                <a:cs typeface="Arial"/>
              </a:rPr>
              <a:t>cách</a:t>
            </a:r>
            <a:r>
              <a:rPr sz="900" spc="-10" dirty="0" smtClean="0">
                <a:latin typeface="Arial"/>
                <a:cs typeface="Arial"/>
              </a:rPr>
              <a:t> </a:t>
            </a:r>
            <a:r>
              <a:rPr sz="900" spc="-10" dirty="0" err="1">
                <a:latin typeface="Arial"/>
                <a:cs typeface="Arial"/>
              </a:rPr>
              <a:t>tiếp</a:t>
            </a:r>
            <a:r>
              <a:rPr sz="900" spc="-10" dirty="0">
                <a:latin typeface="Arial"/>
                <a:cs typeface="Arial"/>
              </a:rPr>
              <a:t> </a:t>
            </a:r>
            <a:r>
              <a:rPr sz="900" spc="-10" dirty="0" err="1" smtClean="0">
                <a:latin typeface="Arial"/>
                <a:cs typeface="Arial"/>
              </a:rPr>
              <a:t>cận</a:t>
            </a:r>
            <a:r>
              <a:rPr lang="en-US" sz="900" spc="-10" dirty="0" smtClean="0">
                <a:latin typeface="Arial"/>
                <a:cs typeface="Arial"/>
              </a:rPr>
              <a:t> RESTful</a:t>
            </a:r>
            <a:r>
              <a:rPr sz="900" spc="-20" dirty="0" smtClean="0">
                <a:latin typeface="Arial"/>
                <a:cs typeface="Arial"/>
              </a:rPr>
              <a:t> </a:t>
            </a:r>
            <a:r>
              <a:rPr sz="900" spc="-10" dirty="0">
                <a:latin typeface="Arial"/>
                <a:cs typeface="Arial"/>
              </a:rPr>
              <a:t>bởi vì</a:t>
            </a:r>
            <a:r>
              <a:rPr sz="900" spc="-25" dirty="0">
                <a:latin typeface="Arial"/>
                <a:cs typeface="Arial"/>
              </a:rPr>
              <a:t> </a:t>
            </a:r>
            <a:r>
              <a:rPr sz="900" dirty="0">
                <a:latin typeface="Arial"/>
                <a:cs typeface="Arial"/>
              </a:rPr>
              <a:t>cái</a:t>
            </a:r>
            <a:r>
              <a:rPr sz="900" spc="-20" dirty="0">
                <a:latin typeface="Arial"/>
                <a:cs typeface="Arial"/>
              </a:rPr>
              <a:t> </a:t>
            </a:r>
            <a:r>
              <a:rPr sz="900" spc="-10" dirty="0">
                <a:latin typeface="Arial"/>
                <a:cs typeface="Arial"/>
              </a:rPr>
              <a:t>giao </a:t>
            </a:r>
            <a:r>
              <a:rPr sz="900" spc="-10" dirty="0" err="1">
                <a:latin typeface="Arial"/>
                <a:cs typeface="Arial"/>
              </a:rPr>
              <a:t>diện</a:t>
            </a:r>
            <a:r>
              <a:rPr sz="900" spc="-25" dirty="0">
                <a:latin typeface="Arial"/>
                <a:cs typeface="Arial"/>
              </a:rPr>
              <a:t> </a:t>
            </a:r>
            <a:r>
              <a:rPr lang="en-US" sz="900" spc="-25" dirty="0" err="1" smtClean="0">
                <a:latin typeface="Arial"/>
                <a:cs typeface="Arial"/>
              </a:rPr>
              <a:t>với</a:t>
            </a:r>
            <a:r>
              <a:rPr lang="en-US" sz="900" spc="-25" dirty="0" smtClean="0">
                <a:latin typeface="Arial"/>
                <a:cs typeface="Arial"/>
              </a:rPr>
              <a:t> </a:t>
            </a:r>
            <a:r>
              <a:rPr sz="900" dirty="0" err="1" smtClean="0">
                <a:latin typeface="Arial"/>
                <a:cs typeface="Arial"/>
              </a:rPr>
              <a:t>dịch</a:t>
            </a:r>
            <a:r>
              <a:rPr sz="900" dirty="0" smtClean="0">
                <a:latin typeface="Arial"/>
                <a:cs typeface="Arial"/>
              </a:rPr>
              <a:t> </a:t>
            </a:r>
            <a:r>
              <a:rPr sz="900" dirty="0" err="1">
                <a:latin typeface="Arial"/>
                <a:cs typeface="Arial"/>
              </a:rPr>
              <a:t>vụ</a:t>
            </a:r>
            <a:r>
              <a:rPr sz="900" spc="-25" dirty="0">
                <a:latin typeface="Arial"/>
                <a:cs typeface="Arial"/>
              </a:rPr>
              <a:t> </a:t>
            </a:r>
            <a:r>
              <a:rPr lang="en-US" sz="900" spc="-25" dirty="0" err="1" smtClean="0">
                <a:latin typeface="Arial"/>
                <a:cs typeface="Arial"/>
              </a:rPr>
              <a:t>rất</a:t>
            </a:r>
            <a:r>
              <a:rPr sz="900" spc="-25" dirty="0" smtClean="0">
                <a:latin typeface="Arial"/>
                <a:cs typeface="Arial"/>
              </a:rPr>
              <a:t> </a:t>
            </a:r>
            <a:r>
              <a:rPr sz="900" dirty="0">
                <a:latin typeface="Arial"/>
                <a:cs typeface="Arial"/>
              </a:rPr>
              <a:t>đơn giản.</a:t>
            </a:r>
            <a:r>
              <a:rPr sz="900" spc="25" dirty="0">
                <a:latin typeface="Arial"/>
                <a:cs typeface="Arial"/>
              </a:rPr>
              <a:t> </a:t>
            </a:r>
            <a:r>
              <a:rPr lang="vi-VN" sz="900" dirty="0" smtClean="0">
                <a:latin typeface="Arial"/>
                <a:cs typeface="Arial"/>
              </a:rPr>
              <a:t>Tuy nhiên, nhược điểm là nhiều thao tác phải được thực hiện thông qua tham số truyền vào.</a:t>
            </a:r>
            <a:endParaRPr lang="en-US" sz="900" dirty="0" smtClean="0">
              <a:latin typeface="Arial"/>
              <a:cs typeface="Arial"/>
            </a:endParaRPr>
          </a:p>
          <a:p>
            <a:pPr marL="16510" marR="5080">
              <a:lnSpc>
                <a:spcPts val="1210"/>
              </a:lnSpc>
              <a:spcBef>
                <a:spcPts val="35"/>
              </a:spcBef>
            </a:pPr>
            <a:endParaRPr lang="en-US" sz="900" dirty="0">
              <a:solidFill>
                <a:srgbClr val="3333B2"/>
              </a:solidFill>
              <a:latin typeface="Arial"/>
              <a:cs typeface="Arial"/>
            </a:endParaRPr>
          </a:p>
          <a:p>
            <a:pPr marL="16510" marR="5080">
              <a:lnSpc>
                <a:spcPts val="1210"/>
              </a:lnSpc>
              <a:spcBef>
                <a:spcPts val="35"/>
              </a:spcBef>
            </a:pPr>
            <a:endParaRPr lang="en-US" sz="900" dirty="0" smtClean="0">
              <a:solidFill>
                <a:srgbClr val="3333B2"/>
              </a:solidFill>
              <a:latin typeface="Arial"/>
              <a:cs typeface="Arial"/>
            </a:endParaRPr>
          </a:p>
          <a:p>
            <a:pPr marL="16510" marR="5080">
              <a:lnSpc>
                <a:spcPts val="1210"/>
              </a:lnSpc>
              <a:spcBef>
                <a:spcPts val="35"/>
              </a:spcBef>
            </a:pPr>
            <a:r>
              <a:rPr sz="1000" dirty="0" smtClean="0">
                <a:solidFill>
                  <a:srgbClr val="3333B2"/>
                </a:solidFill>
                <a:latin typeface="Arial"/>
                <a:cs typeface="Arial"/>
              </a:rPr>
              <a:t>Amazon</a:t>
            </a:r>
            <a:r>
              <a:rPr sz="1000" spc="-45" dirty="0" smtClean="0">
                <a:solidFill>
                  <a:srgbClr val="3333B2"/>
                </a:solidFill>
                <a:latin typeface="Arial"/>
                <a:cs typeface="Arial"/>
              </a:rPr>
              <a:t> </a:t>
            </a:r>
            <a:r>
              <a:rPr sz="1000" dirty="0">
                <a:solidFill>
                  <a:srgbClr val="3333B2"/>
                </a:solidFill>
                <a:latin typeface="Arial"/>
                <a:cs typeface="Arial"/>
              </a:rPr>
              <a:t>S3</a:t>
            </a:r>
            <a:r>
              <a:rPr sz="1000" spc="-40" dirty="0">
                <a:solidFill>
                  <a:srgbClr val="3333B2"/>
                </a:solidFill>
                <a:latin typeface="Arial"/>
                <a:cs typeface="Arial"/>
              </a:rPr>
              <a:t> </a:t>
            </a:r>
            <a:r>
              <a:rPr sz="1000" dirty="0">
                <a:solidFill>
                  <a:srgbClr val="3333B2"/>
                </a:solidFill>
                <a:latin typeface="Arial"/>
                <a:cs typeface="Arial"/>
              </a:rPr>
              <a:t>XÀ PHÒNG</a:t>
            </a:r>
            <a:r>
              <a:rPr sz="1000" spc="-45" dirty="0">
                <a:solidFill>
                  <a:srgbClr val="3333B2"/>
                </a:solidFill>
                <a:latin typeface="Arial"/>
                <a:cs typeface="Arial"/>
              </a:rPr>
              <a:t> </a:t>
            </a:r>
            <a:r>
              <a:rPr sz="1000" spc="-10" dirty="0">
                <a:solidFill>
                  <a:srgbClr val="3333B2"/>
                </a:solidFill>
                <a:latin typeface="Arial"/>
                <a:cs typeface="Arial"/>
              </a:rPr>
              <a:t>giao diện</a:t>
            </a:r>
            <a:endParaRPr sz="1000" dirty="0">
              <a:latin typeface="Arial"/>
              <a:cs typeface="Arial"/>
            </a:endParaRPr>
          </a:p>
        </p:txBody>
      </p:sp>
      <p:pic>
        <p:nvPicPr>
          <p:cNvPr id="5" name="object 5"/>
          <p:cNvPicPr/>
          <p:nvPr/>
        </p:nvPicPr>
        <p:blipFill>
          <a:blip r:embed="rId3" cstate="print"/>
          <a:stretch>
            <a:fillRect/>
          </a:stretch>
        </p:blipFill>
        <p:spPr>
          <a:xfrm>
            <a:off x="781050" y="1730375"/>
            <a:ext cx="3130155" cy="923699"/>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Hướng tới </a:t>
            </a:r>
            <a:r>
              <a:rPr sz="500" spc="-10" dirty="0">
                <a:latin typeface="Arial"/>
                <a:cs typeface="Arial"/>
                <a:hlinkClick r:id="rId4" action="ppaction://hlinksldjump"/>
              </a:rPr>
              <a:t>dịch vụ</a:t>
            </a:r>
            <a:r>
              <a:rPr sz="500" spc="50" dirty="0">
                <a:latin typeface="Arial"/>
                <a:cs typeface="Arial"/>
                <a:hlinkClick r:id="rId4" action="ppaction://hlinksldjump"/>
              </a:rPr>
              <a:t> </a:t>
            </a:r>
            <a:r>
              <a:rPr sz="500" spc="-10" dirty="0">
                <a:latin typeface="Arial"/>
                <a:cs typeface="Arial"/>
                <a:hlinkClick r:id="rId4" action="ppaction://hlinksldjump"/>
              </a:rPr>
              <a:t>kiến trúc</a:t>
            </a:r>
            <a:endParaRPr sz="500">
              <a:latin typeface="Arial"/>
              <a:cs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Kiến trúc</a:t>
            </a:r>
            <a:r>
              <a:rPr sz="500" dirty="0">
                <a:latin typeface="Arial"/>
                <a:cs typeface="Arial"/>
              </a:rPr>
              <a:t> </a:t>
            </a: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3" name="object 3"/>
          <p:cNvSpPr txBox="1">
            <a:spLocks noGrp="1"/>
          </p:cNvSpPr>
          <p:nvPr>
            <p:ph type="title"/>
          </p:nvPr>
        </p:nvSpPr>
        <p:spPr>
          <a:xfrm>
            <a:off x="95300" y="197711"/>
            <a:ext cx="2999105" cy="196849"/>
          </a:xfrm>
          <a:prstGeom prst="rect">
            <a:avLst/>
          </a:prstGeom>
        </p:spPr>
        <p:txBody>
          <a:bodyPr vert="horz" wrap="square" lIns="0" tIns="12065" rIns="0" bIns="0" rtlCol="0">
            <a:spAutoFit/>
          </a:bodyPr>
          <a:lstStyle/>
          <a:p>
            <a:pPr marL="12700">
              <a:lnSpc>
                <a:spcPct val="100000"/>
              </a:lnSpc>
              <a:spcBef>
                <a:spcPts val="95"/>
              </a:spcBef>
            </a:pPr>
            <a:r>
              <a:rPr lang="en-US" spc="-10" dirty="0" err="1" smtClean="0"/>
              <a:t>Tại</a:t>
            </a:r>
            <a:r>
              <a:rPr lang="en-US" spc="-10" dirty="0" smtClean="0"/>
              <a:t> </a:t>
            </a:r>
            <a:r>
              <a:rPr spc="-10" dirty="0" err="1" smtClean="0"/>
              <a:t>giao</a:t>
            </a:r>
            <a:r>
              <a:rPr spc="-10" dirty="0" smtClean="0"/>
              <a:t> </a:t>
            </a:r>
            <a:r>
              <a:rPr spc="-10" dirty="0"/>
              <a:t>diện</a:t>
            </a:r>
          </a:p>
        </p:txBody>
      </p:sp>
      <p:sp>
        <p:nvSpPr>
          <p:cNvPr id="4" name="object 4"/>
          <p:cNvSpPr txBox="1"/>
          <p:nvPr/>
        </p:nvSpPr>
        <p:spPr>
          <a:xfrm>
            <a:off x="343547" y="489362"/>
            <a:ext cx="3917315" cy="525144"/>
          </a:xfrm>
          <a:prstGeom prst="rect">
            <a:avLst/>
          </a:prstGeom>
        </p:spPr>
        <p:txBody>
          <a:bodyPr vert="horz" wrap="square" lIns="0" tIns="37465" rIns="0" bIns="0" rtlCol="0">
            <a:spAutoFit/>
          </a:bodyPr>
          <a:lstStyle/>
          <a:p>
            <a:pPr marL="15875">
              <a:lnSpc>
                <a:spcPct val="100000"/>
              </a:lnSpc>
              <a:spcBef>
                <a:spcPts val="295"/>
              </a:spcBef>
            </a:pPr>
            <a:r>
              <a:rPr lang="en-US" sz="1000" spc="-10" dirty="0" err="1" smtClean="0">
                <a:solidFill>
                  <a:srgbClr val="3333B2"/>
                </a:solidFill>
                <a:latin typeface="Arial"/>
                <a:cs typeface="Arial"/>
              </a:rPr>
              <a:t>Đ</a:t>
            </a:r>
            <a:r>
              <a:rPr sz="1000" spc="-10" dirty="0" err="1" smtClean="0">
                <a:solidFill>
                  <a:srgbClr val="3333B2"/>
                </a:solidFill>
                <a:latin typeface="Arial"/>
                <a:cs typeface="Arial"/>
              </a:rPr>
              <a:t>ơn</a:t>
            </a:r>
            <a:r>
              <a:rPr sz="1000" spc="-10" dirty="0" smtClean="0">
                <a:solidFill>
                  <a:srgbClr val="3333B2"/>
                </a:solidFill>
                <a:latin typeface="Arial"/>
                <a:cs typeface="Arial"/>
              </a:rPr>
              <a:t> </a:t>
            </a:r>
            <a:r>
              <a:rPr sz="1000" spc="-10" dirty="0">
                <a:solidFill>
                  <a:srgbClr val="3333B2"/>
                </a:solidFill>
                <a:latin typeface="Arial"/>
                <a:cs typeface="Arial"/>
              </a:rPr>
              <a:t>giản hóa</a:t>
            </a:r>
            <a:endParaRPr sz="1000" dirty="0">
              <a:latin typeface="Arial"/>
              <a:cs typeface="Arial"/>
            </a:endParaRPr>
          </a:p>
          <a:p>
            <a:pPr marL="15875" marR="5080" indent="-3810">
              <a:lnSpc>
                <a:spcPct val="100000"/>
              </a:lnSpc>
              <a:spcBef>
                <a:spcPts val="195"/>
              </a:spcBef>
            </a:pPr>
            <a:r>
              <a:rPr sz="900" spc="-10" dirty="0">
                <a:latin typeface="Arial"/>
                <a:cs typeface="Arial"/>
              </a:rPr>
              <a:t>Cho </a:t>
            </a:r>
            <a:r>
              <a:rPr sz="900" spc="-10" dirty="0" err="1">
                <a:latin typeface="Arial"/>
                <a:cs typeface="Arial"/>
              </a:rPr>
              <a:t>rằng</a:t>
            </a:r>
            <a:r>
              <a:rPr sz="900" spc="-55" dirty="0">
                <a:latin typeface="Arial"/>
                <a:cs typeface="Arial"/>
              </a:rPr>
              <a:t> </a:t>
            </a:r>
            <a:r>
              <a:rPr lang="en-US" sz="900" dirty="0">
                <a:latin typeface="Arial"/>
                <a:cs typeface="Arial"/>
              </a:rPr>
              <a:t> </a:t>
            </a:r>
            <a:r>
              <a:rPr lang="en-US" sz="900" dirty="0" err="1" smtClean="0">
                <a:latin typeface="Arial"/>
                <a:cs typeface="Arial"/>
              </a:rPr>
              <a:t>một</a:t>
            </a:r>
            <a:r>
              <a:rPr sz="900" spc="-45" dirty="0" smtClean="0">
                <a:latin typeface="Arial"/>
                <a:cs typeface="Arial"/>
              </a:rPr>
              <a:t> </a:t>
            </a:r>
            <a:r>
              <a:rPr sz="900" dirty="0">
                <a:latin typeface="Arial"/>
                <a:cs typeface="Arial"/>
              </a:rPr>
              <a:t>giao </a:t>
            </a:r>
            <a:r>
              <a:rPr sz="900" dirty="0" err="1">
                <a:latin typeface="Arial"/>
                <a:cs typeface="Arial"/>
              </a:rPr>
              <a:t>diện</a:t>
            </a:r>
            <a:r>
              <a:rPr sz="900" spc="175" dirty="0">
                <a:latin typeface="Arial"/>
                <a:cs typeface="Arial"/>
              </a:rPr>
              <a:t> </a:t>
            </a:r>
            <a:r>
              <a:rPr lang="en-US" sz="1000" spc="65" dirty="0" smtClean="0">
                <a:latin typeface="Times New Roman"/>
                <a:cs typeface="Times New Roman"/>
              </a:rPr>
              <a:t>bucket </a:t>
            </a:r>
            <a:r>
              <a:rPr sz="900" spc="-10" dirty="0" err="1" smtClean="0">
                <a:latin typeface="Arial"/>
                <a:cs typeface="Arial"/>
              </a:rPr>
              <a:t>cung</a:t>
            </a:r>
            <a:r>
              <a:rPr sz="900" spc="-10" dirty="0" smtClean="0">
                <a:latin typeface="Arial"/>
                <a:cs typeface="Arial"/>
              </a:rPr>
              <a:t> </a:t>
            </a:r>
            <a:r>
              <a:rPr sz="900" spc="-10" dirty="0" err="1">
                <a:latin typeface="Arial"/>
                <a:cs typeface="Arial"/>
              </a:rPr>
              <a:t>cấp</a:t>
            </a:r>
            <a:r>
              <a:rPr sz="900" spc="-35" dirty="0">
                <a:latin typeface="Arial"/>
                <a:cs typeface="Arial"/>
              </a:rPr>
              <a:t> </a:t>
            </a:r>
            <a:r>
              <a:rPr lang="en-US" sz="900" spc="-35" dirty="0" err="1" smtClean="0">
                <a:latin typeface="Arial"/>
                <a:cs typeface="Arial"/>
              </a:rPr>
              <a:t>phương</a:t>
            </a:r>
            <a:r>
              <a:rPr lang="en-US" sz="900" spc="-35" dirty="0" smtClean="0">
                <a:latin typeface="Arial"/>
                <a:cs typeface="Arial"/>
              </a:rPr>
              <a:t> </a:t>
            </a:r>
            <a:r>
              <a:rPr lang="en-US" sz="900" spc="-35" dirty="0" err="1" smtClean="0">
                <a:latin typeface="Arial"/>
                <a:cs typeface="Arial"/>
              </a:rPr>
              <a:t>thức</a:t>
            </a:r>
            <a:r>
              <a:rPr lang="en-US" sz="900" spc="-35" dirty="0" smtClean="0">
                <a:latin typeface="Arial"/>
                <a:cs typeface="Arial"/>
              </a:rPr>
              <a:t> create</a:t>
            </a:r>
            <a:r>
              <a:rPr sz="900" spc="85" dirty="0" smtClean="0">
                <a:latin typeface="Arial"/>
                <a:cs typeface="Arial"/>
              </a:rPr>
              <a:t>,</a:t>
            </a:r>
            <a:r>
              <a:rPr sz="900" spc="-40" dirty="0" smtClean="0">
                <a:latin typeface="Arial"/>
                <a:cs typeface="Arial"/>
              </a:rPr>
              <a:t> </a:t>
            </a:r>
            <a:r>
              <a:rPr sz="900" spc="-10" dirty="0">
                <a:latin typeface="Arial"/>
                <a:cs typeface="Arial"/>
              </a:rPr>
              <a:t>yêu </a:t>
            </a:r>
            <a:r>
              <a:rPr sz="900" spc="-10" dirty="0" err="1">
                <a:latin typeface="Arial"/>
                <a:cs typeface="Arial"/>
              </a:rPr>
              <a:t>cầu</a:t>
            </a:r>
            <a:r>
              <a:rPr sz="900" spc="-35" dirty="0">
                <a:latin typeface="Arial"/>
                <a:cs typeface="Arial"/>
              </a:rPr>
              <a:t> </a:t>
            </a:r>
            <a:r>
              <a:rPr lang="en-US" sz="900" spc="-35" dirty="0" smtClean="0">
                <a:latin typeface="Arial"/>
                <a:cs typeface="Arial"/>
              </a:rPr>
              <a:t> </a:t>
            </a:r>
            <a:r>
              <a:rPr sz="900" dirty="0" err="1" smtClean="0">
                <a:latin typeface="Arial"/>
                <a:cs typeface="Arial"/>
              </a:rPr>
              <a:t>chuỗi</a:t>
            </a:r>
            <a:r>
              <a:rPr sz="900" dirty="0" smtClean="0">
                <a:latin typeface="Arial"/>
                <a:cs typeface="Arial"/>
              </a:rPr>
              <a:t> </a:t>
            </a:r>
            <a:r>
              <a:rPr sz="900" spc="-10" dirty="0" err="1">
                <a:latin typeface="Arial"/>
                <a:cs typeface="Arial"/>
              </a:rPr>
              <a:t>đầu</a:t>
            </a:r>
            <a:r>
              <a:rPr sz="900" spc="-10" dirty="0">
                <a:latin typeface="Arial"/>
                <a:cs typeface="Arial"/>
              </a:rPr>
              <a:t> </a:t>
            </a:r>
            <a:r>
              <a:rPr sz="900" spc="-10" dirty="0" err="1" smtClean="0">
                <a:latin typeface="Arial"/>
                <a:cs typeface="Arial"/>
              </a:rPr>
              <a:t>vào</a:t>
            </a:r>
            <a:r>
              <a:rPr sz="900" dirty="0" smtClean="0">
                <a:latin typeface="Arial"/>
                <a:cs typeface="Arial"/>
              </a:rPr>
              <a:t> </a:t>
            </a:r>
            <a:r>
              <a:rPr sz="900" dirty="0" err="1">
                <a:latin typeface="Arial"/>
                <a:cs typeface="Arial"/>
              </a:rPr>
              <a:t>là</a:t>
            </a:r>
            <a:r>
              <a:rPr sz="900" spc="-15" dirty="0">
                <a:latin typeface="Arial"/>
                <a:cs typeface="Arial"/>
              </a:rPr>
              <a:t> </a:t>
            </a:r>
            <a:r>
              <a:rPr lang="en-US" sz="900" dirty="0">
                <a:latin typeface="Arial"/>
                <a:cs typeface="Arial"/>
              </a:rPr>
              <a:t> </a:t>
            </a:r>
            <a:r>
              <a:rPr lang="en-US" sz="900" dirty="0" err="1" smtClean="0">
                <a:latin typeface="Arial"/>
                <a:cs typeface="Arial"/>
              </a:rPr>
              <a:t>mybucket</a:t>
            </a:r>
            <a:r>
              <a:rPr sz="1000" dirty="0" smtClean="0">
                <a:latin typeface="Times New Roman"/>
                <a:cs typeface="Times New Roman"/>
              </a:rPr>
              <a:t> </a:t>
            </a:r>
            <a:r>
              <a:rPr sz="900" dirty="0" smtClean="0">
                <a:latin typeface="Arial"/>
                <a:cs typeface="Arial"/>
              </a:rPr>
              <a:t>,</a:t>
            </a:r>
            <a:r>
              <a:rPr sz="900" spc="-15" dirty="0" smtClean="0">
                <a:latin typeface="Arial"/>
                <a:cs typeface="Arial"/>
              </a:rPr>
              <a:t> </a:t>
            </a:r>
            <a:r>
              <a:rPr lang="en-US" sz="900" dirty="0" err="1" smtClean="0">
                <a:latin typeface="Arial"/>
                <a:cs typeface="Arial"/>
              </a:rPr>
              <a:t>để</a:t>
            </a:r>
            <a:r>
              <a:rPr lang="en-US" sz="900" dirty="0" smtClean="0">
                <a:latin typeface="Arial"/>
                <a:cs typeface="Arial"/>
              </a:rPr>
              <a:t> </a:t>
            </a:r>
            <a:r>
              <a:rPr sz="900" dirty="0" err="1" smtClean="0">
                <a:latin typeface="Arial"/>
                <a:cs typeface="Arial"/>
              </a:rPr>
              <a:t>tạo</a:t>
            </a:r>
            <a:r>
              <a:rPr sz="900" dirty="0" smtClean="0">
                <a:latin typeface="Arial"/>
                <a:cs typeface="Arial"/>
              </a:rPr>
              <a:t> </a:t>
            </a:r>
            <a:r>
              <a:rPr sz="900" dirty="0" err="1">
                <a:latin typeface="Arial"/>
                <a:cs typeface="Arial"/>
              </a:rPr>
              <a:t>ra</a:t>
            </a:r>
            <a:r>
              <a:rPr sz="900" spc="-15" dirty="0">
                <a:latin typeface="Arial"/>
                <a:cs typeface="Arial"/>
              </a:rPr>
              <a:t> </a:t>
            </a:r>
            <a:r>
              <a:rPr lang="en-US" sz="900" dirty="0" smtClean="0">
                <a:latin typeface="Arial"/>
                <a:cs typeface="Arial"/>
              </a:rPr>
              <a:t>bucket </a:t>
            </a:r>
            <a:r>
              <a:rPr sz="900" spc="-10" dirty="0" smtClean="0">
                <a:latin typeface="Arial"/>
                <a:cs typeface="Arial"/>
              </a:rPr>
              <a:t>“</a:t>
            </a:r>
            <a:r>
              <a:rPr lang="en-US" sz="900" spc="-10" dirty="0" err="1" smtClean="0">
                <a:latin typeface="Arial"/>
                <a:cs typeface="Arial"/>
              </a:rPr>
              <a:t>mybucket</a:t>
            </a:r>
            <a:r>
              <a:rPr sz="900" spc="-10" dirty="0" smtClean="0">
                <a:latin typeface="Arial"/>
                <a:cs typeface="Arial"/>
              </a:rPr>
              <a:t>”</a:t>
            </a:r>
            <a:endParaRPr sz="900" dirty="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Hướng tới </a:t>
            </a:r>
            <a:r>
              <a:rPr sz="500" spc="-10" dirty="0">
                <a:latin typeface="Arial"/>
                <a:cs typeface="Arial"/>
                <a:hlinkClick r:id="rId3" action="ppaction://hlinksldjump"/>
              </a:rPr>
              <a:t>dịch vụ</a:t>
            </a:r>
            <a:r>
              <a:rPr sz="500" spc="50" dirty="0">
                <a:latin typeface="Arial"/>
                <a:cs typeface="Arial"/>
                <a:hlinkClick r:id="rId3" action="ppaction://hlinksldjump"/>
              </a:rPr>
              <a:t> </a:t>
            </a:r>
            <a:r>
              <a:rPr sz="500" spc="-10" dirty="0">
                <a:latin typeface="Arial"/>
                <a:cs typeface="Arial"/>
                <a:hlinkClick r:id="rId3" action="ppaction://hlinksldjump"/>
              </a:rPr>
              <a:t>kiến trúc</a:t>
            </a:r>
            <a:endParaRPr sz="500">
              <a:latin typeface="Arial"/>
              <a:cs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Kiến trúc</a:t>
            </a:r>
            <a:r>
              <a:rPr sz="500" dirty="0">
                <a:latin typeface="Arial"/>
                <a:cs typeface="Arial"/>
              </a:rPr>
              <a:t> </a:t>
            </a: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3" name="object 3"/>
          <p:cNvSpPr txBox="1">
            <a:spLocks noGrp="1"/>
          </p:cNvSpPr>
          <p:nvPr>
            <p:ph type="title"/>
          </p:nvPr>
        </p:nvSpPr>
        <p:spPr>
          <a:xfrm>
            <a:off x="95300" y="197711"/>
            <a:ext cx="2999105" cy="196849"/>
          </a:xfrm>
          <a:prstGeom prst="rect">
            <a:avLst/>
          </a:prstGeom>
        </p:spPr>
        <p:txBody>
          <a:bodyPr vert="horz" wrap="square" lIns="0" tIns="12065" rIns="0" bIns="0" rtlCol="0">
            <a:spAutoFit/>
          </a:bodyPr>
          <a:lstStyle/>
          <a:p>
            <a:pPr marL="12700">
              <a:lnSpc>
                <a:spcPct val="100000"/>
              </a:lnSpc>
              <a:spcBef>
                <a:spcPts val="95"/>
              </a:spcBef>
            </a:pPr>
            <a:r>
              <a:rPr lang="en-US" spc="-10" dirty="0" err="1" smtClean="0"/>
              <a:t>Tại</a:t>
            </a:r>
            <a:r>
              <a:rPr lang="en-US" spc="-10" dirty="0" smtClean="0"/>
              <a:t> </a:t>
            </a:r>
            <a:r>
              <a:rPr spc="-10" dirty="0" err="1" smtClean="0"/>
              <a:t>giao</a:t>
            </a:r>
            <a:r>
              <a:rPr spc="-10" dirty="0" smtClean="0"/>
              <a:t> </a:t>
            </a:r>
            <a:r>
              <a:rPr spc="-10" dirty="0"/>
              <a:t>diện</a:t>
            </a:r>
          </a:p>
        </p:txBody>
      </p:sp>
      <p:sp>
        <p:nvSpPr>
          <p:cNvPr id="4" name="object 4"/>
          <p:cNvSpPr txBox="1"/>
          <p:nvPr/>
        </p:nvSpPr>
        <p:spPr>
          <a:xfrm>
            <a:off x="343547" y="489362"/>
            <a:ext cx="3917315" cy="1112484"/>
          </a:xfrm>
          <a:prstGeom prst="rect">
            <a:avLst/>
          </a:prstGeom>
        </p:spPr>
        <p:txBody>
          <a:bodyPr vert="horz" wrap="square" lIns="0" tIns="37465" rIns="0" bIns="0" rtlCol="0">
            <a:spAutoFit/>
          </a:bodyPr>
          <a:lstStyle/>
          <a:p>
            <a:pPr marL="15875">
              <a:lnSpc>
                <a:spcPct val="100000"/>
              </a:lnSpc>
              <a:spcBef>
                <a:spcPts val="295"/>
              </a:spcBef>
            </a:pPr>
            <a:r>
              <a:rPr lang="vi-VN" sz="1050" spc="-10" dirty="0" smtClean="0">
                <a:solidFill>
                  <a:srgbClr val="3333B2"/>
                </a:solidFill>
                <a:latin typeface="Arial"/>
                <a:cs typeface="Arial"/>
              </a:rPr>
              <a:t>Đơn giản hóa</a:t>
            </a:r>
            <a:endParaRPr lang="vi-VN" sz="1050" dirty="0" smtClean="0">
              <a:latin typeface="Arial"/>
              <a:cs typeface="Arial"/>
            </a:endParaRPr>
          </a:p>
          <a:p>
            <a:pPr marL="15875" marR="5080" indent="-3810">
              <a:lnSpc>
                <a:spcPct val="100000"/>
              </a:lnSpc>
              <a:spcBef>
                <a:spcPts val="195"/>
              </a:spcBef>
            </a:pPr>
            <a:r>
              <a:rPr lang="vi-VN" sz="1000" spc="-10" dirty="0" smtClean="0">
                <a:latin typeface="Arial"/>
                <a:cs typeface="Arial"/>
              </a:rPr>
              <a:t>Cho rằng</a:t>
            </a:r>
            <a:r>
              <a:rPr lang="vi-VN" sz="1000" spc="-55" dirty="0" smtClean="0">
                <a:latin typeface="Arial"/>
                <a:cs typeface="Arial"/>
              </a:rPr>
              <a:t> </a:t>
            </a:r>
            <a:r>
              <a:rPr lang="vi-VN" sz="1000" dirty="0" smtClean="0">
                <a:latin typeface="Arial"/>
                <a:cs typeface="Arial"/>
              </a:rPr>
              <a:t> một</a:t>
            </a:r>
            <a:r>
              <a:rPr lang="vi-VN" sz="1000" spc="-45" dirty="0" smtClean="0">
                <a:latin typeface="Arial"/>
                <a:cs typeface="Arial"/>
              </a:rPr>
              <a:t> </a:t>
            </a:r>
            <a:r>
              <a:rPr lang="vi-VN" sz="1000" dirty="0" smtClean="0">
                <a:latin typeface="Arial"/>
                <a:cs typeface="Arial"/>
              </a:rPr>
              <a:t>giao diện</a:t>
            </a:r>
            <a:r>
              <a:rPr lang="vi-VN" sz="1000" spc="175" dirty="0" smtClean="0">
                <a:latin typeface="Arial"/>
                <a:cs typeface="Arial"/>
              </a:rPr>
              <a:t> </a:t>
            </a:r>
            <a:r>
              <a:rPr lang="vi-VN" sz="1050" spc="65" dirty="0" smtClean="0">
                <a:latin typeface="Times New Roman"/>
                <a:cs typeface="Times New Roman"/>
              </a:rPr>
              <a:t>bucket </a:t>
            </a:r>
            <a:r>
              <a:rPr lang="vi-VN" sz="1000" spc="-10" dirty="0" smtClean="0">
                <a:latin typeface="Arial"/>
                <a:cs typeface="Arial"/>
              </a:rPr>
              <a:t>cung cấp</a:t>
            </a:r>
            <a:r>
              <a:rPr lang="vi-VN" sz="1000" spc="-35" dirty="0" smtClean="0">
                <a:latin typeface="Arial"/>
                <a:cs typeface="Arial"/>
              </a:rPr>
              <a:t> phương thức create</a:t>
            </a:r>
            <a:r>
              <a:rPr lang="vi-VN" sz="1000" spc="85" dirty="0" smtClean="0">
                <a:latin typeface="Arial"/>
                <a:cs typeface="Arial"/>
              </a:rPr>
              <a:t>,</a:t>
            </a:r>
            <a:r>
              <a:rPr lang="vi-VN" sz="1000" spc="-40" dirty="0" smtClean="0">
                <a:latin typeface="Arial"/>
                <a:cs typeface="Arial"/>
              </a:rPr>
              <a:t> </a:t>
            </a:r>
            <a:r>
              <a:rPr lang="vi-VN" sz="1000" spc="-10" dirty="0" smtClean="0">
                <a:latin typeface="Arial"/>
                <a:cs typeface="Arial"/>
              </a:rPr>
              <a:t>yêu cầu</a:t>
            </a:r>
            <a:r>
              <a:rPr lang="vi-VN" sz="1000" spc="-35" dirty="0" smtClean="0">
                <a:latin typeface="Arial"/>
                <a:cs typeface="Arial"/>
              </a:rPr>
              <a:t>  </a:t>
            </a:r>
            <a:r>
              <a:rPr lang="vi-VN" sz="1000" dirty="0" smtClean="0">
                <a:latin typeface="Arial"/>
                <a:cs typeface="Arial"/>
              </a:rPr>
              <a:t>chuỗi </a:t>
            </a:r>
            <a:r>
              <a:rPr lang="vi-VN" sz="1000" spc="-10" dirty="0" smtClean="0">
                <a:latin typeface="Arial"/>
                <a:cs typeface="Arial"/>
              </a:rPr>
              <a:t>đầu vào</a:t>
            </a:r>
            <a:r>
              <a:rPr lang="vi-VN" sz="1000" dirty="0" smtClean="0">
                <a:latin typeface="Arial"/>
                <a:cs typeface="Arial"/>
              </a:rPr>
              <a:t> là</a:t>
            </a:r>
            <a:r>
              <a:rPr lang="vi-VN" sz="1000" spc="-15" dirty="0" smtClean="0">
                <a:latin typeface="Arial"/>
                <a:cs typeface="Arial"/>
              </a:rPr>
              <a:t> </a:t>
            </a:r>
            <a:r>
              <a:rPr lang="vi-VN" sz="1000" dirty="0" smtClean="0">
                <a:latin typeface="Arial"/>
                <a:cs typeface="Arial"/>
              </a:rPr>
              <a:t> mybucket</a:t>
            </a:r>
            <a:r>
              <a:rPr lang="vi-VN" sz="1050" dirty="0" smtClean="0">
                <a:latin typeface="Times New Roman"/>
                <a:cs typeface="Times New Roman"/>
              </a:rPr>
              <a:t> </a:t>
            </a:r>
            <a:r>
              <a:rPr lang="vi-VN" sz="1000" dirty="0" smtClean="0">
                <a:latin typeface="Arial"/>
                <a:cs typeface="Arial"/>
              </a:rPr>
              <a:t>,</a:t>
            </a:r>
            <a:r>
              <a:rPr lang="vi-VN" sz="1000" spc="-15" dirty="0" smtClean="0">
                <a:latin typeface="Arial"/>
                <a:cs typeface="Arial"/>
              </a:rPr>
              <a:t> </a:t>
            </a:r>
            <a:r>
              <a:rPr lang="vi-VN" sz="1000" dirty="0" smtClean="0">
                <a:latin typeface="Arial"/>
                <a:cs typeface="Arial"/>
              </a:rPr>
              <a:t>để tạo ra</a:t>
            </a:r>
            <a:r>
              <a:rPr lang="vi-VN" sz="1000" spc="-15" dirty="0" smtClean="0">
                <a:latin typeface="Arial"/>
                <a:cs typeface="Arial"/>
              </a:rPr>
              <a:t> </a:t>
            </a:r>
            <a:r>
              <a:rPr lang="vi-VN" sz="1000" dirty="0" smtClean="0">
                <a:latin typeface="Arial"/>
                <a:cs typeface="Arial"/>
              </a:rPr>
              <a:t>bucket </a:t>
            </a:r>
            <a:r>
              <a:rPr lang="vi-VN" sz="1000" spc="-10" dirty="0" smtClean="0">
                <a:latin typeface="Arial"/>
                <a:cs typeface="Arial"/>
              </a:rPr>
              <a:t>“mybucket”</a:t>
            </a:r>
            <a:endParaRPr lang="vi-VN" sz="1000" dirty="0" smtClean="0">
              <a:latin typeface="Arial"/>
              <a:cs typeface="Arial"/>
            </a:endParaRPr>
          </a:p>
          <a:p>
            <a:pPr marL="15875">
              <a:lnSpc>
                <a:spcPts val="1180"/>
              </a:lnSpc>
              <a:spcBef>
                <a:spcPts val="800"/>
              </a:spcBef>
            </a:pPr>
            <a:r>
              <a:rPr lang="en-US" sz="1000" spc="-20" dirty="0" smtClean="0">
                <a:solidFill>
                  <a:srgbClr val="4C994C"/>
                </a:solidFill>
                <a:latin typeface="Arial"/>
                <a:cs typeface="Arial"/>
              </a:rPr>
              <a:t>SOAP</a:t>
            </a:r>
            <a:endParaRPr lang="en-US" sz="1000" dirty="0" smtClean="0">
              <a:latin typeface="Arial"/>
              <a:cs typeface="Arial"/>
            </a:endParaRPr>
          </a:p>
          <a:p>
            <a:pPr marL="269240" marR="2045335" indent="-6350">
              <a:lnSpc>
                <a:spcPts val="1210"/>
              </a:lnSpc>
              <a:spcBef>
                <a:spcPts val="10"/>
              </a:spcBef>
            </a:pPr>
            <a:r>
              <a:rPr lang="en-US" sz="1000" i="1" spc="65" dirty="0" smtClean="0">
                <a:latin typeface="Times New Roman"/>
                <a:cs typeface="Times New Roman"/>
              </a:rPr>
              <a:t>import</a:t>
            </a:r>
            <a:r>
              <a:rPr lang="en-US" sz="1000" i="1" spc="200" dirty="0" smtClean="0">
                <a:latin typeface="Times New Roman"/>
                <a:cs typeface="Times New Roman"/>
              </a:rPr>
              <a:t> </a:t>
            </a:r>
            <a:r>
              <a:rPr lang="en-US" sz="1000" i="1" spc="65" dirty="0" smtClean="0">
                <a:latin typeface="Times New Roman"/>
                <a:cs typeface="Times New Roman"/>
              </a:rPr>
              <a:t>bucket </a:t>
            </a:r>
            <a:r>
              <a:rPr lang="en-US" sz="1000" i="1" spc="60" dirty="0" err="1" smtClean="0">
                <a:latin typeface="Times New Roman"/>
                <a:cs typeface="Times New Roman"/>
              </a:rPr>
              <a:t>bucket.create</a:t>
            </a:r>
            <a:r>
              <a:rPr lang="en-US" sz="1000" i="1" spc="60" dirty="0" smtClean="0">
                <a:latin typeface="Times New Roman"/>
                <a:cs typeface="Times New Roman"/>
              </a:rPr>
              <a:t>("</a:t>
            </a:r>
            <a:r>
              <a:rPr lang="en-US" sz="1000" i="1" spc="60" dirty="0" err="1" smtClean="0">
                <a:latin typeface="Times New Roman"/>
                <a:cs typeface="Times New Roman"/>
              </a:rPr>
              <a:t>mybucket</a:t>
            </a:r>
            <a:r>
              <a:rPr lang="en-US" sz="1000" i="1" spc="60" dirty="0" smtClean="0">
                <a:latin typeface="Times New Roman"/>
                <a:cs typeface="Times New Roman"/>
              </a:rPr>
              <a:t>")</a:t>
            </a:r>
            <a:endParaRPr lang="en-US" sz="1000" dirty="0">
              <a:latin typeface="Times New Roman"/>
              <a:cs typeface="Times New Roman"/>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Hướng tới </a:t>
            </a:r>
            <a:r>
              <a:rPr sz="500" spc="-10" dirty="0">
                <a:latin typeface="Arial"/>
                <a:cs typeface="Arial"/>
                <a:hlinkClick r:id="rId3" action="ppaction://hlinksldjump"/>
              </a:rPr>
              <a:t>dịch vụ</a:t>
            </a:r>
            <a:r>
              <a:rPr sz="500" spc="50" dirty="0">
                <a:latin typeface="Arial"/>
                <a:cs typeface="Arial"/>
                <a:hlinkClick r:id="rId3" action="ppaction://hlinksldjump"/>
              </a:rPr>
              <a:t> </a:t>
            </a:r>
            <a:r>
              <a:rPr sz="500" spc="-10" dirty="0">
                <a:latin typeface="Arial"/>
                <a:cs typeface="Arial"/>
                <a:hlinkClick r:id="rId3" action="ppaction://hlinksldjump"/>
              </a:rPr>
              <a:t>kiến trúc</a:t>
            </a:r>
            <a:endParaRPr sz="500">
              <a:latin typeface="Arial"/>
              <a:cs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Kiến trúc</a:t>
            </a:r>
            <a:r>
              <a:rPr sz="500" dirty="0">
                <a:latin typeface="Arial"/>
                <a:cs typeface="Arial"/>
              </a:rPr>
              <a:t> </a:t>
            </a: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TRÊN</a:t>
            </a:r>
            <a:r>
              <a:rPr spc="-25" dirty="0"/>
              <a:t> </a:t>
            </a:r>
            <a:r>
              <a:rPr spc="-10" dirty="0"/>
              <a:t>giao diện</a:t>
            </a:r>
          </a:p>
        </p:txBody>
      </p:sp>
      <p:sp>
        <p:nvSpPr>
          <p:cNvPr id="4" name="object 4"/>
          <p:cNvSpPr txBox="1"/>
          <p:nvPr/>
        </p:nvSpPr>
        <p:spPr>
          <a:xfrm>
            <a:off x="343547" y="489362"/>
            <a:ext cx="3917315" cy="1589538"/>
          </a:xfrm>
          <a:prstGeom prst="rect">
            <a:avLst/>
          </a:prstGeom>
        </p:spPr>
        <p:txBody>
          <a:bodyPr vert="horz" wrap="square" lIns="0" tIns="37465" rIns="0" bIns="0" rtlCol="0">
            <a:spAutoFit/>
          </a:bodyPr>
          <a:lstStyle/>
          <a:p>
            <a:pPr marL="15875">
              <a:lnSpc>
                <a:spcPct val="100000"/>
              </a:lnSpc>
              <a:spcBef>
                <a:spcPts val="295"/>
              </a:spcBef>
            </a:pPr>
            <a:r>
              <a:rPr lang="vi-VN" sz="1050" spc="-10" dirty="0" smtClean="0">
                <a:solidFill>
                  <a:srgbClr val="3333B2"/>
                </a:solidFill>
                <a:latin typeface="Arial"/>
                <a:cs typeface="Arial"/>
              </a:rPr>
              <a:t>Đơn giản hóa</a:t>
            </a:r>
            <a:endParaRPr lang="vi-VN" sz="1050" dirty="0" smtClean="0">
              <a:latin typeface="Arial"/>
              <a:cs typeface="Arial"/>
            </a:endParaRPr>
          </a:p>
          <a:p>
            <a:pPr marL="15875" marR="5080" indent="-3810">
              <a:lnSpc>
                <a:spcPct val="100000"/>
              </a:lnSpc>
              <a:spcBef>
                <a:spcPts val="195"/>
              </a:spcBef>
            </a:pPr>
            <a:r>
              <a:rPr lang="vi-VN" sz="1000" spc="-10" dirty="0" smtClean="0">
                <a:latin typeface="Arial"/>
                <a:cs typeface="Arial"/>
              </a:rPr>
              <a:t>Cho rằng</a:t>
            </a:r>
            <a:r>
              <a:rPr lang="vi-VN" sz="1000" spc="-55" dirty="0" smtClean="0">
                <a:latin typeface="Arial"/>
                <a:cs typeface="Arial"/>
              </a:rPr>
              <a:t> </a:t>
            </a:r>
            <a:r>
              <a:rPr lang="vi-VN" sz="1000" dirty="0" smtClean="0">
                <a:latin typeface="Arial"/>
                <a:cs typeface="Arial"/>
              </a:rPr>
              <a:t> một</a:t>
            </a:r>
            <a:r>
              <a:rPr lang="vi-VN" sz="1000" spc="-45" dirty="0" smtClean="0">
                <a:latin typeface="Arial"/>
                <a:cs typeface="Arial"/>
              </a:rPr>
              <a:t> </a:t>
            </a:r>
            <a:r>
              <a:rPr lang="vi-VN" sz="1000" dirty="0" smtClean="0">
                <a:latin typeface="Arial"/>
                <a:cs typeface="Arial"/>
              </a:rPr>
              <a:t>giao diện</a:t>
            </a:r>
            <a:r>
              <a:rPr lang="vi-VN" sz="1000" spc="175" dirty="0" smtClean="0">
                <a:latin typeface="Arial"/>
                <a:cs typeface="Arial"/>
              </a:rPr>
              <a:t> </a:t>
            </a:r>
            <a:r>
              <a:rPr lang="vi-VN" sz="1050" spc="65" dirty="0" smtClean="0">
                <a:latin typeface="Times New Roman"/>
                <a:cs typeface="Times New Roman"/>
              </a:rPr>
              <a:t>bucket </a:t>
            </a:r>
            <a:r>
              <a:rPr lang="vi-VN" sz="1000" spc="-10" dirty="0" smtClean="0">
                <a:latin typeface="Arial"/>
                <a:cs typeface="Arial"/>
              </a:rPr>
              <a:t>cung cấp</a:t>
            </a:r>
            <a:r>
              <a:rPr lang="vi-VN" sz="1000" spc="-35" dirty="0" smtClean="0">
                <a:latin typeface="Arial"/>
                <a:cs typeface="Arial"/>
              </a:rPr>
              <a:t> phương thức create</a:t>
            </a:r>
            <a:r>
              <a:rPr lang="vi-VN" sz="1000" spc="85" dirty="0" smtClean="0">
                <a:latin typeface="Arial"/>
                <a:cs typeface="Arial"/>
              </a:rPr>
              <a:t>,</a:t>
            </a:r>
            <a:r>
              <a:rPr lang="vi-VN" sz="1000" spc="-40" dirty="0" smtClean="0">
                <a:latin typeface="Arial"/>
                <a:cs typeface="Arial"/>
              </a:rPr>
              <a:t> </a:t>
            </a:r>
            <a:r>
              <a:rPr lang="vi-VN" sz="1000" spc="-10" dirty="0" smtClean="0">
                <a:latin typeface="Arial"/>
                <a:cs typeface="Arial"/>
              </a:rPr>
              <a:t>yêu cầu</a:t>
            </a:r>
            <a:r>
              <a:rPr lang="vi-VN" sz="1000" spc="-35" dirty="0" smtClean="0">
                <a:latin typeface="Arial"/>
                <a:cs typeface="Arial"/>
              </a:rPr>
              <a:t>  </a:t>
            </a:r>
            <a:r>
              <a:rPr lang="vi-VN" sz="1000" dirty="0" smtClean="0">
                <a:latin typeface="Arial"/>
                <a:cs typeface="Arial"/>
              </a:rPr>
              <a:t>chuỗi </a:t>
            </a:r>
            <a:r>
              <a:rPr lang="vi-VN" sz="1000" spc="-10" dirty="0" smtClean="0">
                <a:latin typeface="Arial"/>
                <a:cs typeface="Arial"/>
              </a:rPr>
              <a:t>đầu vào</a:t>
            </a:r>
            <a:r>
              <a:rPr lang="vi-VN" sz="1000" dirty="0" smtClean="0">
                <a:latin typeface="Arial"/>
                <a:cs typeface="Arial"/>
              </a:rPr>
              <a:t> là</a:t>
            </a:r>
            <a:r>
              <a:rPr lang="vi-VN" sz="1000" spc="-15" dirty="0" smtClean="0">
                <a:latin typeface="Arial"/>
                <a:cs typeface="Arial"/>
              </a:rPr>
              <a:t> </a:t>
            </a:r>
            <a:r>
              <a:rPr lang="vi-VN" sz="1000" dirty="0" smtClean="0">
                <a:latin typeface="Arial"/>
                <a:cs typeface="Arial"/>
              </a:rPr>
              <a:t> mybucket</a:t>
            </a:r>
            <a:r>
              <a:rPr lang="vi-VN" sz="1050" dirty="0" smtClean="0">
                <a:latin typeface="Times New Roman"/>
                <a:cs typeface="Times New Roman"/>
              </a:rPr>
              <a:t> </a:t>
            </a:r>
            <a:r>
              <a:rPr lang="vi-VN" sz="1000" dirty="0" smtClean="0">
                <a:latin typeface="Arial"/>
                <a:cs typeface="Arial"/>
              </a:rPr>
              <a:t>,</a:t>
            </a:r>
            <a:r>
              <a:rPr lang="vi-VN" sz="1000" spc="-15" dirty="0" smtClean="0">
                <a:latin typeface="Arial"/>
                <a:cs typeface="Arial"/>
              </a:rPr>
              <a:t> </a:t>
            </a:r>
            <a:r>
              <a:rPr lang="vi-VN" sz="1000" dirty="0" smtClean="0">
                <a:latin typeface="Arial"/>
                <a:cs typeface="Arial"/>
              </a:rPr>
              <a:t>để tạo ra</a:t>
            </a:r>
            <a:r>
              <a:rPr lang="vi-VN" sz="1000" spc="-15" dirty="0" smtClean="0">
                <a:latin typeface="Arial"/>
                <a:cs typeface="Arial"/>
              </a:rPr>
              <a:t> </a:t>
            </a:r>
            <a:r>
              <a:rPr lang="vi-VN" sz="1000" dirty="0" smtClean="0">
                <a:latin typeface="Arial"/>
                <a:cs typeface="Arial"/>
              </a:rPr>
              <a:t>bucket </a:t>
            </a:r>
            <a:r>
              <a:rPr lang="vi-VN" sz="1000" spc="-10" dirty="0" smtClean="0">
                <a:latin typeface="Arial"/>
                <a:cs typeface="Arial"/>
              </a:rPr>
              <a:t>“mybucket”</a:t>
            </a:r>
            <a:endParaRPr lang="vi-VN" sz="1000" dirty="0" smtClean="0">
              <a:latin typeface="Arial"/>
              <a:cs typeface="Arial"/>
            </a:endParaRPr>
          </a:p>
          <a:p>
            <a:pPr marL="15875">
              <a:lnSpc>
                <a:spcPts val="1180"/>
              </a:lnSpc>
              <a:spcBef>
                <a:spcPts val="800"/>
              </a:spcBef>
            </a:pPr>
            <a:r>
              <a:rPr lang="en-US" sz="1000" spc="-20" dirty="0" smtClean="0">
                <a:solidFill>
                  <a:srgbClr val="4C994C"/>
                </a:solidFill>
                <a:latin typeface="Arial"/>
                <a:cs typeface="Arial"/>
              </a:rPr>
              <a:t>SOAP</a:t>
            </a:r>
            <a:endParaRPr lang="en-US" sz="1000" dirty="0" smtClean="0">
              <a:latin typeface="Arial"/>
              <a:cs typeface="Arial"/>
            </a:endParaRPr>
          </a:p>
          <a:p>
            <a:pPr marL="269240" marR="2045335" indent="-6350">
              <a:lnSpc>
                <a:spcPts val="1210"/>
              </a:lnSpc>
              <a:spcBef>
                <a:spcPts val="10"/>
              </a:spcBef>
            </a:pPr>
            <a:r>
              <a:rPr lang="en-US" sz="1000" i="1" spc="65" dirty="0" smtClean="0">
                <a:latin typeface="Times New Roman"/>
                <a:cs typeface="Times New Roman"/>
              </a:rPr>
              <a:t>import</a:t>
            </a:r>
            <a:r>
              <a:rPr lang="en-US" sz="1000" i="1" spc="200" dirty="0" smtClean="0">
                <a:latin typeface="Times New Roman"/>
                <a:cs typeface="Times New Roman"/>
              </a:rPr>
              <a:t> </a:t>
            </a:r>
            <a:r>
              <a:rPr lang="en-US" sz="1000" i="1" spc="65" dirty="0" smtClean="0">
                <a:latin typeface="Times New Roman"/>
                <a:cs typeface="Times New Roman"/>
              </a:rPr>
              <a:t>bucket </a:t>
            </a:r>
            <a:r>
              <a:rPr lang="en-US" sz="1000" i="1" spc="60" dirty="0" err="1" smtClean="0">
                <a:latin typeface="Times New Roman"/>
                <a:cs typeface="Times New Roman"/>
              </a:rPr>
              <a:t>bucket.create</a:t>
            </a:r>
            <a:r>
              <a:rPr lang="en-US" sz="1000" i="1" spc="60" dirty="0" smtClean="0">
                <a:latin typeface="Times New Roman"/>
                <a:cs typeface="Times New Roman"/>
              </a:rPr>
              <a:t>("</a:t>
            </a:r>
            <a:r>
              <a:rPr lang="en-US" sz="1000" i="1" spc="60" dirty="0" err="1" smtClean="0">
                <a:latin typeface="Times New Roman"/>
                <a:cs typeface="Times New Roman"/>
              </a:rPr>
              <a:t>mybucket</a:t>
            </a:r>
            <a:r>
              <a:rPr lang="en-US" sz="1000" i="1" spc="60" dirty="0" smtClean="0">
                <a:latin typeface="Times New Roman"/>
                <a:cs typeface="Times New Roman"/>
              </a:rPr>
              <a:t>")</a:t>
            </a:r>
            <a:endParaRPr lang="en-US" sz="1000" dirty="0" smtClean="0">
              <a:latin typeface="Times New Roman"/>
              <a:cs typeface="Times New Roman"/>
            </a:endParaRPr>
          </a:p>
          <a:p>
            <a:pPr>
              <a:lnSpc>
                <a:spcPct val="100000"/>
              </a:lnSpc>
              <a:spcBef>
                <a:spcPts val="35"/>
              </a:spcBef>
            </a:pPr>
            <a:endParaRPr sz="1100" dirty="0">
              <a:latin typeface="Times New Roman"/>
              <a:cs typeface="Times New Roman"/>
            </a:endParaRPr>
          </a:p>
          <a:p>
            <a:pPr marL="15875">
              <a:lnSpc>
                <a:spcPts val="1165"/>
              </a:lnSpc>
            </a:pPr>
            <a:r>
              <a:rPr lang="en-US" sz="1000" spc="-10" dirty="0" smtClean="0">
                <a:solidFill>
                  <a:srgbClr val="4C994C"/>
                </a:solidFill>
                <a:latin typeface="Arial"/>
                <a:cs typeface="Arial"/>
              </a:rPr>
              <a:t>RESTful</a:t>
            </a:r>
            <a:endParaRPr lang="en-US" sz="1000" dirty="0" smtClean="0">
              <a:latin typeface="Arial"/>
              <a:cs typeface="Arial"/>
            </a:endParaRPr>
          </a:p>
          <a:p>
            <a:pPr marL="262890">
              <a:lnSpc>
                <a:spcPts val="1165"/>
              </a:lnSpc>
            </a:pPr>
            <a:r>
              <a:rPr lang="en-US" sz="1000" i="1" spc="-60" dirty="0" smtClean="0">
                <a:latin typeface="Times New Roman"/>
                <a:cs typeface="Times New Roman"/>
              </a:rPr>
              <a:t>PUT</a:t>
            </a:r>
            <a:r>
              <a:rPr lang="en-US" sz="1000" i="1" spc="55" dirty="0" smtClean="0">
                <a:latin typeface="Times New Roman"/>
                <a:cs typeface="Times New Roman"/>
              </a:rPr>
              <a:t> "https://mybucket.s3.amazonsws.com/"</a:t>
            </a:r>
            <a:endParaRPr lang="en-US" sz="1000" dirty="0">
              <a:latin typeface="Times New Roman"/>
              <a:cs typeface="Times New Roman"/>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Hướng tới </a:t>
            </a:r>
            <a:r>
              <a:rPr sz="500" spc="-10" dirty="0">
                <a:latin typeface="Arial"/>
                <a:cs typeface="Arial"/>
                <a:hlinkClick r:id="rId3" action="ppaction://hlinksldjump"/>
              </a:rPr>
              <a:t>dịch vụ</a:t>
            </a:r>
            <a:r>
              <a:rPr sz="500" spc="50" dirty="0">
                <a:latin typeface="Arial"/>
                <a:cs typeface="Arial"/>
                <a:hlinkClick r:id="rId3" action="ppaction://hlinksldjump"/>
              </a:rPr>
              <a:t> </a:t>
            </a:r>
            <a:r>
              <a:rPr sz="500" spc="-10" dirty="0">
                <a:latin typeface="Arial"/>
                <a:cs typeface="Arial"/>
                <a:hlinkClick r:id="rId3" action="ppaction://hlinksldjump"/>
              </a:rPr>
              <a:t>kiến trúc</a:t>
            </a:r>
            <a:endParaRPr sz="500">
              <a:latin typeface="Arial"/>
              <a:cs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Kiến trúc</a:t>
            </a:r>
            <a:r>
              <a:rPr sz="500" dirty="0">
                <a:latin typeface="Arial"/>
                <a:cs typeface="Arial"/>
              </a:rPr>
              <a:t> </a:t>
            </a: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TRÊN</a:t>
            </a:r>
            <a:r>
              <a:rPr spc="-25" dirty="0"/>
              <a:t> </a:t>
            </a:r>
            <a:r>
              <a:rPr spc="-10" dirty="0"/>
              <a:t>giao diện</a:t>
            </a:r>
          </a:p>
        </p:txBody>
      </p:sp>
      <p:sp>
        <p:nvSpPr>
          <p:cNvPr id="4" name="object 4"/>
          <p:cNvSpPr txBox="1"/>
          <p:nvPr/>
        </p:nvSpPr>
        <p:spPr>
          <a:xfrm>
            <a:off x="343547" y="489362"/>
            <a:ext cx="3917315" cy="2187137"/>
          </a:xfrm>
          <a:prstGeom prst="rect">
            <a:avLst/>
          </a:prstGeom>
        </p:spPr>
        <p:txBody>
          <a:bodyPr vert="horz" wrap="square" lIns="0" tIns="37465" rIns="0" bIns="0" rtlCol="0">
            <a:spAutoFit/>
          </a:bodyPr>
          <a:lstStyle/>
          <a:p>
            <a:pPr marL="15875">
              <a:lnSpc>
                <a:spcPct val="100000"/>
              </a:lnSpc>
              <a:spcBef>
                <a:spcPts val="295"/>
              </a:spcBef>
            </a:pPr>
            <a:r>
              <a:rPr sz="1000" spc="-10" dirty="0">
                <a:solidFill>
                  <a:srgbClr val="3333B2"/>
                </a:solidFill>
                <a:latin typeface="Arial"/>
                <a:cs typeface="Arial"/>
              </a:rPr>
              <a:t>Sự đơn giản hóa</a:t>
            </a:r>
            <a:endParaRPr sz="1000" dirty="0">
              <a:latin typeface="Arial"/>
              <a:cs typeface="Arial"/>
            </a:endParaRPr>
          </a:p>
          <a:p>
            <a:pPr marL="15875" marR="5080" indent="-3810">
              <a:lnSpc>
                <a:spcPct val="100000"/>
              </a:lnSpc>
              <a:spcBef>
                <a:spcPts val="195"/>
              </a:spcBef>
            </a:pPr>
            <a:r>
              <a:rPr sz="900" spc="-10" dirty="0">
                <a:latin typeface="Arial"/>
                <a:cs typeface="Arial"/>
              </a:rPr>
              <a:t>Cho rằng</a:t>
            </a:r>
            <a:r>
              <a:rPr sz="900" spc="-55" dirty="0">
                <a:latin typeface="Arial"/>
                <a:cs typeface="Arial"/>
              </a:rPr>
              <a:t> </a:t>
            </a:r>
            <a:r>
              <a:rPr sz="900" dirty="0">
                <a:latin typeface="Arial"/>
                <a:cs typeface="Arial"/>
              </a:rPr>
              <a:t>MỘT</a:t>
            </a:r>
            <a:r>
              <a:rPr sz="900" spc="-45" dirty="0">
                <a:latin typeface="Arial"/>
                <a:cs typeface="Arial"/>
              </a:rPr>
              <a:t> </a:t>
            </a:r>
            <a:r>
              <a:rPr sz="900" dirty="0">
                <a:latin typeface="Arial"/>
                <a:cs typeface="Arial"/>
              </a:rPr>
              <a:t>giao diện</a:t>
            </a:r>
            <a:r>
              <a:rPr sz="900" spc="175" dirty="0">
                <a:latin typeface="Arial"/>
                <a:cs typeface="Arial"/>
              </a:rPr>
              <a:t> </a:t>
            </a:r>
            <a:r>
              <a:rPr sz="1000" spc="65" dirty="0">
                <a:latin typeface="Times New Roman"/>
                <a:cs typeface="Times New Roman"/>
              </a:rPr>
              <a:t>xô</a:t>
            </a:r>
            <a:r>
              <a:rPr sz="1000" spc="-80" dirty="0">
                <a:latin typeface="Times New Roman"/>
                <a:cs typeface="Times New Roman"/>
              </a:rPr>
              <a:t> </a:t>
            </a:r>
            <a:r>
              <a:rPr sz="900" spc="-10" dirty="0">
                <a:latin typeface="Arial"/>
                <a:cs typeface="Arial"/>
              </a:rPr>
              <a:t>cung cấp</a:t>
            </a:r>
            <a:r>
              <a:rPr sz="900" spc="-35" dirty="0">
                <a:latin typeface="Arial"/>
                <a:cs typeface="Arial"/>
              </a:rPr>
              <a:t> </a:t>
            </a:r>
            <a:r>
              <a:rPr sz="900" dirty="0">
                <a:latin typeface="Arial"/>
                <a:cs typeface="Arial"/>
              </a:rPr>
              <a:t>MỘT</a:t>
            </a:r>
            <a:r>
              <a:rPr sz="900" spc="-40" dirty="0">
                <a:latin typeface="Arial"/>
                <a:cs typeface="Arial"/>
              </a:rPr>
              <a:t> </a:t>
            </a:r>
            <a:r>
              <a:rPr sz="900" dirty="0">
                <a:latin typeface="Arial"/>
                <a:cs typeface="Arial"/>
              </a:rPr>
              <a:t>hoạt động</a:t>
            </a:r>
            <a:r>
              <a:rPr sz="900" spc="175" dirty="0">
                <a:latin typeface="Arial"/>
                <a:cs typeface="Arial"/>
              </a:rPr>
              <a:t> </a:t>
            </a:r>
            <a:r>
              <a:rPr sz="1000" spc="85" dirty="0">
                <a:latin typeface="Times New Roman"/>
                <a:cs typeface="Times New Roman"/>
              </a:rPr>
              <a:t>tạo nên </a:t>
            </a:r>
            <a:r>
              <a:rPr sz="900" spc="85" dirty="0">
                <a:latin typeface="Arial"/>
                <a:cs typeface="Arial"/>
              </a:rPr>
              <a:t>,</a:t>
            </a:r>
            <a:r>
              <a:rPr sz="900" spc="-40" dirty="0">
                <a:latin typeface="Arial"/>
                <a:cs typeface="Arial"/>
              </a:rPr>
              <a:t> </a:t>
            </a:r>
            <a:r>
              <a:rPr sz="900" spc="-10" dirty="0">
                <a:latin typeface="Arial"/>
                <a:cs typeface="Arial"/>
              </a:rPr>
              <a:t>yêu cầu</a:t>
            </a:r>
            <a:r>
              <a:rPr sz="900" spc="-35" dirty="0">
                <a:latin typeface="Arial"/>
                <a:cs typeface="Arial"/>
              </a:rPr>
              <a:t> </a:t>
            </a:r>
            <a:r>
              <a:rPr sz="900" dirty="0">
                <a:latin typeface="Arial"/>
                <a:cs typeface="Arial"/>
              </a:rPr>
              <a:t>MỘT</a:t>
            </a:r>
            <a:r>
              <a:rPr sz="900" spc="-35" dirty="0">
                <a:latin typeface="Arial"/>
                <a:cs typeface="Arial"/>
              </a:rPr>
              <a:t> </a:t>
            </a:r>
            <a:r>
              <a:rPr sz="900" dirty="0">
                <a:latin typeface="Arial"/>
                <a:cs typeface="Arial"/>
              </a:rPr>
              <a:t>chuỗi </a:t>
            </a:r>
            <a:r>
              <a:rPr sz="900" spc="-10" dirty="0">
                <a:latin typeface="Arial"/>
                <a:cs typeface="Arial"/>
              </a:rPr>
              <a:t>đầu vào</a:t>
            </a:r>
            <a:r>
              <a:rPr sz="900" spc="-15" dirty="0">
                <a:latin typeface="Arial"/>
                <a:cs typeface="Arial"/>
              </a:rPr>
              <a:t> </a:t>
            </a:r>
            <a:r>
              <a:rPr sz="900" dirty="0">
                <a:latin typeface="Arial"/>
                <a:cs typeface="Arial"/>
              </a:rPr>
              <a:t>như là</a:t>
            </a:r>
            <a:r>
              <a:rPr sz="900" spc="-15" dirty="0">
                <a:latin typeface="Arial"/>
                <a:cs typeface="Arial"/>
              </a:rPr>
              <a:t> </a:t>
            </a:r>
            <a:r>
              <a:rPr sz="900" dirty="0">
                <a:latin typeface="Arial"/>
                <a:cs typeface="Arial"/>
              </a:rPr>
              <a:t>BẰNG</a:t>
            </a:r>
            <a:r>
              <a:rPr sz="900" spc="215" dirty="0">
                <a:latin typeface="Arial"/>
                <a:cs typeface="Arial"/>
              </a:rPr>
              <a:t> </a:t>
            </a:r>
            <a:r>
              <a:rPr sz="1000" dirty="0">
                <a:latin typeface="Times New Roman"/>
                <a:cs typeface="Times New Roman"/>
              </a:rPr>
              <a:t>thùng của tôi </a:t>
            </a:r>
            <a:r>
              <a:rPr sz="900" dirty="0">
                <a:latin typeface="Arial"/>
                <a:cs typeface="Arial"/>
              </a:rPr>
              <a:t>,</a:t>
            </a:r>
            <a:r>
              <a:rPr sz="900" spc="-15" dirty="0">
                <a:latin typeface="Arial"/>
                <a:cs typeface="Arial"/>
              </a:rPr>
              <a:t> </a:t>
            </a:r>
            <a:r>
              <a:rPr sz="900" dirty="0">
                <a:latin typeface="Arial"/>
                <a:cs typeface="Arial"/>
              </a:rPr>
              <a:t>vì</a:t>
            </a:r>
            <a:r>
              <a:rPr sz="900" spc="-10" dirty="0">
                <a:latin typeface="Arial"/>
                <a:cs typeface="Arial"/>
              </a:rPr>
              <a:t> </a:t>
            </a:r>
            <a:r>
              <a:rPr sz="900" dirty="0">
                <a:latin typeface="Arial"/>
                <a:cs typeface="Arial"/>
              </a:rPr>
              <a:t>tạo ra</a:t>
            </a:r>
            <a:r>
              <a:rPr sz="900" spc="-15" dirty="0">
                <a:latin typeface="Arial"/>
                <a:cs typeface="Arial"/>
              </a:rPr>
              <a:t> </a:t>
            </a:r>
            <a:r>
              <a:rPr sz="900" dirty="0">
                <a:latin typeface="Arial"/>
                <a:cs typeface="Arial"/>
              </a:rPr>
              <a:t>Một</a:t>
            </a:r>
            <a:r>
              <a:rPr sz="900" spc="-15" dirty="0">
                <a:latin typeface="Arial"/>
                <a:cs typeface="Arial"/>
              </a:rPr>
              <a:t> </a:t>
            </a:r>
            <a:r>
              <a:rPr sz="900" spc="-10" dirty="0">
                <a:latin typeface="Arial"/>
                <a:cs typeface="Arial"/>
              </a:rPr>
              <a:t>xô</a:t>
            </a:r>
            <a:r>
              <a:rPr sz="900" spc="-15" dirty="0">
                <a:latin typeface="Arial"/>
                <a:cs typeface="Arial"/>
              </a:rPr>
              <a:t> </a:t>
            </a:r>
            <a:r>
              <a:rPr sz="900" spc="-10" dirty="0">
                <a:latin typeface="Arial"/>
                <a:cs typeface="Arial"/>
              </a:rPr>
              <a:t>“thùng của tôi.”</a:t>
            </a:r>
            <a:endParaRPr sz="900" dirty="0">
              <a:latin typeface="Arial"/>
              <a:cs typeface="Arial"/>
            </a:endParaRPr>
          </a:p>
          <a:p>
            <a:pPr marL="15875">
              <a:lnSpc>
                <a:spcPts val="1180"/>
              </a:lnSpc>
              <a:spcBef>
                <a:spcPts val="800"/>
              </a:spcBef>
            </a:pPr>
            <a:r>
              <a:rPr sz="1000" spc="-20" dirty="0">
                <a:solidFill>
                  <a:srgbClr val="4C994C"/>
                </a:solidFill>
                <a:latin typeface="Arial"/>
                <a:cs typeface="Arial"/>
              </a:rPr>
              <a:t>XÀ PHÒNG</a:t>
            </a:r>
            <a:endParaRPr sz="1000" dirty="0">
              <a:latin typeface="Arial"/>
              <a:cs typeface="Arial"/>
            </a:endParaRPr>
          </a:p>
          <a:p>
            <a:pPr marL="269240" marR="2045335" indent="-6350">
              <a:lnSpc>
                <a:spcPts val="1210"/>
              </a:lnSpc>
              <a:spcBef>
                <a:spcPts val="10"/>
              </a:spcBef>
            </a:pPr>
            <a:r>
              <a:rPr sz="1000" i="1" spc="65" dirty="0">
                <a:latin typeface="Times New Roman"/>
                <a:cs typeface="Times New Roman"/>
              </a:rPr>
              <a:t>nhập khẩu</a:t>
            </a:r>
            <a:r>
              <a:rPr sz="1000" i="1" spc="200" dirty="0">
                <a:latin typeface="Times New Roman"/>
                <a:cs typeface="Times New Roman"/>
              </a:rPr>
              <a:t> </a:t>
            </a:r>
            <a:r>
              <a:rPr sz="1000" i="1" spc="65" dirty="0">
                <a:latin typeface="Times New Roman"/>
                <a:cs typeface="Times New Roman"/>
              </a:rPr>
              <a:t>xô </a:t>
            </a:r>
            <a:r>
              <a:rPr sz="1000" i="1" spc="60" dirty="0">
                <a:latin typeface="Times New Roman"/>
                <a:cs typeface="Times New Roman"/>
              </a:rPr>
              <a:t>xô.create("mybucket")</a:t>
            </a:r>
            <a:endParaRPr sz="1000" dirty="0">
              <a:latin typeface="Times New Roman"/>
              <a:cs typeface="Times New Roman"/>
            </a:endParaRPr>
          </a:p>
          <a:p>
            <a:pPr>
              <a:lnSpc>
                <a:spcPct val="100000"/>
              </a:lnSpc>
              <a:spcBef>
                <a:spcPts val="35"/>
              </a:spcBef>
            </a:pPr>
            <a:endParaRPr sz="1100" dirty="0">
              <a:latin typeface="Times New Roman"/>
              <a:cs typeface="Times New Roman"/>
            </a:endParaRPr>
          </a:p>
          <a:p>
            <a:pPr marL="15875">
              <a:lnSpc>
                <a:spcPts val="1165"/>
              </a:lnSpc>
            </a:pPr>
            <a:r>
              <a:rPr sz="1000" spc="-10" dirty="0">
                <a:solidFill>
                  <a:srgbClr val="4C994C"/>
                </a:solidFill>
                <a:latin typeface="Arial"/>
                <a:cs typeface="Arial"/>
              </a:rPr>
              <a:t>Nghỉ ngơi</a:t>
            </a:r>
            <a:endParaRPr sz="1000" dirty="0">
              <a:latin typeface="Arial"/>
              <a:cs typeface="Arial"/>
            </a:endParaRPr>
          </a:p>
          <a:p>
            <a:pPr marL="262890">
              <a:lnSpc>
                <a:spcPts val="1165"/>
              </a:lnSpc>
            </a:pPr>
            <a:r>
              <a:rPr sz="1000" i="1" spc="-60" dirty="0">
                <a:latin typeface="Times New Roman"/>
                <a:cs typeface="Times New Roman"/>
              </a:rPr>
              <a:t>ĐẶT </a:t>
            </a:r>
            <a:r>
              <a:rPr sz="1000" i="1" spc="55" dirty="0">
                <a:latin typeface="Times New Roman"/>
                <a:cs typeface="Times New Roman"/>
              </a:rPr>
              <a:t>"https://mybucket.s3.amazonsws.com/"</a:t>
            </a:r>
            <a:endParaRPr sz="1000" dirty="0">
              <a:latin typeface="Times New Roman"/>
              <a:cs typeface="Times New Roman"/>
            </a:endParaRPr>
          </a:p>
          <a:p>
            <a:pPr>
              <a:lnSpc>
                <a:spcPct val="100000"/>
              </a:lnSpc>
              <a:spcBef>
                <a:spcPts val="25"/>
              </a:spcBef>
            </a:pPr>
            <a:endParaRPr sz="1150" dirty="0">
              <a:latin typeface="Times New Roman"/>
              <a:cs typeface="Times New Roman"/>
            </a:endParaRPr>
          </a:p>
          <a:p>
            <a:pPr marL="15875">
              <a:lnSpc>
                <a:spcPct val="100000"/>
              </a:lnSpc>
            </a:pPr>
            <a:r>
              <a:rPr sz="1000" spc="-10" dirty="0">
                <a:solidFill>
                  <a:srgbClr val="3333B2"/>
                </a:solidFill>
                <a:latin typeface="Arial"/>
                <a:cs typeface="Arial"/>
              </a:rPr>
              <a:t>Kết luận</a:t>
            </a:r>
            <a:endParaRPr sz="1000" dirty="0">
              <a:latin typeface="Arial"/>
              <a:cs typeface="Arial"/>
            </a:endParaRPr>
          </a:p>
          <a:p>
            <a:pPr marL="12700">
              <a:lnSpc>
                <a:spcPct val="100000"/>
              </a:lnSpc>
              <a:spcBef>
                <a:spcPts val="105"/>
              </a:spcBef>
            </a:pPr>
            <a:r>
              <a:rPr lang="vi-VN" sz="900" dirty="0" smtClean="0">
                <a:latin typeface="Arial"/>
                <a:cs typeface="Arial"/>
              </a:rPr>
              <a:t>Có kết luận nào rút ra được không?</a:t>
            </a:r>
            <a:endParaRPr sz="900" dirty="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Hướng tới </a:t>
            </a:r>
            <a:r>
              <a:rPr sz="500" spc="-10" dirty="0">
                <a:latin typeface="Arial"/>
                <a:cs typeface="Arial"/>
                <a:hlinkClick r:id="rId3" action="ppaction://hlinksldjump"/>
              </a:rPr>
              <a:t>dịch vụ</a:t>
            </a:r>
            <a:r>
              <a:rPr sz="500" spc="50" dirty="0">
                <a:latin typeface="Arial"/>
                <a:cs typeface="Arial"/>
                <a:hlinkClick r:id="rId3" action="ppaction://hlinksldjump"/>
              </a:rPr>
              <a:t> </a:t>
            </a:r>
            <a:r>
              <a:rPr sz="500" spc="-10" dirty="0">
                <a:latin typeface="Arial"/>
                <a:cs typeface="Arial"/>
                <a:hlinkClick r:id="rId3" action="ppaction://hlinksldjump"/>
              </a:rPr>
              <a:t>kiến trúc</a:t>
            </a:r>
            <a:endParaRPr sz="500">
              <a:latin typeface="Arial"/>
              <a:cs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5" name="object 5"/>
          <p:cNvSpPr txBox="1"/>
          <p:nvPr/>
        </p:nvSpPr>
        <p:spPr>
          <a:xfrm>
            <a:off x="95300" y="197711"/>
            <a:ext cx="2514550" cy="491801"/>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Phối hợp</a:t>
            </a:r>
            <a:endParaRPr sz="1200" dirty="0">
              <a:latin typeface="Arial"/>
              <a:cs typeface="Arial"/>
            </a:endParaRPr>
          </a:p>
          <a:p>
            <a:pPr marL="260350">
              <a:lnSpc>
                <a:spcPct val="100000"/>
              </a:lnSpc>
              <a:spcBef>
                <a:spcPts val="1055"/>
              </a:spcBef>
            </a:pPr>
            <a:r>
              <a:rPr lang="en-US" sz="1000" spc="-20" dirty="0" err="1" smtClean="0">
                <a:solidFill>
                  <a:srgbClr val="3333B2"/>
                </a:solidFill>
                <a:latin typeface="Arial"/>
                <a:cs typeface="Arial"/>
              </a:rPr>
              <a:t>Liên</a:t>
            </a:r>
            <a:r>
              <a:rPr lang="en-US" sz="1000" spc="-20" dirty="0" smtClean="0">
                <a:solidFill>
                  <a:srgbClr val="3333B2"/>
                </a:solidFill>
                <a:latin typeface="Arial"/>
                <a:cs typeface="Arial"/>
              </a:rPr>
              <a:t> </a:t>
            </a:r>
            <a:r>
              <a:rPr lang="en-US" sz="1000" spc="-20" dirty="0" err="1" smtClean="0">
                <a:solidFill>
                  <a:srgbClr val="3333B2"/>
                </a:solidFill>
                <a:latin typeface="Arial"/>
                <a:cs typeface="Arial"/>
              </a:rPr>
              <a:t>kết</a:t>
            </a:r>
            <a:r>
              <a:rPr lang="en-US" sz="1000" spc="-20" dirty="0" smtClean="0">
                <a:solidFill>
                  <a:srgbClr val="3333B2"/>
                </a:solidFill>
                <a:latin typeface="Arial"/>
                <a:cs typeface="Arial"/>
              </a:rPr>
              <a:t> </a:t>
            </a:r>
            <a:r>
              <a:rPr lang="en-US" sz="1000" spc="-20" dirty="0" err="1" smtClean="0">
                <a:solidFill>
                  <a:srgbClr val="3333B2"/>
                </a:solidFill>
                <a:latin typeface="Arial"/>
                <a:cs typeface="Arial"/>
              </a:rPr>
              <a:t>tạm</a:t>
            </a:r>
            <a:r>
              <a:rPr lang="en-US" sz="1000" spc="-20" dirty="0" smtClean="0">
                <a:solidFill>
                  <a:srgbClr val="3333B2"/>
                </a:solidFill>
                <a:latin typeface="Arial"/>
                <a:cs typeface="Arial"/>
              </a:rPr>
              <a:t> </a:t>
            </a:r>
            <a:r>
              <a:rPr lang="en-US" sz="1000" spc="-20" dirty="0" err="1" smtClean="0">
                <a:solidFill>
                  <a:srgbClr val="3333B2"/>
                </a:solidFill>
                <a:latin typeface="Arial"/>
                <a:cs typeface="Arial"/>
              </a:rPr>
              <a:t>thời</a:t>
            </a:r>
            <a:r>
              <a:rPr lang="en-US" sz="1000" spc="-20" dirty="0" smtClean="0">
                <a:solidFill>
                  <a:srgbClr val="3333B2"/>
                </a:solidFill>
                <a:latin typeface="Arial"/>
                <a:cs typeface="Arial"/>
              </a:rPr>
              <a:t> </a:t>
            </a:r>
            <a:r>
              <a:rPr lang="en-US" sz="1000" spc="-20" dirty="0" err="1" smtClean="0">
                <a:solidFill>
                  <a:srgbClr val="3333B2"/>
                </a:solidFill>
                <a:latin typeface="Arial"/>
                <a:cs typeface="Arial"/>
              </a:rPr>
              <a:t>và</a:t>
            </a:r>
            <a:r>
              <a:rPr lang="en-US" sz="1000" spc="-20" dirty="0" smtClean="0">
                <a:solidFill>
                  <a:srgbClr val="3333B2"/>
                </a:solidFill>
                <a:latin typeface="Arial"/>
                <a:cs typeface="Arial"/>
              </a:rPr>
              <a:t> </a:t>
            </a:r>
            <a:r>
              <a:rPr lang="en-US" sz="1000" spc="-20" dirty="0" err="1" smtClean="0">
                <a:solidFill>
                  <a:srgbClr val="3333B2"/>
                </a:solidFill>
                <a:latin typeface="Arial"/>
                <a:cs typeface="Arial"/>
              </a:rPr>
              <a:t>liên</a:t>
            </a:r>
            <a:r>
              <a:rPr lang="en-US" sz="1000" spc="-20" dirty="0" smtClean="0">
                <a:solidFill>
                  <a:srgbClr val="3333B2"/>
                </a:solidFill>
                <a:latin typeface="Arial"/>
                <a:cs typeface="Arial"/>
              </a:rPr>
              <a:t> </a:t>
            </a:r>
            <a:r>
              <a:rPr lang="en-US" sz="1000" spc="-20" dirty="0" err="1" smtClean="0">
                <a:solidFill>
                  <a:srgbClr val="3333B2"/>
                </a:solidFill>
                <a:latin typeface="Arial"/>
                <a:cs typeface="Arial"/>
              </a:rPr>
              <a:t>kết</a:t>
            </a:r>
            <a:r>
              <a:rPr lang="en-US" sz="1000" spc="-20" dirty="0" smtClean="0">
                <a:solidFill>
                  <a:srgbClr val="3333B2"/>
                </a:solidFill>
                <a:latin typeface="Arial"/>
                <a:cs typeface="Arial"/>
              </a:rPr>
              <a:t> </a:t>
            </a:r>
            <a:r>
              <a:rPr lang="en-US" sz="1000" spc="-20" dirty="0" err="1" smtClean="0">
                <a:solidFill>
                  <a:srgbClr val="3333B2"/>
                </a:solidFill>
                <a:latin typeface="Arial"/>
                <a:cs typeface="Arial"/>
              </a:rPr>
              <a:t>tham</a:t>
            </a:r>
            <a:r>
              <a:rPr lang="en-US" sz="1000" spc="-20" dirty="0" smtClean="0">
                <a:solidFill>
                  <a:srgbClr val="3333B2"/>
                </a:solidFill>
                <a:latin typeface="Arial"/>
                <a:cs typeface="Arial"/>
              </a:rPr>
              <a:t> </a:t>
            </a:r>
            <a:r>
              <a:rPr lang="en-US" sz="1000" spc="-20" dirty="0" err="1" smtClean="0">
                <a:solidFill>
                  <a:srgbClr val="3333B2"/>
                </a:solidFill>
                <a:latin typeface="Arial"/>
                <a:cs typeface="Arial"/>
              </a:rPr>
              <a:t>chiếu</a:t>
            </a:r>
            <a:endParaRPr sz="1000" dirty="0">
              <a:latin typeface="Arial"/>
              <a:cs typeface="Arial"/>
            </a:endParaRPr>
          </a:p>
        </p:txBody>
      </p:sp>
      <p:graphicFrame>
        <p:nvGraphicFramePr>
          <p:cNvPr id="6" name="object 6"/>
          <p:cNvGraphicFramePr>
            <a:graphicFrameLocks noGrp="1"/>
          </p:cNvGraphicFramePr>
          <p:nvPr>
            <p:extLst>
              <p:ext uri="{D42A27DB-BD31-4B8C-83A1-F6EECF244321}">
                <p14:modId xmlns:p14="http://schemas.microsoft.com/office/powerpoint/2010/main" val="4137403425"/>
              </p:ext>
            </p:extLst>
          </p:nvPr>
        </p:nvGraphicFramePr>
        <p:xfrm>
          <a:off x="540880" y="793788"/>
          <a:ext cx="3521075" cy="601345"/>
        </p:xfrm>
        <a:graphic>
          <a:graphicData uri="http://schemas.openxmlformats.org/drawingml/2006/table">
            <a:tbl>
              <a:tblPr firstRow="1" bandRow="1">
                <a:tableStyleId>{2D5ABB26-0587-4C30-8999-92F81FD0307C}</a:tableStyleId>
              </a:tblPr>
              <a:tblGrid>
                <a:gridCol w="1303020">
                  <a:extLst>
                    <a:ext uri="{9D8B030D-6E8A-4147-A177-3AD203B41FA5}">
                      <a16:colId xmlns:a16="http://schemas.microsoft.com/office/drawing/2014/main" val="20000"/>
                    </a:ext>
                  </a:extLst>
                </a:gridCol>
                <a:gridCol w="1112520">
                  <a:extLst>
                    <a:ext uri="{9D8B030D-6E8A-4147-A177-3AD203B41FA5}">
                      <a16:colId xmlns:a16="http://schemas.microsoft.com/office/drawing/2014/main" val="20001"/>
                    </a:ext>
                  </a:extLst>
                </a:gridCol>
                <a:gridCol w="1105535">
                  <a:extLst>
                    <a:ext uri="{9D8B030D-6E8A-4147-A177-3AD203B41FA5}">
                      <a16:colId xmlns:a16="http://schemas.microsoft.com/office/drawing/2014/main" val="20002"/>
                    </a:ext>
                  </a:extLst>
                </a:gridCol>
              </a:tblGrid>
              <a:tr h="144145">
                <a:tc>
                  <a:txBody>
                    <a:bodyPr/>
                    <a:lstStyle/>
                    <a:p>
                      <a:pPr>
                        <a:lnSpc>
                          <a:spcPct val="100000"/>
                        </a:lnSpc>
                      </a:pPr>
                      <a:endParaRPr sz="700">
                        <a:latin typeface="Times New Roman"/>
                        <a:cs typeface="Times New Roman"/>
                      </a:endParaRPr>
                    </a:p>
                  </a:txBody>
                  <a:tcPr marL="0" marR="0" marT="0" marB="0">
                    <a:lnL w="6350">
                      <a:solidFill>
                        <a:srgbClr val="000000"/>
                      </a:solidFill>
                      <a:prstDash val="solid"/>
                    </a:lnL>
                    <a:lnR w="19050">
                      <a:solidFill>
                        <a:srgbClr val="000000"/>
                      </a:solidFill>
                      <a:prstDash val="solid"/>
                    </a:lnR>
                    <a:lnT w="6350">
                      <a:solidFill>
                        <a:srgbClr val="000000"/>
                      </a:solidFill>
                      <a:prstDash val="solid"/>
                    </a:lnT>
                    <a:lnB w="19050">
                      <a:solidFill>
                        <a:srgbClr val="000000"/>
                      </a:solidFill>
                      <a:prstDash val="solid"/>
                    </a:lnB>
                  </a:tcPr>
                </a:tc>
                <a:tc>
                  <a:txBody>
                    <a:bodyPr/>
                    <a:lstStyle/>
                    <a:p>
                      <a:pPr marL="6350" algn="ctr">
                        <a:lnSpc>
                          <a:spcPts val="910"/>
                        </a:lnSpc>
                      </a:pPr>
                      <a:r>
                        <a:rPr sz="800" b="1" spc="-10" dirty="0">
                          <a:latin typeface="Arial"/>
                          <a:cs typeface="Arial"/>
                        </a:rPr>
                        <a:t>Tạm thời</a:t>
                      </a:r>
                      <a:r>
                        <a:rPr sz="800" b="1" spc="-15" dirty="0">
                          <a:latin typeface="Arial"/>
                          <a:cs typeface="Arial"/>
                        </a:rPr>
                        <a:t> </a:t>
                      </a:r>
                      <a:r>
                        <a:rPr sz="800" b="1" spc="-10" dirty="0">
                          <a:latin typeface="Arial"/>
                          <a:cs typeface="Arial"/>
                        </a:rPr>
                        <a:t>được ghép nối</a:t>
                      </a:r>
                      <a:endParaRPr sz="800">
                        <a:latin typeface="Arial"/>
                        <a:cs typeface="Arial"/>
                      </a:endParaRPr>
                    </a:p>
                  </a:txBody>
                  <a:tcPr marL="0" marR="0" marT="0" marB="0">
                    <a:lnL w="190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ts val="910"/>
                        </a:lnSpc>
                      </a:pPr>
                      <a:r>
                        <a:rPr sz="800" b="1" spc="-10" dirty="0">
                          <a:latin typeface="Arial"/>
                          <a:cs typeface="Arial"/>
                        </a:rPr>
                        <a:t>Tạm thời</a:t>
                      </a:r>
                      <a:r>
                        <a:rPr sz="800" b="1" spc="-15" dirty="0">
                          <a:latin typeface="Arial"/>
                          <a:cs typeface="Arial"/>
                        </a:rPr>
                        <a:t> </a:t>
                      </a:r>
                      <a:r>
                        <a:rPr sz="800" b="1" spc="-10" dirty="0">
                          <a:latin typeface="Arial"/>
                          <a:cs typeface="Arial"/>
                        </a:rPr>
                        <a:t>được ghép nối</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44145">
                <a:tc>
                  <a:txBody>
                    <a:bodyPr/>
                    <a:lstStyle/>
                    <a:p>
                      <a:pPr marR="77470" algn="r">
                        <a:lnSpc>
                          <a:spcPct val="100000"/>
                        </a:lnSpc>
                      </a:pPr>
                      <a:r>
                        <a:rPr lang="en-US" sz="800" b="1" spc="-10" dirty="0" err="1" smtClean="0">
                          <a:latin typeface="Arial"/>
                          <a:cs typeface="Arial"/>
                        </a:rPr>
                        <a:t>Liên</a:t>
                      </a:r>
                      <a:r>
                        <a:rPr lang="en-US" sz="800" b="1" spc="-10" dirty="0" smtClean="0">
                          <a:latin typeface="Arial"/>
                          <a:cs typeface="Arial"/>
                        </a:rPr>
                        <a:t> </a:t>
                      </a:r>
                      <a:r>
                        <a:rPr lang="en-US" sz="800" b="1" spc="-10" dirty="0" err="1" smtClean="0">
                          <a:latin typeface="Arial"/>
                          <a:cs typeface="Arial"/>
                        </a:rPr>
                        <a:t>kết</a:t>
                      </a:r>
                      <a:r>
                        <a:rPr lang="en-US" sz="800" b="1" spc="-10" dirty="0" smtClean="0">
                          <a:latin typeface="Arial"/>
                          <a:cs typeface="Arial"/>
                        </a:rPr>
                        <a:t> </a:t>
                      </a:r>
                      <a:r>
                        <a:rPr lang="en-US" sz="800" b="1" spc="-10" dirty="0" err="1" smtClean="0">
                          <a:latin typeface="Arial"/>
                          <a:cs typeface="Arial"/>
                        </a:rPr>
                        <a:t>tham</a:t>
                      </a:r>
                      <a:r>
                        <a:rPr lang="en-US" sz="800" b="1" spc="-10" dirty="0" smtClean="0">
                          <a:latin typeface="Arial"/>
                          <a:cs typeface="Arial"/>
                        </a:rPr>
                        <a:t> </a:t>
                      </a:r>
                      <a:r>
                        <a:rPr lang="en-US" sz="800" b="1" spc="-10" dirty="0" err="1" smtClean="0">
                          <a:latin typeface="Arial"/>
                          <a:cs typeface="Arial"/>
                        </a:rPr>
                        <a:t>chiếu</a:t>
                      </a:r>
                      <a:endParaRPr sz="800" dirty="0">
                        <a:latin typeface="Arial"/>
                        <a:cs typeface="Arial"/>
                      </a:endParaRPr>
                    </a:p>
                  </a:txBody>
                  <a:tcPr marL="0" marR="0" marT="0" marB="0">
                    <a:lnL w="6350">
                      <a:solidFill>
                        <a:srgbClr val="000000"/>
                      </a:solidFill>
                      <a:prstDash val="solid"/>
                    </a:lnL>
                    <a:lnR w="19050">
                      <a:solidFill>
                        <a:srgbClr val="000000"/>
                      </a:solidFill>
                      <a:prstDash val="solid"/>
                    </a:lnR>
                    <a:lnT w="19050">
                      <a:solidFill>
                        <a:srgbClr val="000000"/>
                      </a:solidFill>
                      <a:prstDash val="solid"/>
                    </a:lnT>
                    <a:lnB w="6350">
                      <a:solidFill>
                        <a:srgbClr val="000000"/>
                      </a:solidFill>
                      <a:prstDash val="solid"/>
                    </a:lnB>
                  </a:tcPr>
                </a:tc>
                <a:tc>
                  <a:txBody>
                    <a:bodyPr/>
                    <a:lstStyle/>
                    <a:p>
                      <a:pPr marL="6350" algn="ctr">
                        <a:lnSpc>
                          <a:spcPct val="100000"/>
                        </a:lnSpc>
                      </a:pPr>
                      <a:r>
                        <a:rPr sz="800" spc="-10" dirty="0">
                          <a:latin typeface="Arial"/>
                          <a:cs typeface="Arial"/>
                        </a:rPr>
                        <a:t>Trực tiếp</a:t>
                      </a:r>
                      <a:endParaRPr sz="800" dirty="0">
                        <a:latin typeface="Arial"/>
                        <a:cs typeface="Arial"/>
                      </a:endParaRPr>
                    </a:p>
                  </a:txBody>
                  <a:tcPr marL="0" marR="0" marT="0" marB="0">
                    <a:lnL w="190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pPr>
                      <a:r>
                        <a:rPr sz="800" spc="-10" dirty="0">
                          <a:latin typeface="Arial"/>
                          <a:cs typeface="Arial"/>
                        </a:rPr>
                        <a:t>Hộp thư</a:t>
                      </a:r>
                      <a:endParaRPr sz="800">
                        <a:latin typeface="Arial"/>
                        <a:cs typeface="Arial"/>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37160">
                <a:tc>
                  <a:txBody>
                    <a:bodyPr/>
                    <a:lstStyle/>
                    <a:p>
                      <a:pPr marR="77470" algn="r">
                        <a:lnSpc>
                          <a:spcPts val="910"/>
                        </a:lnSpc>
                      </a:pPr>
                      <a:r>
                        <a:rPr lang="en-US" sz="800" b="1" spc="-10" dirty="0" err="1" smtClean="0">
                          <a:latin typeface="Arial"/>
                          <a:cs typeface="Arial"/>
                        </a:rPr>
                        <a:t>Tách</a:t>
                      </a:r>
                      <a:r>
                        <a:rPr lang="en-US" sz="800" b="1" spc="-10" dirty="0" smtClean="0">
                          <a:latin typeface="Arial"/>
                          <a:cs typeface="Arial"/>
                        </a:rPr>
                        <a:t> </a:t>
                      </a:r>
                      <a:r>
                        <a:rPr lang="en-US" sz="800" b="1" spc="-10" dirty="0" err="1" smtClean="0">
                          <a:latin typeface="Arial"/>
                          <a:cs typeface="Arial"/>
                        </a:rPr>
                        <a:t>rời</a:t>
                      </a:r>
                      <a:r>
                        <a:rPr lang="en-US" sz="800" b="1" spc="-10" dirty="0" smtClean="0">
                          <a:latin typeface="Arial"/>
                          <a:cs typeface="Arial"/>
                        </a:rPr>
                        <a:t> </a:t>
                      </a:r>
                      <a:r>
                        <a:rPr lang="en-US" sz="800" b="1" spc="-10" dirty="0" err="1" smtClean="0">
                          <a:latin typeface="Arial"/>
                          <a:cs typeface="Arial"/>
                        </a:rPr>
                        <a:t>tham</a:t>
                      </a:r>
                      <a:r>
                        <a:rPr lang="en-US" sz="800" b="1" spc="-10" dirty="0" smtClean="0">
                          <a:latin typeface="Arial"/>
                          <a:cs typeface="Arial"/>
                        </a:rPr>
                        <a:t> </a:t>
                      </a:r>
                      <a:r>
                        <a:rPr lang="en-US" sz="800" b="1" spc="-10" dirty="0" err="1" smtClean="0">
                          <a:latin typeface="Arial"/>
                          <a:cs typeface="Arial"/>
                        </a:rPr>
                        <a:t>chiếu</a:t>
                      </a:r>
                      <a:endParaRPr sz="800" dirty="0">
                        <a:latin typeface="Arial"/>
                        <a:cs typeface="Arial"/>
                      </a:endParaRPr>
                    </a:p>
                  </a:txBody>
                  <a:tcPr marL="0" marR="0" marT="0" marB="0">
                    <a:lnL w="6350">
                      <a:solidFill>
                        <a:srgbClr val="000000"/>
                      </a:solidFill>
                      <a:prstDash val="solid"/>
                    </a:lnL>
                    <a:lnR w="19050">
                      <a:solidFill>
                        <a:srgbClr val="000000"/>
                      </a:solidFill>
                      <a:prstDash val="solid"/>
                    </a:lnR>
                    <a:lnT w="6350">
                      <a:solidFill>
                        <a:srgbClr val="000000"/>
                      </a:solidFill>
                      <a:prstDash val="solid"/>
                    </a:lnT>
                    <a:lnB w="6350">
                      <a:solidFill>
                        <a:srgbClr val="000000"/>
                      </a:solidFill>
                      <a:prstDash val="solid"/>
                    </a:lnB>
                  </a:tcPr>
                </a:tc>
                <a:tc>
                  <a:txBody>
                    <a:bodyPr/>
                    <a:lstStyle/>
                    <a:p>
                      <a:pPr marL="6350" algn="ctr">
                        <a:lnSpc>
                          <a:spcPts val="910"/>
                        </a:lnSpc>
                      </a:pPr>
                      <a:r>
                        <a:rPr sz="800" spc="-10" dirty="0">
                          <a:latin typeface="Arial"/>
                          <a:cs typeface="Arial"/>
                        </a:rPr>
                        <a:t>Dựa trên sự kiện</a:t>
                      </a:r>
                      <a:endParaRPr sz="800">
                        <a:latin typeface="Arial"/>
                        <a:cs typeface="Arial"/>
                      </a:endParaRPr>
                    </a:p>
                  </a:txBody>
                  <a:tcPr marL="0" marR="0" marT="0" marB="0">
                    <a:lnL w="190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10"/>
                        </a:lnSpc>
                      </a:pPr>
                      <a:r>
                        <a:rPr lang="en-US" sz="800" dirty="0" err="1" smtClean="0">
                          <a:latin typeface="Arial"/>
                          <a:cs typeface="Arial"/>
                        </a:rPr>
                        <a:t>Không</a:t>
                      </a:r>
                      <a:r>
                        <a:rPr lang="en-US" sz="800" baseline="0" dirty="0" smtClean="0">
                          <a:latin typeface="Arial"/>
                          <a:cs typeface="Arial"/>
                        </a:rPr>
                        <a:t> </a:t>
                      </a:r>
                      <a:r>
                        <a:rPr lang="en-US" sz="800" baseline="0" dirty="0" err="1" smtClean="0">
                          <a:latin typeface="Arial"/>
                          <a:cs typeface="Arial"/>
                        </a:rPr>
                        <a:t>gian</a:t>
                      </a:r>
                      <a:r>
                        <a:rPr lang="en-US" sz="800" baseline="0" dirty="0" smtClean="0">
                          <a:latin typeface="Arial"/>
                          <a:cs typeface="Arial"/>
                        </a:rPr>
                        <a:t> </a:t>
                      </a:r>
                      <a:r>
                        <a:rPr lang="en-US" sz="800" baseline="0" dirty="0" err="1" smtClean="0">
                          <a:latin typeface="Arial"/>
                          <a:cs typeface="Arial"/>
                        </a:rPr>
                        <a:t>dữ</a:t>
                      </a:r>
                      <a:r>
                        <a:rPr lang="en-US" sz="800" baseline="0" dirty="0" smtClean="0">
                          <a:latin typeface="Arial"/>
                          <a:cs typeface="Arial"/>
                        </a:rPr>
                        <a:t> </a:t>
                      </a:r>
                      <a:r>
                        <a:rPr lang="en-US" sz="800" baseline="0" dirty="0" err="1" smtClean="0">
                          <a:latin typeface="Arial"/>
                          <a:cs typeface="Arial"/>
                        </a:rPr>
                        <a:t>liệu</a:t>
                      </a:r>
                      <a:r>
                        <a:rPr lang="en-US" sz="800" baseline="0" dirty="0" smtClean="0">
                          <a:latin typeface="Arial"/>
                          <a:cs typeface="Arial"/>
                        </a:rPr>
                        <a:t> </a:t>
                      </a:r>
                      <a:r>
                        <a:rPr lang="en-US" sz="800" baseline="0" dirty="0" err="1" smtClean="0">
                          <a:latin typeface="Arial"/>
                          <a:cs typeface="Arial"/>
                        </a:rPr>
                        <a:t>chung</a:t>
                      </a:r>
                      <a:endParaRPr sz="8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bl>
          </a:graphicData>
        </a:graphic>
      </p:graphicFrame>
      <p:sp>
        <p:nvSpPr>
          <p:cNvPr id="7" name="object 7"/>
          <p:cNvSpPr txBox="1"/>
          <p:nvPr/>
        </p:nvSpPr>
        <p:spPr>
          <a:xfrm>
            <a:off x="347294" y="1501775"/>
            <a:ext cx="3081706" cy="166071"/>
          </a:xfrm>
          <a:prstGeom prst="rect">
            <a:avLst/>
          </a:prstGeom>
        </p:spPr>
        <p:txBody>
          <a:bodyPr vert="horz" wrap="square" lIns="0" tIns="12065" rIns="0" bIns="0" rtlCol="0">
            <a:spAutoFit/>
          </a:bodyPr>
          <a:lstStyle/>
          <a:p>
            <a:pPr marL="12700">
              <a:lnSpc>
                <a:spcPct val="100000"/>
              </a:lnSpc>
              <a:spcBef>
                <a:spcPts val="95"/>
              </a:spcBef>
            </a:pPr>
            <a:r>
              <a:rPr lang="en-US" sz="1000" dirty="0" err="1" smtClean="0">
                <a:solidFill>
                  <a:srgbClr val="3333B2"/>
                </a:solidFill>
                <a:latin typeface="Arial"/>
                <a:cs typeface="Arial"/>
              </a:rPr>
              <a:t>Dựa</a:t>
            </a:r>
            <a:r>
              <a:rPr lang="en-US" sz="1000" dirty="0" smtClean="0">
                <a:solidFill>
                  <a:srgbClr val="3333B2"/>
                </a:solidFill>
                <a:latin typeface="Arial"/>
                <a:cs typeface="Arial"/>
              </a:rPr>
              <a:t> </a:t>
            </a:r>
            <a:r>
              <a:rPr lang="en-US" sz="1000" dirty="0" err="1" smtClean="0">
                <a:solidFill>
                  <a:srgbClr val="3333B2"/>
                </a:solidFill>
                <a:latin typeface="Arial"/>
                <a:cs typeface="Arial"/>
              </a:rPr>
              <a:t>trên</a:t>
            </a:r>
            <a:r>
              <a:rPr lang="en-US" sz="1000" dirty="0" smtClean="0">
                <a:solidFill>
                  <a:srgbClr val="3333B2"/>
                </a:solidFill>
                <a:latin typeface="Arial"/>
                <a:cs typeface="Arial"/>
              </a:rPr>
              <a:t> </a:t>
            </a:r>
            <a:r>
              <a:rPr lang="en-US" sz="1000" dirty="0" err="1" smtClean="0">
                <a:solidFill>
                  <a:srgbClr val="3333B2"/>
                </a:solidFill>
                <a:latin typeface="Arial"/>
                <a:cs typeface="Arial"/>
              </a:rPr>
              <a:t>sự</a:t>
            </a:r>
            <a:r>
              <a:rPr lang="en-US" sz="1000" dirty="0" smtClean="0">
                <a:solidFill>
                  <a:srgbClr val="3333B2"/>
                </a:solidFill>
                <a:latin typeface="Arial"/>
                <a:cs typeface="Arial"/>
              </a:rPr>
              <a:t> </a:t>
            </a:r>
            <a:r>
              <a:rPr lang="en-US" sz="1000" dirty="0" err="1" smtClean="0">
                <a:solidFill>
                  <a:srgbClr val="3333B2"/>
                </a:solidFill>
                <a:latin typeface="Arial"/>
                <a:cs typeface="Arial"/>
              </a:rPr>
              <a:t>kiện</a:t>
            </a:r>
            <a:r>
              <a:rPr lang="en-US" sz="1000" dirty="0" smtClean="0">
                <a:solidFill>
                  <a:srgbClr val="3333B2"/>
                </a:solidFill>
                <a:latin typeface="Arial"/>
                <a:cs typeface="Arial"/>
              </a:rPr>
              <a:t> </a:t>
            </a:r>
            <a:r>
              <a:rPr lang="en-US" sz="1000" dirty="0" err="1" smtClean="0">
                <a:solidFill>
                  <a:srgbClr val="3333B2"/>
                </a:solidFill>
                <a:latin typeface="Arial"/>
                <a:cs typeface="Arial"/>
              </a:rPr>
              <a:t>và</a:t>
            </a:r>
            <a:r>
              <a:rPr lang="en-US" sz="1000" dirty="0" smtClean="0">
                <a:solidFill>
                  <a:srgbClr val="3333B2"/>
                </a:solidFill>
                <a:latin typeface="Arial"/>
                <a:cs typeface="Arial"/>
              </a:rPr>
              <a:t> </a:t>
            </a:r>
            <a:r>
              <a:rPr lang="en-US" sz="1000" dirty="0" err="1" smtClean="0">
                <a:solidFill>
                  <a:srgbClr val="3333B2"/>
                </a:solidFill>
                <a:latin typeface="Arial"/>
                <a:cs typeface="Arial"/>
              </a:rPr>
              <a:t>không</a:t>
            </a:r>
            <a:r>
              <a:rPr lang="en-US" sz="1000" dirty="0" smtClean="0">
                <a:solidFill>
                  <a:srgbClr val="3333B2"/>
                </a:solidFill>
                <a:latin typeface="Arial"/>
                <a:cs typeface="Arial"/>
              </a:rPr>
              <a:t> </a:t>
            </a:r>
            <a:r>
              <a:rPr lang="en-US" sz="1000" dirty="0" err="1" smtClean="0">
                <a:solidFill>
                  <a:srgbClr val="3333B2"/>
                </a:solidFill>
                <a:latin typeface="Arial"/>
                <a:cs typeface="Arial"/>
              </a:rPr>
              <a:t>gian</a:t>
            </a:r>
            <a:r>
              <a:rPr lang="en-US" sz="1000" dirty="0" smtClean="0">
                <a:solidFill>
                  <a:srgbClr val="3333B2"/>
                </a:solidFill>
                <a:latin typeface="Arial"/>
                <a:cs typeface="Arial"/>
              </a:rPr>
              <a:t> </a:t>
            </a:r>
            <a:r>
              <a:rPr lang="en-US" sz="1000" dirty="0" err="1" smtClean="0">
                <a:solidFill>
                  <a:srgbClr val="3333B2"/>
                </a:solidFill>
                <a:latin typeface="Arial"/>
                <a:cs typeface="Arial"/>
              </a:rPr>
              <a:t>dữ</a:t>
            </a:r>
            <a:r>
              <a:rPr lang="en-US" sz="1000" dirty="0" smtClean="0">
                <a:solidFill>
                  <a:srgbClr val="3333B2"/>
                </a:solidFill>
                <a:latin typeface="Arial"/>
                <a:cs typeface="Arial"/>
              </a:rPr>
              <a:t> </a:t>
            </a:r>
            <a:r>
              <a:rPr lang="en-US" sz="1000" dirty="0" err="1" smtClean="0">
                <a:solidFill>
                  <a:srgbClr val="3333B2"/>
                </a:solidFill>
                <a:latin typeface="Arial"/>
                <a:cs typeface="Arial"/>
              </a:rPr>
              <a:t>liệu</a:t>
            </a:r>
            <a:r>
              <a:rPr lang="en-US" sz="1000" dirty="0" smtClean="0">
                <a:solidFill>
                  <a:srgbClr val="3333B2"/>
                </a:solidFill>
                <a:latin typeface="Arial"/>
                <a:cs typeface="Arial"/>
              </a:rPr>
              <a:t> </a:t>
            </a:r>
            <a:r>
              <a:rPr lang="en-US" sz="1000" dirty="0" err="1" smtClean="0">
                <a:solidFill>
                  <a:srgbClr val="3333B2"/>
                </a:solidFill>
                <a:latin typeface="Arial"/>
                <a:cs typeface="Arial"/>
              </a:rPr>
              <a:t>chung</a:t>
            </a:r>
            <a:r>
              <a:rPr lang="en-US" sz="1000" dirty="0" smtClean="0">
                <a:solidFill>
                  <a:srgbClr val="3333B2"/>
                </a:solidFill>
                <a:latin typeface="Arial"/>
                <a:cs typeface="Arial"/>
              </a:rPr>
              <a:t> </a:t>
            </a:r>
            <a:endParaRPr sz="1000" dirty="0">
              <a:latin typeface="Arial"/>
              <a:cs typeface="Arial"/>
            </a:endParaRPr>
          </a:p>
        </p:txBody>
      </p:sp>
      <p:pic>
        <p:nvPicPr>
          <p:cNvPr id="8" name="object 8"/>
          <p:cNvPicPr/>
          <p:nvPr/>
        </p:nvPicPr>
        <p:blipFill>
          <a:blip r:embed="rId3" cstate="print"/>
          <a:stretch>
            <a:fillRect/>
          </a:stretch>
        </p:blipFill>
        <p:spPr>
          <a:xfrm>
            <a:off x="533715" y="1849299"/>
            <a:ext cx="1772595" cy="981905"/>
          </a:xfrm>
          <a:prstGeom prst="rect">
            <a:avLst/>
          </a:prstGeom>
        </p:spPr>
      </p:pic>
      <p:pic>
        <p:nvPicPr>
          <p:cNvPr id="9" name="object 9"/>
          <p:cNvPicPr/>
          <p:nvPr/>
        </p:nvPicPr>
        <p:blipFill>
          <a:blip r:embed="rId4" cstate="print"/>
          <a:stretch>
            <a:fillRect/>
          </a:stretch>
        </p:blipFill>
        <p:spPr>
          <a:xfrm>
            <a:off x="2530242" y="1850542"/>
            <a:ext cx="1468082" cy="1055768"/>
          </a:xfrm>
          <a:prstGeom prst="rect">
            <a:avLst/>
          </a:prstGeom>
        </p:spPr>
      </p:pic>
      <p:grpSp>
        <p:nvGrpSpPr>
          <p:cNvPr id="10" name="object 10"/>
          <p:cNvGrpSpPr/>
          <p:nvPr/>
        </p:nvGrpSpPr>
        <p:grpSpPr>
          <a:xfrm>
            <a:off x="0" y="3348469"/>
            <a:ext cx="4608195" cy="107950"/>
            <a:chOff x="0" y="3348469"/>
            <a:chExt cx="4608195" cy="107950"/>
          </a:xfrm>
        </p:grpSpPr>
        <p:sp>
          <p:nvSpPr>
            <p:cNvPr id="11" name="object 11"/>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3" name="object 13"/>
          <p:cNvSpPr txBox="1"/>
          <p:nvPr/>
        </p:nvSpPr>
        <p:spPr>
          <a:xfrm>
            <a:off x="53467" y="3349927"/>
            <a:ext cx="90424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Đăng tải </a:t>
            </a:r>
            <a:r>
              <a:rPr sz="500" dirty="0">
                <a:latin typeface="Arial"/>
                <a:cs typeface="Arial"/>
                <a:hlinkClick r:id="rId5" action="ppaction://hlinksldjump"/>
              </a:rPr>
              <a:t>-đăng ký</a:t>
            </a:r>
            <a:r>
              <a:rPr sz="500" spc="30" dirty="0">
                <a:latin typeface="Arial"/>
                <a:cs typeface="Arial"/>
                <a:hlinkClick r:id="rId5" action="ppaction://hlinksldjump"/>
              </a:rPr>
              <a:t> </a:t>
            </a:r>
            <a:r>
              <a:rPr sz="500" spc="-10" dirty="0">
                <a:latin typeface="Arial"/>
                <a:cs typeface="Arial"/>
                <a:hlinkClick r:id="rId5" action="ppaction://hlinksldjump"/>
              </a:rPr>
              <a:t>kiến trúc</a:t>
            </a:r>
            <a:endParaRPr sz="500">
              <a:latin typeface="Arial"/>
              <a:cs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5" name="object 5"/>
          <p:cNvSpPr txBox="1"/>
          <p:nvPr/>
        </p:nvSpPr>
        <p:spPr>
          <a:xfrm>
            <a:off x="57200" y="197711"/>
            <a:ext cx="4241165" cy="2017475"/>
          </a:xfrm>
          <a:prstGeom prst="rect">
            <a:avLst/>
          </a:prstGeom>
        </p:spPr>
        <p:txBody>
          <a:bodyPr vert="horz" wrap="square" lIns="0" tIns="12065" rIns="0" bIns="0" rtlCol="0">
            <a:spAutoFit/>
          </a:bodyPr>
          <a:lstStyle/>
          <a:p>
            <a:pPr marL="50800">
              <a:lnSpc>
                <a:spcPct val="100000"/>
              </a:lnSpc>
              <a:spcBef>
                <a:spcPts val="95"/>
              </a:spcBef>
            </a:pPr>
            <a:r>
              <a:rPr sz="1200" dirty="0">
                <a:solidFill>
                  <a:srgbClr val="3333B2"/>
                </a:solidFill>
                <a:latin typeface="Arial"/>
                <a:cs typeface="Arial"/>
              </a:rPr>
              <a:t>Ví dụ:</a:t>
            </a:r>
            <a:r>
              <a:rPr sz="1200" spc="30" dirty="0">
                <a:solidFill>
                  <a:srgbClr val="3333B2"/>
                </a:solidFill>
                <a:latin typeface="Arial"/>
                <a:cs typeface="Arial"/>
              </a:rPr>
              <a:t> </a:t>
            </a:r>
            <a:r>
              <a:rPr lang="en-US" sz="1200" dirty="0" err="1" smtClean="0">
                <a:solidFill>
                  <a:srgbClr val="3333B2"/>
                </a:solidFill>
                <a:latin typeface="Arial"/>
                <a:cs typeface="Arial"/>
              </a:rPr>
              <a:t>Không</a:t>
            </a:r>
            <a:r>
              <a:rPr lang="en-US" sz="1200" dirty="0" smtClean="0">
                <a:solidFill>
                  <a:srgbClr val="3333B2"/>
                </a:solidFill>
                <a:latin typeface="Arial"/>
                <a:cs typeface="Arial"/>
              </a:rPr>
              <a:t> </a:t>
            </a:r>
            <a:r>
              <a:rPr lang="en-US" sz="1200" dirty="0" err="1" smtClean="0">
                <a:solidFill>
                  <a:srgbClr val="3333B2"/>
                </a:solidFill>
                <a:latin typeface="Arial"/>
                <a:cs typeface="Arial"/>
              </a:rPr>
              <a:t>gian</a:t>
            </a:r>
            <a:r>
              <a:rPr lang="en-US" sz="1200" dirty="0" smtClean="0">
                <a:solidFill>
                  <a:srgbClr val="3333B2"/>
                </a:solidFill>
                <a:latin typeface="Arial"/>
                <a:cs typeface="Arial"/>
              </a:rPr>
              <a:t> </a:t>
            </a:r>
            <a:r>
              <a:rPr lang="en-US" sz="1200" dirty="0" err="1" smtClean="0">
                <a:solidFill>
                  <a:srgbClr val="3333B2"/>
                </a:solidFill>
                <a:latin typeface="Arial"/>
                <a:cs typeface="Arial"/>
              </a:rPr>
              <a:t>bộ</a:t>
            </a:r>
            <a:r>
              <a:rPr lang="en-US" sz="1200" dirty="0" smtClean="0">
                <a:solidFill>
                  <a:srgbClr val="3333B2"/>
                </a:solidFill>
                <a:latin typeface="Arial"/>
                <a:cs typeface="Arial"/>
              </a:rPr>
              <a:t> </a:t>
            </a:r>
            <a:r>
              <a:rPr lang="en-US" sz="1200" dirty="0" err="1" smtClean="0">
                <a:solidFill>
                  <a:srgbClr val="3333B2"/>
                </a:solidFill>
                <a:latin typeface="Arial"/>
                <a:cs typeface="Arial"/>
              </a:rPr>
              <a:t>dữ</a:t>
            </a:r>
            <a:r>
              <a:rPr lang="en-US" sz="1200" dirty="0" smtClean="0">
                <a:solidFill>
                  <a:srgbClr val="3333B2"/>
                </a:solidFill>
                <a:latin typeface="Arial"/>
                <a:cs typeface="Arial"/>
              </a:rPr>
              <a:t> </a:t>
            </a:r>
            <a:r>
              <a:rPr lang="en-US" sz="1200" dirty="0" err="1" smtClean="0">
                <a:solidFill>
                  <a:srgbClr val="3333B2"/>
                </a:solidFill>
                <a:latin typeface="Arial"/>
                <a:cs typeface="Arial"/>
              </a:rPr>
              <a:t>liệu</a:t>
            </a:r>
            <a:r>
              <a:rPr lang="en-US" sz="1200" dirty="0" smtClean="0">
                <a:solidFill>
                  <a:srgbClr val="3333B2"/>
                </a:solidFill>
                <a:latin typeface="Arial"/>
                <a:cs typeface="Arial"/>
              </a:rPr>
              <a:t> Linda </a:t>
            </a:r>
          </a:p>
          <a:p>
            <a:pPr marL="50800">
              <a:lnSpc>
                <a:spcPct val="100000"/>
              </a:lnSpc>
              <a:spcBef>
                <a:spcPts val="95"/>
              </a:spcBef>
            </a:pPr>
            <a:r>
              <a:rPr lang="en-US" sz="1000" dirty="0">
                <a:solidFill>
                  <a:srgbClr val="3333B2"/>
                </a:solidFill>
                <a:latin typeface="Arial"/>
                <a:cs typeface="Arial"/>
              </a:rPr>
              <a:t> </a:t>
            </a:r>
            <a:r>
              <a:rPr lang="en-US" sz="1000" dirty="0" smtClean="0">
                <a:solidFill>
                  <a:srgbClr val="3333B2"/>
                </a:solidFill>
                <a:latin typeface="Arial"/>
                <a:cs typeface="Arial"/>
              </a:rPr>
              <a:t>    </a:t>
            </a:r>
            <a:r>
              <a:rPr lang="vi-VN" sz="1000" dirty="0" smtClean="0">
                <a:solidFill>
                  <a:srgbClr val="3333B2"/>
                </a:solidFill>
                <a:latin typeface="Arial"/>
                <a:cs typeface="Arial"/>
              </a:rPr>
              <a:t>Ba thao tác đơn giản</a:t>
            </a:r>
            <a:endParaRPr lang="en-US" sz="1000" dirty="0" smtClean="0">
              <a:solidFill>
                <a:srgbClr val="3333B2"/>
              </a:solidFill>
              <a:latin typeface="Arial"/>
              <a:cs typeface="Arial"/>
            </a:endParaRPr>
          </a:p>
          <a:p>
            <a:pPr marL="222250" indent="-171450">
              <a:lnSpc>
                <a:spcPct val="100000"/>
              </a:lnSpc>
              <a:spcBef>
                <a:spcPts val="95"/>
              </a:spcBef>
              <a:buFont typeface="Arial" panose="020B0604020202020204" pitchFamily="34" charset="0"/>
              <a:buChar char="•"/>
            </a:pPr>
            <a:r>
              <a:rPr lang="en-US" sz="900" spc="120" dirty="0" smtClean="0">
                <a:latin typeface="Times New Roman"/>
                <a:cs typeface="Times New Roman"/>
              </a:rPr>
              <a:t>in(t): </a:t>
            </a:r>
            <a:r>
              <a:rPr lang="en-US" sz="900" spc="120" dirty="0" err="1" smtClean="0">
                <a:latin typeface="Times New Roman"/>
                <a:cs typeface="Times New Roman"/>
              </a:rPr>
              <a:t>Xóa</a:t>
            </a:r>
            <a:r>
              <a:rPr lang="en-US" sz="900" spc="120" dirty="0" smtClean="0">
                <a:latin typeface="Times New Roman"/>
                <a:cs typeface="Times New Roman"/>
              </a:rPr>
              <a:t> </a:t>
            </a:r>
            <a:r>
              <a:rPr lang="en-US" sz="900" spc="120" dirty="0" err="1" smtClean="0">
                <a:latin typeface="Times New Roman"/>
                <a:cs typeface="Times New Roman"/>
              </a:rPr>
              <a:t>một</a:t>
            </a:r>
            <a:r>
              <a:rPr lang="en-US" sz="900" spc="120" dirty="0" smtClean="0">
                <a:latin typeface="Times New Roman"/>
                <a:cs typeface="Times New Roman"/>
              </a:rPr>
              <a:t> </a:t>
            </a:r>
            <a:r>
              <a:rPr lang="en-US" sz="900" spc="120" dirty="0" err="1" smtClean="0">
                <a:latin typeface="Times New Roman"/>
                <a:cs typeface="Times New Roman"/>
              </a:rPr>
              <a:t>bộ</a:t>
            </a:r>
            <a:r>
              <a:rPr lang="en-US" sz="900" spc="120" dirty="0" smtClean="0">
                <a:latin typeface="Times New Roman"/>
                <a:cs typeface="Times New Roman"/>
              </a:rPr>
              <a:t> </a:t>
            </a:r>
            <a:r>
              <a:rPr lang="en-US" sz="900" spc="120" dirty="0" err="1" smtClean="0">
                <a:latin typeface="Times New Roman"/>
                <a:cs typeface="Times New Roman"/>
              </a:rPr>
              <a:t>dữ</a:t>
            </a:r>
            <a:r>
              <a:rPr lang="en-US" sz="900" spc="120" dirty="0" smtClean="0">
                <a:latin typeface="Times New Roman"/>
                <a:cs typeface="Times New Roman"/>
              </a:rPr>
              <a:t> </a:t>
            </a:r>
            <a:r>
              <a:rPr lang="en-US" sz="900" spc="120" dirty="0" err="1" smtClean="0">
                <a:latin typeface="Times New Roman"/>
                <a:cs typeface="Times New Roman"/>
              </a:rPr>
              <a:t>liệu</a:t>
            </a:r>
            <a:r>
              <a:rPr lang="en-US" sz="900" spc="120" dirty="0" smtClean="0">
                <a:latin typeface="Times New Roman"/>
                <a:cs typeface="Times New Roman"/>
              </a:rPr>
              <a:t> (tuple) </a:t>
            </a:r>
            <a:r>
              <a:rPr lang="en-US" sz="900" spc="120" dirty="0" err="1" smtClean="0">
                <a:latin typeface="Times New Roman"/>
                <a:cs typeface="Times New Roman"/>
              </a:rPr>
              <a:t>khớp</a:t>
            </a:r>
            <a:r>
              <a:rPr lang="en-US" sz="900" spc="120" dirty="0" smtClean="0">
                <a:latin typeface="Times New Roman"/>
                <a:cs typeface="Times New Roman"/>
              </a:rPr>
              <a:t> </a:t>
            </a:r>
            <a:r>
              <a:rPr lang="en-US" sz="900" spc="120" dirty="0" err="1" smtClean="0">
                <a:latin typeface="Times New Roman"/>
                <a:cs typeface="Times New Roman"/>
              </a:rPr>
              <a:t>với</a:t>
            </a:r>
            <a:r>
              <a:rPr lang="en-US" sz="900" spc="120" dirty="0" smtClean="0">
                <a:latin typeface="Times New Roman"/>
                <a:cs typeface="Times New Roman"/>
              </a:rPr>
              <a:t> </a:t>
            </a:r>
            <a:r>
              <a:rPr lang="en-US" sz="900" spc="120" dirty="0" err="1" smtClean="0">
                <a:latin typeface="Times New Roman"/>
                <a:cs typeface="Times New Roman"/>
              </a:rPr>
              <a:t>mẫu</a:t>
            </a:r>
            <a:r>
              <a:rPr lang="en-US" sz="900" spc="120" dirty="0" smtClean="0">
                <a:latin typeface="Times New Roman"/>
                <a:cs typeface="Times New Roman"/>
              </a:rPr>
              <a:t> t.</a:t>
            </a:r>
          </a:p>
          <a:p>
            <a:pPr marL="222250" indent="-171450">
              <a:lnSpc>
                <a:spcPct val="100000"/>
              </a:lnSpc>
              <a:spcBef>
                <a:spcPts val="95"/>
              </a:spcBef>
              <a:buFont typeface="Arial" panose="020B0604020202020204" pitchFamily="34" charset="0"/>
              <a:buChar char="•"/>
            </a:pPr>
            <a:r>
              <a:rPr lang="en-US" sz="900" spc="120" dirty="0" err="1" smtClean="0">
                <a:latin typeface="Times New Roman"/>
                <a:cs typeface="Times New Roman"/>
              </a:rPr>
              <a:t>rd</a:t>
            </a:r>
            <a:r>
              <a:rPr lang="en-US" sz="900" spc="120" dirty="0" smtClean="0">
                <a:latin typeface="Times New Roman"/>
                <a:cs typeface="Times New Roman"/>
              </a:rPr>
              <a:t>(t): </a:t>
            </a:r>
            <a:r>
              <a:rPr lang="en-US" sz="900" spc="120" dirty="0" err="1" smtClean="0">
                <a:latin typeface="Times New Roman"/>
                <a:cs typeface="Times New Roman"/>
              </a:rPr>
              <a:t>Lấy</a:t>
            </a:r>
            <a:r>
              <a:rPr lang="en-US" sz="900" spc="120" dirty="0" smtClean="0">
                <a:latin typeface="Times New Roman"/>
                <a:cs typeface="Times New Roman"/>
              </a:rPr>
              <a:t> </a:t>
            </a:r>
            <a:r>
              <a:rPr lang="en-US" sz="900" spc="120" dirty="0" err="1" smtClean="0">
                <a:latin typeface="Times New Roman"/>
                <a:cs typeface="Times New Roman"/>
              </a:rPr>
              <a:t>một</a:t>
            </a:r>
            <a:r>
              <a:rPr lang="en-US" sz="900" spc="120" dirty="0" smtClean="0">
                <a:latin typeface="Times New Roman"/>
                <a:cs typeface="Times New Roman"/>
              </a:rPr>
              <a:t> </a:t>
            </a:r>
            <a:r>
              <a:rPr lang="en-US" sz="900" spc="120" dirty="0" err="1" smtClean="0">
                <a:latin typeface="Times New Roman"/>
                <a:cs typeface="Times New Roman"/>
              </a:rPr>
              <a:t>bản</a:t>
            </a:r>
            <a:r>
              <a:rPr lang="en-US" sz="900" spc="120" dirty="0" smtClean="0">
                <a:latin typeface="Times New Roman"/>
                <a:cs typeface="Times New Roman"/>
              </a:rPr>
              <a:t> </a:t>
            </a:r>
            <a:r>
              <a:rPr lang="en-US" sz="900" spc="120" dirty="0" err="1" smtClean="0">
                <a:latin typeface="Times New Roman"/>
                <a:cs typeface="Times New Roman"/>
              </a:rPr>
              <a:t>sao</a:t>
            </a:r>
            <a:r>
              <a:rPr lang="en-US" sz="900" spc="120" dirty="0" smtClean="0">
                <a:latin typeface="Times New Roman"/>
                <a:cs typeface="Times New Roman"/>
              </a:rPr>
              <a:t> </a:t>
            </a:r>
            <a:r>
              <a:rPr lang="en-US" sz="900" spc="120" dirty="0" err="1" smtClean="0">
                <a:latin typeface="Times New Roman"/>
                <a:cs typeface="Times New Roman"/>
              </a:rPr>
              <a:t>của</a:t>
            </a:r>
            <a:r>
              <a:rPr lang="en-US" sz="900" spc="120" dirty="0" smtClean="0">
                <a:latin typeface="Times New Roman"/>
                <a:cs typeface="Times New Roman"/>
              </a:rPr>
              <a:t> </a:t>
            </a:r>
            <a:r>
              <a:rPr lang="en-US" sz="900" spc="120" dirty="0" err="1" smtClean="0">
                <a:latin typeface="Times New Roman"/>
                <a:cs typeface="Times New Roman"/>
              </a:rPr>
              <a:t>bộ</a:t>
            </a:r>
            <a:r>
              <a:rPr lang="en-US" sz="900" spc="120" dirty="0" smtClean="0">
                <a:latin typeface="Times New Roman"/>
                <a:cs typeface="Times New Roman"/>
              </a:rPr>
              <a:t> </a:t>
            </a:r>
            <a:r>
              <a:rPr lang="en-US" sz="900" spc="120" dirty="0" err="1" smtClean="0">
                <a:latin typeface="Times New Roman"/>
                <a:cs typeface="Times New Roman"/>
              </a:rPr>
              <a:t>dữ</a:t>
            </a:r>
            <a:r>
              <a:rPr lang="en-US" sz="900" spc="120" dirty="0" smtClean="0">
                <a:latin typeface="Times New Roman"/>
                <a:cs typeface="Times New Roman"/>
              </a:rPr>
              <a:t> </a:t>
            </a:r>
            <a:r>
              <a:rPr lang="en-US" sz="900" spc="120" dirty="0" err="1" smtClean="0">
                <a:latin typeface="Times New Roman"/>
                <a:cs typeface="Times New Roman"/>
              </a:rPr>
              <a:t>liệu</a:t>
            </a:r>
            <a:r>
              <a:rPr lang="en-US" sz="900" spc="120" dirty="0" smtClean="0">
                <a:latin typeface="Times New Roman"/>
                <a:cs typeface="Times New Roman"/>
              </a:rPr>
              <a:t> </a:t>
            </a:r>
            <a:r>
              <a:rPr lang="en-US" sz="900" spc="120" dirty="0" err="1" smtClean="0">
                <a:latin typeface="Times New Roman"/>
                <a:cs typeface="Times New Roman"/>
              </a:rPr>
              <a:t>khớp</a:t>
            </a:r>
            <a:r>
              <a:rPr lang="en-US" sz="900" spc="120" dirty="0" smtClean="0">
                <a:latin typeface="Times New Roman"/>
                <a:cs typeface="Times New Roman"/>
              </a:rPr>
              <a:t> </a:t>
            </a:r>
            <a:r>
              <a:rPr lang="en-US" sz="900" spc="120" dirty="0" err="1" smtClean="0">
                <a:latin typeface="Times New Roman"/>
                <a:cs typeface="Times New Roman"/>
              </a:rPr>
              <a:t>với</a:t>
            </a:r>
            <a:r>
              <a:rPr lang="en-US" sz="900" spc="120" dirty="0" smtClean="0">
                <a:latin typeface="Times New Roman"/>
                <a:cs typeface="Times New Roman"/>
              </a:rPr>
              <a:t> </a:t>
            </a:r>
            <a:r>
              <a:rPr lang="en-US" sz="900" spc="120" dirty="0" err="1" smtClean="0">
                <a:latin typeface="Times New Roman"/>
                <a:cs typeface="Times New Roman"/>
              </a:rPr>
              <a:t>mẫu</a:t>
            </a:r>
            <a:r>
              <a:rPr lang="en-US" sz="900" spc="120" dirty="0" smtClean="0">
                <a:latin typeface="Times New Roman"/>
                <a:cs typeface="Times New Roman"/>
              </a:rPr>
              <a:t> t.</a:t>
            </a:r>
          </a:p>
          <a:p>
            <a:pPr marL="222250" indent="-171450">
              <a:lnSpc>
                <a:spcPct val="100000"/>
              </a:lnSpc>
              <a:spcBef>
                <a:spcPts val="95"/>
              </a:spcBef>
              <a:buFont typeface="Arial" panose="020B0604020202020204" pitchFamily="34" charset="0"/>
              <a:buChar char="•"/>
            </a:pPr>
            <a:r>
              <a:rPr lang="en-US" sz="900" spc="120" dirty="0" smtClean="0">
                <a:latin typeface="Times New Roman"/>
                <a:cs typeface="Times New Roman"/>
              </a:rPr>
              <a:t>out(t): </a:t>
            </a:r>
            <a:r>
              <a:rPr lang="en-US" sz="900" spc="120" dirty="0" err="1" smtClean="0">
                <a:latin typeface="Times New Roman"/>
                <a:cs typeface="Times New Roman"/>
              </a:rPr>
              <a:t>Thêm</a:t>
            </a:r>
            <a:r>
              <a:rPr lang="en-US" sz="900" spc="120" dirty="0" smtClean="0">
                <a:latin typeface="Times New Roman"/>
                <a:cs typeface="Times New Roman"/>
              </a:rPr>
              <a:t> </a:t>
            </a:r>
            <a:r>
              <a:rPr lang="en-US" sz="900" spc="120" dirty="0" err="1" smtClean="0">
                <a:latin typeface="Times New Roman"/>
                <a:cs typeface="Times New Roman"/>
              </a:rPr>
              <a:t>bộ</a:t>
            </a:r>
            <a:r>
              <a:rPr lang="en-US" sz="900" spc="120" dirty="0" smtClean="0">
                <a:latin typeface="Times New Roman"/>
                <a:cs typeface="Times New Roman"/>
              </a:rPr>
              <a:t> </a:t>
            </a:r>
            <a:r>
              <a:rPr lang="en-US" sz="900" spc="120" dirty="0" err="1" smtClean="0">
                <a:latin typeface="Times New Roman"/>
                <a:cs typeface="Times New Roman"/>
              </a:rPr>
              <a:t>dữ</a:t>
            </a:r>
            <a:r>
              <a:rPr lang="en-US" sz="900" spc="120" dirty="0" smtClean="0">
                <a:latin typeface="Times New Roman"/>
                <a:cs typeface="Times New Roman"/>
              </a:rPr>
              <a:t> </a:t>
            </a:r>
            <a:r>
              <a:rPr lang="en-US" sz="900" spc="120" dirty="0" err="1" smtClean="0">
                <a:latin typeface="Times New Roman"/>
                <a:cs typeface="Times New Roman"/>
              </a:rPr>
              <a:t>liệu</a:t>
            </a:r>
            <a:r>
              <a:rPr lang="en-US" sz="900" spc="120" dirty="0" smtClean="0">
                <a:latin typeface="Times New Roman"/>
                <a:cs typeface="Times New Roman"/>
              </a:rPr>
              <a:t> t </a:t>
            </a:r>
            <a:r>
              <a:rPr lang="en-US" sz="900" spc="120" dirty="0" err="1" smtClean="0">
                <a:latin typeface="Times New Roman"/>
                <a:cs typeface="Times New Roman"/>
              </a:rPr>
              <a:t>vào</a:t>
            </a:r>
            <a:r>
              <a:rPr lang="en-US" sz="900" spc="120" dirty="0" smtClean="0">
                <a:latin typeface="Times New Roman"/>
                <a:cs typeface="Times New Roman"/>
              </a:rPr>
              <a:t> </a:t>
            </a:r>
            <a:r>
              <a:rPr lang="en-US" sz="900" spc="120" dirty="0" err="1" smtClean="0">
                <a:latin typeface="Times New Roman"/>
                <a:cs typeface="Times New Roman"/>
              </a:rPr>
              <a:t>không</a:t>
            </a:r>
            <a:r>
              <a:rPr lang="en-US" sz="900" spc="120" dirty="0" smtClean="0">
                <a:latin typeface="Times New Roman"/>
                <a:cs typeface="Times New Roman"/>
              </a:rPr>
              <a:t> </a:t>
            </a:r>
            <a:r>
              <a:rPr lang="en-US" sz="900" spc="120" dirty="0" err="1" smtClean="0">
                <a:latin typeface="Times New Roman"/>
                <a:cs typeface="Times New Roman"/>
              </a:rPr>
              <a:t>gian</a:t>
            </a:r>
            <a:r>
              <a:rPr lang="en-US" sz="900" spc="120" dirty="0" smtClean="0">
                <a:latin typeface="Times New Roman"/>
                <a:cs typeface="Times New Roman"/>
              </a:rPr>
              <a:t> </a:t>
            </a:r>
            <a:r>
              <a:rPr lang="en-US" sz="900" spc="120" dirty="0" err="1" smtClean="0">
                <a:latin typeface="Times New Roman"/>
                <a:cs typeface="Times New Roman"/>
              </a:rPr>
              <a:t>bộ</a:t>
            </a:r>
            <a:r>
              <a:rPr lang="en-US" sz="900" spc="120" dirty="0" smtClean="0">
                <a:latin typeface="Times New Roman"/>
                <a:cs typeface="Times New Roman"/>
              </a:rPr>
              <a:t> </a:t>
            </a:r>
            <a:r>
              <a:rPr lang="en-US" sz="900" spc="120" dirty="0" err="1" smtClean="0">
                <a:latin typeface="Times New Roman"/>
                <a:cs typeface="Times New Roman"/>
              </a:rPr>
              <a:t>dữ</a:t>
            </a:r>
            <a:r>
              <a:rPr lang="en-US" sz="900" spc="120" dirty="0" smtClean="0">
                <a:latin typeface="Times New Roman"/>
                <a:cs typeface="Times New Roman"/>
              </a:rPr>
              <a:t> </a:t>
            </a:r>
            <a:r>
              <a:rPr lang="en-US" sz="900" spc="120" dirty="0" err="1" smtClean="0">
                <a:latin typeface="Times New Roman"/>
                <a:cs typeface="Times New Roman"/>
              </a:rPr>
              <a:t>liệu</a:t>
            </a:r>
            <a:r>
              <a:rPr lang="en-US" sz="900" spc="120" dirty="0" smtClean="0">
                <a:latin typeface="Times New Roman"/>
                <a:cs typeface="Times New Roman"/>
              </a:rPr>
              <a:t>.</a:t>
            </a:r>
            <a:endParaRPr lang="en-US" sz="1200" dirty="0">
              <a:latin typeface="Arial"/>
              <a:cs typeface="Arial"/>
            </a:endParaRPr>
          </a:p>
          <a:p>
            <a:pPr marL="222250" indent="-171450">
              <a:lnSpc>
                <a:spcPct val="100000"/>
              </a:lnSpc>
              <a:spcBef>
                <a:spcPts val="95"/>
              </a:spcBef>
              <a:buFont typeface="Arial" panose="020B0604020202020204" pitchFamily="34" charset="0"/>
              <a:buChar char="•"/>
            </a:pPr>
            <a:r>
              <a:rPr lang="en-US" sz="1000" spc="-10" dirty="0" smtClean="0">
                <a:solidFill>
                  <a:srgbClr val="3333B2"/>
                </a:solidFill>
                <a:latin typeface="Arial"/>
                <a:cs typeface="Arial"/>
              </a:rPr>
              <a:t>C</a:t>
            </a:r>
            <a:r>
              <a:rPr sz="1000" spc="-10" dirty="0" smtClean="0">
                <a:solidFill>
                  <a:srgbClr val="3333B2"/>
                </a:solidFill>
                <a:latin typeface="Arial"/>
                <a:cs typeface="Arial"/>
              </a:rPr>
              <a:t>hi </a:t>
            </a:r>
            <a:r>
              <a:rPr sz="1000" spc="-10" dirty="0" err="1" smtClean="0">
                <a:solidFill>
                  <a:srgbClr val="3333B2"/>
                </a:solidFill>
                <a:latin typeface="Arial"/>
                <a:cs typeface="Arial"/>
              </a:rPr>
              <a:t>tiết</a:t>
            </a:r>
            <a:r>
              <a:rPr lang="en-US" sz="1000" spc="-10" dirty="0" smtClean="0">
                <a:solidFill>
                  <a:srgbClr val="3333B2"/>
                </a:solidFill>
                <a:latin typeface="Arial"/>
                <a:cs typeface="Arial"/>
              </a:rPr>
              <a:t> </a:t>
            </a:r>
            <a:r>
              <a:rPr lang="en-US" sz="1000" spc="-10" dirty="0" err="1" smtClean="0">
                <a:solidFill>
                  <a:srgbClr val="3333B2"/>
                </a:solidFill>
                <a:latin typeface="Arial"/>
                <a:cs typeface="Arial"/>
              </a:rPr>
              <a:t>bô</a:t>
            </a:r>
            <a:r>
              <a:rPr lang="en-US" sz="1000" spc="-10" dirty="0" smtClean="0">
                <a:solidFill>
                  <a:srgbClr val="3333B2"/>
                </a:solidFill>
                <a:latin typeface="Arial"/>
                <a:cs typeface="Arial"/>
              </a:rPr>
              <a:t> sung</a:t>
            </a:r>
            <a:endParaRPr sz="1000" dirty="0">
              <a:latin typeface="Arial"/>
              <a:cs typeface="Arial"/>
            </a:endParaRPr>
          </a:p>
          <a:p>
            <a:pPr marL="555625" marR="49530" indent="-120650">
              <a:lnSpc>
                <a:spcPct val="111600"/>
              </a:lnSpc>
              <a:spcBef>
                <a:spcPts val="375"/>
              </a:spcBef>
              <a:buClr>
                <a:srgbClr val="3333B2"/>
              </a:buClr>
              <a:buFont typeface="Apple Symbols"/>
              <a:buChar char="•"/>
              <a:tabLst>
                <a:tab pos="556260" algn="l"/>
              </a:tabLst>
            </a:pPr>
            <a:r>
              <a:rPr lang="vi-VN" sz="900" dirty="0" smtClean="0">
                <a:latin typeface="Arial"/>
                <a:cs typeface="Arial"/>
              </a:rPr>
              <a:t>Gọi out(t) hai lần liên tiếp sẽ lưu trữ hai bản sao của bộ dữ liệu t ⇒ Không gian bộ dữ liệu được mô hình hóa như một tập hợp đa tập (multiset).</a:t>
            </a:r>
          </a:p>
          <a:p>
            <a:pPr marL="555625" marR="49530" indent="-120650">
              <a:lnSpc>
                <a:spcPct val="111600"/>
              </a:lnSpc>
              <a:spcBef>
                <a:spcPts val="375"/>
              </a:spcBef>
              <a:buClr>
                <a:srgbClr val="3333B2"/>
              </a:buClr>
              <a:buFont typeface="Apple Symbols"/>
              <a:buChar char="•"/>
              <a:tabLst>
                <a:tab pos="556260" algn="l"/>
              </a:tabLst>
            </a:pPr>
            <a:r>
              <a:rPr lang="vi-VN" sz="900" dirty="0" smtClean="0">
                <a:latin typeface="Arial"/>
                <a:cs typeface="Arial"/>
              </a:rPr>
              <a:t>Cả in và rd đều là các thao tác chặn (blocking operations): Người gọi sẽ bị chặn cho đến khi tìm thấy một bộ dữ liệu phù hợp hoặc khi bộ dữ liệu đó trở nên khả dụng.</a:t>
            </a:r>
            <a:endParaRPr sz="900" dirty="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90424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Đăng tải </a:t>
            </a:r>
            <a:r>
              <a:rPr sz="500" dirty="0">
                <a:latin typeface="Arial"/>
                <a:cs typeface="Arial"/>
                <a:hlinkClick r:id="rId3" action="ppaction://hlinksldjump"/>
              </a:rPr>
              <a:t>-đăng ký</a:t>
            </a:r>
            <a:r>
              <a:rPr sz="500" spc="30" dirty="0">
                <a:latin typeface="Arial"/>
                <a:cs typeface="Arial"/>
                <a:hlinkClick r:id="rId3" action="ppaction://hlinksldjump"/>
              </a:rPr>
              <a:t> </a:t>
            </a:r>
            <a:r>
              <a:rPr sz="500" spc="-10" dirty="0">
                <a:latin typeface="Arial"/>
                <a:cs typeface="Arial"/>
                <a:hlinkClick r:id="rId3" action="ppaction://hlinksldjump"/>
              </a:rPr>
              <a:t>kiến trúc</a:t>
            </a:r>
            <a:endParaRPr sz="500">
              <a:latin typeface="Arial"/>
              <a:cs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33" name="object 5"/>
          <p:cNvSpPr txBox="1"/>
          <p:nvPr/>
        </p:nvSpPr>
        <p:spPr>
          <a:xfrm>
            <a:off x="423214" y="868154"/>
            <a:ext cx="259715" cy="162560"/>
          </a:xfrm>
          <a:prstGeom prst="rect">
            <a:avLst/>
          </a:prstGeom>
        </p:spPr>
        <p:txBody>
          <a:bodyPr vert="horz" wrap="square" lIns="0" tIns="12065" rIns="0" bIns="0" rtlCol="0">
            <a:spAutoFit/>
          </a:bodyPr>
          <a:lstStyle/>
          <a:p>
            <a:pPr marL="12700">
              <a:lnSpc>
                <a:spcPct val="100000"/>
              </a:lnSpc>
              <a:spcBef>
                <a:spcPts val="95"/>
              </a:spcBef>
            </a:pPr>
            <a:r>
              <a:rPr sz="900" spc="-20" dirty="0">
                <a:solidFill>
                  <a:srgbClr val="3333B2"/>
                </a:solidFill>
                <a:latin typeface="Arial"/>
                <a:cs typeface="Arial"/>
              </a:rPr>
              <a:t>Bob</a:t>
            </a:r>
            <a:r>
              <a:rPr sz="900" spc="-20" dirty="0">
                <a:latin typeface="Arial"/>
                <a:cs typeface="Arial"/>
              </a:rPr>
              <a:t>:</a:t>
            </a:r>
            <a:endParaRPr sz="900">
              <a:latin typeface="Arial"/>
              <a:cs typeface="Arial"/>
            </a:endParaRPr>
          </a:p>
        </p:txBody>
      </p:sp>
      <p:sp>
        <p:nvSpPr>
          <p:cNvPr id="34" name="object 6"/>
          <p:cNvSpPr txBox="1"/>
          <p:nvPr/>
        </p:nvSpPr>
        <p:spPr>
          <a:xfrm>
            <a:off x="95300" y="92311"/>
            <a:ext cx="4267150" cy="854721"/>
          </a:xfrm>
          <a:prstGeom prst="rect">
            <a:avLst/>
          </a:prstGeom>
        </p:spPr>
        <p:txBody>
          <a:bodyPr vert="horz" wrap="square" lIns="0" tIns="117475" rIns="0" bIns="0" rtlCol="0">
            <a:spAutoFit/>
          </a:bodyPr>
          <a:lstStyle/>
          <a:p>
            <a:pPr marR="889635" algn="ctr">
              <a:spcBef>
                <a:spcPts val="925"/>
              </a:spcBef>
            </a:pPr>
            <a:r>
              <a:rPr lang="en-US" sz="1200" dirty="0" err="1" smtClean="0">
                <a:solidFill>
                  <a:srgbClr val="3333B2"/>
                </a:solidFill>
                <a:latin typeface="Arial"/>
                <a:cs typeface="Arial"/>
              </a:rPr>
              <a:t>Ví</a:t>
            </a:r>
            <a:r>
              <a:rPr lang="en-US" sz="1200" dirty="0" smtClean="0">
                <a:solidFill>
                  <a:srgbClr val="3333B2"/>
                </a:solidFill>
                <a:latin typeface="Arial"/>
                <a:cs typeface="Arial"/>
              </a:rPr>
              <a:t> </a:t>
            </a:r>
            <a:r>
              <a:rPr lang="en-US" sz="1200" dirty="0" err="1" smtClean="0">
                <a:solidFill>
                  <a:srgbClr val="3333B2"/>
                </a:solidFill>
                <a:latin typeface="Arial"/>
                <a:cs typeface="Arial"/>
              </a:rPr>
              <a:t>dụ</a:t>
            </a:r>
            <a:r>
              <a:rPr sz="1200" dirty="0" smtClean="0">
                <a:solidFill>
                  <a:srgbClr val="3333B2"/>
                </a:solidFill>
                <a:latin typeface="Arial"/>
                <a:cs typeface="Arial"/>
              </a:rPr>
              <a:t>:</a:t>
            </a:r>
            <a:r>
              <a:rPr sz="1200" spc="30" dirty="0" smtClean="0">
                <a:solidFill>
                  <a:srgbClr val="3333B2"/>
                </a:solidFill>
                <a:latin typeface="Arial"/>
                <a:cs typeface="Arial"/>
              </a:rPr>
              <a:t> </a:t>
            </a:r>
            <a:r>
              <a:rPr lang="en-US" sz="1200" dirty="0" err="1" smtClean="0">
                <a:solidFill>
                  <a:srgbClr val="3333B2"/>
                </a:solidFill>
                <a:latin typeface="Arial"/>
                <a:cs typeface="Arial"/>
              </a:rPr>
              <a:t>Không</a:t>
            </a:r>
            <a:r>
              <a:rPr lang="en-US" sz="1200" dirty="0" smtClean="0">
                <a:solidFill>
                  <a:srgbClr val="3333B2"/>
                </a:solidFill>
                <a:latin typeface="Arial"/>
                <a:cs typeface="Arial"/>
              </a:rPr>
              <a:t> </a:t>
            </a:r>
            <a:r>
              <a:rPr lang="en-US" sz="1200" dirty="0" err="1" smtClean="0">
                <a:solidFill>
                  <a:srgbClr val="3333B2"/>
                </a:solidFill>
                <a:latin typeface="Arial"/>
                <a:cs typeface="Arial"/>
              </a:rPr>
              <a:t>gian</a:t>
            </a:r>
            <a:r>
              <a:rPr lang="en-US" sz="1200" dirty="0" smtClean="0">
                <a:solidFill>
                  <a:srgbClr val="3333B2"/>
                </a:solidFill>
                <a:latin typeface="Arial"/>
                <a:cs typeface="Arial"/>
              </a:rPr>
              <a:t> </a:t>
            </a:r>
            <a:r>
              <a:rPr lang="en-US" sz="1200" dirty="0" err="1" smtClean="0">
                <a:solidFill>
                  <a:srgbClr val="3333B2"/>
                </a:solidFill>
                <a:latin typeface="Arial"/>
                <a:cs typeface="Arial"/>
              </a:rPr>
              <a:t>bộ</a:t>
            </a:r>
            <a:r>
              <a:rPr lang="en-US" sz="1200" dirty="0" smtClean="0">
                <a:solidFill>
                  <a:srgbClr val="3333B2"/>
                </a:solidFill>
                <a:latin typeface="Arial"/>
                <a:cs typeface="Arial"/>
              </a:rPr>
              <a:t> </a:t>
            </a:r>
            <a:r>
              <a:rPr lang="en-US" sz="1200" dirty="0" err="1" smtClean="0">
                <a:solidFill>
                  <a:srgbClr val="3333B2"/>
                </a:solidFill>
                <a:latin typeface="Arial"/>
                <a:cs typeface="Arial"/>
              </a:rPr>
              <a:t>dữ</a:t>
            </a:r>
            <a:r>
              <a:rPr lang="en-US" sz="1200" dirty="0">
                <a:solidFill>
                  <a:srgbClr val="3333B2"/>
                </a:solidFill>
                <a:latin typeface="Arial"/>
                <a:cs typeface="Arial"/>
              </a:rPr>
              <a:t> </a:t>
            </a:r>
            <a:r>
              <a:rPr lang="en-US" sz="1200" dirty="0" err="1" smtClean="0">
                <a:solidFill>
                  <a:srgbClr val="3333B2"/>
                </a:solidFill>
                <a:latin typeface="Arial"/>
                <a:cs typeface="Arial"/>
              </a:rPr>
              <a:t>liệu</a:t>
            </a:r>
            <a:r>
              <a:rPr lang="en-US" sz="1200" dirty="0" smtClean="0">
                <a:solidFill>
                  <a:srgbClr val="3333B2"/>
                </a:solidFill>
                <a:latin typeface="Arial"/>
                <a:cs typeface="Arial"/>
              </a:rPr>
              <a:t> Linda </a:t>
            </a:r>
            <a:endParaRPr sz="1200" dirty="0">
              <a:latin typeface="Arial"/>
              <a:cs typeface="Arial"/>
            </a:endParaRPr>
          </a:p>
          <a:p>
            <a:pPr marL="938530">
              <a:lnSpc>
                <a:spcPts val="780"/>
              </a:lnSpc>
              <a:spcBef>
                <a:spcPts val="480"/>
              </a:spcBef>
            </a:pPr>
            <a:r>
              <a:rPr sz="500" dirty="0">
                <a:latin typeface="Times New Roman"/>
                <a:cs typeface="Times New Roman"/>
              </a:rPr>
              <a:t>1</a:t>
            </a:r>
            <a:r>
              <a:rPr sz="500" spc="204" dirty="0">
                <a:latin typeface="Times New Roman"/>
                <a:cs typeface="Times New Roman"/>
              </a:rPr>
              <a:t>  </a:t>
            </a:r>
            <a:r>
              <a:rPr sz="700" b="1" dirty="0">
                <a:solidFill>
                  <a:srgbClr val="FF0059"/>
                </a:solidFill>
                <a:latin typeface="Times New Roman"/>
                <a:cs typeface="Times New Roman"/>
              </a:rPr>
              <a:t>import</a:t>
            </a:r>
            <a:r>
              <a:rPr sz="700" b="1" spc="114" dirty="0">
                <a:solidFill>
                  <a:srgbClr val="FF0059"/>
                </a:solidFill>
                <a:latin typeface="Times New Roman"/>
                <a:cs typeface="Times New Roman"/>
              </a:rPr>
              <a:t> </a:t>
            </a:r>
            <a:r>
              <a:rPr sz="700" spc="75" dirty="0">
                <a:latin typeface="Times New Roman"/>
                <a:cs typeface="Times New Roman"/>
              </a:rPr>
              <a:t>linda</a:t>
            </a:r>
            <a:endParaRPr sz="700" dirty="0">
              <a:latin typeface="Times New Roman"/>
              <a:cs typeface="Times New Roman"/>
            </a:endParaRPr>
          </a:p>
          <a:p>
            <a:pPr marL="938530">
              <a:lnSpc>
                <a:spcPts val="780"/>
              </a:lnSpc>
            </a:pPr>
            <a:r>
              <a:rPr sz="500" dirty="0">
                <a:latin typeface="Times New Roman"/>
                <a:cs typeface="Times New Roman"/>
              </a:rPr>
              <a:t>2</a:t>
            </a:r>
            <a:r>
              <a:rPr sz="500" spc="455" dirty="0">
                <a:latin typeface="Times New Roman"/>
                <a:cs typeface="Times New Roman"/>
              </a:rPr>
              <a:t> </a:t>
            </a:r>
            <a:r>
              <a:rPr sz="700" spc="60" dirty="0">
                <a:latin typeface="Times New Roman"/>
                <a:cs typeface="Times New Roman"/>
              </a:rPr>
              <a:t>linda.connect()</a:t>
            </a:r>
            <a:endParaRPr sz="700" dirty="0">
              <a:latin typeface="Times New Roman"/>
              <a:cs typeface="Times New Roman"/>
            </a:endParaRPr>
          </a:p>
          <a:p>
            <a:pPr marR="875030" algn="ctr">
              <a:lnSpc>
                <a:spcPts val="560"/>
              </a:lnSpc>
              <a:spcBef>
                <a:spcPts val="75"/>
              </a:spcBef>
            </a:pPr>
            <a:r>
              <a:rPr sz="500" spc="45" dirty="0">
                <a:latin typeface="Times New Roman"/>
                <a:cs typeface="Times New Roman"/>
              </a:rPr>
              <a:t>3</a:t>
            </a:r>
            <a:endParaRPr sz="500" dirty="0">
              <a:latin typeface="Times New Roman"/>
              <a:cs typeface="Times New Roman"/>
            </a:endParaRPr>
          </a:p>
          <a:p>
            <a:pPr marL="938530">
              <a:lnSpc>
                <a:spcPts val="735"/>
              </a:lnSpc>
            </a:pPr>
            <a:r>
              <a:rPr sz="500" dirty="0">
                <a:latin typeface="Times New Roman"/>
                <a:cs typeface="Times New Roman"/>
              </a:rPr>
              <a:t>4</a:t>
            </a:r>
            <a:r>
              <a:rPr sz="500" spc="450" dirty="0">
                <a:latin typeface="Times New Roman"/>
                <a:cs typeface="Times New Roman"/>
              </a:rPr>
              <a:t> </a:t>
            </a:r>
            <a:r>
              <a:rPr sz="700" spc="60" dirty="0">
                <a:latin typeface="Times New Roman"/>
                <a:cs typeface="Times New Roman"/>
              </a:rPr>
              <a:t>blog</a:t>
            </a:r>
            <a:r>
              <a:rPr sz="700" spc="95" dirty="0">
                <a:latin typeface="Times New Roman"/>
                <a:cs typeface="Times New Roman"/>
              </a:rPr>
              <a:t> </a:t>
            </a:r>
            <a:r>
              <a:rPr sz="700" dirty="0">
                <a:latin typeface="Times New Roman"/>
                <a:cs typeface="Times New Roman"/>
              </a:rPr>
              <a:t>=</a:t>
            </a:r>
            <a:r>
              <a:rPr sz="700" spc="100" dirty="0">
                <a:latin typeface="Times New Roman"/>
                <a:cs typeface="Times New Roman"/>
              </a:rPr>
              <a:t> </a:t>
            </a:r>
            <a:r>
              <a:rPr sz="700" spc="40" dirty="0">
                <a:latin typeface="Times New Roman"/>
                <a:cs typeface="Times New Roman"/>
              </a:rPr>
              <a:t>linda.TupleSpace()</a:t>
            </a:r>
            <a:endParaRPr sz="700" dirty="0">
              <a:latin typeface="Times New Roman"/>
              <a:cs typeface="Times New Roman"/>
            </a:endParaRPr>
          </a:p>
          <a:p>
            <a:pPr marL="938530">
              <a:lnSpc>
                <a:spcPts val="780"/>
              </a:lnSpc>
            </a:pPr>
            <a:r>
              <a:rPr sz="500" dirty="0">
                <a:latin typeface="Times New Roman"/>
                <a:cs typeface="Times New Roman"/>
              </a:rPr>
              <a:t>5</a:t>
            </a:r>
            <a:r>
              <a:rPr sz="500" spc="455" dirty="0">
                <a:latin typeface="Times New Roman"/>
                <a:cs typeface="Times New Roman"/>
              </a:rPr>
              <a:t> </a:t>
            </a:r>
            <a:r>
              <a:rPr sz="700" spc="45" dirty="0">
                <a:latin typeface="Times New Roman"/>
                <a:cs typeface="Times New Roman"/>
              </a:rPr>
              <a:t>linda.universe._out((</a:t>
            </a:r>
            <a:r>
              <a:rPr sz="700" spc="45" dirty="0">
                <a:solidFill>
                  <a:srgbClr val="C80000"/>
                </a:solidFill>
                <a:latin typeface="Times New Roman"/>
                <a:cs typeface="Times New Roman"/>
              </a:rPr>
              <a:t>"MicroBlog"</a:t>
            </a:r>
            <a:r>
              <a:rPr sz="700" spc="45" dirty="0">
                <a:latin typeface="Times New Roman"/>
                <a:cs typeface="Times New Roman"/>
              </a:rPr>
              <a:t>,blog))</a:t>
            </a:r>
            <a:endParaRPr sz="700" dirty="0">
              <a:latin typeface="Times New Roman"/>
              <a:cs typeface="Times New Roman"/>
            </a:endParaRPr>
          </a:p>
        </p:txBody>
      </p:sp>
      <p:sp>
        <p:nvSpPr>
          <p:cNvPr id="35" name="object 7"/>
          <p:cNvSpPr txBox="1"/>
          <p:nvPr/>
        </p:nvSpPr>
        <p:spPr>
          <a:xfrm>
            <a:off x="983475" y="922181"/>
            <a:ext cx="3017520" cy="561975"/>
          </a:xfrm>
          <a:prstGeom prst="rect">
            <a:avLst/>
          </a:prstGeom>
        </p:spPr>
        <p:txBody>
          <a:bodyPr vert="horz" wrap="square" lIns="0" tIns="12065" rIns="0" bIns="0" rtlCol="0">
            <a:spAutoFit/>
          </a:bodyPr>
          <a:lstStyle/>
          <a:p>
            <a:pPr marL="50165">
              <a:lnSpc>
                <a:spcPts val="560"/>
              </a:lnSpc>
              <a:spcBef>
                <a:spcPts val="95"/>
              </a:spcBef>
            </a:pPr>
            <a:r>
              <a:rPr sz="500" spc="45" dirty="0">
                <a:latin typeface="Times New Roman"/>
                <a:cs typeface="Times New Roman"/>
              </a:rPr>
              <a:t>6</a:t>
            </a:r>
            <a:endParaRPr sz="500">
              <a:latin typeface="Times New Roman"/>
              <a:cs typeface="Times New Roman"/>
            </a:endParaRPr>
          </a:p>
          <a:p>
            <a:pPr marL="50165">
              <a:lnSpc>
                <a:spcPts val="800"/>
              </a:lnSpc>
            </a:pPr>
            <a:r>
              <a:rPr sz="500" dirty="0">
                <a:latin typeface="Times New Roman"/>
                <a:cs typeface="Times New Roman"/>
              </a:rPr>
              <a:t>7</a:t>
            </a:r>
            <a:r>
              <a:rPr sz="500" spc="480" dirty="0">
                <a:latin typeface="Times New Roman"/>
                <a:cs typeface="Times New Roman"/>
              </a:rPr>
              <a:t> </a:t>
            </a:r>
            <a:r>
              <a:rPr sz="700" spc="60" dirty="0">
                <a:latin typeface="Times New Roman"/>
                <a:cs typeface="Times New Roman"/>
              </a:rPr>
              <a:t>blog</a:t>
            </a:r>
            <a:r>
              <a:rPr sz="700" spc="114" dirty="0">
                <a:latin typeface="Times New Roman"/>
                <a:cs typeface="Times New Roman"/>
              </a:rPr>
              <a:t> </a:t>
            </a:r>
            <a:r>
              <a:rPr sz="700" dirty="0">
                <a:latin typeface="Times New Roman"/>
                <a:cs typeface="Times New Roman"/>
              </a:rPr>
              <a:t>=</a:t>
            </a:r>
            <a:r>
              <a:rPr sz="700" spc="110" dirty="0">
                <a:latin typeface="Times New Roman"/>
                <a:cs typeface="Times New Roman"/>
              </a:rPr>
              <a:t> </a:t>
            </a:r>
            <a:r>
              <a:rPr sz="700" spc="40" dirty="0">
                <a:latin typeface="Times New Roman"/>
                <a:cs typeface="Times New Roman"/>
              </a:rPr>
              <a:t>linda.universe._rd((</a:t>
            </a:r>
            <a:r>
              <a:rPr sz="700" spc="40" dirty="0">
                <a:solidFill>
                  <a:srgbClr val="C80000"/>
                </a:solidFill>
                <a:latin typeface="Times New Roman"/>
                <a:cs typeface="Times New Roman"/>
              </a:rPr>
              <a:t>"MicroBlog"</a:t>
            </a:r>
            <a:r>
              <a:rPr sz="700" spc="40" dirty="0">
                <a:latin typeface="Times New Roman"/>
                <a:cs typeface="Times New Roman"/>
              </a:rPr>
              <a:t>,linda.TupleSpace))[1]</a:t>
            </a:r>
            <a:endParaRPr sz="700">
              <a:latin typeface="Times New Roman"/>
              <a:cs typeface="Times New Roman"/>
            </a:endParaRPr>
          </a:p>
          <a:p>
            <a:pPr marL="50165">
              <a:lnSpc>
                <a:spcPts val="560"/>
              </a:lnSpc>
              <a:spcBef>
                <a:spcPts val="80"/>
              </a:spcBef>
            </a:pPr>
            <a:r>
              <a:rPr sz="500" spc="45" dirty="0">
                <a:latin typeface="Times New Roman"/>
                <a:cs typeface="Times New Roman"/>
              </a:rPr>
              <a:t>8</a:t>
            </a:r>
            <a:endParaRPr sz="500">
              <a:latin typeface="Times New Roman"/>
              <a:cs typeface="Times New Roman"/>
            </a:endParaRPr>
          </a:p>
          <a:p>
            <a:pPr marL="50165">
              <a:lnSpc>
                <a:spcPts val="735"/>
              </a:lnSpc>
            </a:pPr>
            <a:r>
              <a:rPr sz="500" dirty="0">
                <a:latin typeface="Times New Roman"/>
                <a:cs typeface="Times New Roman"/>
              </a:rPr>
              <a:t>9</a:t>
            </a:r>
            <a:r>
              <a:rPr sz="500" spc="185" dirty="0">
                <a:latin typeface="Times New Roman"/>
                <a:cs typeface="Times New Roman"/>
              </a:rPr>
              <a:t>  </a:t>
            </a:r>
            <a:r>
              <a:rPr sz="700" spc="65" dirty="0">
                <a:latin typeface="Times New Roman"/>
                <a:cs typeface="Times New Roman"/>
              </a:rPr>
              <a:t>blog._out((</a:t>
            </a:r>
            <a:r>
              <a:rPr sz="700" spc="65" dirty="0">
                <a:solidFill>
                  <a:srgbClr val="C80000"/>
                </a:solidFill>
                <a:latin typeface="Times New Roman"/>
                <a:cs typeface="Times New Roman"/>
              </a:rPr>
              <a:t>"bob"</a:t>
            </a:r>
            <a:r>
              <a:rPr sz="700" spc="65" dirty="0">
                <a:latin typeface="Times New Roman"/>
                <a:cs typeface="Times New Roman"/>
              </a:rPr>
              <a:t>,</a:t>
            </a:r>
            <a:r>
              <a:rPr sz="700" spc="65" dirty="0">
                <a:solidFill>
                  <a:srgbClr val="C80000"/>
                </a:solidFill>
                <a:latin typeface="Times New Roman"/>
                <a:cs typeface="Times New Roman"/>
              </a:rPr>
              <a:t>"distsys"</a:t>
            </a:r>
            <a:r>
              <a:rPr sz="700" spc="65" dirty="0">
                <a:latin typeface="Times New Roman"/>
                <a:cs typeface="Times New Roman"/>
              </a:rPr>
              <a:t>,</a:t>
            </a:r>
            <a:r>
              <a:rPr sz="700" spc="65" dirty="0">
                <a:solidFill>
                  <a:srgbClr val="C80000"/>
                </a:solidFill>
                <a:latin typeface="Times New Roman"/>
                <a:cs typeface="Times New Roman"/>
              </a:rPr>
              <a:t>"I</a:t>
            </a:r>
            <a:r>
              <a:rPr sz="700" spc="140" dirty="0">
                <a:solidFill>
                  <a:srgbClr val="C80000"/>
                </a:solidFill>
                <a:latin typeface="Times New Roman"/>
                <a:cs typeface="Times New Roman"/>
              </a:rPr>
              <a:t> </a:t>
            </a:r>
            <a:r>
              <a:rPr sz="700" dirty="0">
                <a:solidFill>
                  <a:srgbClr val="C80000"/>
                </a:solidFill>
                <a:latin typeface="Times New Roman"/>
                <a:cs typeface="Times New Roman"/>
              </a:rPr>
              <a:t>am</a:t>
            </a:r>
            <a:r>
              <a:rPr sz="700" spc="100" dirty="0">
                <a:solidFill>
                  <a:srgbClr val="C80000"/>
                </a:solidFill>
                <a:latin typeface="Times New Roman"/>
                <a:cs typeface="Times New Roman"/>
              </a:rPr>
              <a:t> </a:t>
            </a:r>
            <a:r>
              <a:rPr sz="700" spc="55" dirty="0">
                <a:solidFill>
                  <a:srgbClr val="C80000"/>
                </a:solidFill>
                <a:latin typeface="Times New Roman"/>
                <a:cs typeface="Times New Roman"/>
              </a:rPr>
              <a:t>studying</a:t>
            </a:r>
            <a:r>
              <a:rPr sz="700" spc="90" dirty="0">
                <a:solidFill>
                  <a:srgbClr val="C80000"/>
                </a:solidFill>
                <a:latin typeface="Times New Roman"/>
                <a:cs typeface="Times New Roman"/>
              </a:rPr>
              <a:t> </a:t>
            </a:r>
            <a:r>
              <a:rPr sz="700" dirty="0">
                <a:solidFill>
                  <a:srgbClr val="C80000"/>
                </a:solidFill>
                <a:latin typeface="Times New Roman"/>
                <a:cs typeface="Times New Roman"/>
              </a:rPr>
              <a:t>chap</a:t>
            </a:r>
            <a:r>
              <a:rPr sz="700" spc="120" dirty="0">
                <a:solidFill>
                  <a:srgbClr val="C80000"/>
                </a:solidFill>
                <a:latin typeface="Times New Roman"/>
                <a:cs typeface="Times New Roman"/>
              </a:rPr>
              <a:t> </a:t>
            </a:r>
            <a:r>
              <a:rPr sz="700" spc="70" dirty="0">
                <a:solidFill>
                  <a:srgbClr val="C80000"/>
                </a:solidFill>
                <a:latin typeface="Times New Roman"/>
                <a:cs typeface="Times New Roman"/>
              </a:rPr>
              <a:t>2"</a:t>
            </a:r>
            <a:r>
              <a:rPr sz="700" spc="70" dirty="0">
                <a:latin typeface="Times New Roman"/>
                <a:cs typeface="Times New Roman"/>
              </a:rPr>
              <a:t>))</a:t>
            </a:r>
            <a:endParaRPr sz="700">
              <a:latin typeface="Times New Roman"/>
              <a:cs typeface="Times New Roman"/>
            </a:endParaRPr>
          </a:p>
          <a:p>
            <a:pPr marL="12700">
              <a:lnSpc>
                <a:spcPts val="715"/>
              </a:lnSpc>
            </a:pPr>
            <a:r>
              <a:rPr sz="500" dirty="0">
                <a:latin typeface="Times New Roman"/>
                <a:cs typeface="Times New Roman"/>
              </a:rPr>
              <a:t>10</a:t>
            </a:r>
            <a:r>
              <a:rPr sz="500" spc="240" dirty="0">
                <a:latin typeface="Times New Roman"/>
                <a:cs typeface="Times New Roman"/>
              </a:rPr>
              <a:t>  </a:t>
            </a:r>
            <a:r>
              <a:rPr sz="700" spc="55" dirty="0">
                <a:latin typeface="Times New Roman"/>
                <a:cs typeface="Times New Roman"/>
              </a:rPr>
              <a:t>blog._out((</a:t>
            </a:r>
            <a:r>
              <a:rPr sz="700" spc="55" dirty="0">
                <a:solidFill>
                  <a:srgbClr val="C80000"/>
                </a:solidFill>
                <a:latin typeface="Times New Roman"/>
                <a:cs typeface="Times New Roman"/>
              </a:rPr>
              <a:t>"bob"</a:t>
            </a:r>
            <a:r>
              <a:rPr sz="700" spc="55" dirty="0">
                <a:latin typeface="Times New Roman"/>
                <a:cs typeface="Times New Roman"/>
              </a:rPr>
              <a:t>,</a:t>
            </a:r>
            <a:r>
              <a:rPr sz="700" spc="55" dirty="0">
                <a:solidFill>
                  <a:srgbClr val="C80000"/>
                </a:solidFill>
                <a:latin typeface="Times New Roman"/>
                <a:cs typeface="Times New Roman"/>
              </a:rPr>
              <a:t>"distsys"</a:t>
            </a:r>
            <a:r>
              <a:rPr sz="700" spc="55" dirty="0">
                <a:latin typeface="Times New Roman"/>
                <a:cs typeface="Times New Roman"/>
              </a:rPr>
              <a:t>,</a:t>
            </a:r>
            <a:r>
              <a:rPr sz="700" spc="55" dirty="0">
                <a:solidFill>
                  <a:srgbClr val="C80000"/>
                </a:solidFill>
                <a:latin typeface="Times New Roman"/>
                <a:cs typeface="Times New Roman"/>
              </a:rPr>
              <a:t>"The</a:t>
            </a:r>
            <a:r>
              <a:rPr sz="700" spc="150" dirty="0">
                <a:solidFill>
                  <a:srgbClr val="C80000"/>
                </a:solidFill>
                <a:latin typeface="Times New Roman"/>
                <a:cs typeface="Times New Roman"/>
              </a:rPr>
              <a:t> </a:t>
            </a:r>
            <a:r>
              <a:rPr sz="700" spc="85" dirty="0">
                <a:solidFill>
                  <a:srgbClr val="C80000"/>
                </a:solidFill>
                <a:latin typeface="Times New Roman"/>
                <a:cs typeface="Times New Roman"/>
              </a:rPr>
              <a:t>linda</a:t>
            </a:r>
            <a:r>
              <a:rPr sz="700" spc="135" dirty="0">
                <a:solidFill>
                  <a:srgbClr val="C80000"/>
                </a:solidFill>
                <a:latin typeface="Times New Roman"/>
                <a:cs typeface="Times New Roman"/>
              </a:rPr>
              <a:t> </a:t>
            </a:r>
            <a:r>
              <a:rPr sz="700" dirty="0">
                <a:solidFill>
                  <a:srgbClr val="C80000"/>
                </a:solidFill>
                <a:latin typeface="Times New Roman"/>
                <a:cs typeface="Times New Roman"/>
              </a:rPr>
              <a:t>example’s</a:t>
            </a:r>
            <a:r>
              <a:rPr sz="700" spc="165" dirty="0">
                <a:solidFill>
                  <a:srgbClr val="C80000"/>
                </a:solidFill>
                <a:latin typeface="Times New Roman"/>
                <a:cs typeface="Times New Roman"/>
              </a:rPr>
              <a:t> </a:t>
            </a:r>
            <a:r>
              <a:rPr sz="700" spc="95" dirty="0">
                <a:solidFill>
                  <a:srgbClr val="C80000"/>
                </a:solidFill>
                <a:latin typeface="Times New Roman"/>
                <a:cs typeface="Times New Roman"/>
              </a:rPr>
              <a:t>pretty</a:t>
            </a:r>
            <a:r>
              <a:rPr sz="700" spc="135" dirty="0">
                <a:solidFill>
                  <a:srgbClr val="C80000"/>
                </a:solidFill>
                <a:latin typeface="Times New Roman"/>
                <a:cs typeface="Times New Roman"/>
              </a:rPr>
              <a:t> </a:t>
            </a:r>
            <a:r>
              <a:rPr sz="700" spc="55" dirty="0">
                <a:solidFill>
                  <a:srgbClr val="C80000"/>
                </a:solidFill>
                <a:latin typeface="Times New Roman"/>
                <a:cs typeface="Times New Roman"/>
              </a:rPr>
              <a:t>simple"</a:t>
            </a:r>
            <a:r>
              <a:rPr sz="700" spc="55" dirty="0">
                <a:latin typeface="Times New Roman"/>
                <a:cs typeface="Times New Roman"/>
              </a:rPr>
              <a:t>))</a:t>
            </a:r>
            <a:endParaRPr sz="700">
              <a:latin typeface="Times New Roman"/>
              <a:cs typeface="Times New Roman"/>
            </a:endParaRPr>
          </a:p>
          <a:p>
            <a:pPr marL="12700">
              <a:lnSpc>
                <a:spcPts val="780"/>
              </a:lnSpc>
            </a:pPr>
            <a:r>
              <a:rPr sz="500" dirty="0">
                <a:latin typeface="Times New Roman"/>
                <a:cs typeface="Times New Roman"/>
              </a:rPr>
              <a:t>11</a:t>
            </a:r>
            <a:r>
              <a:rPr sz="500" spc="210" dirty="0">
                <a:latin typeface="Times New Roman"/>
                <a:cs typeface="Times New Roman"/>
              </a:rPr>
              <a:t>  </a:t>
            </a:r>
            <a:r>
              <a:rPr sz="700" spc="50" dirty="0">
                <a:latin typeface="Times New Roman"/>
                <a:cs typeface="Times New Roman"/>
              </a:rPr>
              <a:t>blog._out((</a:t>
            </a:r>
            <a:r>
              <a:rPr sz="700" spc="50" dirty="0">
                <a:solidFill>
                  <a:srgbClr val="C80000"/>
                </a:solidFill>
                <a:latin typeface="Times New Roman"/>
                <a:cs typeface="Times New Roman"/>
              </a:rPr>
              <a:t>"bob"</a:t>
            </a:r>
            <a:r>
              <a:rPr sz="700" spc="50" dirty="0">
                <a:latin typeface="Times New Roman"/>
                <a:cs typeface="Times New Roman"/>
              </a:rPr>
              <a:t>,</a:t>
            </a:r>
            <a:r>
              <a:rPr sz="700" spc="50" dirty="0">
                <a:solidFill>
                  <a:srgbClr val="C80000"/>
                </a:solidFill>
                <a:latin typeface="Times New Roman"/>
                <a:cs typeface="Times New Roman"/>
              </a:rPr>
              <a:t>"gtcn"</a:t>
            </a:r>
            <a:r>
              <a:rPr sz="700" spc="50" dirty="0">
                <a:latin typeface="Times New Roman"/>
                <a:cs typeface="Times New Roman"/>
              </a:rPr>
              <a:t>,</a:t>
            </a:r>
            <a:r>
              <a:rPr sz="700" spc="50" dirty="0">
                <a:solidFill>
                  <a:srgbClr val="C80000"/>
                </a:solidFill>
                <a:latin typeface="Times New Roman"/>
                <a:cs typeface="Times New Roman"/>
              </a:rPr>
              <a:t>"Cool</a:t>
            </a:r>
            <a:r>
              <a:rPr sz="700" spc="125" dirty="0">
                <a:solidFill>
                  <a:srgbClr val="C80000"/>
                </a:solidFill>
                <a:latin typeface="Times New Roman"/>
                <a:cs typeface="Times New Roman"/>
              </a:rPr>
              <a:t> </a:t>
            </a:r>
            <a:r>
              <a:rPr sz="700" spc="45" dirty="0">
                <a:solidFill>
                  <a:srgbClr val="C80000"/>
                </a:solidFill>
                <a:latin typeface="Times New Roman"/>
                <a:cs typeface="Times New Roman"/>
              </a:rPr>
              <a:t>book!"</a:t>
            </a:r>
            <a:r>
              <a:rPr sz="700" spc="45" dirty="0">
                <a:latin typeface="Times New Roman"/>
                <a:cs typeface="Times New Roman"/>
              </a:rPr>
              <a:t>))</a:t>
            </a:r>
            <a:endParaRPr sz="700">
              <a:latin typeface="Times New Roman"/>
              <a:cs typeface="Times New Roman"/>
            </a:endParaRPr>
          </a:p>
        </p:txBody>
      </p:sp>
      <p:sp>
        <p:nvSpPr>
          <p:cNvPr id="36" name="object 8"/>
          <p:cNvSpPr/>
          <p:nvPr/>
        </p:nvSpPr>
        <p:spPr>
          <a:xfrm>
            <a:off x="359994" y="1483487"/>
            <a:ext cx="3742690" cy="0"/>
          </a:xfrm>
          <a:custGeom>
            <a:avLst/>
            <a:gdLst/>
            <a:ahLst/>
            <a:cxnLst/>
            <a:rect l="l" t="t" r="r" b="b"/>
            <a:pathLst>
              <a:path w="3742690">
                <a:moveTo>
                  <a:pt x="0" y="0"/>
                </a:moveTo>
                <a:lnTo>
                  <a:pt x="3742385" y="0"/>
                </a:lnTo>
              </a:path>
            </a:pathLst>
          </a:custGeom>
          <a:ln w="5054">
            <a:solidFill>
              <a:srgbClr val="000000"/>
            </a:solidFill>
          </a:ln>
        </p:spPr>
        <p:txBody>
          <a:bodyPr wrap="square" lIns="0" tIns="0" rIns="0" bIns="0" rtlCol="0"/>
          <a:lstStyle/>
          <a:p>
            <a:endParaRPr/>
          </a:p>
        </p:txBody>
      </p:sp>
      <p:sp>
        <p:nvSpPr>
          <p:cNvPr id="37" name="object 9"/>
          <p:cNvSpPr txBox="1"/>
          <p:nvPr/>
        </p:nvSpPr>
        <p:spPr>
          <a:xfrm>
            <a:off x="423214" y="1720425"/>
            <a:ext cx="304165" cy="162560"/>
          </a:xfrm>
          <a:prstGeom prst="rect">
            <a:avLst/>
          </a:prstGeom>
        </p:spPr>
        <p:txBody>
          <a:bodyPr vert="horz" wrap="square" lIns="0" tIns="12065" rIns="0" bIns="0" rtlCol="0">
            <a:spAutoFit/>
          </a:bodyPr>
          <a:lstStyle/>
          <a:p>
            <a:pPr marL="12700">
              <a:lnSpc>
                <a:spcPct val="100000"/>
              </a:lnSpc>
              <a:spcBef>
                <a:spcPts val="95"/>
              </a:spcBef>
            </a:pPr>
            <a:r>
              <a:rPr sz="900" spc="-10" dirty="0">
                <a:solidFill>
                  <a:srgbClr val="3333B2"/>
                </a:solidFill>
                <a:latin typeface="Arial"/>
                <a:cs typeface="Arial"/>
              </a:rPr>
              <a:t>Alice</a:t>
            </a:r>
            <a:r>
              <a:rPr sz="900" spc="-10" dirty="0">
                <a:latin typeface="Arial"/>
                <a:cs typeface="Arial"/>
              </a:rPr>
              <a:t>:</a:t>
            </a:r>
            <a:endParaRPr sz="900">
              <a:latin typeface="Arial"/>
              <a:cs typeface="Arial"/>
            </a:endParaRPr>
          </a:p>
        </p:txBody>
      </p:sp>
      <p:sp>
        <p:nvSpPr>
          <p:cNvPr id="38" name="object 10"/>
          <p:cNvSpPr txBox="1"/>
          <p:nvPr/>
        </p:nvSpPr>
        <p:spPr>
          <a:xfrm>
            <a:off x="1021435" y="1475857"/>
            <a:ext cx="3023870" cy="678815"/>
          </a:xfrm>
          <a:prstGeom prst="rect">
            <a:avLst/>
          </a:prstGeom>
        </p:spPr>
        <p:txBody>
          <a:bodyPr vert="horz" wrap="square" lIns="0" tIns="12065" rIns="0" bIns="0" rtlCol="0">
            <a:spAutoFit/>
          </a:bodyPr>
          <a:lstStyle/>
          <a:p>
            <a:pPr marL="12700">
              <a:lnSpc>
                <a:spcPts val="780"/>
              </a:lnSpc>
              <a:spcBef>
                <a:spcPts val="95"/>
              </a:spcBef>
            </a:pPr>
            <a:r>
              <a:rPr sz="500" dirty="0">
                <a:latin typeface="Times New Roman"/>
                <a:cs typeface="Times New Roman"/>
              </a:rPr>
              <a:t>1</a:t>
            </a:r>
            <a:r>
              <a:rPr sz="500" spc="204" dirty="0">
                <a:latin typeface="Times New Roman"/>
                <a:cs typeface="Times New Roman"/>
              </a:rPr>
              <a:t>  </a:t>
            </a:r>
            <a:r>
              <a:rPr sz="700" b="1" dirty="0">
                <a:solidFill>
                  <a:srgbClr val="FF0059"/>
                </a:solidFill>
                <a:latin typeface="Times New Roman"/>
                <a:cs typeface="Times New Roman"/>
              </a:rPr>
              <a:t>import</a:t>
            </a:r>
            <a:r>
              <a:rPr sz="700" b="1" spc="114" dirty="0">
                <a:solidFill>
                  <a:srgbClr val="FF0059"/>
                </a:solidFill>
                <a:latin typeface="Times New Roman"/>
                <a:cs typeface="Times New Roman"/>
              </a:rPr>
              <a:t> </a:t>
            </a:r>
            <a:r>
              <a:rPr sz="700" spc="75" dirty="0">
                <a:latin typeface="Times New Roman"/>
                <a:cs typeface="Times New Roman"/>
              </a:rPr>
              <a:t>linda</a:t>
            </a:r>
            <a:endParaRPr sz="700">
              <a:latin typeface="Times New Roman"/>
              <a:cs typeface="Times New Roman"/>
            </a:endParaRPr>
          </a:p>
          <a:p>
            <a:pPr marL="12700">
              <a:lnSpc>
                <a:spcPts val="780"/>
              </a:lnSpc>
            </a:pPr>
            <a:r>
              <a:rPr sz="500" dirty="0">
                <a:latin typeface="Times New Roman"/>
                <a:cs typeface="Times New Roman"/>
              </a:rPr>
              <a:t>2</a:t>
            </a:r>
            <a:r>
              <a:rPr sz="500" spc="455" dirty="0">
                <a:latin typeface="Times New Roman"/>
                <a:cs typeface="Times New Roman"/>
              </a:rPr>
              <a:t> </a:t>
            </a:r>
            <a:r>
              <a:rPr sz="700" spc="60" dirty="0">
                <a:latin typeface="Times New Roman"/>
                <a:cs typeface="Times New Roman"/>
              </a:rPr>
              <a:t>linda.connect()</a:t>
            </a:r>
            <a:endParaRPr sz="700">
              <a:latin typeface="Times New Roman"/>
              <a:cs typeface="Times New Roman"/>
            </a:endParaRPr>
          </a:p>
          <a:p>
            <a:pPr marL="12700">
              <a:lnSpc>
                <a:spcPts val="560"/>
              </a:lnSpc>
              <a:spcBef>
                <a:spcPts val="80"/>
              </a:spcBef>
            </a:pPr>
            <a:r>
              <a:rPr sz="500" spc="45" dirty="0">
                <a:latin typeface="Times New Roman"/>
                <a:cs typeface="Times New Roman"/>
              </a:rPr>
              <a:t>3</a:t>
            </a:r>
            <a:endParaRPr sz="500">
              <a:latin typeface="Times New Roman"/>
              <a:cs typeface="Times New Roman"/>
            </a:endParaRPr>
          </a:p>
          <a:p>
            <a:pPr marL="12700">
              <a:lnSpc>
                <a:spcPts val="800"/>
              </a:lnSpc>
            </a:pPr>
            <a:r>
              <a:rPr sz="500" dirty="0">
                <a:latin typeface="Times New Roman"/>
                <a:cs typeface="Times New Roman"/>
              </a:rPr>
              <a:t>4</a:t>
            </a:r>
            <a:r>
              <a:rPr sz="500" spc="480" dirty="0">
                <a:latin typeface="Times New Roman"/>
                <a:cs typeface="Times New Roman"/>
              </a:rPr>
              <a:t> </a:t>
            </a:r>
            <a:r>
              <a:rPr sz="700" spc="60" dirty="0">
                <a:latin typeface="Times New Roman"/>
                <a:cs typeface="Times New Roman"/>
              </a:rPr>
              <a:t>blog</a:t>
            </a:r>
            <a:r>
              <a:rPr sz="700" spc="114" dirty="0">
                <a:latin typeface="Times New Roman"/>
                <a:cs typeface="Times New Roman"/>
              </a:rPr>
              <a:t> </a:t>
            </a:r>
            <a:r>
              <a:rPr sz="700" dirty="0">
                <a:latin typeface="Times New Roman"/>
                <a:cs typeface="Times New Roman"/>
              </a:rPr>
              <a:t>=</a:t>
            </a:r>
            <a:r>
              <a:rPr sz="700" spc="110" dirty="0">
                <a:latin typeface="Times New Roman"/>
                <a:cs typeface="Times New Roman"/>
              </a:rPr>
              <a:t> </a:t>
            </a:r>
            <a:r>
              <a:rPr sz="700" spc="40" dirty="0">
                <a:latin typeface="Times New Roman"/>
                <a:cs typeface="Times New Roman"/>
              </a:rPr>
              <a:t>linda.universe._rd((</a:t>
            </a:r>
            <a:r>
              <a:rPr sz="700" spc="40" dirty="0">
                <a:solidFill>
                  <a:srgbClr val="C80000"/>
                </a:solidFill>
                <a:latin typeface="Times New Roman"/>
                <a:cs typeface="Times New Roman"/>
              </a:rPr>
              <a:t>"MicroBlog"</a:t>
            </a:r>
            <a:r>
              <a:rPr sz="700" spc="40" dirty="0">
                <a:latin typeface="Times New Roman"/>
                <a:cs typeface="Times New Roman"/>
              </a:rPr>
              <a:t>,linda.TupleSpace))[1]</a:t>
            </a:r>
            <a:endParaRPr sz="700">
              <a:latin typeface="Times New Roman"/>
              <a:cs typeface="Times New Roman"/>
            </a:endParaRPr>
          </a:p>
          <a:p>
            <a:pPr marL="12700">
              <a:lnSpc>
                <a:spcPts val="560"/>
              </a:lnSpc>
              <a:spcBef>
                <a:spcPts val="75"/>
              </a:spcBef>
            </a:pPr>
            <a:r>
              <a:rPr sz="500" spc="45" dirty="0">
                <a:latin typeface="Times New Roman"/>
                <a:cs typeface="Times New Roman"/>
              </a:rPr>
              <a:t>5</a:t>
            </a:r>
            <a:endParaRPr sz="500">
              <a:latin typeface="Times New Roman"/>
              <a:cs typeface="Times New Roman"/>
            </a:endParaRPr>
          </a:p>
          <a:p>
            <a:pPr marL="12700">
              <a:lnSpc>
                <a:spcPts val="735"/>
              </a:lnSpc>
            </a:pPr>
            <a:r>
              <a:rPr sz="500" dirty="0">
                <a:latin typeface="Times New Roman"/>
                <a:cs typeface="Times New Roman"/>
              </a:rPr>
              <a:t>6</a:t>
            </a:r>
            <a:r>
              <a:rPr sz="500" spc="200" dirty="0">
                <a:latin typeface="Times New Roman"/>
                <a:cs typeface="Times New Roman"/>
              </a:rPr>
              <a:t>  </a:t>
            </a:r>
            <a:r>
              <a:rPr sz="700" spc="65" dirty="0">
                <a:latin typeface="Times New Roman"/>
                <a:cs typeface="Times New Roman"/>
              </a:rPr>
              <a:t>blog._out((</a:t>
            </a:r>
            <a:r>
              <a:rPr sz="700" spc="65" dirty="0">
                <a:solidFill>
                  <a:srgbClr val="C80000"/>
                </a:solidFill>
                <a:latin typeface="Times New Roman"/>
                <a:cs typeface="Times New Roman"/>
              </a:rPr>
              <a:t>"alice"</a:t>
            </a:r>
            <a:r>
              <a:rPr sz="700" spc="65" dirty="0">
                <a:latin typeface="Times New Roman"/>
                <a:cs typeface="Times New Roman"/>
              </a:rPr>
              <a:t>,</a:t>
            </a:r>
            <a:r>
              <a:rPr sz="700" spc="65" dirty="0">
                <a:solidFill>
                  <a:srgbClr val="C80000"/>
                </a:solidFill>
                <a:latin typeface="Times New Roman"/>
                <a:cs typeface="Times New Roman"/>
              </a:rPr>
              <a:t>"gtcn"</a:t>
            </a:r>
            <a:r>
              <a:rPr sz="700" spc="65" dirty="0">
                <a:latin typeface="Times New Roman"/>
                <a:cs typeface="Times New Roman"/>
              </a:rPr>
              <a:t>,</a:t>
            </a:r>
            <a:r>
              <a:rPr sz="700" spc="65" dirty="0">
                <a:solidFill>
                  <a:srgbClr val="C80000"/>
                </a:solidFill>
                <a:latin typeface="Times New Roman"/>
                <a:cs typeface="Times New Roman"/>
              </a:rPr>
              <a:t>"This</a:t>
            </a:r>
            <a:r>
              <a:rPr sz="700" spc="114" dirty="0">
                <a:solidFill>
                  <a:srgbClr val="C80000"/>
                </a:solidFill>
                <a:latin typeface="Times New Roman"/>
                <a:cs typeface="Times New Roman"/>
              </a:rPr>
              <a:t> </a:t>
            </a:r>
            <a:r>
              <a:rPr sz="700" dirty="0">
                <a:solidFill>
                  <a:srgbClr val="C80000"/>
                </a:solidFill>
                <a:latin typeface="Times New Roman"/>
                <a:cs typeface="Times New Roman"/>
              </a:rPr>
              <a:t>graph</a:t>
            </a:r>
            <a:r>
              <a:rPr sz="700" spc="105" dirty="0">
                <a:solidFill>
                  <a:srgbClr val="C80000"/>
                </a:solidFill>
                <a:latin typeface="Times New Roman"/>
                <a:cs typeface="Times New Roman"/>
              </a:rPr>
              <a:t> </a:t>
            </a:r>
            <a:r>
              <a:rPr sz="700" spc="65" dirty="0">
                <a:solidFill>
                  <a:srgbClr val="C80000"/>
                </a:solidFill>
                <a:latin typeface="Times New Roman"/>
                <a:cs typeface="Times New Roman"/>
              </a:rPr>
              <a:t>theory</a:t>
            </a:r>
            <a:r>
              <a:rPr sz="700" spc="105" dirty="0">
                <a:solidFill>
                  <a:srgbClr val="C80000"/>
                </a:solidFill>
                <a:latin typeface="Times New Roman"/>
                <a:cs typeface="Times New Roman"/>
              </a:rPr>
              <a:t> </a:t>
            </a:r>
            <a:r>
              <a:rPr sz="700" spc="110" dirty="0">
                <a:solidFill>
                  <a:srgbClr val="C80000"/>
                </a:solidFill>
                <a:latin typeface="Times New Roman"/>
                <a:cs typeface="Times New Roman"/>
              </a:rPr>
              <a:t>stuff</a:t>
            </a:r>
            <a:r>
              <a:rPr sz="700" spc="120" dirty="0">
                <a:solidFill>
                  <a:srgbClr val="C80000"/>
                </a:solidFill>
                <a:latin typeface="Times New Roman"/>
                <a:cs typeface="Times New Roman"/>
              </a:rPr>
              <a:t> </a:t>
            </a:r>
            <a:r>
              <a:rPr sz="700" spc="155" dirty="0">
                <a:solidFill>
                  <a:srgbClr val="C80000"/>
                </a:solidFill>
                <a:latin typeface="Times New Roman"/>
                <a:cs typeface="Times New Roman"/>
              </a:rPr>
              <a:t>is</a:t>
            </a:r>
            <a:r>
              <a:rPr sz="700" spc="120" dirty="0">
                <a:solidFill>
                  <a:srgbClr val="C80000"/>
                </a:solidFill>
                <a:latin typeface="Times New Roman"/>
                <a:cs typeface="Times New Roman"/>
              </a:rPr>
              <a:t> </a:t>
            </a:r>
            <a:r>
              <a:rPr sz="700" spc="80" dirty="0">
                <a:solidFill>
                  <a:srgbClr val="C80000"/>
                </a:solidFill>
                <a:latin typeface="Times New Roman"/>
                <a:cs typeface="Times New Roman"/>
              </a:rPr>
              <a:t>not</a:t>
            </a:r>
            <a:r>
              <a:rPr sz="700" spc="120" dirty="0">
                <a:solidFill>
                  <a:srgbClr val="C80000"/>
                </a:solidFill>
                <a:latin typeface="Times New Roman"/>
                <a:cs typeface="Times New Roman"/>
              </a:rPr>
              <a:t> </a:t>
            </a:r>
            <a:r>
              <a:rPr sz="700" spc="60" dirty="0">
                <a:solidFill>
                  <a:srgbClr val="C80000"/>
                </a:solidFill>
                <a:latin typeface="Times New Roman"/>
                <a:cs typeface="Times New Roman"/>
              </a:rPr>
              <a:t>easy"</a:t>
            </a:r>
            <a:r>
              <a:rPr sz="700" spc="60" dirty="0">
                <a:latin typeface="Times New Roman"/>
                <a:cs typeface="Times New Roman"/>
              </a:rPr>
              <a:t>))</a:t>
            </a:r>
            <a:endParaRPr sz="700">
              <a:latin typeface="Times New Roman"/>
              <a:cs typeface="Times New Roman"/>
            </a:endParaRPr>
          </a:p>
          <a:p>
            <a:pPr marL="12700">
              <a:lnSpc>
                <a:spcPts val="780"/>
              </a:lnSpc>
            </a:pPr>
            <a:r>
              <a:rPr sz="500" dirty="0">
                <a:latin typeface="Times New Roman"/>
                <a:cs typeface="Times New Roman"/>
              </a:rPr>
              <a:t>7</a:t>
            </a:r>
            <a:r>
              <a:rPr sz="500" spc="220" dirty="0">
                <a:latin typeface="Times New Roman"/>
                <a:cs typeface="Times New Roman"/>
              </a:rPr>
              <a:t>  </a:t>
            </a:r>
            <a:r>
              <a:rPr sz="700" spc="75" dirty="0">
                <a:latin typeface="Times New Roman"/>
                <a:cs typeface="Times New Roman"/>
              </a:rPr>
              <a:t>blog._out((</a:t>
            </a:r>
            <a:r>
              <a:rPr sz="700" spc="75" dirty="0">
                <a:solidFill>
                  <a:srgbClr val="C80000"/>
                </a:solidFill>
                <a:latin typeface="Times New Roman"/>
                <a:cs typeface="Times New Roman"/>
              </a:rPr>
              <a:t>"alice"</a:t>
            </a:r>
            <a:r>
              <a:rPr sz="700" spc="75" dirty="0">
                <a:latin typeface="Times New Roman"/>
                <a:cs typeface="Times New Roman"/>
              </a:rPr>
              <a:t>,</a:t>
            </a:r>
            <a:r>
              <a:rPr sz="700" spc="75" dirty="0">
                <a:solidFill>
                  <a:srgbClr val="C80000"/>
                </a:solidFill>
                <a:latin typeface="Times New Roman"/>
                <a:cs typeface="Times New Roman"/>
              </a:rPr>
              <a:t>"distsys"</a:t>
            </a:r>
            <a:r>
              <a:rPr sz="700" spc="75" dirty="0">
                <a:latin typeface="Times New Roman"/>
                <a:cs typeface="Times New Roman"/>
              </a:rPr>
              <a:t>,</a:t>
            </a:r>
            <a:r>
              <a:rPr sz="700" spc="75" dirty="0">
                <a:solidFill>
                  <a:srgbClr val="C80000"/>
                </a:solidFill>
                <a:latin typeface="Times New Roman"/>
                <a:cs typeface="Times New Roman"/>
              </a:rPr>
              <a:t>"I</a:t>
            </a:r>
            <a:r>
              <a:rPr sz="700" spc="155" dirty="0">
                <a:solidFill>
                  <a:srgbClr val="C80000"/>
                </a:solidFill>
                <a:latin typeface="Times New Roman"/>
                <a:cs typeface="Times New Roman"/>
              </a:rPr>
              <a:t> </a:t>
            </a:r>
            <a:r>
              <a:rPr sz="700" spc="105" dirty="0">
                <a:solidFill>
                  <a:srgbClr val="C80000"/>
                </a:solidFill>
                <a:latin typeface="Times New Roman"/>
                <a:cs typeface="Times New Roman"/>
              </a:rPr>
              <a:t>like</a:t>
            </a:r>
            <a:r>
              <a:rPr sz="700" spc="120" dirty="0">
                <a:solidFill>
                  <a:srgbClr val="C80000"/>
                </a:solidFill>
                <a:latin typeface="Times New Roman"/>
                <a:cs typeface="Times New Roman"/>
              </a:rPr>
              <a:t> </a:t>
            </a:r>
            <a:r>
              <a:rPr sz="700" dirty="0">
                <a:solidFill>
                  <a:srgbClr val="C80000"/>
                </a:solidFill>
                <a:latin typeface="Times New Roman"/>
                <a:cs typeface="Times New Roman"/>
              </a:rPr>
              <a:t>systems</a:t>
            </a:r>
            <a:r>
              <a:rPr sz="700" spc="120" dirty="0">
                <a:solidFill>
                  <a:srgbClr val="C80000"/>
                </a:solidFill>
                <a:latin typeface="Times New Roman"/>
                <a:cs typeface="Times New Roman"/>
              </a:rPr>
              <a:t> </a:t>
            </a:r>
            <a:r>
              <a:rPr sz="700" dirty="0">
                <a:solidFill>
                  <a:srgbClr val="C80000"/>
                </a:solidFill>
                <a:latin typeface="Times New Roman"/>
                <a:cs typeface="Times New Roman"/>
              </a:rPr>
              <a:t>more</a:t>
            </a:r>
            <a:r>
              <a:rPr sz="700" spc="130" dirty="0">
                <a:solidFill>
                  <a:srgbClr val="C80000"/>
                </a:solidFill>
                <a:latin typeface="Times New Roman"/>
                <a:cs typeface="Times New Roman"/>
              </a:rPr>
              <a:t> </a:t>
            </a:r>
            <a:r>
              <a:rPr sz="700" spc="70" dirty="0">
                <a:solidFill>
                  <a:srgbClr val="C80000"/>
                </a:solidFill>
                <a:latin typeface="Times New Roman"/>
                <a:cs typeface="Times New Roman"/>
              </a:rPr>
              <a:t>than</a:t>
            </a:r>
            <a:r>
              <a:rPr sz="700" spc="120" dirty="0">
                <a:solidFill>
                  <a:srgbClr val="C80000"/>
                </a:solidFill>
                <a:latin typeface="Times New Roman"/>
                <a:cs typeface="Times New Roman"/>
              </a:rPr>
              <a:t> </a:t>
            </a:r>
            <a:r>
              <a:rPr sz="700" spc="55" dirty="0">
                <a:solidFill>
                  <a:srgbClr val="C80000"/>
                </a:solidFill>
                <a:latin typeface="Times New Roman"/>
                <a:cs typeface="Times New Roman"/>
              </a:rPr>
              <a:t>graphs"</a:t>
            </a:r>
            <a:r>
              <a:rPr sz="700" spc="55" dirty="0">
                <a:latin typeface="Times New Roman"/>
                <a:cs typeface="Times New Roman"/>
              </a:rPr>
              <a:t>))</a:t>
            </a:r>
            <a:endParaRPr sz="700">
              <a:latin typeface="Times New Roman"/>
              <a:cs typeface="Times New Roman"/>
            </a:endParaRPr>
          </a:p>
        </p:txBody>
      </p:sp>
      <p:sp>
        <p:nvSpPr>
          <p:cNvPr id="39" name="object 11"/>
          <p:cNvSpPr/>
          <p:nvPr/>
        </p:nvSpPr>
        <p:spPr>
          <a:xfrm>
            <a:off x="359994" y="2153564"/>
            <a:ext cx="3742690" cy="0"/>
          </a:xfrm>
          <a:custGeom>
            <a:avLst/>
            <a:gdLst/>
            <a:ahLst/>
            <a:cxnLst/>
            <a:rect l="l" t="t" r="r" b="b"/>
            <a:pathLst>
              <a:path w="3742690">
                <a:moveTo>
                  <a:pt x="0" y="0"/>
                </a:moveTo>
                <a:lnTo>
                  <a:pt x="3742385" y="0"/>
                </a:lnTo>
              </a:path>
            </a:pathLst>
          </a:custGeom>
          <a:ln w="5054">
            <a:solidFill>
              <a:srgbClr val="000000"/>
            </a:solidFill>
          </a:ln>
        </p:spPr>
        <p:txBody>
          <a:bodyPr wrap="square" lIns="0" tIns="0" rIns="0" bIns="0" rtlCol="0"/>
          <a:lstStyle/>
          <a:p>
            <a:endParaRPr/>
          </a:p>
        </p:txBody>
      </p:sp>
      <p:sp>
        <p:nvSpPr>
          <p:cNvPr id="40" name="object 12"/>
          <p:cNvSpPr txBox="1"/>
          <p:nvPr/>
        </p:nvSpPr>
        <p:spPr>
          <a:xfrm>
            <a:off x="423214" y="2618239"/>
            <a:ext cx="377825" cy="162560"/>
          </a:xfrm>
          <a:prstGeom prst="rect">
            <a:avLst/>
          </a:prstGeom>
        </p:spPr>
        <p:txBody>
          <a:bodyPr vert="horz" wrap="square" lIns="0" tIns="12065" rIns="0" bIns="0" rtlCol="0">
            <a:spAutoFit/>
          </a:bodyPr>
          <a:lstStyle/>
          <a:p>
            <a:pPr marL="12700">
              <a:lnSpc>
                <a:spcPct val="100000"/>
              </a:lnSpc>
              <a:spcBef>
                <a:spcPts val="95"/>
              </a:spcBef>
            </a:pPr>
            <a:r>
              <a:rPr sz="900" spc="-10" dirty="0">
                <a:solidFill>
                  <a:srgbClr val="3333B2"/>
                </a:solidFill>
                <a:latin typeface="Arial"/>
                <a:cs typeface="Arial"/>
              </a:rPr>
              <a:t>Chuck</a:t>
            </a:r>
            <a:r>
              <a:rPr sz="900" spc="-10" dirty="0">
                <a:latin typeface="Arial"/>
                <a:cs typeface="Arial"/>
              </a:rPr>
              <a:t>:</a:t>
            </a:r>
            <a:endParaRPr sz="900">
              <a:latin typeface="Arial"/>
              <a:cs typeface="Arial"/>
            </a:endParaRPr>
          </a:p>
        </p:txBody>
      </p:sp>
      <p:sp>
        <p:nvSpPr>
          <p:cNvPr id="41" name="object 13"/>
          <p:cNvSpPr txBox="1"/>
          <p:nvPr/>
        </p:nvSpPr>
        <p:spPr>
          <a:xfrm>
            <a:off x="983475" y="2145921"/>
            <a:ext cx="2841625" cy="1134110"/>
          </a:xfrm>
          <a:prstGeom prst="rect">
            <a:avLst/>
          </a:prstGeom>
        </p:spPr>
        <p:txBody>
          <a:bodyPr vert="horz" wrap="square" lIns="0" tIns="12065" rIns="0" bIns="0" rtlCol="0">
            <a:spAutoFit/>
          </a:bodyPr>
          <a:lstStyle/>
          <a:p>
            <a:pPr marL="50165">
              <a:lnSpc>
                <a:spcPts val="780"/>
              </a:lnSpc>
              <a:spcBef>
                <a:spcPts val="95"/>
              </a:spcBef>
            </a:pPr>
            <a:r>
              <a:rPr sz="500" dirty="0">
                <a:latin typeface="Times New Roman"/>
                <a:cs typeface="Times New Roman"/>
              </a:rPr>
              <a:t>1</a:t>
            </a:r>
            <a:r>
              <a:rPr sz="500" spc="204" dirty="0">
                <a:latin typeface="Times New Roman"/>
                <a:cs typeface="Times New Roman"/>
              </a:rPr>
              <a:t>  </a:t>
            </a:r>
            <a:r>
              <a:rPr sz="700" b="1" dirty="0">
                <a:solidFill>
                  <a:srgbClr val="FF0059"/>
                </a:solidFill>
                <a:latin typeface="Times New Roman"/>
                <a:cs typeface="Times New Roman"/>
              </a:rPr>
              <a:t>import</a:t>
            </a:r>
            <a:r>
              <a:rPr sz="700" b="1" spc="114" dirty="0">
                <a:solidFill>
                  <a:srgbClr val="FF0059"/>
                </a:solidFill>
                <a:latin typeface="Times New Roman"/>
                <a:cs typeface="Times New Roman"/>
              </a:rPr>
              <a:t> </a:t>
            </a:r>
            <a:r>
              <a:rPr sz="700" spc="75" dirty="0">
                <a:latin typeface="Times New Roman"/>
                <a:cs typeface="Times New Roman"/>
              </a:rPr>
              <a:t>linda</a:t>
            </a:r>
            <a:endParaRPr sz="700">
              <a:latin typeface="Times New Roman"/>
              <a:cs typeface="Times New Roman"/>
            </a:endParaRPr>
          </a:p>
          <a:p>
            <a:pPr marL="50165">
              <a:lnSpc>
                <a:spcPts val="780"/>
              </a:lnSpc>
            </a:pPr>
            <a:r>
              <a:rPr sz="500" dirty="0">
                <a:latin typeface="Times New Roman"/>
                <a:cs typeface="Times New Roman"/>
              </a:rPr>
              <a:t>2</a:t>
            </a:r>
            <a:r>
              <a:rPr sz="500" spc="455" dirty="0">
                <a:latin typeface="Times New Roman"/>
                <a:cs typeface="Times New Roman"/>
              </a:rPr>
              <a:t> </a:t>
            </a:r>
            <a:r>
              <a:rPr sz="700" spc="60" dirty="0">
                <a:latin typeface="Times New Roman"/>
                <a:cs typeface="Times New Roman"/>
              </a:rPr>
              <a:t>linda.connect()</a:t>
            </a:r>
            <a:endParaRPr sz="700">
              <a:latin typeface="Times New Roman"/>
              <a:cs typeface="Times New Roman"/>
            </a:endParaRPr>
          </a:p>
          <a:p>
            <a:pPr marL="50165">
              <a:lnSpc>
                <a:spcPts val="560"/>
              </a:lnSpc>
              <a:spcBef>
                <a:spcPts val="80"/>
              </a:spcBef>
            </a:pPr>
            <a:r>
              <a:rPr sz="500" spc="45" dirty="0">
                <a:latin typeface="Times New Roman"/>
                <a:cs typeface="Times New Roman"/>
              </a:rPr>
              <a:t>3</a:t>
            </a:r>
            <a:endParaRPr sz="500">
              <a:latin typeface="Times New Roman"/>
              <a:cs typeface="Times New Roman"/>
            </a:endParaRPr>
          </a:p>
          <a:p>
            <a:pPr marL="50165">
              <a:lnSpc>
                <a:spcPts val="800"/>
              </a:lnSpc>
            </a:pPr>
            <a:r>
              <a:rPr sz="500" dirty="0">
                <a:latin typeface="Times New Roman"/>
                <a:cs typeface="Times New Roman"/>
              </a:rPr>
              <a:t>4</a:t>
            </a:r>
            <a:r>
              <a:rPr sz="500" spc="480" dirty="0">
                <a:latin typeface="Times New Roman"/>
                <a:cs typeface="Times New Roman"/>
              </a:rPr>
              <a:t> </a:t>
            </a:r>
            <a:r>
              <a:rPr sz="700" spc="60" dirty="0">
                <a:latin typeface="Times New Roman"/>
                <a:cs typeface="Times New Roman"/>
              </a:rPr>
              <a:t>blog</a:t>
            </a:r>
            <a:r>
              <a:rPr sz="700" spc="114" dirty="0">
                <a:latin typeface="Times New Roman"/>
                <a:cs typeface="Times New Roman"/>
              </a:rPr>
              <a:t> </a:t>
            </a:r>
            <a:r>
              <a:rPr sz="700" dirty="0">
                <a:latin typeface="Times New Roman"/>
                <a:cs typeface="Times New Roman"/>
              </a:rPr>
              <a:t>=</a:t>
            </a:r>
            <a:r>
              <a:rPr sz="700" spc="110" dirty="0">
                <a:latin typeface="Times New Roman"/>
                <a:cs typeface="Times New Roman"/>
              </a:rPr>
              <a:t> </a:t>
            </a:r>
            <a:r>
              <a:rPr sz="700" spc="40" dirty="0">
                <a:latin typeface="Times New Roman"/>
                <a:cs typeface="Times New Roman"/>
              </a:rPr>
              <a:t>linda.universe._rd((</a:t>
            </a:r>
            <a:r>
              <a:rPr sz="700" spc="40" dirty="0">
                <a:solidFill>
                  <a:srgbClr val="C80000"/>
                </a:solidFill>
                <a:latin typeface="Times New Roman"/>
                <a:cs typeface="Times New Roman"/>
              </a:rPr>
              <a:t>"MicroBlog"</a:t>
            </a:r>
            <a:r>
              <a:rPr sz="700" spc="40" dirty="0">
                <a:latin typeface="Times New Roman"/>
                <a:cs typeface="Times New Roman"/>
              </a:rPr>
              <a:t>,linda.TupleSpace))[1]</a:t>
            </a:r>
            <a:endParaRPr sz="700">
              <a:latin typeface="Times New Roman"/>
              <a:cs typeface="Times New Roman"/>
            </a:endParaRPr>
          </a:p>
          <a:p>
            <a:pPr marL="50165">
              <a:lnSpc>
                <a:spcPts val="560"/>
              </a:lnSpc>
              <a:spcBef>
                <a:spcPts val="75"/>
              </a:spcBef>
            </a:pPr>
            <a:r>
              <a:rPr sz="500" spc="45" dirty="0">
                <a:latin typeface="Times New Roman"/>
                <a:cs typeface="Times New Roman"/>
              </a:rPr>
              <a:t>5</a:t>
            </a:r>
            <a:endParaRPr sz="500">
              <a:latin typeface="Times New Roman"/>
              <a:cs typeface="Times New Roman"/>
            </a:endParaRPr>
          </a:p>
          <a:p>
            <a:pPr marL="50165">
              <a:lnSpc>
                <a:spcPts val="735"/>
              </a:lnSpc>
            </a:pPr>
            <a:r>
              <a:rPr sz="500" dirty="0">
                <a:latin typeface="Times New Roman"/>
                <a:cs typeface="Times New Roman"/>
              </a:rPr>
              <a:t>6</a:t>
            </a:r>
            <a:r>
              <a:rPr sz="500" spc="455" dirty="0">
                <a:latin typeface="Times New Roman"/>
                <a:cs typeface="Times New Roman"/>
              </a:rPr>
              <a:t> </a:t>
            </a:r>
            <a:r>
              <a:rPr sz="700" spc="120" dirty="0">
                <a:latin typeface="Times New Roman"/>
                <a:cs typeface="Times New Roman"/>
              </a:rPr>
              <a:t>t1</a:t>
            </a:r>
            <a:r>
              <a:rPr sz="700" spc="11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60" dirty="0">
                <a:latin typeface="Times New Roman"/>
                <a:cs typeface="Times New Roman"/>
              </a:rPr>
              <a:t>blog._rd((</a:t>
            </a:r>
            <a:r>
              <a:rPr sz="700" spc="60" dirty="0">
                <a:solidFill>
                  <a:srgbClr val="C80000"/>
                </a:solidFill>
                <a:latin typeface="Times New Roman"/>
                <a:cs typeface="Times New Roman"/>
              </a:rPr>
              <a:t>"bob"</a:t>
            </a:r>
            <a:r>
              <a:rPr sz="700" spc="60" dirty="0">
                <a:latin typeface="Times New Roman"/>
                <a:cs typeface="Times New Roman"/>
              </a:rPr>
              <a:t>,</a:t>
            </a:r>
            <a:r>
              <a:rPr sz="700" spc="60" dirty="0">
                <a:solidFill>
                  <a:srgbClr val="C80000"/>
                </a:solidFill>
                <a:latin typeface="Times New Roman"/>
                <a:cs typeface="Times New Roman"/>
              </a:rPr>
              <a:t>"distsys"</a:t>
            </a:r>
            <a:r>
              <a:rPr sz="700" spc="60" dirty="0">
                <a:latin typeface="Times New Roman"/>
                <a:cs typeface="Times New Roman"/>
              </a:rPr>
              <a:t>,</a:t>
            </a:r>
            <a:r>
              <a:rPr sz="700" b="1" spc="60" dirty="0">
                <a:solidFill>
                  <a:srgbClr val="FF0059"/>
                </a:solidFill>
                <a:latin typeface="Times New Roman"/>
                <a:cs typeface="Times New Roman"/>
              </a:rPr>
              <a:t>str</a:t>
            </a:r>
            <a:r>
              <a:rPr sz="700" spc="60" dirty="0">
                <a:latin typeface="Times New Roman"/>
                <a:cs typeface="Times New Roman"/>
              </a:rPr>
              <a:t>))</a:t>
            </a:r>
            <a:endParaRPr sz="700">
              <a:latin typeface="Times New Roman"/>
              <a:cs typeface="Times New Roman"/>
            </a:endParaRPr>
          </a:p>
          <a:p>
            <a:pPr marL="50165">
              <a:lnSpc>
                <a:spcPts val="715"/>
              </a:lnSpc>
            </a:pPr>
            <a:r>
              <a:rPr sz="500" dirty="0">
                <a:latin typeface="Times New Roman"/>
                <a:cs typeface="Times New Roman"/>
              </a:rPr>
              <a:t>7</a:t>
            </a:r>
            <a:r>
              <a:rPr sz="500" spc="455" dirty="0">
                <a:latin typeface="Times New Roman"/>
                <a:cs typeface="Times New Roman"/>
              </a:rPr>
              <a:t> </a:t>
            </a:r>
            <a:r>
              <a:rPr sz="700" spc="120" dirty="0">
                <a:latin typeface="Times New Roman"/>
                <a:cs typeface="Times New Roman"/>
              </a:rPr>
              <a:t>t2</a:t>
            </a:r>
            <a:r>
              <a:rPr sz="700" spc="11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65" dirty="0">
                <a:latin typeface="Times New Roman"/>
                <a:cs typeface="Times New Roman"/>
              </a:rPr>
              <a:t>blog._rd((</a:t>
            </a:r>
            <a:r>
              <a:rPr sz="700" spc="65" dirty="0">
                <a:solidFill>
                  <a:srgbClr val="C80000"/>
                </a:solidFill>
                <a:latin typeface="Times New Roman"/>
                <a:cs typeface="Times New Roman"/>
              </a:rPr>
              <a:t>"alice"</a:t>
            </a:r>
            <a:r>
              <a:rPr sz="700" spc="65" dirty="0">
                <a:latin typeface="Times New Roman"/>
                <a:cs typeface="Times New Roman"/>
              </a:rPr>
              <a:t>,</a:t>
            </a:r>
            <a:r>
              <a:rPr sz="700" spc="65" dirty="0">
                <a:solidFill>
                  <a:srgbClr val="C80000"/>
                </a:solidFill>
                <a:latin typeface="Times New Roman"/>
                <a:cs typeface="Times New Roman"/>
              </a:rPr>
              <a:t>"gtcn"</a:t>
            </a:r>
            <a:r>
              <a:rPr sz="700" spc="65" dirty="0">
                <a:latin typeface="Times New Roman"/>
                <a:cs typeface="Times New Roman"/>
              </a:rPr>
              <a:t>,</a:t>
            </a:r>
            <a:r>
              <a:rPr sz="700" b="1" spc="65" dirty="0">
                <a:solidFill>
                  <a:srgbClr val="FF0059"/>
                </a:solidFill>
                <a:latin typeface="Times New Roman"/>
                <a:cs typeface="Times New Roman"/>
              </a:rPr>
              <a:t>str</a:t>
            </a:r>
            <a:r>
              <a:rPr sz="700" spc="65" dirty="0">
                <a:latin typeface="Times New Roman"/>
                <a:cs typeface="Times New Roman"/>
              </a:rPr>
              <a:t>))</a:t>
            </a:r>
            <a:endParaRPr sz="700">
              <a:latin typeface="Times New Roman"/>
              <a:cs typeface="Times New Roman"/>
            </a:endParaRPr>
          </a:p>
          <a:p>
            <a:pPr marL="50165">
              <a:lnSpc>
                <a:spcPts val="780"/>
              </a:lnSpc>
            </a:pPr>
            <a:r>
              <a:rPr sz="500" dirty="0">
                <a:latin typeface="Times New Roman"/>
                <a:cs typeface="Times New Roman"/>
              </a:rPr>
              <a:t>8</a:t>
            </a:r>
            <a:r>
              <a:rPr sz="500" spc="455" dirty="0">
                <a:latin typeface="Times New Roman"/>
                <a:cs typeface="Times New Roman"/>
              </a:rPr>
              <a:t> </a:t>
            </a:r>
            <a:r>
              <a:rPr sz="700" spc="120" dirty="0">
                <a:latin typeface="Times New Roman"/>
                <a:cs typeface="Times New Roman"/>
              </a:rPr>
              <a:t>t3</a:t>
            </a:r>
            <a:r>
              <a:rPr sz="700" spc="11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55" dirty="0">
                <a:latin typeface="Times New Roman"/>
                <a:cs typeface="Times New Roman"/>
              </a:rPr>
              <a:t>blog._rd((</a:t>
            </a:r>
            <a:r>
              <a:rPr sz="700" spc="55" dirty="0">
                <a:solidFill>
                  <a:srgbClr val="C80000"/>
                </a:solidFill>
                <a:latin typeface="Times New Roman"/>
                <a:cs typeface="Times New Roman"/>
              </a:rPr>
              <a:t>"bob"</a:t>
            </a:r>
            <a:r>
              <a:rPr sz="700" spc="55" dirty="0">
                <a:latin typeface="Times New Roman"/>
                <a:cs typeface="Times New Roman"/>
              </a:rPr>
              <a:t>,</a:t>
            </a:r>
            <a:r>
              <a:rPr sz="700" spc="55" dirty="0">
                <a:solidFill>
                  <a:srgbClr val="C80000"/>
                </a:solidFill>
                <a:latin typeface="Times New Roman"/>
                <a:cs typeface="Times New Roman"/>
              </a:rPr>
              <a:t>"gtcn"</a:t>
            </a:r>
            <a:r>
              <a:rPr sz="700" spc="55" dirty="0">
                <a:latin typeface="Times New Roman"/>
                <a:cs typeface="Times New Roman"/>
              </a:rPr>
              <a:t>,</a:t>
            </a:r>
            <a:r>
              <a:rPr sz="700" b="1" spc="55" dirty="0">
                <a:solidFill>
                  <a:srgbClr val="FF0059"/>
                </a:solidFill>
                <a:latin typeface="Times New Roman"/>
                <a:cs typeface="Times New Roman"/>
              </a:rPr>
              <a:t>str</a:t>
            </a:r>
            <a:r>
              <a:rPr sz="700" spc="55" dirty="0">
                <a:latin typeface="Times New Roman"/>
                <a:cs typeface="Times New Roman"/>
              </a:rPr>
              <a:t>))</a:t>
            </a:r>
            <a:endParaRPr sz="700">
              <a:latin typeface="Times New Roman"/>
              <a:cs typeface="Times New Roman"/>
            </a:endParaRPr>
          </a:p>
          <a:p>
            <a:pPr marL="50165">
              <a:lnSpc>
                <a:spcPts val="560"/>
              </a:lnSpc>
              <a:spcBef>
                <a:spcPts val="80"/>
              </a:spcBef>
            </a:pPr>
            <a:r>
              <a:rPr sz="500" spc="45" dirty="0">
                <a:latin typeface="Times New Roman"/>
                <a:cs typeface="Times New Roman"/>
              </a:rPr>
              <a:t>9</a:t>
            </a:r>
            <a:endParaRPr sz="500">
              <a:latin typeface="Times New Roman"/>
              <a:cs typeface="Times New Roman"/>
            </a:endParaRPr>
          </a:p>
          <a:p>
            <a:pPr marL="12700">
              <a:lnSpc>
                <a:spcPts val="735"/>
              </a:lnSpc>
            </a:pPr>
            <a:r>
              <a:rPr sz="500" dirty="0">
                <a:latin typeface="Times New Roman"/>
                <a:cs typeface="Times New Roman"/>
              </a:rPr>
              <a:t>10</a:t>
            </a:r>
            <a:r>
              <a:rPr sz="500" spc="475" dirty="0">
                <a:latin typeface="Times New Roman"/>
                <a:cs typeface="Times New Roman"/>
              </a:rPr>
              <a:t> </a:t>
            </a:r>
            <a:r>
              <a:rPr sz="700" b="1" spc="65" dirty="0">
                <a:solidFill>
                  <a:srgbClr val="FF0059"/>
                </a:solidFill>
                <a:latin typeface="Times New Roman"/>
                <a:cs typeface="Times New Roman"/>
              </a:rPr>
              <a:t>print</a:t>
            </a:r>
            <a:r>
              <a:rPr sz="700" b="1" spc="95" dirty="0">
                <a:solidFill>
                  <a:srgbClr val="FF0059"/>
                </a:solidFill>
                <a:latin typeface="Times New Roman"/>
                <a:cs typeface="Times New Roman"/>
              </a:rPr>
              <a:t> </a:t>
            </a:r>
            <a:r>
              <a:rPr sz="700" spc="95" dirty="0">
                <a:latin typeface="Times New Roman"/>
                <a:cs typeface="Times New Roman"/>
              </a:rPr>
              <a:t>t1</a:t>
            </a:r>
            <a:endParaRPr sz="700">
              <a:latin typeface="Times New Roman"/>
              <a:cs typeface="Times New Roman"/>
            </a:endParaRPr>
          </a:p>
          <a:p>
            <a:pPr marL="12700">
              <a:lnSpc>
                <a:spcPts val="715"/>
              </a:lnSpc>
            </a:pPr>
            <a:r>
              <a:rPr sz="500" dirty="0">
                <a:latin typeface="Times New Roman"/>
                <a:cs typeface="Times New Roman"/>
              </a:rPr>
              <a:t>11</a:t>
            </a:r>
            <a:r>
              <a:rPr sz="500" spc="475" dirty="0">
                <a:latin typeface="Times New Roman"/>
                <a:cs typeface="Times New Roman"/>
              </a:rPr>
              <a:t> </a:t>
            </a:r>
            <a:r>
              <a:rPr sz="700" b="1" spc="65" dirty="0">
                <a:solidFill>
                  <a:srgbClr val="FF0059"/>
                </a:solidFill>
                <a:latin typeface="Times New Roman"/>
                <a:cs typeface="Times New Roman"/>
              </a:rPr>
              <a:t>print</a:t>
            </a:r>
            <a:r>
              <a:rPr sz="700" b="1" spc="95" dirty="0">
                <a:solidFill>
                  <a:srgbClr val="FF0059"/>
                </a:solidFill>
                <a:latin typeface="Times New Roman"/>
                <a:cs typeface="Times New Roman"/>
              </a:rPr>
              <a:t> </a:t>
            </a:r>
            <a:r>
              <a:rPr sz="700" spc="95" dirty="0">
                <a:latin typeface="Times New Roman"/>
                <a:cs typeface="Times New Roman"/>
              </a:rPr>
              <a:t>t2</a:t>
            </a:r>
            <a:endParaRPr sz="700">
              <a:latin typeface="Times New Roman"/>
              <a:cs typeface="Times New Roman"/>
            </a:endParaRPr>
          </a:p>
          <a:p>
            <a:pPr marL="12700">
              <a:lnSpc>
                <a:spcPts val="780"/>
              </a:lnSpc>
            </a:pPr>
            <a:r>
              <a:rPr sz="500" dirty="0">
                <a:latin typeface="Times New Roman"/>
                <a:cs typeface="Times New Roman"/>
              </a:rPr>
              <a:t>12</a:t>
            </a:r>
            <a:r>
              <a:rPr sz="500" spc="475" dirty="0">
                <a:latin typeface="Times New Roman"/>
                <a:cs typeface="Times New Roman"/>
              </a:rPr>
              <a:t> </a:t>
            </a:r>
            <a:r>
              <a:rPr sz="700" b="1" spc="65" dirty="0">
                <a:solidFill>
                  <a:srgbClr val="FF0059"/>
                </a:solidFill>
                <a:latin typeface="Times New Roman"/>
                <a:cs typeface="Times New Roman"/>
              </a:rPr>
              <a:t>print</a:t>
            </a:r>
            <a:r>
              <a:rPr sz="700" b="1" spc="95" dirty="0">
                <a:solidFill>
                  <a:srgbClr val="FF0059"/>
                </a:solidFill>
                <a:latin typeface="Times New Roman"/>
                <a:cs typeface="Times New Roman"/>
              </a:rPr>
              <a:t> </a:t>
            </a:r>
            <a:r>
              <a:rPr sz="700" spc="95" dirty="0">
                <a:latin typeface="Times New Roman"/>
                <a:cs typeface="Times New Roman"/>
              </a:rPr>
              <a:t>t3</a:t>
            </a:r>
            <a:endParaRPr sz="700">
              <a:latin typeface="Times New Roman"/>
              <a:cs typeface="Times New Roman"/>
            </a:endParaRPr>
          </a:p>
        </p:txBody>
      </p:sp>
      <p:grpSp>
        <p:nvGrpSpPr>
          <p:cNvPr id="42" name="object 14"/>
          <p:cNvGrpSpPr/>
          <p:nvPr/>
        </p:nvGrpSpPr>
        <p:grpSpPr>
          <a:xfrm>
            <a:off x="0" y="3348469"/>
            <a:ext cx="4608195" cy="107950"/>
            <a:chOff x="0" y="3348469"/>
            <a:chExt cx="4608195" cy="107950"/>
          </a:xfrm>
        </p:grpSpPr>
        <p:sp>
          <p:nvSpPr>
            <p:cNvPr id="43" name="object 15"/>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44" name="object 16"/>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45" name="object 17"/>
          <p:cNvSpPr txBox="1"/>
          <p:nvPr/>
        </p:nvSpPr>
        <p:spPr>
          <a:xfrm>
            <a:off x="53467" y="3349927"/>
            <a:ext cx="90424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2" action="ppaction://hlinksldjump"/>
              </a:rPr>
              <a:t>Publish-</a:t>
            </a:r>
            <a:r>
              <a:rPr sz="500" dirty="0">
                <a:latin typeface="Arial"/>
                <a:cs typeface="Arial"/>
                <a:hlinkClick r:id="rId2" action="ppaction://hlinksldjump"/>
              </a:rPr>
              <a:t>subscribe</a:t>
            </a:r>
            <a:r>
              <a:rPr sz="500" spc="30" dirty="0">
                <a:latin typeface="Arial"/>
                <a:cs typeface="Arial"/>
                <a:hlinkClick r:id="rId2" action="ppaction://hlinksldjump"/>
              </a:rPr>
              <a:t> </a:t>
            </a:r>
            <a:r>
              <a:rPr sz="500" spc="-10" dirty="0">
                <a:latin typeface="Arial"/>
                <a:cs typeface="Arial"/>
                <a:hlinkClick r:id="rId2" action="ppaction://hlinksldjump"/>
              </a:rPr>
              <a:t>architectures</a:t>
            </a:r>
            <a:endParaRPr sz="500">
              <a:latin typeface="Arial"/>
              <a:cs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Kiến trúc</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phong cách</a:t>
            </a:r>
            <a:endParaRPr sz="500">
              <a:latin typeface="Arial"/>
              <a:cs typeface="Arial"/>
            </a:endParaRPr>
          </a:p>
        </p:txBody>
      </p:sp>
      <p:sp>
        <p:nvSpPr>
          <p:cNvPr id="5" name="object 5"/>
          <p:cNvSpPr txBox="1"/>
          <p:nvPr/>
        </p:nvSpPr>
        <p:spPr>
          <a:xfrm>
            <a:off x="69900" y="197711"/>
            <a:ext cx="3749040" cy="1233030"/>
          </a:xfrm>
          <a:prstGeom prst="rect">
            <a:avLst/>
          </a:prstGeom>
        </p:spPr>
        <p:txBody>
          <a:bodyPr vert="horz" wrap="square" lIns="0" tIns="12065" rIns="0" bIns="0" rtlCol="0">
            <a:spAutoFit/>
          </a:bodyPr>
          <a:lstStyle/>
          <a:p>
            <a:pPr marL="38100">
              <a:lnSpc>
                <a:spcPct val="100000"/>
              </a:lnSpc>
              <a:spcBef>
                <a:spcPts val="95"/>
              </a:spcBef>
            </a:pPr>
            <a:r>
              <a:rPr lang="en-US" sz="1200" dirty="0" err="1" smtClean="0">
                <a:solidFill>
                  <a:srgbClr val="3333B2"/>
                </a:solidFill>
                <a:latin typeface="Arial"/>
                <a:cs typeface="Arial"/>
              </a:rPr>
              <a:t>Mô</a:t>
            </a:r>
            <a:r>
              <a:rPr lang="en-US" sz="1200" dirty="0" smtClean="0">
                <a:solidFill>
                  <a:srgbClr val="3333B2"/>
                </a:solidFill>
                <a:latin typeface="Arial"/>
                <a:cs typeface="Arial"/>
              </a:rPr>
              <a:t> </a:t>
            </a:r>
            <a:r>
              <a:rPr lang="en-US" sz="1200" dirty="0" err="1" smtClean="0">
                <a:solidFill>
                  <a:srgbClr val="3333B2"/>
                </a:solidFill>
                <a:latin typeface="Arial"/>
                <a:cs typeface="Arial"/>
              </a:rPr>
              <a:t>hình</a:t>
            </a:r>
            <a:r>
              <a:rPr lang="en-US" sz="1200" dirty="0" smtClean="0">
                <a:solidFill>
                  <a:srgbClr val="3333B2"/>
                </a:solidFill>
                <a:latin typeface="Arial"/>
                <a:cs typeface="Arial"/>
              </a:rPr>
              <a:t> Publish-Subscribe</a:t>
            </a:r>
          </a:p>
          <a:p>
            <a:pPr marL="38100">
              <a:lnSpc>
                <a:spcPct val="100000"/>
              </a:lnSpc>
              <a:spcBef>
                <a:spcPts val="95"/>
              </a:spcBef>
            </a:pPr>
            <a:r>
              <a:rPr lang="en-US" sz="1000" dirty="0" err="1" smtClean="0">
                <a:solidFill>
                  <a:srgbClr val="3333B2"/>
                </a:solidFill>
                <a:latin typeface="Arial"/>
                <a:cs typeface="Arial"/>
              </a:rPr>
              <a:t>Vấn</a:t>
            </a:r>
            <a:r>
              <a:rPr lang="en-US" sz="1000" dirty="0" smtClean="0">
                <a:solidFill>
                  <a:srgbClr val="3333B2"/>
                </a:solidFill>
                <a:latin typeface="Arial"/>
                <a:cs typeface="Arial"/>
              </a:rPr>
              <a:t> </a:t>
            </a:r>
            <a:r>
              <a:rPr lang="en-US" sz="1000" dirty="0" err="1" smtClean="0">
                <a:solidFill>
                  <a:srgbClr val="3333B2"/>
                </a:solidFill>
                <a:latin typeface="Arial"/>
                <a:cs typeface="Arial"/>
              </a:rPr>
              <a:t>đề</a:t>
            </a:r>
            <a:r>
              <a:rPr lang="en-US" sz="1000" dirty="0" smtClean="0">
                <a:solidFill>
                  <a:srgbClr val="3333B2"/>
                </a:solidFill>
                <a:latin typeface="Arial"/>
                <a:cs typeface="Arial"/>
              </a:rPr>
              <a:t>: </a:t>
            </a:r>
            <a:r>
              <a:rPr lang="en-US" sz="1000" dirty="0" err="1" smtClean="0">
                <a:solidFill>
                  <a:srgbClr val="3333B2"/>
                </a:solidFill>
                <a:latin typeface="Arial"/>
                <a:cs typeface="Arial"/>
              </a:rPr>
              <a:t>Làm</a:t>
            </a:r>
            <a:r>
              <a:rPr lang="en-US" sz="1000" dirty="0" smtClean="0">
                <a:solidFill>
                  <a:srgbClr val="3333B2"/>
                </a:solidFill>
                <a:latin typeface="Arial"/>
                <a:cs typeface="Arial"/>
              </a:rPr>
              <a:t> </a:t>
            </a:r>
            <a:r>
              <a:rPr lang="en-US" sz="1000" dirty="0" err="1" smtClean="0">
                <a:solidFill>
                  <a:srgbClr val="3333B2"/>
                </a:solidFill>
                <a:latin typeface="Arial"/>
                <a:cs typeface="Arial"/>
              </a:rPr>
              <a:t>thế</a:t>
            </a:r>
            <a:r>
              <a:rPr lang="en-US" sz="1000" dirty="0" smtClean="0">
                <a:solidFill>
                  <a:srgbClr val="3333B2"/>
                </a:solidFill>
                <a:latin typeface="Arial"/>
                <a:cs typeface="Arial"/>
              </a:rPr>
              <a:t> </a:t>
            </a:r>
            <a:r>
              <a:rPr lang="en-US" sz="1000" dirty="0" err="1" smtClean="0">
                <a:solidFill>
                  <a:srgbClr val="3333B2"/>
                </a:solidFill>
                <a:latin typeface="Arial"/>
                <a:cs typeface="Arial"/>
              </a:rPr>
              <a:t>nào</a:t>
            </a:r>
            <a:r>
              <a:rPr lang="en-US" sz="1000" dirty="0" smtClean="0">
                <a:solidFill>
                  <a:srgbClr val="3333B2"/>
                </a:solidFill>
                <a:latin typeface="Arial"/>
                <a:cs typeface="Arial"/>
              </a:rPr>
              <a:t> </a:t>
            </a:r>
            <a:r>
              <a:rPr lang="en-US" sz="1000" dirty="0" err="1" smtClean="0">
                <a:solidFill>
                  <a:srgbClr val="3333B2"/>
                </a:solidFill>
                <a:latin typeface="Arial"/>
                <a:cs typeface="Arial"/>
              </a:rPr>
              <a:t>để</a:t>
            </a:r>
            <a:r>
              <a:rPr lang="en-US" sz="1000" dirty="0" smtClean="0">
                <a:solidFill>
                  <a:srgbClr val="3333B2"/>
                </a:solidFill>
                <a:latin typeface="Arial"/>
                <a:cs typeface="Arial"/>
              </a:rPr>
              <a:t> </a:t>
            </a:r>
            <a:r>
              <a:rPr lang="en-US" sz="1000" dirty="0" err="1" smtClean="0">
                <a:solidFill>
                  <a:srgbClr val="3333B2"/>
                </a:solidFill>
                <a:latin typeface="Arial"/>
                <a:cs typeface="Arial"/>
              </a:rPr>
              <a:t>khớp</a:t>
            </a:r>
            <a:r>
              <a:rPr lang="en-US" sz="1000" dirty="0" smtClean="0">
                <a:solidFill>
                  <a:srgbClr val="3333B2"/>
                </a:solidFill>
                <a:latin typeface="Arial"/>
                <a:cs typeface="Arial"/>
              </a:rPr>
              <a:t> </a:t>
            </a:r>
            <a:r>
              <a:rPr lang="en-US" sz="1000" dirty="0" err="1" smtClean="0">
                <a:solidFill>
                  <a:srgbClr val="3333B2"/>
                </a:solidFill>
                <a:latin typeface="Arial"/>
                <a:cs typeface="Arial"/>
              </a:rPr>
              <a:t>sự</a:t>
            </a:r>
            <a:r>
              <a:rPr lang="en-US" sz="1000" dirty="0" smtClean="0">
                <a:solidFill>
                  <a:srgbClr val="3333B2"/>
                </a:solidFill>
                <a:latin typeface="Arial"/>
                <a:cs typeface="Arial"/>
              </a:rPr>
              <a:t> </a:t>
            </a:r>
            <a:r>
              <a:rPr lang="en-US" sz="1000" dirty="0" err="1" smtClean="0">
                <a:solidFill>
                  <a:srgbClr val="3333B2"/>
                </a:solidFill>
                <a:latin typeface="Arial"/>
                <a:cs typeface="Arial"/>
              </a:rPr>
              <a:t>kiện</a:t>
            </a:r>
            <a:r>
              <a:rPr lang="en-US" sz="1000" dirty="0" smtClean="0">
                <a:solidFill>
                  <a:srgbClr val="3333B2"/>
                </a:solidFill>
                <a:latin typeface="Arial"/>
                <a:cs typeface="Arial"/>
              </a:rPr>
              <a:t>?</a:t>
            </a:r>
          </a:p>
          <a:p>
            <a:pPr marL="38100">
              <a:lnSpc>
                <a:spcPct val="100000"/>
              </a:lnSpc>
              <a:spcBef>
                <a:spcPts val="95"/>
              </a:spcBef>
            </a:pPr>
            <a:r>
              <a:rPr lang="vi-VN" sz="900" dirty="0" smtClean="0">
                <a:latin typeface="Arial"/>
                <a:cs typeface="Arial"/>
              </a:rPr>
              <a:t>Giả sử các sự kiện được mô tả bằng cặp (thuộc tính, giá trị). Có hai cách đăng ký nhận sự kiện:</a:t>
            </a:r>
            <a:endParaRPr lang="en-US" sz="900" dirty="0" smtClean="0">
              <a:latin typeface="Arial"/>
              <a:cs typeface="Arial"/>
            </a:endParaRPr>
          </a:p>
          <a:p>
            <a:pPr marL="209550" indent="-171450">
              <a:lnSpc>
                <a:spcPct val="100000"/>
              </a:lnSpc>
              <a:spcBef>
                <a:spcPts val="95"/>
              </a:spcBef>
              <a:buFont typeface="Arial" panose="020B0604020202020204" pitchFamily="34" charset="0"/>
              <a:buChar char="•"/>
            </a:pPr>
            <a:r>
              <a:rPr lang="en-US" sz="900" dirty="0" err="1" smtClean="0">
                <a:latin typeface="Arial"/>
                <a:cs typeface="Arial"/>
              </a:rPr>
              <a:t>Đăng</a:t>
            </a:r>
            <a:r>
              <a:rPr lang="en-US" sz="900" dirty="0" smtClean="0">
                <a:latin typeface="Arial"/>
                <a:cs typeface="Arial"/>
              </a:rPr>
              <a:t> </a:t>
            </a:r>
            <a:r>
              <a:rPr lang="en-US" sz="900" dirty="0" err="1" smtClean="0">
                <a:latin typeface="Arial"/>
                <a:cs typeface="Arial"/>
              </a:rPr>
              <a:t>ký</a:t>
            </a:r>
            <a:r>
              <a:rPr lang="en-US" sz="900" dirty="0" smtClean="0">
                <a:latin typeface="Arial"/>
                <a:cs typeface="Arial"/>
              </a:rPr>
              <a:t> </a:t>
            </a:r>
            <a:r>
              <a:rPr lang="en-US" sz="900" dirty="0" err="1" smtClean="0">
                <a:latin typeface="Arial"/>
                <a:cs typeface="Arial"/>
              </a:rPr>
              <a:t>theo</a:t>
            </a:r>
            <a:r>
              <a:rPr lang="en-US" sz="900" dirty="0" smtClean="0">
                <a:latin typeface="Arial"/>
                <a:cs typeface="Arial"/>
              </a:rPr>
              <a:t> </a:t>
            </a:r>
            <a:r>
              <a:rPr lang="en-US" sz="900" dirty="0" err="1" smtClean="0">
                <a:latin typeface="Arial"/>
                <a:cs typeface="Arial"/>
              </a:rPr>
              <a:t>chủ</a:t>
            </a:r>
            <a:r>
              <a:rPr lang="en-US" sz="900" dirty="0" smtClean="0">
                <a:latin typeface="Arial"/>
                <a:cs typeface="Arial"/>
              </a:rPr>
              <a:t> </a:t>
            </a:r>
            <a:r>
              <a:rPr lang="en-US" sz="900" dirty="0" err="1" smtClean="0">
                <a:latin typeface="Arial"/>
                <a:cs typeface="Arial"/>
              </a:rPr>
              <a:t>đề</a:t>
            </a:r>
            <a:r>
              <a:rPr lang="en-US" sz="900" dirty="0" smtClean="0">
                <a:latin typeface="Arial"/>
                <a:cs typeface="Arial"/>
              </a:rPr>
              <a:t> (Topic-based subscription): </a:t>
            </a:r>
            <a:r>
              <a:rPr lang="en-US" sz="900" dirty="0" err="1" smtClean="0">
                <a:latin typeface="Arial"/>
                <a:cs typeface="Arial"/>
              </a:rPr>
              <a:t>Xác</a:t>
            </a:r>
            <a:r>
              <a:rPr lang="en-US" sz="900" dirty="0" smtClean="0">
                <a:latin typeface="Arial"/>
                <a:cs typeface="Arial"/>
              </a:rPr>
              <a:t> </a:t>
            </a:r>
            <a:r>
              <a:rPr lang="en-US" sz="900" dirty="0" err="1" smtClean="0">
                <a:latin typeface="Arial"/>
                <a:cs typeface="Arial"/>
              </a:rPr>
              <a:t>định</a:t>
            </a:r>
            <a:r>
              <a:rPr lang="en-US" sz="900" dirty="0" smtClean="0">
                <a:latin typeface="Arial"/>
                <a:cs typeface="Arial"/>
              </a:rPr>
              <a:t> </a:t>
            </a:r>
            <a:r>
              <a:rPr lang="en-US" sz="900" dirty="0" err="1" smtClean="0">
                <a:latin typeface="Arial"/>
                <a:cs typeface="Arial"/>
              </a:rPr>
              <a:t>chuỗi</a:t>
            </a:r>
            <a:r>
              <a:rPr lang="en-US" sz="900" dirty="0" smtClean="0">
                <a:latin typeface="Arial"/>
                <a:cs typeface="Arial"/>
              </a:rPr>
              <a:t> </a:t>
            </a:r>
            <a:r>
              <a:rPr lang="en-US" sz="900" dirty="0" err="1" smtClean="0">
                <a:latin typeface="Arial"/>
                <a:cs typeface="Arial"/>
              </a:rPr>
              <a:t>điều</a:t>
            </a:r>
            <a:r>
              <a:rPr lang="en-US" sz="900" dirty="0" smtClean="0">
                <a:latin typeface="Arial"/>
                <a:cs typeface="Arial"/>
              </a:rPr>
              <a:t> </a:t>
            </a:r>
            <a:r>
              <a:rPr lang="en-US" sz="900" dirty="0" err="1" smtClean="0">
                <a:latin typeface="Arial"/>
                <a:cs typeface="Arial"/>
              </a:rPr>
              <a:t>kiện</a:t>
            </a:r>
            <a:r>
              <a:rPr lang="en-US" sz="900" dirty="0" smtClean="0">
                <a:latin typeface="Arial"/>
                <a:cs typeface="Arial"/>
              </a:rPr>
              <a:t> </a:t>
            </a:r>
            <a:r>
              <a:rPr lang="en-US" sz="900" dirty="0" err="1" smtClean="0">
                <a:latin typeface="Arial"/>
                <a:cs typeface="Arial"/>
              </a:rPr>
              <a:t>theo</a:t>
            </a:r>
            <a:r>
              <a:rPr lang="en-US" sz="900" dirty="0" smtClean="0">
                <a:latin typeface="Arial"/>
                <a:cs typeface="Arial"/>
              </a:rPr>
              <a:t> </a:t>
            </a:r>
            <a:r>
              <a:rPr lang="en-US" sz="900" dirty="0" err="1" smtClean="0">
                <a:latin typeface="Arial"/>
                <a:cs typeface="Arial"/>
              </a:rPr>
              <a:t>dạng</a:t>
            </a:r>
            <a:r>
              <a:rPr lang="en-US" sz="900" dirty="0" smtClean="0">
                <a:latin typeface="Arial"/>
                <a:cs typeface="Arial"/>
              </a:rPr>
              <a:t> "</a:t>
            </a:r>
            <a:r>
              <a:rPr lang="en-US" sz="900" dirty="0" err="1" smtClean="0">
                <a:latin typeface="Arial"/>
                <a:cs typeface="Arial"/>
              </a:rPr>
              <a:t>thuộc</a:t>
            </a:r>
            <a:r>
              <a:rPr lang="en-US" sz="900" dirty="0" smtClean="0">
                <a:latin typeface="Arial"/>
                <a:cs typeface="Arial"/>
              </a:rPr>
              <a:t> </a:t>
            </a:r>
            <a:r>
              <a:rPr lang="en-US" sz="900" dirty="0" err="1" smtClean="0">
                <a:latin typeface="Arial"/>
                <a:cs typeface="Arial"/>
              </a:rPr>
              <a:t>tính</a:t>
            </a:r>
            <a:r>
              <a:rPr lang="en-US" sz="900" dirty="0" smtClean="0">
                <a:latin typeface="Arial"/>
                <a:cs typeface="Arial"/>
              </a:rPr>
              <a:t> = </a:t>
            </a:r>
            <a:r>
              <a:rPr lang="en-US" sz="900" dirty="0" err="1" smtClean="0">
                <a:latin typeface="Arial"/>
                <a:cs typeface="Arial"/>
              </a:rPr>
              <a:t>giá</a:t>
            </a:r>
            <a:r>
              <a:rPr lang="en-US" sz="900" dirty="0" smtClean="0">
                <a:latin typeface="Arial"/>
                <a:cs typeface="Arial"/>
              </a:rPr>
              <a:t> </a:t>
            </a:r>
            <a:r>
              <a:rPr lang="en-US" sz="900" dirty="0" err="1" smtClean="0">
                <a:latin typeface="Arial"/>
                <a:cs typeface="Arial"/>
              </a:rPr>
              <a:t>trị</a:t>
            </a:r>
            <a:r>
              <a:rPr lang="en-US" sz="900" dirty="0" smtClean="0">
                <a:latin typeface="Arial"/>
                <a:cs typeface="Arial"/>
              </a:rPr>
              <a:t>".</a:t>
            </a:r>
          </a:p>
          <a:p>
            <a:pPr marL="209550" indent="-171450">
              <a:lnSpc>
                <a:spcPct val="100000"/>
              </a:lnSpc>
              <a:spcBef>
                <a:spcPts val="95"/>
              </a:spcBef>
              <a:buFont typeface="Arial" panose="020B0604020202020204" pitchFamily="34" charset="0"/>
              <a:buChar char="•"/>
            </a:pPr>
            <a:r>
              <a:rPr lang="en-US" sz="900" dirty="0" err="1" smtClean="0">
                <a:latin typeface="Arial"/>
                <a:cs typeface="Arial"/>
              </a:rPr>
              <a:t>Đăng</a:t>
            </a:r>
            <a:r>
              <a:rPr lang="en-US" sz="900" dirty="0" smtClean="0">
                <a:latin typeface="Arial"/>
                <a:cs typeface="Arial"/>
              </a:rPr>
              <a:t> </a:t>
            </a:r>
            <a:r>
              <a:rPr lang="en-US" sz="900" dirty="0" err="1" smtClean="0">
                <a:latin typeface="Arial"/>
                <a:cs typeface="Arial"/>
              </a:rPr>
              <a:t>ký</a:t>
            </a:r>
            <a:r>
              <a:rPr lang="en-US" sz="900" dirty="0" smtClean="0">
                <a:latin typeface="Arial"/>
                <a:cs typeface="Arial"/>
              </a:rPr>
              <a:t> </a:t>
            </a:r>
            <a:r>
              <a:rPr lang="en-US" sz="900" dirty="0" err="1" smtClean="0">
                <a:latin typeface="Arial"/>
                <a:cs typeface="Arial"/>
              </a:rPr>
              <a:t>theo</a:t>
            </a:r>
            <a:r>
              <a:rPr lang="en-US" sz="900" dirty="0" smtClean="0">
                <a:latin typeface="Arial"/>
                <a:cs typeface="Arial"/>
              </a:rPr>
              <a:t> nội dung (Content-based subscription): </a:t>
            </a:r>
            <a:r>
              <a:rPr lang="en-US" sz="900" dirty="0" err="1" smtClean="0">
                <a:latin typeface="Arial"/>
                <a:cs typeface="Arial"/>
              </a:rPr>
              <a:t>Xác</a:t>
            </a:r>
            <a:r>
              <a:rPr lang="en-US" sz="900" dirty="0" smtClean="0">
                <a:latin typeface="Arial"/>
                <a:cs typeface="Arial"/>
              </a:rPr>
              <a:t> </a:t>
            </a:r>
            <a:r>
              <a:rPr lang="en-US" sz="900" dirty="0" err="1" smtClean="0">
                <a:latin typeface="Arial"/>
                <a:cs typeface="Arial"/>
              </a:rPr>
              <a:t>định</a:t>
            </a:r>
            <a:r>
              <a:rPr lang="en-US" sz="900" dirty="0" smtClean="0">
                <a:latin typeface="Arial"/>
                <a:cs typeface="Arial"/>
              </a:rPr>
              <a:t> </a:t>
            </a:r>
            <a:r>
              <a:rPr lang="en-US" sz="900" dirty="0" err="1" smtClean="0">
                <a:latin typeface="Arial"/>
                <a:cs typeface="Arial"/>
              </a:rPr>
              <a:t>chuỗi</a:t>
            </a:r>
            <a:r>
              <a:rPr lang="en-US" sz="900" dirty="0" smtClean="0">
                <a:latin typeface="Arial"/>
                <a:cs typeface="Arial"/>
              </a:rPr>
              <a:t> </a:t>
            </a:r>
            <a:r>
              <a:rPr lang="en-US" sz="900" dirty="0" err="1" smtClean="0">
                <a:latin typeface="Arial"/>
                <a:cs typeface="Arial"/>
              </a:rPr>
              <a:t>điều</a:t>
            </a:r>
            <a:r>
              <a:rPr lang="en-US" sz="900" dirty="0" smtClean="0">
                <a:latin typeface="Arial"/>
                <a:cs typeface="Arial"/>
              </a:rPr>
              <a:t> </a:t>
            </a:r>
            <a:r>
              <a:rPr lang="en-US" sz="900" dirty="0" err="1" smtClean="0">
                <a:latin typeface="Arial"/>
                <a:cs typeface="Arial"/>
              </a:rPr>
              <a:t>kiện</a:t>
            </a:r>
            <a:r>
              <a:rPr lang="en-US" sz="900" dirty="0" smtClean="0">
                <a:latin typeface="Arial"/>
                <a:cs typeface="Arial"/>
              </a:rPr>
              <a:t> </a:t>
            </a:r>
            <a:r>
              <a:rPr lang="en-US" sz="900" dirty="0" err="1" smtClean="0">
                <a:latin typeface="Arial"/>
                <a:cs typeface="Arial"/>
              </a:rPr>
              <a:t>theo</a:t>
            </a:r>
            <a:r>
              <a:rPr lang="en-US" sz="900" dirty="0" smtClean="0">
                <a:latin typeface="Arial"/>
                <a:cs typeface="Arial"/>
              </a:rPr>
              <a:t> </a:t>
            </a:r>
            <a:r>
              <a:rPr lang="en-US" sz="900" dirty="0" err="1" smtClean="0">
                <a:latin typeface="Arial"/>
                <a:cs typeface="Arial"/>
              </a:rPr>
              <a:t>dạng</a:t>
            </a:r>
            <a:r>
              <a:rPr lang="en-US" sz="900" dirty="0" smtClean="0">
                <a:latin typeface="Arial"/>
                <a:cs typeface="Arial"/>
              </a:rPr>
              <a:t> "</a:t>
            </a:r>
            <a:r>
              <a:rPr lang="en-US" sz="900" dirty="0" err="1" smtClean="0">
                <a:latin typeface="Arial"/>
                <a:cs typeface="Arial"/>
              </a:rPr>
              <a:t>thuộc</a:t>
            </a:r>
            <a:r>
              <a:rPr lang="en-US" sz="900" dirty="0" smtClean="0">
                <a:latin typeface="Arial"/>
                <a:cs typeface="Arial"/>
              </a:rPr>
              <a:t> </a:t>
            </a:r>
            <a:r>
              <a:rPr lang="en-US" sz="900" dirty="0" err="1" smtClean="0">
                <a:latin typeface="Arial"/>
                <a:cs typeface="Arial"/>
              </a:rPr>
              <a:t>tính</a:t>
            </a:r>
            <a:r>
              <a:rPr lang="en-US" sz="900" dirty="0" smtClean="0">
                <a:latin typeface="Arial"/>
                <a:cs typeface="Arial"/>
              </a:rPr>
              <a:t> ∈ </a:t>
            </a:r>
            <a:r>
              <a:rPr lang="en-US" sz="900" dirty="0" err="1" smtClean="0">
                <a:latin typeface="Arial"/>
                <a:cs typeface="Arial"/>
              </a:rPr>
              <a:t>khoảng</a:t>
            </a:r>
            <a:r>
              <a:rPr lang="en-US" sz="900" dirty="0" smtClean="0">
                <a:latin typeface="Arial"/>
                <a:cs typeface="Arial"/>
              </a:rPr>
              <a:t> </a:t>
            </a:r>
            <a:r>
              <a:rPr lang="en-US" sz="900" dirty="0" err="1" smtClean="0">
                <a:latin typeface="Arial"/>
                <a:cs typeface="Arial"/>
              </a:rPr>
              <a:t>giá</a:t>
            </a:r>
            <a:r>
              <a:rPr lang="en-US" sz="900" dirty="0" smtClean="0">
                <a:latin typeface="Arial"/>
                <a:cs typeface="Arial"/>
              </a:rPr>
              <a:t> </a:t>
            </a:r>
            <a:r>
              <a:rPr lang="en-US" sz="900" dirty="0" err="1" smtClean="0">
                <a:latin typeface="Arial"/>
                <a:cs typeface="Arial"/>
              </a:rPr>
              <a:t>trị</a:t>
            </a:r>
            <a:r>
              <a:rPr lang="en-US" sz="900" dirty="0" smtClean="0">
                <a:latin typeface="Arial"/>
                <a:cs typeface="Arial"/>
              </a:rPr>
              <a:t>".</a:t>
            </a:r>
          </a:p>
        </p:txBody>
      </p:sp>
      <p:pic>
        <p:nvPicPr>
          <p:cNvPr id="6" name="object 6"/>
          <p:cNvPicPr/>
          <p:nvPr/>
        </p:nvPicPr>
        <p:blipFill>
          <a:blip r:embed="rId3" cstate="print"/>
          <a:stretch>
            <a:fillRect/>
          </a:stretch>
        </p:blipFill>
        <p:spPr>
          <a:xfrm>
            <a:off x="628650" y="1577975"/>
            <a:ext cx="3144591" cy="1092890"/>
          </a:xfrm>
          <a:prstGeom prst="rect">
            <a:avLst/>
          </a:prstGeom>
        </p:spPr>
      </p:pic>
      <p:sp>
        <p:nvSpPr>
          <p:cNvPr id="7" name="object 7"/>
          <p:cNvSpPr txBox="1"/>
          <p:nvPr/>
        </p:nvSpPr>
        <p:spPr>
          <a:xfrm>
            <a:off x="6979" y="2568575"/>
            <a:ext cx="4610100" cy="786754"/>
          </a:xfrm>
          <a:prstGeom prst="rect">
            <a:avLst/>
          </a:prstGeom>
        </p:spPr>
        <p:txBody>
          <a:bodyPr vert="horz" wrap="square" lIns="0" tIns="27305" rIns="0" bIns="0" rtlCol="0">
            <a:spAutoFit/>
          </a:bodyPr>
          <a:lstStyle/>
          <a:p>
            <a:pPr marL="15875">
              <a:lnSpc>
                <a:spcPct val="100000"/>
              </a:lnSpc>
              <a:spcBef>
                <a:spcPts val="215"/>
              </a:spcBef>
            </a:pPr>
            <a:r>
              <a:rPr lang="en-US" sz="1000" spc="-10" dirty="0" err="1" smtClean="0">
                <a:solidFill>
                  <a:srgbClr val="C80000"/>
                </a:solidFill>
                <a:latin typeface="Arial"/>
                <a:cs typeface="Arial"/>
              </a:rPr>
              <a:t>Nhận</a:t>
            </a:r>
            <a:r>
              <a:rPr lang="en-US" sz="1000" spc="-10" dirty="0" smtClean="0">
                <a:solidFill>
                  <a:srgbClr val="C80000"/>
                </a:solidFill>
                <a:latin typeface="Arial"/>
                <a:cs typeface="Arial"/>
              </a:rPr>
              <a:t> </a:t>
            </a:r>
            <a:r>
              <a:rPr lang="en-US" sz="1000" spc="-10" dirty="0" err="1" smtClean="0">
                <a:solidFill>
                  <a:srgbClr val="C80000"/>
                </a:solidFill>
                <a:latin typeface="Arial"/>
                <a:cs typeface="Arial"/>
              </a:rPr>
              <a:t>xét</a:t>
            </a:r>
            <a:endParaRPr lang="en-US" sz="1000" spc="-10" dirty="0" smtClean="0">
              <a:solidFill>
                <a:srgbClr val="C80000"/>
              </a:solidFill>
              <a:latin typeface="Arial"/>
              <a:cs typeface="Arial"/>
            </a:endParaRPr>
          </a:p>
          <a:p>
            <a:pPr marL="15875">
              <a:lnSpc>
                <a:spcPct val="100000"/>
              </a:lnSpc>
              <a:spcBef>
                <a:spcPts val="215"/>
              </a:spcBef>
            </a:pPr>
            <a:r>
              <a:rPr lang="vi-VN" sz="900" dirty="0" smtClean="0">
                <a:latin typeface="Arial"/>
                <a:cs typeface="Arial"/>
              </a:rPr>
              <a:t>Đăng ký theo nội dung có thể gặp vấn đề nghiêm trọng về khả năng mở rộng (scalability problems).</a:t>
            </a:r>
          </a:p>
          <a:p>
            <a:pPr marL="15875">
              <a:lnSpc>
                <a:spcPct val="100000"/>
              </a:lnSpc>
              <a:spcBef>
                <a:spcPts val="215"/>
              </a:spcBef>
            </a:pPr>
            <a:r>
              <a:rPr lang="vi-VN" sz="900" dirty="0" smtClean="0">
                <a:latin typeface="Arial"/>
                <a:cs typeface="Arial"/>
              </a:rPr>
              <a:t>Lý do? Khi số lượng người đăng ký lớn và bộ lọc nội dung trở nên phức tạp, hệ thống phải xử lý nhiều điều kiện so khớp hơn, làm tăng độ trễ và tiêu tốn tài nguyên.</a:t>
            </a:r>
            <a:endParaRPr sz="900" dirty="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90424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Đăng tải </a:t>
            </a:r>
            <a:r>
              <a:rPr sz="500" dirty="0">
                <a:latin typeface="Arial"/>
                <a:cs typeface="Arial"/>
                <a:hlinkClick r:id="rId4" action="ppaction://hlinksldjump"/>
              </a:rPr>
              <a:t>-đăng ký</a:t>
            </a:r>
            <a:r>
              <a:rPr sz="500" spc="30" dirty="0">
                <a:latin typeface="Arial"/>
                <a:cs typeface="Arial"/>
                <a:hlinkClick r:id="rId4" action="ppaction://hlinksldjump"/>
              </a:rPr>
              <a:t> </a:t>
            </a:r>
            <a:r>
              <a:rPr sz="500" spc="-10" dirty="0">
                <a:latin typeface="Arial"/>
                <a:cs typeface="Arial"/>
                <a:hlinkClick r:id="rId4" action="ppaction://hlinksldjump"/>
              </a:rPr>
              <a:t>kiến trúc</a:t>
            </a:r>
            <a:endParaRPr sz="500">
              <a:latin typeface="Arial"/>
              <a:cs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526167" y="-1515"/>
            <a:ext cx="10287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mềm trung gian </a:t>
            </a:r>
            <a:r>
              <a:rPr sz="500" dirty="0">
                <a:solidFill>
                  <a:srgbClr val="FFFFFF"/>
                </a:solidFill>
                <a:latin typeface="Arial"/>
                <a:cs typeface="Arial"/>
                <a:hlinkClick r:id="rId3" action="ppaction://hlinksldjump"/>
              </a:rPr>
              <a:t>và </a:t>
            </a:r>
            <a:r>
              <a:rPr sz="500" spc="-10" dirty="0">
                <a:solidFill>
                  <a:srgbClr val="FFFFFF"/>
                </a:solidFill>
                <a:latin typeface="Arial"/>
                <a:cs typeface="Arial"/>
                <a:hlinkClick r:id="rId3" action="ppaction://hlinksldjump"/>
              </a:rPr>
              <a:t>hệ thống phân tán</a:t>
            </a:r>
            <a:endParaRPr sz="500">
              <a:latin typeface="Arial"/>
              <a:cs typeface="Arial"/>
            </a:endParaRPr>
          </a:p>
        </p:txBody>
      </p:sp>
      <p:sp>
        <p:nvSpPr>
          <p:cNvPr id="5" name="object 5"/>
          <p:cNvSpPr txBox="1"/>
          <p:nvPr/>
        </p:nvSpPr>
        <p:spPr>
          <a:xfrm>
            <a:off x="95300" y="197711"/>
            <a:ext cx="287337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Phần mềm trung gian:</a:t>
            </a:r>
            <a:r>
              <a:rPr sz="1200" spc="20" dirty="0">
                <a:solidFill>
                  <a:srgbClr val="3333B2"/>
                </a:solidFill>
                <a:latin typeface="Arial"/>
                <a:cs typeface="Arial"/>
              </a:rPr>
              <a:t> </a:t>
            </a:r>
            <a:r>
              <a:rPr sz="1200" dirty="0">
                <a:solidFill>
                  <a:srgbClr val="3333B2"/>
                </a:solidFill>
                <a:latin typeface="Arial"/>
                <a:cs typeface="Arial"/>
              </a:rPr>
              <a:t>cái</a:t>
            </a:r>
            <a:r>
              <a:rPr sz="1200" spc="-45" dirty="0">
                <a:solidFill>
                  <a:srgbClr val="3333B2"/>
                </a:solidFill>
                <a:latin typeface="Arial"/>
                <a:cs typeface="Arial"/>
              </a:rPr>
              <a:t> </a:t>
            </a:r>
            <a:r>
              <a:rPr sz="1200" dirty="0">
                <a:solidFill>
                  <a:srgbClr val="3333B2"/>
                </a:solidFill>
                <a:latin typeface="Arial"/>
                <a:cs typeface="Arial"/>
              </a:rPr>
              <a:t>Hệ điều hành</a:t>
            </a:r>
            <a:r>
              <a:rPr sz="1200" spc="-50" dirty="0">
                <a:solidFill>
                  <a:srgbClr val="3333B2"/>
                </a:solidFill>
                <a:latin typeface="Arial"/>
                <a:cs typeface="Arial"/>
              </a:rPr>
              <a:t> </a:t>
            </a:r>
            <a:r>
              <a:rPr sz="1200" dirty="0">
                <a:solidFill>
                  <a:srgbClr val="3333B2"/>
                </a:solidFill>
                <a:latin typeface="Arial"/>
                <a:cs typeface="Arial"/>
              </a:rPr>
              <a:t>của</a:t>
            </a:r>
            <a:r>
              <a:rPr sz="1200" spc="-45" dirty="0">
                <a:solidFill>
                  <a:srgbClr val="3333B2"/>
                </a:solidFill>
                <a:latin typeface="Arial"/>
                <a:cs typeface="Arial"/>
              </a:rPr>
              <a:t> </a:t>
            </a:r>
            <a:r>
              <a:rPr sz="1200" dirty="0">
                <a:solidFill>
                  <a:srgbClr val="3333B2"/>
                </a:solidFill>
                <a:latin typeface="Arial"/>
                <a:cs typeface="Arial"/>
              </a:rPr>
              <a:t>phân phối</a:t>
            </a:r>
            <a:r>
              <a:rPr sz="1200" spc="-45" dirty="0">
                <a:solidFill>
                  <a:srgbClr val="3333B2"/>
                </a:solidFill>
                <a:latin typeface="Arial"/>
                <a:cs typeface="Arial"/>
              </a:rPr>
              <a:t> </a:t>
            </a:r>
            <a:r>
              <a:rPr sz="1200" spc="-10" dirty="0">
                <a:solidFill>
                  <a:srgbClr val="3333B2"/>
                </a:solidFill>
                <a:latin typeface="Arial"/>
                <a:cs typeface="Arial"/>
              </a:rPr>
              <a:t>hệ thống</a:t>
            </a:r>
            <a:endParaRPr sz="1200">
              <a:latin typeface="Arial"/>
              <a:cs typeface="Arial"/>
            </a:endParaRPr>
          </a:p>
        </p:txBody>
      </p:sp>
      <p:pic>
        <p:nvPicPr>
          <p:cNvPr id="6" name="object 6"/>
          <p:cNvPicPr/>
          <p:nvPr/>
        </p:nvPicPr>
        <p:blipFill>
          <a:blip r:embed="rId4" cstate="print"/>
          <a:stretch>
            <a:fillRect/>
          </a:stretch>
        </p:blipFill>
        <p:spPr>
          <a:xfrm>
            <a:off x="700128" y="452761"/>
            <a:ext cx="3178743" cy="1586606"/>
          </a:xfrm>
          <a:prstGeom prst="rect">
            <a:avLst/>
          </a:prstGeom>
        </p:spPr>
      </p:pic>
      <p:sp>
        <p:nvSpPr>
          <p:cNvPr id="7" name="object 7"/>
          <p:cNvSpPr txBox="1"/>
          <p:nvPr/>
        </p:nvSpPr>
        <p:spPr>
          <a:xfrm>
            <a:off x="341350" y="2103740"/>
            <a:ext cx="3902710" cy="496570"/>
          </a:xfrm>
          <a:prstGeom prst="rect">
            <a:avLst/>
          </a:prstGeom>
        </p:spPr>
        <p:txBody>
          <a:bodyPr vert="horz" wrap="square" lIns="0" tIns="27305" rIns="0" bIns="0" rtlCol="0">
            <a:spAutoFit/>
          </a:bodyPr>
          <a:lstStyle/>
          <a:p>
            <a:pPr marL="12700">
              <a:lnSpc>
                <a:spcPct val="100000"/>
              </a:lnSpc>
              <a:spcBef>
                <a:spcPts val="215"/>
              </a:spcBef>
            </a:pPr>
            <a:r>
              <a:rPr sz="1000" dirty="0">
                <a:solidFill>
                  <a:srgbClr val="3333B2"/>
                </a:solidFill>
                <a:latin typeface="Arial"/>
                <a:cs typeface="Arial"/>
              </a:rPr>
              <a:t>Cái gì</a:t>
            </a:r>
            <a:r>
              <a:rPr sz="1000" spc="-35" dirty="0">
                <a:solidFill>
                  <a:srgbClr val="3333B2"/>
                </a:solidFill>
                <a:latin typeface="Arial"/>
                <a:cs typeface="Arial"/>
              </a:rPr>
              <a:t> </a:t>
            </a:r>
            <a:r>
              <a:rPr sz="1000" dirty="0">
                <a:solidFill>
                  <a:srgbClr val="3333B2"/>
                </a:solidFill>
                <a:latin typeface="Arial"/>
                <a:cs typeface="Arial"/>
              </a:rPr>
              <a:t>làm</a:t>
            </a:r>
            <a:r>
              <a:rPr sz="1000" spc="-20" dirty="0">
                <a:solidFill>
                  <a:srgbClr val="3333B2"/>
                </a:solidFill>
                <a:latin typeface="Arial"/>
                <a:cs typeface="Arial"/>
              </a:rPr>
              <a:t> </a:t>
            </a:r>
            <a:r>
              <a:rPr sz="1000" dirty="0">
                <a:solidFill>
                  <a:srgbClr val="3333B2"/>
                </a:solidFill>
                <a:latin typeface="Arial"/>
                <a:cs typeface="Arial"/>
              </a:rPr>
              <a:t>Nó</a:t>
            </a:r>
            <a:r>
              <a:rPr sz="1000" spc="-20" dirty="0">
                <a:solidFill>
                  <a:srgbClr val="3333B2"/>
                </a:solidFill>
                <a:latin typeface="Arial"/>
                <a:cs typeface="Arial"/>
              </a:rPr>
              <a:t> </a:t>
            </a:r>
            <a:r>
              <a:rPr sz="1000" spc="-10" dirty="0">
                <a:solidFill>
                  <a:srgbClr val="3333B2"/>
                </a:solidFill>
                <a:latin typeface="Arial"/>
                <a:cs typeface="Arial"/>
              </a:rPr>
              <a:t>bao gồm?</a:t>
            </a:r>
            <a:endParaRPr sz="1000">
              <a:latin typeface="Arial"/>
              <a:cs typeface="Arial"/>
            </a:endParaRPr>
          </a:p>
          <a:p>
            <a:pPr marL="18415" marR="5080">
              <a:lnSpc>
                <a:spcPts val="1210"/>
              </a:lnSpc>
              <a:spcBef>
                <a:spcPts val="35"/>
              </a:spcBef>
            </a:pPr>
            <a:r>
              <a:rPr sz="900" dirty="0">
                <a:latin typeface="Arial"/>
                <a:cs typeface="Arial"/>
              </a:rPr>
              <a:t>Thông thường</a:t>
            </a:r>
            <a:r>
              <a:rPr sz="900" spc="-35" dirty="0">
                <a:latin typeface="Arial"/>
                <a:cs typeface="Arial"/>
              </a:rPr>
              <a:t> </a:t>
            </a:r>
            <a:r>
              <a:rPr sz="900" dirty="0">
                <a:latin typeface="Arial"/>
                <a:cs typeface="Arial"/>
              </a:rPr>
              <a:t>đã sử dụng</a:t>
            </a:r>
            <a:r>
              <a:rPr sz="900" spc="-30" dirty="0">
                <a:latin typeface="Arial"/>
                <a:cs typeface="Arial"/>
              </a:rPr>
              <a:t> </a:t>
            </a:r>
            <a:r>
              <a:rPr sz="900" dirty="0">
                <a:latin typeface="Arial"/>
                <a:cs typeface="Arial"/>
              </a:rPr>
              <a:t>thành phần</a:t>
            </a:r>
            <a:r>
              <a:rPr sz="900" spc="-35" dirty="0">
                <a:latin typeface="Arial"/>
                <a:cs typeface="Arial"/>
              </a:rPr>
              <a:t> </a:t>
            </a:r>
            <a:r>
              <a:rPr sz="900" dirty="0">
                <a:latin typeface="Arial"/>
                <a:cs typeface="Arial"/>
              </a:rPr>
              <a:t>Và</a:t>
            </a:r>
            <a:r>
              <a:rPr sz="900" spc="-30" dirty="0">
                <a:latin typeface="Arial"/>
                <a:cs typeface="Arial"/>
              </a:rPr>
              <a:t> </a:t>
            </a:r>
            <a:r>
              <a:rPr sz="900" dirty="0">
                <a:latin typeface="Arial"/>
                <a:cs typeface="Arial"/>
              </a:rPr>
              <a:t>chức năng</a:t>
            </a:r>
            <a:r>
              <a:rPr sz="900" spc="-35" dirty="0">
                <a:latin typeface="Arial"/>
                <a:cs typeface="Arial"/>
              </a:rPr>
              <a:t> </a:t>
            </a:r>
            <a:r>
              <a:rPr sz="900" dirty="0">
                <a:latin typeface="Arial"/>
                <a:cs typeface="Arial"/>
              </a:rPr>
              <a:t>cái đó</a:t>
            </a:r>
            <a:r>
              <a:rPr sz="900" spc="-30" dirty="0">
                <a:latin typeface="Arial"/>
                <a:cs typeface="Arial"/>
              </a:rPr>
              <a:t> </a:t>
            </a:r>
            <a:r>
              <a:rPr sz="900" dirty="0">
                <a:latin typeface="Arial"/>
                <a:cs typeface="Arial"/>
              </a:rPr>
              <a:t>nhu cầu</a:t>
            </a:r>
            <a:r>
              <a:rPr sz="900" spc="-35" dirty="0">
                <a:latin typeface="Arial"/>
                <a:cs typeface="Arial"/>
              </a:rPr>
              <a:t> </a:t>
            </a:r>
            <a:r>
              <a:rPr sz="900" dirty="0">
                <a:latin typeface="Arial"/>
                <a:cs typeface="Arial"/>
              </a:rPr>
              <a:t>không</a:t>
            </a:r>
            <a:r>
              <a:rPr sz="900" spc="-30" dirty="0">
                <a:latin typeface="Arial"/>
                <a:cs typeface="Arial"/>
              </a:rPr>
              <a:t> </a:t>
            </a:r>
            <a:r>
              <a:rPr sz="900" dirty="0">
                <a:latin typeface="Arial"/>
                <a:cs typeface="Arial"/>
              </a:rPr>
              <a:t>là</a:t>
            </a:r>
            <a:r>
              <a:rPr sz="900" spc="-30" dirty="0">
                <a:latin typeface="Arial"/>
                <a:cs typeface="Arial"/>
              </a:rPr>
              <a:t> </a:t>
            </a:r>
            <a:r>
              <a:rPr sz="900" dirty="0">
                <a:latin typeface="Arial"/>
                <a:cs typeface="Arial"/>
              </a:rPr>
              <a:t>đã thực hiện</a:t>
            </a:r>
            <a:r>
              <a:rPr sz="900" spc="-35" dirty="0">
                <a:latin typeface="Arial"/>
                <a:cs typeface="Arial"/>
              </a:rPr>
              <a:t> </a:t>
            </a:r>
            <a:r>
              <a:rPr sz="900" spc="-25" dirty="0">
                <a:latin typeface="Arial"/>
                <a:cs typeface="Arial"/>
              </a:rPr>
              <a:t>bằng </a:t>
            </a:r>
            <a:r>
              <a:rPr sz="900" dirty="0">
                <a:latin typeface="Arial"/>
                <a:cs typeface="Arial"/>
              </a:rPr>
              <a:t>các ứng dụng</a:t>
            </a:r>
            <a:r>
              <a:rPr sz="900" spc="-55" dirty="0">
                <a:latin typeface="Arial"/>
                <a:cs typeface="Arial"/>
              </a:rPr>
              <a:t> </a:t>
            </a:r>
            <a:r>
              <a:rPr sz="900" spc="-10" dirty="0">
                <a:latin typeface="Arial"/>
                <a:cs typeface="Arial"/>
              </a:rPr>
              <a:t>riêng.</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484879" algn="l"/>
              </a:tabLst>
            </a:pPr>
            <a:r>
              <a:rPr sz="500" spc="-10" dirty="0">
                <a:latin typeface="Arial"/>
                <a:cs typeface="Arial"/>
                <a:hlinkClick r:id="rId2" action="ppaction://hlinksldjump"/>
              </a:rPr>
              <a:t>Kiến trúc</a:t>
            </a:r>
            <a:r>
              <a:rPr sz="500" dirty="0">
                <a:latin typeface="Arial"/>
                <a:cs typeface="Arial"/>
              </a:rPr>
              <a:t> Phần </a:t>
            </a:r>
            <a:r>
              <a:rPr sz="500" spc="-10" dirty="0">
                <a:solidFill>
                  <a:srgbClr val="FFFFFF"/>
                </a:solidFill>
                <a:latin typeface="Arial"/>
                <a:cs typeface="Arial"/>
                <a:hlinkClick r:id="rId3" action="ppaction://hlinksldjump"/>
              </a:rPr>
              <a:t>mềm trung gian </a:t>
            </a:r>
            <a:r>
              <a:rPr sz="500" dirty="0">
                <a:solidFill>
                  <a:srgbClr val="FFFFFF"/>
                </a:solidFill>
                <a:latin typeface="Arial"/>
                <a:cs typeface="Arial"/>
                <a:hlinkClick r:id="rId3" action="ppaction://hlinksldjump"/>
              </a:rPr>
              <a:t>và </a:t>
            </a:r>
            <a:r>
              <a:rPr sz="500" spc="-10" dirty="0">
                <a:solidFill>
                  <a:srgbClr val="FFFFFF"/>
                </a:solidFill>
                <a:latin typeface="Arial"/>
                <a:cs typeface="Arial"/>
                <a:hlinkClick r:id="rId3" action="ppaction://hlinksldjump"/>
              </a:rPr>
              <a:t>hệ thống phân tán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Sử dụng</a:t>
            </a:r>
            <a:r>
              <a:rPr spc="-40" dirty="0"/>
              <a:t> </a:t>
            </a:r>
            <a:r>
              <a:rPr dirty="0"/>
              <a:t>di sản</a:t>
            </a:r>
            <a:r>
              <a:rPr spc="-35" dirty="0"/>
              <a:t> </a:t>
            </a:r>
            <a:r>
              <a:rPr dirty="0"/>
              <a:t>ĐẾN</a:t>
            </a:r>
            <a:r>
              <a:rPr spc="-35" dirty="0"/>
              <a:t> </a:t>
            </a:r>
            <a:r>
              <a:rPr dirty="0"/>
              <a:t>xây dựng</a:t>
            </a:r>
            <a:r>
              <a:rPr spc="-40" dirty="0"/>
              <a:t> </a:t>
            </a:r>
            <a:r>
              <a:rPr spc="-10" dirty="0"/>
              <a:t>phần mềm trung gian</a:t>
            </a:r>
          </a:p>
        </p:txBody>
      </p:sp>
      <p:sp>
        <p:nvSpPr>
          <p:cNvPr id="4" name="object 4"/>
          <p:cNvSpPr txBox="1"/>
          <p:nvPr/>
        </p:nvSpPr>
        <p:spPr>
          <a:xfrm>
            <a:off x="343547" y="499476"/>
            <a:ext cx="3917315" cy="1055370"/>
          </a:xfrm>
          <a:prstGeom prst="rect">
            <a:avLst/>
          </a:prstGeom>
        </p:spPr>
        <p:txBody>
          <a:bodyPr vert="horz" wrap="square" lIns="0" tIns="27305" rIns="0" bIns="0" rtlCol="0">
            <a:spAutoFit/>
          </a:bodyPr>
          <a:lstStyle/>
          <a:p>
            <a:pPr marL="15875">
              <a:lnSpc>
                <a:spcPct val="100000"/>
              </a:lnSpc>
              <a:spcBef>
                <a:spcPts val="215"/>
              </a:spcBef>
            </a:pPr>
            <a:r>
              <a:rPr sz="1000" spc="-10" dirty="0">
                <a:solidFill>
                  <a:srgbClr val="3333B2"/>
                </a:solidFill>
                <a:latin typeface="Arial"/>
                <a:cs typeface="Arial"/>
              </a:rPr>
              <a:t>Vấn đề</a:t>
            </a:r>
            <a:endParaRPr sz="1000">
              <a:latin typeface="Arial"/>
              <a:cs typeface="Arial"/>
            </a:endParaRPr>
          </a:p>
          <a:p>
            <a:pPr marL="15875" marR="5080" indent="-3810">
              <a:lnSpc>
                <a:spcPts val="1210"/>
              </a:lnSpc>
              <a:spcBef>
                <a:spcPts val="35"/>
              </a:spcBef>
            </a:pPr>
            <a:r>
              <a:rPr sz="900" dirty="0">
                <a:latin typeface="Arial"/>
                <a:cs typeface="Arial"/>
              </a:rPr>
              <a:t>Các</a:t>
            </a:r>
            <a:r>
              <a:rPr sz="900" spc="-25" dirty="0">
                <a:latin typeface="Arial"/>
                <a:cs typeface="Arial"/>
              </a:rPr>
              <a:t> </a:t>
            </a:r>
            <a:r>
              <a:rPr sz="900" spc="-20" dirty="0">
                <a:latin typeface="Arial"/>
                <a:cs typeface="Arial"/>
              </a:rPr>
              <a:t>giao diện</a:t>
            </a:r>
            <a:r>
              <a:rPr sz="900" spc="-25" dirty="0">
                <a:latin typeface="Arial"/>
                <a:cs typeface="Arial"/>
              </a:rPr>
              <a:t> </a:t>
            </a:r>
            <a:r>
              <a:rPr sz="900" spc="-20" dirty="0">
                <a:latin typeface="Arial"/>
                <a:cs typeface="Arial"/>
              </a:rPr>
              <a:t>ngỏ ý</a:t>
            </a:r>
            <a:r>
              <a:rPr sz="900" spc="-25" dirty="0">
                <a:latin typeface="Arial"/>
                <a:cs typeface="Arial"/>
              </a:rPr>
              <a:t> </a:t>
            </a:r>
            <a:r>
              <a:rPr sz="900" dirty="0">
                <a:latin typeface="Arial"/>
                <a:cs typeface="Arial"/>
              </a:rPr>
              <a:t>qua</a:t>
            </a:r>
            <a:r>
              <a:rPr sz="900" spc="-25" dirty="0">
                <a:latin typeface="Arial"/>
                <a:cs typeface="Arial"/>
              </a:rPr>
              <a:t> </a:t>
            </a:r>
            <a:r>
              <a:rPr sz="900" dirty="0">
                <a:latin typeface="Arial"/>
                <a:cs typeface="Arial"/>
              </a:rPr>
              <a:t>Một</a:t>
            </a:r>
            <a:r>
              <a:rPr sz="900" spc="-25" dirty="0">
                <a:latin typeface="Arial"/>
                <a:cs typeface="Arial"/>
              </a:rPr>
              <a:t> </a:t>
            </a:r>
            <a:r>
              <a:rPr sz="900" spc="-10" dirty="0">
                <a:latin typeface="Arial"/>
                <a:cs typeface="Arial"/>
              </a:rPr>
              <a:t>di sản</a:t>
            </a:r>
            <a:r>
              <a:rPr sz="900" spc="-25" dirty="0">
                <a:latin typeface="Arial"/>
                <a:cs typeface="Arial"/>
              </a:rPr>
              <a:t> </a:t>
            </a:r>
            <a:r>
              <a:rPr sz="900" spc="-20" dirty="0">
                <a:latin typeface="Arial"/>
                <a:cs typeface="Arial"/>
              </a:rPr>
              <a:t>thành phần</a:t>
            </a:r>
            <a:r>
              <a:rPr sz="900" spc="-25" dirty="0">
                <a:latin typeface="Arial"/>
                <a:cs typeface="Arial"/>
              </a:rPr>
              <a:t> </a:t>
            </a:r>
            <a:r>
              <a:rPr sz="900" dirty="0">
                <a:latin typeface="Arial"/>
                <a:cs typeface="Arial"/>
              </a:rPr>
              <a:t>là</a:t>
            </a:r>
            <a:r>
              <a:rPr sz="900" spc="-25" dirty="0">
                <a:latin typeface="Arial"/>
                <a:cs typeface="Arial"/>
              </a:rPr>
              <a:t> </a:t>
            </a:r>
            <a:r>
              <a:rPr sz="900" spc="-10" dirty="0">
                <a:latin typeface="Arial"/>
                <a:cs typeface="Arial"/>
              </a:rPr>
              <a:t>hầu hết</a:t>
            </a:r>
            <a:r>
              <a:rPr sz="900" spc="-20" dirty="0">
                <a:latin typeface="Arial"/>
                <a:cs typeface="Arial"/>
              </a:rPr>
              <a:t> </a:t>
            </a:r>
            <a:r>
              <a:rPr sz="900" spc="-10" dirty="0">
                <a:latin typeface="Arial"/>
                <a:cs typeface="Arial"/>
              </a:rPr>
              <a:t>rất có thể</a:t>
            </a:r>
            <a:r>
              <a:rPr sz="900" spc="-25" dirty="0">
                <a:latin typeface="Arial"/>
                <a:cs typeface="Arial"/>
              </a:rPr>
              <a:t> </a:t>
            </a:r>
            <a:r>
              <a:rPr sz="900" dirty="0">
                <a:latin typeface="Arial"/>
                <a:cs typeface="Arial"/>
              </a:rPr>
              <a:t>không</a:t>
            </a:r>
            <a:r>
              <a:rPr sz="900" spc="-25" dirty="0">
                <a:latin typeface="Arial"/>
                <a:cs typeface="Arial"/>
              </a:rPr>
              <a:t> </a:t>
            </a:r>
            <a:r>
              <a:rPr sz="900" spc="-10" dirty="0">
                <a:latin typeface="Arial"/>
                <a:cs typeface="Arial"/>
              </a:rPr>
              <a:t>thích hợp</a:t>
            </a:r>
            <a:r>
              <a:rPr sz="900" spc="-25" dirty="0">
                <a:latin typeface="Arial"/>
                <a:cs typeface="Arial"/>
              </a:rPr>
              <a:t> </a:t>
            </a:r>
            <a:r>
              <a:rPr sz="900" spc="-10" dirty="0">
                <a:latin typeface="Arial"/>
                <a:cs typeface="Arial"/>
              </a:rPr>
              <a:t>cho </a:t>
            </a:r>
            <a:r>
              <a:rPr sz="900" spc="-25" dirty="0">
                <a:latin typeface="Arial"/>
                <a:cs typeface="Arial"/>
              </a:rPr>
              <a:t>tất cả </a:t>
            </a:r>
            <a:r>
              <a:rPr sz="900" spc="-10" dirty="0">
                <a:latin typeface="Arial"/>
                <a:cs typeface="Arial"/>
              </a:rPr>
              <a:t>các ứng dụng.</a:t>
            </a:r>
            <a:endParaRPr sz="900">
              <a:latin typeface="Arial"/>
              <a:cs typeface="Arial"/>
            </a:endParaRPr>
          </a:p>
          <a:p>
            <a:pPr marL="15875">
              <a:lnSpc>
                <a:spcPct val="100000"/>
              </a:lnSpc>
              <a:spcBef>
                <a:spcPts val="750"/>
              </a:spcBef>
            </a:pPr>
            <a:r>
              <a:rPr sz="1000" spc="-10" dirty="0">
                <a:solidFill>
                  <a:srgbClr val="3333B2"/>
                </a:solidFill>
                <a:latin typeface="Arial"/>
                <a:cs typeface="Arial"/>
              </a:rPr>
              <a:t>Giải pháp</a:t>
            </a:r>
            <a:endParaRPr sz="1000">
              <a:latin typeface="Arial"/>
              <a:cs typeface="Arial"/>
            </a:endParaRPr>
          </a:p>
          <a:p>
            <a:pPr marL="15875" marR="26034" indent="-3810">
              <a:lnSpc>
                <a:spcPts val="1210"/>
              </a:lnSpc>
              <a:spcBef>
                <a:spcPts val="35"/>
              </a:spcBef>
            </a:pPr>
            <a:r>
              <a:rPr sz="900" dirty="0">
                <a:latin typeface="Arial"/>
                <a:cs typeface="Arial"/>
              </a:rPr>
              <a:t>MỘT</a:t>
            </a:r>
            <a:r>
              <a:rPr sz="900" spc="-20" dirty="0">
                <a:latin typeface="Arial"/>
                <a:cs typeface="Arial"/>
              </a:rPr>
              <a:t> </a:t>
            </a:r>
            <a:r>
              <a:rPr sz="900" dirty="0">
                <a:solidFill>
                  <a:srgbClr val="C80000"/>
                </a:solidFill>
                <a:latin typeface="Arial"/>
                <a:cs typeface="Arial"/>
              </a:rPr>
              <a:t>giấy gói</a:t>
            </a:r>
            <a:r>
              <a:rPr sz="900" spc="-20" dirty="0">
                <a:solidFill>
                  <a:srgbClr val="C80000"/>
                </a:solidFill>
                <a:latin typeface="Arial"/>
                <a:cs typeface="Arial"/>
              </a:rPr>
              <a:t> </a:t>
            </a:r>
            <a:r>
              <a:rPr sz="900" dirty="0">
                <a:latin typeface="Arial"/>
                <a:cs typeface="Arial"/>
              </a:rPr>
              <a:t>hoặc</a:t>
            </a:r>
            <a:r>
              <a:rPr sz="900" spc="-20" dirty="0">
                <a:latin typeface="Arial"/>
                <a:cs typeface="Arial"/>
              </a:rPr>
              <a:t> </a:t>
            </a:r>
            <a:r>
              <a:rPr sz="900" dirty="0">
                <a:solidFill>
                  <a:srgbClr val="C80000"/>
                </a:solidFill>
                <a:latin typeface="Arial"/>
                <a:cs typeface="Arial"/>
              </a:rPr>
              <a:t>bộ chuyển đổi</a:t>
            </a:r>
            <a:r>
              <a:rPr sz="900" spc="-20" dirty="0">
                <a:solidFill>
                  <a:srgbClr val="C80000"/>
                </a:solidFill>
                <a:latin typeface="Arial"/>
                <a:cs typeface="Arial"/>
              </a:rPr>
              <a:t> </a:t>
            </a:r>
            <a:r>
              <a:rPr sz="900" dirty="0">
                <a:latin typeface="Arial"/>
                <a:cs typeface="Arial"/>
              </a:rPr>
              <a:t>cung cấp</a:t>
            </a:r>
            <a:r>
              <a:rPr sz="900" spc="-20" dirty="0">
                <a:latin typeface="Arial"/>
                <a:cs typeface="Arial"/>
              </a:rPr>
              <a:t> </a:t>
            </a:r>
            <a:r>
              <a:rPr sz="900" dirty="0">
                <a:latin typeface="Arial"/>
                <a:cs typeface="Arial"/>
              </a:rPr>
              <a:t>MỘT</a:t>
            </a:r>
            <a:r>
              <a:rPr sz="900" spc="-15" dirty="0">
                <a:latin typeface="Arial"/>
                <a:cs typeface="Arial"/>
              </a:rPr>
              <a:t> </a:t>
            </a:r>
            <a:r>
              <a:rPr sz="900" spc="-10" dirty="0">
                <a:latin typeface="Arial"/>
                <a:cs typeface="Arial"/>
              </a:rPr>
              <a:t>giao diện</a:t>
            </a:r>
            <a:r>
              <a:rPr sz="900" spc="-20" dirty="0">
                <a:latin typeface="Arial"/>
                <a:cs typeface="Arial"/>
              </a:rPr>
              <a:t> </a:t>
            </a:r>
            <a:r>
              <a:rPr sz="900" spc="-10" dirty="0">
                <a:latin typeface="Arial"/>
                <a:cs typeface="Arial"/>
              </a:rPr>
              <a:t>chấp nhận được</a:t>
            </a:r>
            <a:r>
              <a:rPr sz="900" spc="-20" dirty="0">
                <a:latin typeface="Arial"/>
                <a:cs typeface="Arial"/>
              </a:rPr>
              <a:t> </a:t>
            </a:r>
            <a:r>
              <a:rPr sz="900" dirty="0">
                <a:latin typeface="Arial"/>
                <a:cs typeface="Arial"/>
              </a:rPr>
              <a:t>ĐẾN</a:t>
            </a:r>
            <a:r>
              <a:rPr sz="900" spc="-20" dirty="0">
                <a:latin typeface="Arial"/>
                <a:cs typeface="Arial"/>
              </a:rPr>
              <a:t> </a:t>
            </a:r>
            <a:r>
              <a:rPr sz="900" dirty="0">
                <a:latin typeface="Arial"/>
                <a:cs typeface="Arial"/>
              </a:rPr>
              <a:t>Một</a:t>
            </a:r>
            <a:r>
              <a:rPr sz="900" spc="-20" dirty="0">
                <a:latin typeface="Arial"/>
                <a:cs typeface="Arial"/>
              </a:rPr>
              <a:t> </a:t>
            </a:r>
            <a:r>
              <a:rPr sz="900" dirty="0">
                <a:latin typeface="Arial"/>
                <a:cs typeface="Arial"/>
              </a:rPr>
              <a:t>khách hàng</a:t>
            </a:r>
            <a:r>
              <a:rPr sz="900" spc="-15" dirty="0">
                <a:latin typeface="Arial"/>
                <a:cs typeface="Arial"/>
              </a:rPr>
              <a:t> </a:t>
            </a:r>
            <a:r>
              <a:rPr sz="900" dirty="0">
                <a:latin typeface="Arial"/>
                <a:cs typeface="Arial"/>
              </a:rPr>
              <a:t>ứng dụng.</a:t>
            </a:r>
            <a:r>
              <a:rPr sz="900" spc="35" dirty="0">
                <a:latin typeface="Arial"/>
                <a:cs typeface="Arial"/>
              </a:rPr>
              <a:t> </a:t>
            </a:r>
            <a:r>
              <a:rPr sz="900" dirty="0">
                <a:latin typeface="Arial"/>
                <a:cs typeface="Arial"/>
              </a:rPr>
              <a:t>Chức năng </a:t>
            </a:r>
            <a:r>
              <a:rPr sz="900" spc="-25" dirty="0">
                <a:latin typeface="Arial"/>
                <a:cs typeface="Arial"/>
              </a:rPr>
              <a:t>của nó</a:t>
            </a:r>
            <a:r>
              <a:rPr sz="900" spc="-15" dirty="0">
                <a:latin typeface="Arial"/>
                <a:cs typeface="Arial"/>
              </a:rPr>
              <a:t> </a:t>
            </a:r>
            <a:r>
              <a:rPr sz="900" dirty="0">
                <a:latin typeface="Arial"/>
                <a:cs typeface="Arial"/>
              </a:rPr>
              <a:t>là</a:t>
            </a:r>
            <a:r>
              <a:rPr sz="900" spc="-15" dirty="0">
                <a:latin typeface="Arial"/>
                <a:cs typeface="Arial"/>
              </a:rPr>
              <a:t> </a:t>
            </a:r>
            <a:r>
              <a:rPr sz="900" spc="-10" dirty="0">
                <a:latin typeface="Arial"/>
                <a:cs typeface="Arial"/>
              </a:rPr>
              <a:t>đã biến đổi</a:t>
            </a:r>
            <a:r>
              <a:rPr sz="900" spc="-15" dirty="0">
                <a:latin typeface="Arial"/>
                <a:cs typeface="Arial"/>
              </a:rPr>
              <a:t> </a:t>
            </a:r>
            <a:r>
              <a:rPr sz="900" dirty="0">
                <a:latin typeface="Arial"/>
                <a:cs typeface="Arial"/>
              </a:rPr>
              <a:t>vào trong</a:t>
            </a:r>
            <a:r>
              <a:rPr sz="900" spc="-15" dirty="0">
                <a:latin typeface="Arial"/>
                <a:cs typeface="Arial"/>
              </a:rPr>
              <a:t> </a:t>
            </a:r>
            <a:r>
              <a:rPr sz="900" dirty="0">
                <a:latin typeface="Arial"/>
                <a:cs typeface="Arial"/>
              </a:rPr>
              <a:t>những thứ kia</a:t>
            </a:r>
            <a:r>
              <a:rPr sz="900" spc="-15" dirty="0">
                <a:latin typeface="Arial"/>
                <a:cs typeface="Arial"/>
              </a:rPr>
              <a:t> </a:t>
            </a:r>
            <a:r>
              <a:rPr sz="900" spc="-10" dirty="0">
                <a:latin typeface="Arial"/>
                <a:cs typeface="Arial"/>
              </a:rPr>
              <a:t>có sẵn</a:t>
            </a:r>
            <a:r>
              <a:rPr sz="900" spc="-15" dirty="0">
                <a:latin typeface="Arial"/>
                <a:cs typeface="Arial"/>
              </a:rPr>
              <a:t> </a:t>
            </a:r>
            <a:r>
              <a:rPr sz="900" dirty="0">
                <a:latin typeface="Arial"/>
                <a:cs typeface="Arial"/>
              </a:rPr>
              <a:t>Tại</a:t>
            </a:r>
            <a:r>
              <a:rPr sz="900" spc="-10" dirty="0">
                <a:latin typeface="Arial"/>
                <a:cs typeface="Arial"/>
              </a:rPr>
              <a:t> </a:t>
            </a:r>
            <a:r>
              <a:rPr sz="900" dirty="0">
                <a:latin typeface="Arial"/>
                <a:cs typeface="Arial"/>
              </a:rPr>
              <a:t>cái</a:t>
            </a:r>
            <a:r>
              <a:rPr sz="900" spc="-15" dirty="0">
                <a:latin typeface="Arial"/>
                <a:cs typeface="Arial"/>
              </a:rPr>
              <a:t> </a:t>
            </a:r>
            <a:r>
              <a:rPr sz="900" spc="-10" dirty="0">
                <a:latin typeface="Arial"/>
                <a:cs typeface="Arial"/>
              </a:rPr>
              <a:t>thành phần.</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70929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Phần mềm trung gian</a:t>
            </a:r>
            <a:r>
              <a:rPr sz="500" spc="45" dirty="0">
                <a:latin typeface="Arial"/>
                <a:cs typeface="Arial"/>
                <a:hlinkClick r:id="rId4" action="ppaction://hlinksldjump"/>
              </a:rPr>
              <a:t> </a:t>
            </a:r>
            <a:r>
              <a:rPr sz="500" spc="-10" dirty="0">
                <a:latin typeface="Arial"/>
                <a:cs typeface="Arial"/>
                <a:hlinkClick r:id="rId4" action="ppaction://hlinksldjump"/>
              </a:rPr>
              <a:t>tổ chức</a:t>
            </a:r>
            <a:endParaRPr sz="500">
              <a:latin typeface="Arial"/>
              <a:cs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526167" y="-1515"/>
            <a:ext cx="10287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mềm trung gian </a:t>
            </a:r>
            <a:r>
              <a:rPr sz="500" dirty="0">
                <a:solidFill>
                  <a:srgbClr val="FFFFFF"/>
                </a:solidFill>
                <a:latin typeface="Arial"/>
                <a:cs typeface="Arial"/>
                <a:hlinkClick r:id="rId3" action="ppaction://hlinksldjump"/>
              </a:rPr>
              <a:t>và </a:t>
            </a:r>
            <a:r>
              <a:rPr sz="500" spc="-10" dirty="0">
                <a:solidFill>
                  <a:srgbClr val="FFFFFF"/>
                </a:solidFill>
                <a:latin typeface="Arial"/>
                <a:cs typeface="Arial"/>
                <a:hlinkClick r:id="rId3" action="ppaction://hlinksldjump"/>
              </a:rPr>
              <a:t>hệ thống phân tán</a:t>
            </a:r>
            <a:endParaRPr sz="500">
              <a:latin typeface="Arial"/>
              <a:cs typeface="Arial"/>
            </a:endParaRPr>
          </a:p>
        </p:txBody>
      </p:sp>
      <p:sp>
        <p:nvSpPr>
          <p:cNvPr id="5" name="object 5"/>
          <p:cNvSpPr txBox="1"/>
          <p:nvPr/>
        </p:nvSpPr>
        <p:spPr>
          <a:xfrm>
            <a:off x="95300" y="197711"/>
            <a:ext cx="258381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Tổ chức</a:t>
            </a:r>
            <a:r>
              <a:rPr sz="1200" spc="-65" dirty="0">
                <a:solidFill>
                  <a:srgbClr val="3333B2"/>
                </a:solidFill>
                <a:latin typeface="Arial"/>
                <a:cs typeface="Arial"/>
              </a:rPr>
              <a:t> </a:t>
            </a:r>
            <a:r>
              <a:rPr sz="1200" spc="-10" dirty="0">
                <a:solidFill>
                  <a:srgbClr val="3333B2"/>
                </a:solidFill>
                <a:latin typeface="Arial"/>
                <a:cs typeface="Arial"/>
              </a:rPr>
              <a:t>giấy gói</a:t>
            </a:r>
            <a:endParaRPr sz="1200">
              <a:latin typeface="Arial"/>
              <a:cs typeface="Arial"/>
            </a:endParaRPr>
          </a:p>
          <a:p>
            <a:pPr marL="260350">
              <a:lnSpc>
                <a:spcPct val="100000"/>
              </a:lnSpc>
              <a:spcBef>
                <a:spcPts val="1055"/>
              </a:spcBef>
            </a:pPr>
            <a:r>
              <a:rPr sz="1000" spc="-45" dirty="0">
                <a:solidFill>
                  <a:srgbClr val="3333B2"/>
                </a:solidFill>
                <a:latin typeface="Arial"/>
                <a:cs typeface="Arial"/>
              </a:rPr>
              <a:t>Hai</a:t>
            </a:r>
            <a:r>
              <a:rPr sz="1000" spc="-20" dirty="0">
                <a:solidFill>
                  <a:srgbClr val="3333B2"/>
                </a:solidFill>
                <a:latin typeface="Arial"/>
                <a:cs typeface="Arial"/>
              </a:rPr>
              <a:t> </a:t>
            </a:r>
            <a:r>
              <a:rPr sz="1000" dirty="0">
                <a:solidFill>
                  <a:srgbClr val="3333B2"/>
                </a:solidFill>
                <a:latin typeface="Arial"/>
                <a:cs typeface="Arial"/>
              </a:rPr>
              <a:t>giải pháp:</a:t>
            </a:r>
            <a:r>
              <a:rPr sz="1000" spc="45" dirty="0">
                <a:solidFill>
                  <a:srgbClr val="3333B2"/>
                </a:solidFill>
                <a:latin typeface="Arial"/>
                <a:cs typeface="Arial"/>
              </a:rPr>
              <a:t> </a:t>
            </a:r>
            <a:r>
              <a:rPr sz="1000" spc="-10" dirty="0">
                <a:solidFill>
                  <a:srgbClr val="3333B2"/>
                </a:solidFill>
                <a:latin typeface="Arial"/>
                <a:cs typeface="Arial"/>
              </a:rPr>
              <a:t>1-đối </a:t>
            </a:r>
            <a:r>
              <a:rPr sz="1000" dirty="0">
                <a:solidFill>
                  <a:srgbClr val="3333B2"/>
                </a:solidFill>
                <a:latin typeface="Arial"/>
                <a:cs typeface="Arial"/>
              </a:rPr>
              <a:t>-1</a:t>
            </a:r>
            <a:r>
              <a:rPr sz="1000" spc="-20" dirty="0">
                <a:solidFill>
                  <a:srgbClr val="3333B2"/>
                </a:solidFill>
                <a:latin typeface="Arial"/>
                <a:cs typeface="Arial"/>
              </a:rPr>
              <a:t> </a:t>
            </a:r>
            <a:r>
              <a:rPr sz="1000" dirty="0">
                <a:solidFill>
                  <a:srgbClr val="3333B2"/>
                </a:solidFill>
                <a:latin typeface="Arial"/>
                <a:cs typeface="Arial"/>
              </a:rPr>
              <a:t>hoặc</a:t>
            </a:r>
            <a:r>
              <a:rPr sz="1000" spc="-20" dirty="0">
                <a:solidFill>
                  <a:srgbClr val="3333B2"/>
                </a:solidFill>
                <a:latin typeface="Arial"/>
                <a:cs typeface="Arial"/>
              </a:rPr>
              <a:t> </a:t>
            </a:r>
            <a:r>
              <a:rPr sz="1000" dirty="0">
                <a:solidFill>
                  <a:srgbClr val="3333B2"/>
                </a:solidFill>
                <a:latin typeface="Arial"/>
                <a:cs typeface="Arial"/>
              </a:rPr>
              <a:t>bởi vì</a:t>
            </a:r>
            <a:r>
              <a:rPr sz="1000" spc="-15" dirty="0">
                <a:solidFill>
                  <a:srgbClr val="3333B2"/>
                </a:solidFill>
                <a:latin typeface="Arial"/>
                <a:cs typeface="Arial"/>
              </a:rPr>
              <a:t> </a:t>
            </a:r>
            <a:r>
              <a:rPr sz="1000" dirty="0">
                <a:solidFill>
                  <a:srgbClr val="3333B2"/>
                </a:solidFill>
                <a:latin typeface="Arial"/>
                <a:cs typeface="Arial"/>
              </a:rPr>
              <a:t>Một</a:t>
            </a:r>
            <a:r>
              <a:rPr sz="1000" spc="-20" dirty="0">
                <a:solidFill>
                  <a:srgbClr val="3333B2"/>
                </a:solidFill>
                <a:latin typeface="Arial"/>
                <a:cs typeface="Arial"/>
              </a:rPr>
              <a:t> </a:t>
            </a:r>
            <a:r>
              <a:rPr sz="1000" spc="-10" dirty="0">
                <a:solidFill>
                  <a:srgbClr val="3333B2"/>
                </a:solidFill>
                <a:latin typeface="Arial"/>
                <a:cs typeface="Arial"/>
              </a:rPr>
              <a:t>người môi giới</a:t>
            </a:r>
            <a:endParaRPr sz="1000">
              <a:latin typeface="Arial"/>
              <a:cs typeface="Arial"/>
            </a:endParaRPr>
          </a:p>
        </p:txBody>
      </p:sp>
      <p:pic>
        <p:nvPicPr>
          <p:cNvPr id="6" name="object 6"/>
          <p:cNvPicPr/>
          <p:nvPr/>
        </p:nvPicPr>
        <p:blipFill>
          <a:blip r:embed="rId4" cstate="print"/>
          <a:stretch>
            <a:fillRect/>
          </a:stretch>
        </p:blipFill>
        <p:spPr>
          <a:xfrm>
            <a:off x="893684" y="795077"/>
            <a:ext cx="1138807" cy="868493"/>
          </a:xfrm>
          <a:prstGeom prst="rect">
            <a:avLst/>
          </a:prstGeom>
        </p:spPr>
      </p:pic>
      <p:pic>
        <p:nvPicPr>
          <p:cNvPr id="7" name="object 7"/>
          <p:cNvPicPr/>
          <p:nvPr/>
        </p:nvPicPr>
        <p:blipFill>
          <a:blip r:embed="rId5" cstate="print"/>
          <a:stretch>
            <a:fillRect/>
          </a:stretch>
        </p:blipFill>
        <p:spPr>
          <a:xfrm>
            <a:off x="2834786" y="880582"/>
            <a:ext cx="874496" cy="779190"/>
          </a:xfrm>
          <a:prstGeom prst="rect">
            <a:avLst/>
          </a:prstGeom>
        </p:spPr>
      </p:pic>
      <p:sp>
        <p:nvSpPr>
          <p:cNvPr id="8" name="object 8"/>
          <p:cNvSpPr txBox="1"/>
          <p:nvPr/>
        </p:nvSpPr>
        <p:spPr>
          <a:xfrm>
            <a:off x="321894" y="1938787"/>
            <a:ext cx="2719705" cy="607060"/>
          </a:xfrm>
          <a:prstGeom prst="rect">
            <a:avLst/>
          </a:prstGeom>
        </p:spPr>
        <p:txBody>
          <a:bodyPr vert="horz" wrap="square" lIns="0" tIns="12065" rIns="0" bIns="0" rtlCol="0">
            <a:spAutoFit/>
          </a:bodyPr>
          <a:lstStyle/>
          <a:p>
            <a:pPr marL="38100">
              <a:lnSpc>
                <a:spcPct val="100000"/>
              </a:lnSpc>
              <a:spcBef>
                <a:spcPts val="95"/>
              </a:spcBef>
            </a:pPr>
            <a:r>
              <a:rPr sz="1000" spc="-10" dirty="0">
                <a:solidFill>
                  <a:srgbClr val="3333B2"/>
                </a:solidFill>
                <a:latin typeface="Arial"/>
                <a:cs typeface="Arial"/>
              </a:rPr>
              <a:t>Sự phức tạp </a:t>
            </a:r>
            <a:r>
              <a:rPr sz="1000" dirty="0">
                <a:solidFill>
                  <a:srgbClr val="3333B2"/>
                </a:solidFill>
                <a:latin typeface="Arial"/>
                <a:cs typeface="Arial"/>
              </a:rPr>
              <a:t>với</a:t>
            </a:r>
            <a:r>
              <a:rPr sz="1000" spc="-5" dirty="0">
                <a:solidFill>
                  <a:srgbClr val="3333B2"/>
                </a:solidFill>
                <a:latin typeface="Arial"/>
                <a:cs typeface="Arial"/>
              </a:rPr>
              <a:t> </a:t>
            </a:r>
            <a:r>
              <a:rPr sz="1000" i="1" dirty="0">
                <a:solidFill>
                  <a:srgbClr val="3333B2"/>
                </a:solidFill>
                <a:latin typeface="Arial"/>
                <a:cs typeface="Arial"/>
              </a:rPr>
              <a:t>N</a:t>
            </a:r>
            <a:r>
              <a:rPr sz="1000" i="1" spc="75" dirty="0">
                <a:solidFill>
                  <a:srgbClr val="3333B2"/>
                </a:solidFill>
                <a:latin typeface="Arial"/>
                <a:cs typeface="Arial"/>
              </a:rPr>
              <a:t> </a:t>
            </a:r>
            <a:r>
              <a:rPr sz="1000" spc="-10" dirty="0">
                <a:solidFill>
                  <a:srgbClr val="3333B2"/>
                </a:solidFill>
                <a:latin typeface="Arial"/>
                <a:cs typeface="Arial"/>
              </a:rPr>
              <a:t>ứng dụng</a:t>
            </a:r>
            <a:endParaRPr sz="1000">
              <a:latin typeface="Arial"/>
              <a:cs typeface="Arial"/>
            </a:endParaRPr>
          </a:p>
          <a:p>
            <a:pPr marL="290830" indent="-120650">
              <a:lnSpc>
                <a:spcPct val="100000"/>
              </a:lnSpc>
              <a:spcBef>
                <a:spcPts val="700"/>
              </a:spcBef>
              <a:buFont typeface="Apple Symbols"/>
              <a:buChar char="•"/>
              <a:tabLst>
                <a:tab pos="291465" algn="l"/>
              </a:tabLst>
            </a:pPr>
            <a:r>
              <a:rPr sz="900" spc="-10" dirty="0">
                <a:solidFill>
                  <a:srgbClr val="3333B2"/>
                </a:solidFill>
                <a:latin typeface="Arial"/>
                <a:cs typeface="Arial"/>
              </a:rPr>
              <a:t>1-đối </a:t>
            </a:r>
            <a:r>
              <a:rPr sz="900" dirty="0">
                <a:solidFill>
                  <a:srgbClr val="3333B2"/>
                </a:solidFill>
                <a:latin typeface="Arial"/>
                <a:cs typeface="Arial"/>
              </a:rPr>
              <a:t>-1 </a:t>
            </a:r>
            <a:r>
              <a:rPr sz="900" dirty="0">
                <a:latin typeface="Arial"/>
                <a:cs typeface="Arial"/>
              </a:rPr>
              <a:t>:</a:t>
            </a:r>
            <a:r>
              <a:rPr sz="900" spc="105" dirty="0">
                <a:latin typeface="Arial"/>
                <a:cs typeface="Arial"/>
              </a:rPr>
              <a:t> </a:t>
            </a:r>
            <a:r>
              <a:rPr sz="900" dirty="0">
                <a:latin typeface="Arial"/>
                <a:cs typeface="Arial"/>
              </a:rPr>
              <a:t>yêu cầu</a:t>
            </a:r>
            <a:r>
              <a:rPr sz="900" spc="40" dirty="0">
                <a:latin typeface="Arial"/>
                <a:cs typeface="Arial"/>
              </a:rPr>
              <a:t> </a:t>
            </a:r>
            <a:r>
              <a:rPr sz="900" i="1" spc="-10" dirty="0">
                <a:latin typeface="Arial"/>
                <a:cs typeface="Arial"/>
              </a:rPr>
              <a:t>N</a:t>
            </a:r>
            <a:r>
              <a:rPr sz="900" i="1" spc="-25" dirty="0">
                <a:latin typeface="Arial"/>
                <a:cs typeface="Arial"/>
              </a:rPr>
              <a:t> </a:t>
            </a:r>
            <a:r>
              <a:rPr sz="900" spc="145" dirty="0">
                <a:latin typeface="Apple Symbols"/>
                <a:cs typeface="Apple Symbols"/>
              </a:rPr>
              <a:t>× </a:t>
            </a:r>
            <a:r>
              <a:rPr sz="900" spc="145" dirty="0">
                <a:latin typeface="Arial"/>
                <a:cs typeface="Arial"/>
              </a:rPr>
              <a:t>( </a:t>
            </a:r>
            <a:r>
              <a:rPr sz="900" i="1" spc="145" dirty="0">
                <a:latin typeface="Arial"/>
                <a:cs typeface="Arial"/>
              </a:rPr>
              <a:t>T</a:t>
            </a:r>
            <a:r>
              <a:rPr sz="900" i="1" spc="-30" dirty="0">
                <a:latin typeface="Arial"/>
                <a:cs typeface="Arial"/>
              </a:rPr>
              <a:t> </a:t>
            </a:r>
            <a:r>
              <a:rPr sz="900" spc="160" dirty="0">
                <a:latin typeface="Apple Symbols"/>
                <a:cs typeface="Apple Symbols"/>
              </a:rPr>
              <a:t>−</a:t>
            </a:r>
            <a:r>
              <a:rPr sz="900" spc="-155" dirty="0">
                <a:latin typeface="Apple Symbols"/>
                <a:cs typeface="Apple Symbols"/>
              </a:rPr>
              <a:t> </a:t>
            </a:r>
            <a:r>
              <a:rPr sz="900" dirty="0">
                <a:latin typeface="Arial"/>
                <a:cs typeface="Arial"/>
              </a:rPr>
              <a:t>1)</a:t>
            </a:r>
            <a:r>
              <a:rPr sz="900" spc="-20" dirty="0">
                <a:latin typeface="Arial"/>
                <a:cs typeface="Arial"/>
              </a:rPr>
              <a:t> </a:t>
            </a:r>
            <a:r>
              <a:rPr sz="900" spc="185" dirty="0">
                <a:latin typeface="Arial"/>
                <a:cs typeface="Arial"/>
              </a:rPr>
              <a:t>=</a:t>
            </a:r>
            <a:r>
              <a:rPr sz="900" spc="-25" dirty="0">
                <a:latin typeface="Arial"/>
                <a:cs typeface="Arial"/>
              </a:rPr>
              <a:t> </a:t>
            </a:r>
            <a:r>
              <a:rPr sz="900" i="1" dirty="0">
                <a:latin typeface="Arial"/>
                <a:cs typeface="Arial"/>
              </a:rPr>
              <a:t>0 </a:t>
            </a:r>
            <a:r>
              <a:rPr sz="900" dirty="0">
                <a:latin typeface="Arial"/>
                <a:cs typeface="Arial"/>
              </a:rPr>
              <a:t>( </a:t>
            </a:r>
            <a:r>
              <a:rPr sz="900" i="1" dirty="0">
                <a:latin typeface="Arial"/>
                <a:cs typeface="Arial"/>
              </a:rPr>
              <a:t>N </a:t>
            </a:r>
            <a:r>
              <a:rPr sz="1050" baseline="27777" dirty="0">
                <a:latin typeface="Arial"/>
                <a:cs typeface="Arial"/>
              </a:rPr>
              <a:t>2 </a:t>
            </a:r>
            <a:r>
              <a:rPr sz="900" dirty="0">
                <a:latin typeface="Arial"/>
                <a:cs typeface="Arial"/>
              </a:rPr>
              <a:t>)</a:t>
            </a:r>
            <a:r>
              <a:rPr sz="900" spc="40" dirty="0">
                <a:latin typeface="Arial"/>
                <a:cs typeface="Arial"/>
              </a:rPr>
              <a:t> </a:t>
            </a:r>
            <a:r>
              <a:rPr sz="900" spc="-10" dirty="0">
                <a:latin typeface="Arial"/>
                <a:cs typeface="Arial"/>
              </a:rPr>
              <a:t>giấy gói</a:t>
            </a:r>
            <a:endParaRPr sz="900">
              <a:latin typeface="Arial"/>
              <a:cs typeface="Arial"/>
            </a:endParaRPr>
          </a:p>
          <a:p>
            <a:pPr marL="290830" indent="-120650">
              <a:lnSpc>
                <a:spcPct val="100000"/>
              </a:lnSpc>
              <a:spcBef>
                <a:spcPts val="525"/>
              </a:spcBef>
              <a:buFont typeface="Apple Symbols"/>
              <a:buChar char="•"/>
              <a:tabLst>
                <a:tab pos="291465" algn="l"/>
              </a:tabLst>
            </a:pPr>
            <a:r>
              <a:rPr sz="900" dirty="0">
                <a:solidFill>
                  <a:srgbClr val="3333B2"/>
                </a:solidFill>
                <a:latin typeface="Arial"/>
                <a:cs typeface="Arial"/>
              </a:rPr>
              <a:t>người môi giới </a:t>
            </a:r>
            <a:r>
              <a:rPr sz="900" dirty="0">
                <a:latin typeface="Arial"/>
                <a:cs typeface="Arial"/>
              </a:rPr>
              <a:t>:</a:t>
            </a:r>
            <a:r>
              <a:rPr sz="900" spc="25" dirty="0">
                <a:latin typeface="Arial"/>
                <a:cs typeface="Arial"/>
              </a:rPr>
              <a:t> </a:t>
            </a:r>
            <a:r>
              <a:rPr sz="900" dirty="0">
                <a:latin typeface="Arial"/>
                <a:cs typeface="Arial"/>
              </a:rPr>
              <a:t>yêu cầu</a:t>
            </a:r>
            <a:r>
              <a:rPr sz="900" spc="-25" dirty="0">
                <a:latin typeface="Arial"/>
                <a:cs typeface="Arial"/>
              </a:rPr>
              <a:t> </a:t>
            </a:r>
            <a:r>
              <a:rPr sz="900" dirty="0">
                <a:latin typeface="Arial"/>
                <a:cs typeface="Arial"/>
              </a:rPr>
              <a:t>2 </a:t>
            </a:r>
            <a:r>
              <a:rPr sz="900" i="1" dirty="0">
                <a:latin typeface="Arial"/>
                <a:cs typeface="Arial"/>
              </a:rPr>
              <a:t>số</a:t>
            </a:r>
            <a:r>
              <a:rPr sz="900" i="1" spc="-5" dirty="0">
                <a:latin typeface="Arial"/>
                <a:cs typeface="Arial"/>
              </a:rPr>
              <a:t> </a:t>
            </a:r>
            <a:r>
              <a:rPr sz="900" spc="185" dirty="0">
                <a:latin typeface="Arial"/>
                <a:cs typeface="Arial"/>
              </a:rPr>
              <a:t>=</a:t>
            </a:r>
            <a:r>
              <a:rPr sz="900" spc="-60" dirty="0">
                <a:latin typeface="Arial"/>
                <a:cs typeface="Arial"/>
              </a:rPr>
              <a:t> </a:t>
            </a:r>
            <a:r>
              <a:rPr sz="900" i="1" spc="50" dirty="0">
                <a:latin typeface="Arial"/>
                <a:cs typeface="Arial"/>
              </a:rPr>
              <a:t>TRÊN )</a:t>
            </a:r>
            <a:r>
              <a:rPr sz="900" spc="50" dirty="0">
                <a:latin typeface="Arial"/>
                <a:cs typeface="Arial"/>
              </a:rPr>
              <a:t>​​</a:t>
            </a:r>
            <a:r>
              <a:rPr sz="900" spc="-25" dirty="0">
                <a:latin typeface="Arial"/>
                <a:cs typeface="Arial"/>
              </a:rPr>
              <a:t> </a:t>
            </a:r>
            <a:r>
              <a:rPr sz="900" spc="-10" dirty="0">
                <a:latin typeface="Arial"/>
                <a:cs typeface="Arial"/>
              </a:rPr>
              <a:t>giấy gói</a:t>
            </a:r>
            <a:endParaRPr sz="900">
              <a:latin typeface="Arial"/>
              <a:cs typeface="Arial"/>
            </a:endParaRPr>
          </a:p>
        </p:txBody>
      </p:sp>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70929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6" action="ppaction://hlinksldjump"/>
              </a:rPr>
              <a:t>Phần mềm trung gian</a:t>
            </a:r>
            <a:r>
              <a:rPr sz="500" spc="45" dirty="0">
                <a:latin typeface="Arial"/>
                <a:cs typeface="Arial"/>
                <a:hlinkClick r:id="rId6" action="ppaction://hlinksldjump"/>
              </a:rPr>
              <a:t> </a:t>
            </a:r>
            <a:r>
              <a:rPr sz="500" spc="-10" dirty="0">
                <a:latin typeface="Arial"/>
                <a:cs typeface="Arial"/>
                <a:hlinkClick r:id="rId6" action="ppaction://hlinksldjump"/>
              </a:rPr>
              <a:t>tổ chức</a:t>
            </a:r>
            <a:endParaRPr sz="500">
              <a:latin typeface="Arial"/>
              <a:cs typeface="Aria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484879" algn="l"/>
              </a:tabLst>
            </a:pPr>
            <a:r>
              <a:rPr sz="500" spc="-10" dirty="0">
                <a:latin typeface="Arial"/>
                <a:cs typeface="Arial"/>
                <a:hlinkClick r:id="rId2" action="ppaction://hlinksldjump"/>
              </a:rPr>
              <a:t>Kiến trúc</a:t>
            </a:r>
            <a:r>
              <a:rPr sz="500" dirty="0">
                <a:latin typeface="Arial"/>
                <a:cs typeface="Arial"/>
              </a:rPr>
              <a:t> Phần </a:t>
            </a:r>
            <a:r>
              <a:rPr sz="500" spc="-10" dirty="0">
                <a:solidFill>
                  <a:srgbClr val="FFFFFF"/>
                </a:solidFill>
                <a:latin typeface="Arial"/>
                <a:cs typeface="Arial"/>
                <a:hlinkClick r:id="rId3" action="ppaction://hlinksldjump"/>
              </a:rPr>
              <a:t>mềm trung gian </a:t>
            </a:r>
            <a:r>
              <a:rPr sz="500" dirty="0">
                <a:solidFill>
                  <a:srgbClr val="FFFFFF"/>
                </a:solidFill>
                <a:latin typeface="Arial"/>
                <a:cs typeface="Arial"/>
                <a:hlinkClick r:id="rId3" action="ppaction://hlinksldjump"/>
              </a:rPr>
              <a:t>và </a:t>
            </a:r>
            <a:r>
              <a:rPr sz="500" spc="-10" dirty="0">
                <a:solidFill>
                  <a:srgbClr val="FFFFFF"/>
                </a:solidFill>
                <a:latin typeface="Arial"/>
                <a:cs typeface="Arial"/>
                <a:hlinkClick r:id="rId3" action="ppaction://hlinksldjump"/>
              </a:rPr>
              <a:t>hệ thống phân tán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Đang phát triển</a:t>
            </a:r>
            <a:r>
              <a:rPr spc="-60" dirty="0"/>
              <a:t> </a:t>
            </a:r>
            <a:r>
              <a:rPr dirty="0"/>
              <a:t>có thể thích nghi</a:t>
            </a:r>
            <a:r>
              <a:rPr spc="-60" dirty="0"/>
              <a:t> </a:t>
            </a:r>
            <a:r>
              <a:rPr spc="-10" dirty="0"/>
              <a:t>phần mềm trung gian</a:t>
            </a:r>
          </a:p>
        </p:txBody>
      </p:sp>
      <p:sp>
        <p:nvSpPr>
          <p:cNvPr id="4" name="object 4"/>
          <p:cNvSpPr txBox="1"/>
          <p:nvPr/>
        </p:nvSpPr>
        <p:spPr>
          <a:xfrm>
            <a:off x="343204" y="499476"/>
            <a:ext cx="3920490" cy="496570"/>
          </a:xfrm>
          <a:prstGeom prst="rect">
            <a:avLst/>
          </a:prstGeom>
        </p:spPr>
        <p:txBody>
          <a:bodyPr vert="horz" wrap="square" lIns="0" tIns="27305" rIns="0" bIns="0" rtlCol="0">
            <a:spAutoFit/>
          </a:bodyPr>
          <a:lstStyle/>
          <a:p>
            <a:pPr marL="16510">
              <a:lnSpc>
                <a:spcPct val="100000"/>
              </a:lnSpc>
              <a:spcBef>
                <a:spcPts val="215"/>
              </a:spcBef>
            </a:pPr>
            <a:r>
              <a:rPr sz="1000" spc="-10" dirty="0">
                <a:solidFill>
                  <a:srgbClr val="3333B2"/>
                </a:solidFill>
                <a:latin typeface="Arial"/>
                <a:cs typeface="Arial"/>
              </a:rPr>
              <a:t>Vấn đề</a:t>
            </a:r>
            <a:endParaRPr sz="1000">
              <a:latin typeface="Arial"/>
              <a:cs typeface="Arial"/>
            </a:endParaRPr>
          </a:p>
          <a:p>
            <a:pPr marL="12700" marR="5080" indent="3810">
              <a:lnSpc>
                <a:spcPts val="1210"/>
              </a:lnSpc>
              <a:spcBef>
                <a:spcPts val="35"/>
              </a:spcBef>
            </a:pPr>
            <a:r>
              <a:rPr sz="900" spc="-10" dirty="0">
                <a:latin typeface="Arial"/>
                <a:cs typeface="Arial"/>
              </a:rPr>
              <a:t>Phần mềm trung gian</a:t>
            </a:r>
            <a:r>
              <a:rPr sz="900" spc="-30" dirty="0">
                <a:latin typeface="Arial"/>
                <a:cs typeface="Arial"/>
              </a:rPr>
              <a:t> </a:t>
            </a:r>
            <a:r>
              <a:rPr sz="900" dirty="0">
                <a:latin typeface="Arial"/>
                <a:cs typeface="Arial"/>
              </a:rPr>
              <a:t>chứa</a:t>
            </a:r>
            <a:r>
              <a:rPr sz="900" spc="-30" dirty="0">
                <a:latin typeface="Arial"/>
                <a:cs typeface="Arial"/>
              </a:rPr>
              <a:t> </a:t>
            </a:r>
            <a:r>
              <a:rPr sz="900" dirty="0">
                <a:latin typeface="Arial"/>
                <a:cs typeface="Arial"/>
              </a:rPr>
              <a:t>giải pháp</a:t>
            </a:r>
            <a:r>
              <a:rPr sz="900" spc="-25" dirty="0">
                <a:latin typeface="Arial"/>
                <a:cs typeface="Arial"/>
              </a:rPr>
              <a:t> </a:t>
            </a:r>
            <a:r>
              <a:rPr sz="900" dirty="0">
                <a:latin typeface="Arial"/>
                <a:cs typeface="Arial"/>
              </a:rPr>
              <a:t>cái đó</a:t>
            </a:r>
            <a:r>
              <a:rPr sz="900" spc="-25" dirty="0">
                <a:latin typeface="Arial"/>
                <a:cs typeface="Arial"/>
              </a:rPr>
              <a:t> </a:t>
            </a:r>
            <a:r>
              <a:rPr sz="900" dirty="0">
                <a:latin typeface="Arial"/>
                <a:cs typeface="Arial"/>
              </a:rPr>
              <a:t>là</a:t>
            </a:r>
            <a:r>
              <a:rPr sz="900" spc="-30" dirty="0">
                <a:latin typeface="Arial"/>
                <a:cs typeface="Arial"/>
              </a:rPr>
              <a:t> </a:t>
            </a:r>
            <a:r>
              <a:rPr sz="900" dirty="0">
                <a:latin typeface="Arial"/>
                <a:cs typeface="Arial"/>
              </a:rPr>
              <a:t>Tốt</a:t>
            </a:r>
            <a:r>
              <a:rPr sz="900" spc="-25" dirty="0">
                <a:latin typeface="Arial"/>
                <a:cs typeface="Arial"/>
              </a:rPr>
              <a:t> </a:t>
            </a:r>
            <a:r>
              <a:rPr sz="900" dirty="0">
                <a:latin typeface="Arial"/>
                <a:cs typeface="Arial"/>
              </a:rPr>
              <a:t>vì</a:t>
            </a:r>
            <a:r>
              <a:rPr sz="900" spc="-30" dirty="0">
                <a:latin typeface="Arial"/>
                <a:cs typeface="Arial"/>
              </a:rPr>
              <a:t> </a:t>
            </a:r>
            <a:r>
              <a:rPr sz="900" dirty="0">
                <a:solidFill>
                  <a:srgbClr val="3333B2"/>
                </a:solidFill>
                <a:latin typeface="Arial"/>
                <a:cs typeface="Arial"/>
              </a:rPr>
              <a:t>hầu hết</a:t>
            </a:r>
            <a:r>
              <a:rPr sz="900" spc="-25" dirty="0">
                <a:solidFill>
                  <a:srgbClr val="3333B2"/>
                </a:solidFill>
                <a:latin typeface="Arial"/>
                <a:cs typeface="Arial"/>
              </a:rPr>
              <a:t> </a:t>
            </a:r>
            <a:r>
              <a:rPr sz="900" dirty="0">
                <a:latin typeface="Arial"/>
                <a:cs typeface="Arial"/>
              </a:rPr>
              <a:t>ứng dụng</a:t>
            </a:r>
            <a:r>
              <a:rPr sz="900" spc="-25" dirty="0">
                <a:latin typeface="Arial"/>
                <a:cs typeface="Arial"/>
              </a:rPr>
              <a:t> </a:t>
            </a:r>
            <a:r>
              <a:rPr sz="900" spc="295" dirty="0">
                <a:latin typeface="Apple Symbols"/>
                <a:cs typeface="Apple Symbols"/>
              </a:rPr>
              <a:t>⇒</a:t>
            </a:r>
            <a:r>
              <a:rPr sz="900" spc="-75" dirty="0">
                <a:latin typeface="Apple Symbols"/>
                <a:cs typeface="Apple Symbols"/>
              </a:rPr>
              <a:t> </a:t>
            </a:r>
            <a:r>
              <a:rPr sz="900" dirty="0">
                <a:latin typeface="Arial"/>
                <a:cs typeface="Arial"/>
              </a:rPr>
              <a:t>Bạn</a:t>
            </a:r>
            <a:r>
              <a:rPr sz="900" spc="-30" dirty="0">
                <a:latin typeface="Arial"/>
                <a:cs typeface="Arial"/>
              </a:rPr>
              <a:t> </a:t>
            </a:r>
            <a:r>
              <a:rPr sz="900" spc="-25" dirty="0">
                <a:latin typeface="Arial"/>
                <a:cs typeface="Arial"/>
              </a:rPr>
              <a:t>có thể </a:t>
            </a:r>
            <a:r>
              <a:rPr sz="900" dirty="0">
                <a:latin typeface="Arial"/>
                <a:cs typeface="Arial"/>
              </a:rPr>
              <a:t>muốn</a:t>
            </a:r>
            <a:r>
              <a:rPr sz="900" spc="-35" dirty="0">
                <a:latin typeface="Arial"/>
                <a:cs typeface="Arial"/>
              </a:rPr>
              <a:t> </a:t>
            </a:r>
            <a:r>
              <a:rPr sz="900" dirty="0">
                <a:latin typeface="Arial"/>
                <a:cs typeface="Arial"/>
              </a:rPr>
              <a:t>ĐẾN</a:t>
            </a:r>
            <a:r>
              <a:rPr sz="900" spc="-35" dirty="0">
                <a:latin typeface="Arial"/>
                <a:cs typeface="Arial"/>
              </a:rPr>
              <a:t> </a:t>
            </a:r>
            <a:r>
              <a:rPr sz="900" dirty="0">
                <a:latin typeface="Arial"/>
                <a:cs typeface="Arial"/>
              </a:rPr>
              <a:t>thích nghi</a:t>
            </a:r>
            <a:r>
              <a:rPr sz="900" spc="-30" dirty="0">
                <a:latin typeface="Arial"/>
                <a:cs typeface="Arial"/>
              </a:rPr>
              <a:t> </a:t>
            </a:r>
            <a:r>
              <a:rPr sz="900" dirty="0">
                <a:latin typeface="Arial"/>
                <a:cs typeface="Arial"/>
              </a:rPr>
              <a:t>của nó</a:t>
            </a:r>
            <a:r>
              <a:rPr sz="900" spc="-35" dirty="0">
                <a:latin typeface="Arial"/>
                <a:cs typeface="Arial"/>
              </a:rPr>
              <a:t> </a:t>
            </a:r>
            <a:r>
              <a:rPr sz="900" dirty="0">
                <a:latin typeface="Arial"/>
                <a:cs typeface="Arial"/>
              </a:rPr>
              <a:t>hành vi</a:t>
            </a:r>
            <a:r>
              <a:rPr sz="900" spc="-35" dirty="0">
                <a:latin typeface="Arial"/>
                <a:cs typeface="Arial"/>
              </a:rPr>
              <a:t> </a:t>
            </a:r>
            <a:r>
              <a:rPr sz="900" dirty="0">
                <a:latin typeface="Arial"/>
                <a:cs typeface="Arial"/>
              </a:rPr>
              <a:t>vì</a:t>
            </a:r>
            <a:r>
              <a:rPr sz="900" spc="-30" dirty="0">
                <a:latin typeface="Arial"/>
                <a:cs typeface="Arial"/>
              </a:rPr>
              <a:t> </a:t>
            </a:r>
            <a:r>
              <a:rPr sz="900" dirty="0">
                <a:latin typeface="Arial"/>
                <a:cs typeface="Arial"/>
              </a:rPr>
              <a:t>cụ thể</a:t>
            </a:r>
            <a:r>
              <a:rPr sz="900" spc="-35" dirty="0">
                <a:latin typeface="Arial"/>
                <a:cs typeface="Arial"/>
              </a:rPr>
              <a:t> </a:t>
            </a:r>
            <a:r>
              <a:rPr sz="900" spc="-10" dirty="0">
                <a:latin typeface="Arial"/>
                <a:cs typeface="Arial"/>
              </a:rPr>
              <a:t>ứng dụng.</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70929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Phần mềm trung gian</a:t>
            </a:r>
            <a:r>
              <a:rPr sz="500" spc="45" dirty="0">
                <a:latin typeface="Arial"/>
                <a:cs typeface="Arial"/>
                <a:hlinkClick r:id="rId4" action="ppaction://hlinksldjump"/>
              </a:rPr>
              <a:t> </a:t>
            </a:r>
            <a:r>
              <a:rPr sz="500" spc="-10" dirty="0">
                <a:latin typeface="Arial"/>
                <a:cs typeface="Arial"/>
                <a:hlinkClick r:id="rId4" action="ppaction://hlinksldjump"/>
              </a:rPr>
              <a:t>tổ chức</a:t>
            </a:r>
            <a:endParaRPr sz="500">
              <a:latin typeface="Arial"/>
              <a:cs typeface="Arial"/>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526167" y="-1515"/>
            <a:ext cx="10287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mềm trung gian </a:t>
            </a:r>
            <a:r>
              <a:rPr sz="500" dirty="0">
                <a:solidFill>
                  <a:srgbClr val="FFFFFF"/>
                </a:solidFill>
                <a:latin typeface="Arial"/>
                <a:cs typeface="Arial"/>
                <a:hlinkClick r:id="rId3" action="ppaction://hlinksldjump"/>
              </a:rPr>
              <a:t>và </a:t>
            </a:r>
            <a:r>
              <a:rPr sz="500" spc="-10" dirty="0">
                <a:solidFill>
                  <a:srgbClr val="FFFFFF"/>
                </a:solidFill>
                <a:latin typeface="Arial"/>
                <a:cs typeface="Arial"/>
                <a:hlinkClick r:id="rId3" action="ppaction://hlinksldjump"/>
              </a:rPr>
              <a:t>hệ thống phân tán</a:t>
            </a:r>
            <a:endParaRPr sz="500">
              <a:latin typeface="Arial"/>
              <a:cs typeface="Arial"/>
            </a:endParaRPr>
          </a:p>
        </p:txBody>
      </p:sp>
      <p:sp>
        <p:nvSpPr>
          <p:cNvPr id="5" name="object 5"/>
          <p:cNvSpPr txBox="1"/>
          <p:nvPr/>
        </p:nvSpPr>
        <p:spPr>
          <a:xfrm>
            <a:off x="95300" y="197711"/>
            <a:ext cx="225171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Chặn lại</a:t>
            </a:r>
            <a:r>
              <a:rPr sz="1200" spc="-35" dirty="0">
                <a:solidFill>
                  <a:srgbClr val="3333B2"/>
                </a:solidFill>
                <a:latin typeface="Arial"/>
                <a:cs typeface="Arial"/>
              </a:rPr>
              <a:t> </a:t>
            </a:r>
            <a:r>
              <a:rPr sz="1200" dirty="0">
                <a:solidFill>
                  <a:srgbClr val="3333B2"/>
                </a:solidFill>
                <a:latin typeface="Arial"/>
                <a:cs typeface="Arial"/>
              </a:rPr>
              <a:t>cái</a:t>
            </a:r>
            <a:r>
              <a:rPr sz="1200" spc="-35" dirty="0">
                <a:solidFill>
                  <a:srgbClr val="3333B2"/>
                </a:solidFill>
                <a:latin typeface="Arial"/>
                <a:cs typeface="Arial"/>
              </a:rPr>
              <a:t> </a:t>
            </a:r>
            <a:r>
              <a:rPr sz="1200" dirty="0">
                <a:solidFill>
                  <a:srgbClr val="3333B2"/>
                </a:solidFill>
                <a:latin typeface="Arial"/>
                <a:cs typeface="Arial"/>
              </a:rPr>
              <a:t>thường</a:t>
            </a:r>
            <a:r>
              <a:rPr sz="1200" spc="-35" dirty="0">
                <a:solidFill>
                  <a:srgbClr val="3333B2"/>
                </a:solidFill>
                <a:latin typeface="Arial"/>
                <a:cs typeface="Arial"/>
              </a:rPr>
              <a:t> </a:t>
            </a:r>
            <a:r>
              <a:rPr sz="1200" dirty="0">
                <a:solidFill>
                  <a:srgbClr val="3333B2"/>
                </a:solidFill>
                <a:latin typeface="Arial"/>
                <a:cs typeface="Arial"/>
              </a:rPr>
              <a:t>chảy</a:t>
            </a:r>
            <a:r>
              <a:rPr sz="1200" spc="-30" dirty="0">
                <a:solidFill>
                  <a:srgbClr val="3333B2"/>
                </a:solidFill>
                <a:latin typeface="Arial"/>
                <a:cs typeface="Arial"/>
              </a:rPr>
              <a:t> </a:t>
            </a:r>
            <a:r>
              <a:rPr sz="1200" dirty="0">
                <a:solidFill>
                  <a:srgbClr val="3333B2"/>
                </a:solidFill>
                <a:latin typeface="Arial"/>
                <a:cs typeface="Arial"/>
              </a:rPr>
              <a:t>của</a:t>
            </a:r>
            <a:r>
              <a:rPr sz="1200" spc="-35" dirty="0">
                <a:solidFill>
                  <a:srgbClr val="3333B2"/>
                </a:solidFill>
                <a:latin typeface="Arial"/>
                <a:cs typeface="Arial"/>
              </a:rPr>
              <a:t> </a:t>
            </a:r>
            <a:r>
              <a:rPr sz="1200" spc="-10" dirty="0">
                <a:solidFill>
                  <a:srgbClr val="3333B2"/>
                </a:solidFill>
                <a:latin typeface="Arial"/>
                <a:cs typeface="Arial"/>
              </a:rPr>
              <a:t>điều khiển</a:t>
            </a:r>
            <a:endParaRPr sz="1200">
              <a:latin typeface="Arial"/>
              <a:cs typeface="Arial"/>
            </a:endParaRPr>
          </a:p>
        </p:txBody>
      </p:sp>
      <p:pic>
        <p:nvPicPr>
          <p:cNvPr id="6" name="object 6"/>
          <p:cNvPicPr/>
          <p:nvPr/>
        </p:nvPicPr>
        <p:blipFill>
          <a:blip r:embed="rId4" cstate="print"/>
          <a:stretch>
            <a:fillRect/>
          </a:stretch>
        </p:blipFill>
        <p:spPr>
          <a:xfrm>
            <a:off x="713435" y="774580"/>
            <a:ext cx="3185068" cy="2373463"/>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70929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Phần mềm trung gian</a:t>
            </a:r>
            <a:r>
              <a:rPr sz="500" spc="45" dirty="0">
                <a:latin typeface="Arial"/>
                <a:cs typeface="Arial"/>
                <a:hlinkClick r:id="rId5" action="ppaction://hlinksldjump"/>
              </a:rPr>
              <a:t> </a:t>
            </a:r>
            <a:r>
              <a:rPr sz="500" spc="-10" dirty="0">
                <a:latin typeface="Arial"/>
                <a:cs typeface="Arial"/>
                <a:hlinkClick r:id="rId5" action="ppaction://hlinksldjump"/>
              </a:rPr>
              <a:t>tổ chức</a:t>
            </a:r>
            <a:endParaRPr sz="500">
              <a:latin typeface="Arial"/>
              <a:cs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Hệ thống </a:t>
            </a:r>
            <a:r>
              <a:rPr sz="500" spc="-10" dirty="0">
                <a:solidFill>
                  <a:srgbClr val="FFFFFF"/>
                </a:solidFill>
                <a:latin typeface="Arial"/>
                <a:cs typeface="Arial"/>
                <a:hlinkClick r:id="rId3" action="ppaction://hlinksldjump"/>
              </a:rPr>
              <a:t>phân lớp</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69900" y="197711"/>
            <a:ext cx="3547745" cy="1308100"/>
          </a:xfrm>
          <a:prstGeom prst="rect">
            <a:avLst/>
          </a:prstGeom>
        </p:spPr>
        <p:txBody>
          <a:bodyPr vert="horz" wrap="square" lIns="0" tIns="12065" rIns="0" bIns="0" rtlCol="0">
            <a:spAutoFit/>
          </a:bodyPr>
          <a:lstStyle/>
          <a:p>
            <a:pPr marL="38100">
              <a:lnSpc>
                <a:spcPct val="100000"/>
              </a:lnSpc>
              <a:spcBef>
                <a:spcPts val="95"/>
              </a:spcBef>
            </a:pPr>
            <a:r>
              <a:rPr sz="1200" spc="-10" dirty="0">
                <a:solidFill>
                  <a:srgbClr val="3333B2"/>
                </a:solidFill>
                <a:latin typeface="Arial"/>
                <a:cs typeface="Arial"/>
              </a:rPr>
              <a:t>Tập trung</a:t>
            </a:r>
            <a:r>
              <a:rPr sz="1200" spc="-20" dirty="0">
                <a:solidFill>
                  <a:srgbClr val="3333B2"/>
                </a:solidFill>
                <a:latin typeface="Arial"/>
                <a:cs typeface="Arial"/>
              </a:rPr>
              <a:t> </a:t>
            </a:r>
            <a:r>
              <a:rPr sz="1200" dirty="0">
                <a:solidFill>
                  <a:srgbClr val="3333B2"/>
                </a:solidFill>
                <a:latin typeface="Arial"/>
                <a:cs typeface="Arial"/>
              </a:rPr>
              <a:t>hệ thống</a:t>
            </a:r>
            <a:r>
              <a:rPr sz="1200" spc="-15" dirty="0">
                <a:solidFill>
                  <a:srgbClr val="3333B2"/>
                </a:solidFill>
                <a:latin typeface="Arial"/>
                <a:cs typeface="Arial"/>
              </a:rPr>
              <a:t> </a:t>
            </a:r>
            <a:r>
              <a:rPr sz="1200" spc="-10" dirty="0">
                <a:solidFill>
                  <a:srgbClr val="3333B2"/>
                </a:solidFill>
                <a:latin typeface="Arial"/>
                <a:cs typeface="Arial"/>
              </a:rPr>
              <a:t>kiến trúc</a:t>
            </a:r>
            <a:endParaRPr sz="1200">
              <a:latin typeface="Arial"/>
              <a:cs typeface="Arial"/>
            </a:endParaRPr>
          </a:p>
          <a:p>
            <a:pPr marL="289560">
              <a:lnSpc>
                <a:spcPct val="100000"/>
              </a:lnSpc>
              <a:spcBef>
                <a:spcPts val="1055"/>
              </a:spcBef>
            </a:pPr>
            <a:r>
              <a:rPr sz="1000" dirty="0">
                <a:solidFill>
                  <a:srgbClr val="3333B2"/>
                </a:solidFill>
                <a:latin typeface="Arial"/>
                <a:cs typeface="Arial"/>
              </a:rPr>
              <a:t>Nền tảng</a:t>
            </a:r>
            <a:r>
              <a:rPr sz="1000" spc="-60" dirty="0">
                <a:solidFill>
                  <a:srgbClr val="3333B2"/>
                </a:solidFill>
                <a:latin typeface="Arial"/>
                <a:cs typeface="Arial"/>
              </a:rPr>
              <a:t> </a:t>
            </a:r>
            <a:r>
              <a:rPr sz="1000" dirty="0">
                <a:solidFill>
                  <a:srgbClr val="3333B2"/>
                </a:solidFill>
                <a:latin typeface="Arial"/>
                <a:cs typeface="Arial"/>
              </a:rPr>
              <a:t>Máy khách-Máy chủ</a:t>
            </a:r>
            <a:r>
              <a:rPr sz="1000" spc="-45" dirty="0">
                <a:solidFill>
                  <a:srgbClr val="3333B2"/>
                </a:solidFill>
                <a:latin typeface="Arial"/>
                <a:cs typeface="Arial"/>
              </a:rPr>
              <a:t> </a:t>
            </a:r>
            <a:r>
              <a:rPr sz="1000" spc="-10" dirty="0">
                <a:solidFill>
                  <a:srgbClr val="3333B2"/>
                </a:solidFill>
                <a:latin typeface="Arial"/>
                <a:cs typeface="Arial"/>
              </a:rPr>
              <a:t>Người mẫu</a:t>
            </a:r>
            <a:endParaRPr sz="1000">
              <a:latin typeface="Arial"/>
              <a:cs typeface="Arial"/>
            </a:endParaRPr>
          </a:p>
          <a:p>
            <a:pPr marL="289560">
              <a:lnSpc>
                <a:spcPct val="100000"/>
              </a:lnSpc>
              <a:spcBef>
                <a:spcPts val="105"/>
              </a:spcBef>
            </a:pPr>
            <a:r>
              <a:rPr sz="900" spc="-10" dirty="0">
                <a:latin typeface="Arial"/>
                <a:cs typeface="Arial"/>
              </a:rPr>
              <a:t>Đặc trưng:</a:t>
            </a:r>
            <a:endParaRPr sz="900">
              <a:latin typeface="Arial"/>
              <a:cs typeface="Arial"/>
            </a:endParaRPr>
          </a:p>
          <a:p>
            <a:pPr marL="539115" indent="-116839">
              <a:lnSpc>
                <a:spcPct val="100000"/>
              </a:lnSpc>
              <a:spcBef>
                <a:spcPts val="525"/>
              </a:spcBef>
              <a:buClr>
                <a:srgbClr val="3333B2"/>
              </a:buClr>
              <a:buFont typeface="Apple Symbols"/>
              <a:buChar char="•"/>
              <a:tabLst>
                <a:tab pos="539750" algn="l"/>
              </a:tabLst>
            </a:pPr>
            <a:r>
              <a:rPr sz="900" dirty="0">
                <a:latin typeface="Arial"/>
                <a:cs typeface="Arial"/>
              </a:rPr>
              <a:t>Ở đó</a:t>
            </a:r>
            <a:r>
              <a:rPr sz="900" spc="-35" dirty="0">
                <a:latin typeface="Arial"/>
                <a:cs typeface="Arial"/>
              </a:rPr>
              <a:t> </a:t>
            </a:r>
            <a:r>
              <a:rPr sz="900" dirty="0">
                <a:latin typeface="Arial"/>
                <a:cs typeface="Arial"/>
              </a:rPr>
              <a:t>là</a:t>
            </a:r>
            <a:r>
              <a:rPr sz="900" spc="-30" dirty="0">
                <a:latin typeface="Arial"/>
                <a:cs typeface="Arial"/>
              </a:rPr>
              <a:t> </a:t>
            </a:r>
            <a:r>
              <a:rPr sz="900" dirty="0">
                <a:latin typeface="Arial"/>
                <a:cs typeface="Arial"/>
              </a:rPr>
              <a:t>các quá trình</a:t>
            </a:r>
            <a:r>
              <a:rPr sz="900" spc="-35" dirty="0">
                <a:latin typeface="Arial"/>
                <a:cs typeface="Arial"/>
              </a:rPr>
              <a:t> </a:t>
            </a:r>
            <a:r>
              <a:rPr sz="900" dirty="0">
                <a:latin typeface="Arial"/>
                <a:cs typeface="Arial"/>
              </a:rPr>
              <a:t>cung cấp</a:t>
            </a:r>
            <a:r>
              <a:rPr sz="900" spc="-30" dirty="0">
                <a:latin typeface="Arial"/>
                <a:cs typeface="Arial"/>
              </a:rPr>
              <a:t> </a:t>
            </a:r>
            <a:r>
              <a:rPr sz="900" dirty="0">
                <a:latin typeface="Arial"/>
                <a:cs typeface="Arial"/>
              </a:rPr>
              <a:t>dịch vụ</a:t>
            </a:r>
            <a:r>
              <a:rPr sz="900" spc="-35" dirty="0">
                <a:latin typeface="Arial"/>
                <a:cs typeface="Arial"/>
              </a:rPr>
              <a:t> </a:t>
            </a:r>
            <a:r>
              <a:rPr sz="900" spc="-10" dirty="0">
                <a:latin typeface="Arial"/>
                <a:cs typeface="Arial"/>
              </a:rPr>
              <a:t>( </a:t>
            </a:r>
            <a:r>
              <a:rPr sz="900" spc="-10" dirty="0">
                <a:solidFill>
                  <a:srgbClr val="C80000"/>
                </a:solidFill>
                <a:latin typeface="Arial"/>
                <a:cs typeface="Arial"/>
              </a:rPr>
              <a:t>máy chủ </a:t>
            </a:r>
            <a:r>
              <a:rPr sz="900" spc="-10" dirty="0">
                <a:latin typeface="Arial"/>
                <a:cs typeface="Arial"/>
              </a:rPr>
              <a:t>)</a:t>
            </a:r>
            <a:endParaRPr sz="900">
              <a:latin typeface="Arial"/>
              <a:cs typeface="Arial"/>
            </a:endParaRPr>
          </a:p>
          <a:p>
            <a:pPr marL="539115" indent="-116839">
              <a:lnSpc>
                <a:spcPct val="100000"/>
              </a:lnSpc>
              <a:spcBef>
                <a:spcPts val="125"/>
              </a:spcBef>
              <a:buClr>
                <a:srgbClr val="3333B2"/>
              </a:buClr>
              <a:buFont typeface="Apple Symbols"/>
              <a:buChar char="•"/>
              <a:tabLst>
                <a:tab pos="539750" algn="l"/>
              </a:tabLst>
            </a:pPr>
            <a:r>
              <a:rPr sz="900" dirty="0">
                <a:latin typeface="Arial"/>
                <a:cs typeface="Arial"/>
              </a:rPr>
              <a:t>Ở đó</a:t>
            </a:r>
            <a:r>
              <a:rPr sz="900" spc="-25" dirty="0">
                <a:latin typeface="Arial"/>
                <a:cs typeface="Arial"/>
              </a:rPr>
              <a:t> </a:t>
            </a:r>
            <a:r>
              <a:rPr sz="900" dirty="0">
                <a:latin typeface="Arial"/>
                <a:cs typeface="Arial"/>
              </a:rPr>
              <a:t>là</a:t>
            </a:r>
            <a:r>
              <a:rPr sz="900" spc="-25" dirty="0">
                <a:latin typeface="Arial"/>
                <a:cs typeface="Arial"/>
              </a:rPr>
              <a:t> </a:t>
            </a:r>
            <a:r>
              <a:rPr sz="900" dirty="0">
                <a:latin typeface="Arial"/>
                <a:cs typeface="Arial"/>
              </a:rPr>
              <a:t>các quá trình</a:t>
            </a:r>
            <a:r>
              <a:rPr sz="900" spc="-25" dirty="0">
                <a:latin typeface="Arial"/>
                <a:cs typeface="Arial"/>
              </a:rPr>
              <a:t> </a:t>
            </a:r>
            <a:r>
              <a:rPr sz="900" dirty="0">
                <a:latin typeface="Arial"/>
                <a:cs typeface="Arial"/>
              </a:rPr>
              <a:t>cái đó</a:t>
            </a:r>
            <a:r>
              <a:rPr sz="900" spc="-25" dirty="0">
                <a:latin typeface="Arial"/>
                <a:cs typeface="Arial"/>
              </a:rPr>
              <a:t> </a:t>
            </a:r>
            <a:r>
              <a:rPr sz="900" dirty="0">
                <a:latin typeface="Arial"/>
                <a:cs typeface="Arial"/>
              </a:rPr>
              <a:t>sử dụng</a:t>
            </a:r>
            <a:r>
              <a:rPr sz="900" spc="-25" dirty="0">
                <a:latin typeface="Arial"/>
                <a:cs typeface="Arial"/>
              </a:rPr>
              <a:t> </a:t>
            </a:r>
            <a:r>
              <a:rPr sz="900" dirty="0">
                <a:latin typeface="Arial"/>
                <a:cs typeface="Arial"/>
              </a:rPr>
              <a:t>dịch vụ</a:t>
            </a:r>
            <a:r>
              <a:rPr sz="900" spc="-25" dirty="0">
                <a:latin typeface="Arial"/>
                <a:cs typeface="Arial"/>
              </a:rPr>
              <a:t> </a:t>
            </a:r>
            <a:r>
              <a:rPr sz="900" spc="-10" dirty="0">
                <a:latin typeface="Arial"/>
                <a:cs typeface="Arial"/>
              </a:rPr>
              <a:t>( </a:t>
            </a:r>
            <a:r>
              <a:rPr sz="900" spc="-10" dirty="0">
                <a:solidFill>
                  <a:srgbClr val="C80000"/>
                </a:solidFill>
                <a:latin typeface="Arial"/>
                <a:cs typeface="Arial"/>
              </a:rPr>
              <a:t>khách hàng </a:t>
            </a:r>
            <a:r>
              <a:rPr sz="900" spc="-10" dirty="0">
                <a:latin typeface="Arial"/>
                <a:cs typeface="Arial"/>
              </a:rPr>
              <a:t>)</a:t>
            </a:r>
            <a:endParaRPr sz="900">
              <a:latin typeface="Arial"/>
              <a:cs typeface="Arial"/>
            </a:endParaRPr>
          </a:p>
          <a:p>
            <a:pPr marL="542925" indent="-120650">
              <a:lnSpc>
                <a:spcPct val="100000"/>
              </a:lnSpc>
              <a:spcBef>
                <a:spcPts val="125"/>
              </a:spcBef>
              <a:buClr>
                <a:srgbClr val="3333B2"/>
              </a:buClr>
              <a:buFont typeface="Apple Symbols"/>
              <a:buChar char="•"/>
              <a:tabLst>
                <a:tab pos="543560" algn="l"/>
              </a:tabLst>
            </a:pPr>
            <a:r>
              <a:rPr sz="900" dirty="0">
                <a:latin typeface="Arial"/>
                <a:cs typeface="Arial"/>
              </a:rPr>
              <a:t>Khách hàng</a:t>
            </a:r>
            <a:r>
              <a:rPr sz="900" spc="-20" dirty="0">
                <a:latin typeface="Arial"/>
                <a:cs typeface="Arial"/>
              </a:rPr>
              <a:t> </a:t>
            </a:r>
            <a:r>
              <a:rPr sz="900" dirty="0">
                <a:latin typeface="Arial"/>
                <a:cs typeface="Arial"/>
              </a:rPr>
              <a:t>Và</a:t>
            </a:r>
            <a:r>
              <a:rPr sz="900" spc="-15" dirty="0">
                <a:latin typeface="Arial"/>
                <a:cs typeface="Arial"/>
              </a:rPr>
              <a:t> </a:t>
            </a:r>
            <a:r>
              <a:rPr sz="900" dirty="0">
                <a:latin typeface="Arial"/>
                <a:cs typeface="Arial"/>
              </a:rPr>
              <a:t>máy chủ</a:t>
            </a:r>
            <a:r>
              <a:rPr sz="900" spc="-15" dirty="0">
                <a:latin typeface="Arial"/>
                <a:cs typeface="Arial"/>
              </a:rPr>
              <a:t> </a:t>
            </a:r>
            <a:r>
              <a:rPr sz="900" dirty="0">
                <a:latin typeface="Arial"/>
                <a:cs typeface="Arial"/>
              </a:rPr>
              <a:t>Có thể</a:t>
            </a:r>
            <a:r>
              <a:rPr sz="900" spc="-20" dirty="0">
                <a:latin typeface="Arial"/>
                <a:cs typeface="Arial"/>
              </a:rPr>
              <a:t> </a:t>
            </a:r>
            <a:r>
              <a:rPr sz="900" dirty="0">
                <a:latin typeface="Arial"/>
                <a:cs typeface="Arial"/>
              </a:rPr>
              <a:t>là</a:t>
            </a:r>
            <a:r>
              <a:rPr sz="900" spc="-15" dirty="0">
                <a:latin typeface="Arial"/>
                <a:cs typeface="Arial"/>
              </a:rPr>
              <a:t> </a:t>
            </a:r>
            <a:r>
              <a:rPr sz="900" dirty="0">
                <a:latin typeface="Arial"/>
                <a:cs typeface="Arial"/>
              </a:rPr>
              <a:t>TRÊN</a:t>
            </a:r>
            <a:r>
              <a:rPr sz="900" spc="-15" dirty="0">
                <a:latin typeface="Arial"/>
                <a:cs typeface="Arial"/>
              </a:rPr>
              <a:t> </a:t>
            </a:r>
            <a:r>
              <a:rPr sz="900" spc="-10" dirty="0">
                <a:latin typeface="Arial"/>
                <a:cs typeface="Arial"/>
              </a:rPr>
              <a:t>khác biệt</a:t>
            </a:r>
            <a:r>
              <a:rPr sz="900" spc="-15" dirty="0">
                <a:latin typeface="Arial"/>
                <a:cs typeface="Arial"/>
              </a:rPr>
              <a:t> </a:t>
            </a:r>
            <a:r>
              <a:rPr sz="900" spc="-10" dirty="0">
                <a:latin typeface="Arial"/>
                <a:cs typeface="Arial"/>
              </a:rPr>
              <a:t>máy móc</a:t>
            </a:r>
            <a:endParaRPr sz="900">
              <a:latin typeface="Arial"/>
              <a:cs typeface="Arial"/>
            </a:endParaRPr>
          </a:p>
          <a:p>
            <a:pPr marL="542925" indent="-120650">
              <a:lnSpc>
                <a:spcPct val="100000"/>
              </a:lnSpc>
              <a:spcBef>
                <a:spcPts val="125"/>
              </a:spcBef>
              <a:buClr>
                <a:srgbClr val="3333B2"/>
              </a:buClr>
              <a:buFont typeface="Apple Symbols"/>
              <a:buChar char="•"/>
              <a:tabLst>
                <a:tab pos="543560" algn="l"/>
              </a:tabLst>
            </a:pPr>
            <a:r>
              <a:rPr sz="900" dirty="0">
                <a:latin typeface="Arial"/>
                <a:cs typeface="Arial"/>
              </a:rPr>
              <a:t>Khách hàng</a:t>
            </a:r>
            <a:r>
              <a:rPr sz="900" spc="-35" dirty="0">
                <a:latin typeface="Arial"/>
                <a:cs typeface="Arial"/>
              </a:rPr>
              <a:t> </a:t>
            </a:r>
            <a:r>
              <a:rPr sz="900" spc="-10" dirty="0">
                <a:latin typeface="Arial"/>
                <a:cs typeface="Arial"/>
              </a:rPr>
              <a:t>theo</a:t>
            </a:r>
            <a:r>
              <a:rPr sz="900" spc="-35" dirty="0">
                <a:latin typeface="Arial"/>
                <a:cs typeface="Arial"/>
              </a:rPr>
              <a:t> </a:t>
            </a:r>
            <a:r>
              <a:rPr sz="900" dirty="0">
                <a:latin typeface="Arial"/>
                <a:cs typeface="Arial"/>
              </a:rPr>
              <a:t>yêu cầu/trả lời</a:t>
            </a:r>
            <a:r>
              <a:rPr sz="900" spc="-35" dirty="0">
                <a:latin typeface="Arial"/>
                <a:cs typeface="Arial"/>
              </a:rPr>
              <a:t> </a:t>
            </a:r>
            <a:r>
              <a:rPr sz="900" dirty="0">
                <a:latin typeface="Arial"/>
                <a:cs typeface="Arial"/>
              </a:rPr>
              <a:t>người mẫu</a:t>
            </a:r>
            <a:r>
              <a:rPr sz="900" spc="-30" dirty="0">
                <a:latin typeface="Arial"/>
                <a:cs typeface="Arial"/>
              </a:rPr>
              <a:t> </a:t>
            </a:r>
            <a:r>
              <a:rPr sz="900" dirty="0">
                <a:latin typeface="Arial"/>
                <a:cs typeface="Arial"/>
              </a:rPr>
              <a:t>về</a:t>
            </a:r>
            <a:r>
              <a:rPr sz="900" spc="-35" dirty="0">
                <a:latin typeface="Arial"/>
                <a:cs typeface="Arial"/>
              </a:rPr>
              <a:t> </a:t>
            </a:r>
            <a:r>
              <a:rPr sz="900" dirty="0">
                <a:latin typeface="Arial"/>
                <a:cs typeface="Arial"/>
              </a:rPr>
              <a:t>sử dụng</a:t>
            </a:r>
            <a:r>
              <a:rPr sz="900" spc="-35" dirty="0">
                <a:latin typeface="Arial"/>
                <a:cs typeface="Arial"/>
              </a:rPr>
              <a:t> </a:t>
            </a:r>
            <a:r>
              <a:rPr sz="900" spc="-10" dirty="0">
                <a:latin typeface="Arial"/>
                <a:cs typeface="Arial"/>
              </a:rPr>
              <a:t>dịch vụ</a:t>
            </a:r>
            <a:endParaRPr sz="900">
              <a:latin typeface="Arial"/>
              <a:cs typeface="Arial"/>
            </a:endParaRPr>
          </a:p>
        </p:txBody>
      </p:sp>
      <p:pic>
        <p:nvPicPr>
          <p:cNvPr id="6" name="object 6"/>
          <p:cNvPicPr/>
          <p:nvPr/>
        </p:nvPicPr>
        <p:blipFill>
          <a:blip r:embed="rId4" cstate="print"/>
          <a:stretch>
            <a:fillRect/>
          </a:stretch>
        </p:blipFill>
        <p:spPr>
          <a:xfrm>
            <a:off x="1168631" y="1640771"/>
            <a:ext cx="2307406" cy="508413"/>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92964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Đơn giản</a:t>
            </a:r>
            <a:r>
              <a:rPr sz="500" spc="5" dirty="0">
                <a:latin typeface="Arial"/>
                <a:cs typeface="Arial"/>
                <a:hlinkClick r:id="rId3" action="ppaction://hlinksldjump"/>
              </a:rPr>
              <a:t> máy </a:t>
            </a:r>
            <a:r>
              <a:rPr sz="500" spc="-10" dirty="0">
                <a:latin typeface="Arial"/>
                <a:cs typeface="Arial"/>
                <a:hlinkClick r:id="rId3" action="ppaction://hlinksldjump"/>
              </a:rPr>
              <a:t>khách- </a:t>
            </a:r>
            <a:r>
              <a:rPr sz="500" dirty="0">
                <a:latin typeface="Arial"/>
                <a:cs typeface="Arial"/>
                <a:hlinkClick r:id="rId3" action="ppaction://hlinksldjump"/>
              </a:rPr>
              <a:t>máy chủ</a:t>
            </a:r>
            <a:r>
              <a:rPr sz="500" spc="5" dirty="0">
                <a:latin typeface="Arial"/>
                <a:cs typeface="Arial"/>
                <a:hlinkClick r:id="rId3" action="ppaction://hlinksldjump"/>
              </a:rPr>
              <a:t> </a:t>
            </a:r>
            <a:r>
              <a:rPr sz="500" spc="-10" dirty="0">
                <a:latin typeface="Arial"/>
                <a:cs typeface="Arial"/>
                <a:hlinkClick r:id="rId3" action="ppaction://hlinksldjump"/>
              </a:rPr>
              <a:t>ngành kiến trúc</a:t>
            </a:r>
            <a:endParaRPr sz="500">
              <a:latin typeface="Arial"/>
              <a:cs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Hệ thống </a:t>
            </a:r>
            <a:r>
              <a:rPr sz="500" spc="-10" dirty="0">
                <a:solidFill>
                  <a:srgbClr val="FFFFFF"/>
                </a:solidFill>
                <a:latin typeface="Arial"/>
                <a:cs typeface="Arial"/>
                <a:hlinkClick r:id="rId3" action="ppaction://hlinksldjump"/>
              </a:rPr>
              <a:t>phân lớp</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57200" y="197711"/>
            <a:ext cx="3291840" cy="1311275"/>
          </a:xfrm>
          <a:prstGeom prst="rect">
            <a:avLst/>
          </a:prstGeom>
        </p:spPr>
        <p:txBody>
          <a:bodyPr vert="horz" wrap="square" lIns="0" tIns="12065" rIns="0" bIns="0" rtlCol="0">
            <a:spAutoFit/>
          </a:bodyPr>
          <a:lstStyle/>
          <a:p>
            <a:pPr marL="50800">
              <a:lnSpc>
                <a:spcPct val="100000"/>
              </a:lnSpc>
              <a:spcBef>
                <a:spcPts val="95"/>
              </a:spcBef>
            </a:pPr>
            <a:r>
              <a:rPr sz="1200" spc="-10" dirty="0">
                <a:solidFill>
                  <a:srgbClr val="3333B2"/>
                </a:solidFill>
                <a:latin typeface="Arial"/>
                <a:cs typeface="Arial"/>
              </a:rPr>
              <a:t>Nhiều </a:t>
            </a:r>
            <a:r>
              <a:rPr sz="1200" dirty="0">
                <a:solidFill>
                  <a:srgbClr val="3333B2"/>
                </a:solidFill>
                <a:latin typeface="Arial"/>
                <a:cs typeface="Arial"/>
              </a:rPr>
              <a:t>tầng</a:t>
            </a:r>
            <a:r>
              <a:rPr sz="1200" spc="-15" dirty="0">
                <a:solidFill>
                  <a:srgbClr val="3333B2"/>
                </a:solidFill>
                <a:latin typeface="Arial"/>
                <a:cs typeface="Arial"/>
              </a:rPr>
              <a:t> </a:t>
            </a:r>
            <a:r>
              <a:rPr sz="1200" dirty="0">
                <a:solidFill>
                  <a:srgbClr val="3333B2"/>
                </a:solidFill>
                <a:latin typeface="Arial"/>
                <a:cs typeface="Arial"/>
              </a:rPr>
              <a:t>hệ thống </a:t>
            </a:r>
            <a:r>
              <a:rPr sz="1200" spc="-10" dirty="0">
                <a:solidFill>
                  <a:srgbClr val="3333B2"/>
                </a:solidFill>
                <a:latin typeface="Arial"/>
                <a:cs typeface="Arial"/>
              </a:rPr>
              <a:t>tập trung</a:t>
            </a:r>
            <a:r>
              <a:rPr sz="1200" spc="-15" dirty="0">
                <a:solidFill>
                  <a:srgbClr val="3333B2"/>
                </a:solidFill>
                <a:latin typeface="Arial"/>
                <a:cs typeface="Arial"/>
              </a:rPr>
              <a:t> </a:t>
            </a:r>
            <a:r>
              <a:rPr sz="1200" spc="-10" dirty="0">
                <a:solidFill>
                  <a:srgbClr val="3333B2"/>
                </a:solidFill>
                <a:latin typeface="Arial"/>
                <a:cs typeface="Arial"/>
              </a:rPr>
              <a:t>kiến trúc</a:t>
            </a:r>
            <a:endParaRPr sz="1200">
              <a:latin typeface="Arial"/>
              <a:cs typeface="Arial"/>
            </a:endParaRPr>
          </a:p>
          <a:p>
            <a:pPr marL="302260">
              <a:lnSpc>
                <a:spcPct val="100000"/>
              </a:lnSpc>
              <a:spcBef>
                <a:spcPts val="910"/>
              </a:spcBef>
            </a:pPr>
            <a:r>
              <a:rPr sz="1000" dirty="0">
                <a:solidFill>
                  <a:srgbClr val="3333B2"/>
                </a:solidFill>
                <a:latin typeface="Arial"/>
                <a:cs typeface="Arial"/>
              </a:rPr>
              <a:t>Một số</a:t>
            </a:r>
            <a:r>
              <a:rPr sz="1000" spc="-45" dirty="0">
                <a:solidFill>
                  <a:srgbClr val="3333B2"/>
                </a:solidFill>
                <a:latin typeface="Arial"/>
                <a:cs typeface="Arial"/>
              </a:rPr>
              <a:t> </a:t>
            </a:r>
            <a:r>
              <a:rPr sz="1000" dirty="0">
                <a:solidFill>
                  <a:srgbClr val="3333B2"/>
                </a:solidFill>
                <a:latin typeface="Arial"/>
                <a:cs typeface="Arial"/>
              </a:rPr>
              <a:t>truyền thống</a:t>
            </a:r>
            <a:r>
              <a:rPr sz="1000" spc="-45" dirty="0">
                <a:solidFill>
                  <a:srgbClr val="3333B2"/>
                </a:solidFill>
                <a:latin typeface="Arial"/>
                <a:cs typeface="Arial"/>
              </a:rPr>
              <a:t> </a:t>
            </a:r>
            <a:r>
              <a:rPr sz="1000" spc="-10" dirty="0">
                <a:solidFill>
                  <a:srgbClr val="3333B2"/>
                </a:solidFill>
                <a:latin typeface="Arial"/>
                <a:cs typeface="Arial"/>
              </a:rPr>
              <a:t>các tổ chức</a:t>
            </a:r>
            <a:endParaRPr sz="1000">
              <a:latin typeface="Arial"/>
              <a:cs typeface="Arial"/>
            </a:endParaRPr>
          </a:p>
          <a:p>
            <a:pPr marL="555625" indent="-120650">
              <a:lnSpc>
                <a:spcPct val="100000"/>
              </a:lnSpc>
              <a:spcBef>
                <a:spcPts val="705"/>
              </a:spcBef>
              <a:buClr>
                <a:srgbClr val="3333B2"/>
              </a:buClr>
              <a:buFont typeface="Apple Symbols"/>
              <a:buChar char="•"/>
              <a:tabLst>
                <a:tab pos="556260" algn="l"/>
              </a:tabLst>
            </a:pPr>
            <a:r>
              <a:rPr sz="900" spc="-10" dirty="0">
                <a:solidFill>
                  <a:srgbClr val="C80000"/>
                </a:solidFill>
                <a:latin typeface="Arial"/>
                <a:cs typeface="Arial"/>
              </a:rPr>
              <a:t>cấp </a:t>
            </a:r>
            <a:r>
              <a:rPr sz="900" dirty="0">
                <a:solidFill>
                  <a:srgbClr val="C80000"/>
                </a:solidFill>
                <a:latin typeface="Arial"/>
                <a:cs typeface="Arial"/>
              </a:rPr>
              <a:t>:</a:t>
            </a:r>
            <a:r>
              <a:rPr sz="900" spc="95" dirty="0">
                <a:solidFill>
                  <a:srgbClr val="C80000"/>
                </a:solidFill>
                <a:latin typeface="Arial"/>
                <a:cs typeface="Arial"/>
              </a:rPr>
              <a:t> </a:t>
            </a:r>
            <a:r>
              <a:rPr sz="900" dirty="0">
                <a:latin typeface="Arial"/>
                <a:cs typeface="Arial"/>
              </a:rPr>
              <a:t>câm</a:t>
            </a:r>
            <a:r>
              <a:rPr sz="900" spc="25" dirty="0">
                <a:latin typeface="Arial"/>
                <a:cs typeface="Arial"/>
              </a:rPr>
              <a:t> </a:t>
            </a:r>
            <a:r>
              <a:rPr sz="900" spc="-10" dirty="0">
                <a:latin typeface="Arial"/>
                <a:cs typeface="Arial"/>
              </a:rPr>
              <a:t>thiết bị đầu cuối/máy chủ</a:t>
            </a:r>
            <a:r>
              <a:rPr sz="900" spc="30" dirty="0">
                <a:latin typeface="Arial"/>
                <a:cs typeface="Arial"/>
              </a:rPr>
              <a:t> </a:t>
            </a:r>
            <a:r>
              <a:rPr sz="900" spc="-10" dirty="0">
                <a:latin typeface="Arial"/>
                <a:cs typeface="Arial"/>
              </a:rPr>
              <a:t>cấu hình</a:t>
            </a:r>
            <a:endParaRPr sz="900">
              <a:latin typeface="Arial"/>
              <a:cs typeface="Arial"/>
            </a:endParaRPr>
          </a:p>
          <a:p>
            <a:pPr marL="555625" indent="-120650">
              <a:lnSpc>
                <a:spcPct val="100000"/>
              </a:lnSpc>
              <a:spcBef>
                <a:spcPts val="125"/>
              </a:spcBef>
              <a:buClr>
                <a:srgbClr val="3333B2"/>
              </a:buClr>
              <a:buFont typeface="Apple Symbols"/>
              <a:buChar char="•"/>
              <a:tabLst>
                <a:tab pos="556260" algn="l"/>
              </a:tabLst>
            </a:pPr>
            <a:r>
              <a:rPr sz="900" spc="-35" dirty="0">
                <a:solidFill>
                  <a:srgbClr val="C80000"/>
                </a:solidFill>
                <a:latin typeface="Arial"/>
                <a:cs typeface="Arial"/>
              </a:rPr>
              <a:t>Hai </a:t>
            </a:r>
            <a:r>
              <a:rPr sz="900" dirty="0">
                <a:solidFill>
                  <a:srgbClr val="C80000"/>
                </a:solidFill>
                <a:latin typeface="Arial"/>
                <a:cs typeface="Arial"/>
              </a:rPr>
              <a:t>tầng:</a:t>
            </a:r>
            <a:r>
              <a:rPr sz="900" spc="15" dirty="0">
                <a:solidFill>
                  <a:srgbClr val="C80000"/>
                </a:solidFill>
                <a:latin typeface="Arial"/>
                <a:cs typeface="Arial"/>
              </a:rPr>
              <a:t> </a:t>
            </a:r>
            <a:r>
              <a:rPr sz="900" dirty="0">
                <a:latin typeface="Arial"/>
                <a:cs typeface="Arial"/>
              </a:rPr>
              <a:t>khách hàng/độc thân</a:t>
            </a:r>
            <a:r>
              <a:rPr sz="900" spc="-35" dirty="0">
                <a:latin typeface="Arial"/>
                <a:cs typeface="Arial"/>
              </a:rPr>
              <a:t> </a:t>
            </a:r>
            <a:r>
              <a:rPr sz="900" dirty="0">
                <a:latin typeface="Arial"/>
                <a:cs typeface="Arial"/>
              </a:rPr>
              <a:t>máy chủ</a:t>
            </a:r>
            <a:r>
              <a:rPr sz="900" spc="-35" dirty="0">
                <a:latin typeface="Arial"/>
                <a:cs typeface="Arial"/>
              </a:rPr>
              <a:t> </a:t>
            </a:r>
            <a:r>
              <a:rPr sz="900" spc="-10" dirty="0">
                <a:latin typeface="Arial"/>
                <a:cs typeface="Arial"/>
              </a:rPr>
              <a:t>cấu hình</a:t>
            </a:r>
            <a:endParaRPr sz="900">
              <a:latin typeface="Arial"/>
              <a:cs typeface="Arial"/>
            </a:endParaRPr>
          </a:p>
          <a:p>
            <a:pPr marL="555625" indent="-120650">
              <a:lnSpc>
                <a:spcPct val="100000"/>
              </a:lnSpc>
              <a:spcBef>
                <a:spcPts val="125"/>
              </a:spcBef>
              <a:buClr>
                <a:srgbClr val="3333B2"/>
              </a:buClr>
              <a:buFont typeface="Apple Symbols"/>
              <a:buChar char="•"/>
              <a:tabLst>
                <a:tab pos="556260" algn="l"/>
              </a:tabLst>
            </a:pPr>
            <a:r>
              <a:rPr sz="900" spc="-10" dirty="0">
                <a:solidFill>
                  <a:srgbClr val="C80000"/>
                </a:solidFill>
                <a:latin typeface="Arial"/>
                <a:cs typeface="Arial"/>
              </a:rPr>
              <a:t>Ba </a:t>
            </a:r>
            <a:r>
              <a:rPr sz="900" dirty="0">
                <a:solidFill>
                  <a:srgbClr val="C80000"/>
                </a:solidFill>
                <a:latin typeface="Arial"/>
                <a:cs typeface="Arial"/>
              </a:rPr>
              <a:t>tầng:</a:t>
            </a:r>
            <a:r>
              <a:rPr sz="900" spc="30" dirty="0">
                <a:solidFill>
                  <a:srgbClr val="C80000"/>
                </a:solidFill>
                <a:latin typeface="Arial"/>
                <a:cs typeface="Arial"/>
              </a:rPr>
              <a:t> </a:t>
            </a:r>
            <a:r>
              <a:rPr sz="900" dirty="0">
                <a:latin typeface="Arial"/>
                <a:cs typeface="Arial"/>
              </a:rPr>
              <a:t>mỗi</a:t>
            </a:r>
            <a:r>
              <a:rPr sz="900" spc="-20" dirty="0">
                <a:latin typeface="Arial"/>
                <a:cs typeface="Arial"/>
              </a:rPr>
              <a:t> </a:t>
            </a:r>
            <a:r>
              <a:rPr sz="900" spc="-10" dirty="0">
                <a:latin typeface="Arial"/>
                <a:cs typeface="Arial"/>
              </a:rPr>
              <a:t>lớp</a:t>
            </a:r>
            <a:r>
              <a:rPr sz="900" spc="-20" dirty="0">
                <a:latin typeface="Arial"/>
                <a:cs typeface="Arial"/>
              </a:rPr>
              <a:t> </a:t>
            </a:r>
            <a:r>
              <a:rPr sz="900" dirty="0">
                <a:latin typeface="Arial"/>
                <a:cs typeface="Arial"/>
              </a:rPr>
              <a:t>TRÊN</a:t>
            </a:r>
            <a:r>
              <a:rPr sz="900" spc="-20" dirty="0">
                <a:latin typeface="Arial"/>
                <a:cs typeface="Arial"/>
              </a:rPr>
              <a:t> </a:t>
            </a:r>
            <a:r>
              <a:rPr sz="900" dirty="0">
                <a:latin typeface="Arial"/>
                <a:cs typeface="Arial"/>
              </a:rPr>
              <a:t>chia</a:t>
            </a:r>
            <a:r>
              <a:rPr sz="900" spc="-25" dirty="0">
                <a:latin typeface="Arial"/>
                <a:cs typeface="Arial"/>
              </a:rPr>
              <a:t> </a:t>
            </a:r>
            <a:r>
              <a:rPr sz="900" spc="-10" dirty="0">
                <a:latin typeface="Arial"/>
                <a:cs typeface="Arial"/>
              </a:rPr>
              <a:t>máy móc</a:t>
            </a:r>
            <a:endParaRPr sz="900">
              <a:latin typeface="Arial"/>
              <a:cs typeface="Arial"/>
            </a:endParaRPr>
          </a:p>
          <a:p>
            <a:pPr>
              <a:lnSpc>
                <a:spcPct val="100000"/>
              </a:lnSpc>
              <a:spcBef>
                <a:spcPts val="30"/>
              </a:spcBef>
            </a:pPr>
            <a:endParaRPr sz="1000">
              <a:latin typeface="Arial"/>
              <a:cs typeface="Arial"/>
            </a:endParaRPr>
          </a:p>
          <a:p>
            <a:pPr marL="298450">
              <a:lnSpc>
                <a:spcPct val="100000"/>
              </a:lnSpc>
            </a:pPr>
            <a:r>
              <a:rPr sz="1000" spc="-20" dirty="0">
                <a:solidFill>
                  <a:srgbClr val="3333B2"/>
                </a:solidFill>
                <a:latin typeface="Arial"/>
                <a:cs typeface="Arial"/>
              </a:rPr>
              <a:t>Truyền thống</a:t>
            </a:r>
            <a:r>
              <a:rPr sz="1000" spc="5" dirty="0">
                <a:solidFill>
                  <a:srgbClr val="3333B2"/>
                </a:solidFill>
                <a:latin typeface="Arial"/>
                <a:cs typeface="Arial"/>
              </a:rPr>
              <a:t> </a:t>
            </a:r>
            <a:r>
              <a:rPr sz="1000" dirty="0">
                <a:solidFill>
                  <a:srgbClr val="3333B2"/>
                </a:solidFill>
                <a:latin typeface="Arial"/>
                <a:cs typeface="Arial"/>
              </a:rPr>
              <a:t>hai </a:t>
            </a:r>
            <a:r>
              <a:rPr sz="1000" spc="-10" dirty="0">
                <a:solidFill>
                  <a:srgbClr val="3333B2"/>
                </a:solidFill>
                <a:latin typeface="Arial"/>
                <a:cs typeface="Arial"/>
              </a:rPr>
              <a:t>tầng</a:t>
            </a:r>
            <a:r>
              <a:rPr sz="1000" spc="10" dirty="0">
                <a:solidFill>
                  <a:srgbClr val="3333B2"/>
                </a:solidFill>
                <a:latin typeface="Arial"/>
                <a:cs typeface="Arial"/>
              </a:rPr>
              <a:t> </a:t>
            </a:r>
            <a:r>
              <a:rPr sz="1000" spc="-10" dirty="0">
                <a:solidFill>
                  <a:srgbClr val="3333B2"/>
                </a:solidFill>
                <a:latin typeface="Arial"/>
                <a:cs typeface="Arial"/>
              </a:rPr>
              <a:t>cấu hình</a:t>
            </a:r>
            <a:endParaRPr sz="1000">
              <a:latin typeface="Arial"/>
              <a:cs typeface="Arial"/>
            </a:endParaRPr>
          </a:p>
        </p:txBody>
      </p:sp>
      <p:pic>
        <p:nvPicPr>
          <p:cNvPr id="6" name="object 6"/>
          <p:cNvPicPr/>
          <p:nvPr/>
        </p:nvPicPr>
        <p:blipFill>
          <a:blip r:embed="rId4" cstate="print"/>
          <a:stretch>
            <a:fillRect/>
          </a:stretch>
        </p:blipFill>
        <p:spPr>
          <a:xfrm>
            <a:off x="403192" y="1614255"/>
            <a:ext cx="3735620" cy="1377038"/>
          </a:xfrm>
          <a:prstGeom prst="rect">
            <a:avLst/>
          </a:prstGeom>
        </p:spPr>
      </p:pic>
      <p:sp>
        <p:nvSpPr>
          <p:cNvPr id="7" name="object 7"/>
          <p:cNvSpPr txBox="1"/>
          <p:nvPr/>
        </p:nvSpPr>
        <p:spPr>
          <a:xfrm>
            <a:off x="652538" y="301780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(Một)</a:t>
            </a:r>
            <a:endParaRPr sz="900">
              <a:latin typeface="Arial"/>
              <a:cs typeface="Arial"/>
            </a:endParaRPr>
          </a:p>
        </p:txBody>
      </p:sp>
      <p:sp>
        <p:nvSpPr>
          <p:cNvPr id="8" name="object 8"/>
          <p:cNvSpPr txBox="1"/>
          <p:nvPr/>
        </p:nvSpPr>
        <p:spPr>
          <a:xfrm>
            <a:off x="1439744" y="301780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(b)</a:t>
            </a:r>
            <a:endParaRPr sz="900">
              <a:latin typeface="Arial"/>
              <a:cs typeface="Arial"/>
            </a:endParaRPr>
          </a:p>
        </p:txBody>
      </p:sp>
      <p:sp>
        <p:nvSpPr>
          <p:cNvPr id="9" name="object 9"/>
          <p:cNvSpPr txBox="1"/>
          <p:nvPr/>
        </p:nvSpPr>
        <p:spPr>
          <a:xfrm>
            <a:off x="2226836" y="3017807"/>
            <a:ext cx="15875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(c)</a:t>
            </a:r>
            <a:endParaRPr sz="900">
              <a:latin typeface="Arial"/>
              <a:cs typeface="Arial"/>
            </a:endParaRPr>
          </a:p>
        </p:txBody>
      </p:sp>
      <p:sp>
        <p:nvSpPr>
          <p:cNvPr id="10" name="object 10"/>
          <p:cNvSpPr txBox="1"/>
          <p:nvPr/>
        </p:nvSpPr>
        <p:spPr>
          <a:xfrm>
            <a:off x="3007665" y="301780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(ngày)</a:t>
            </a:r>
            <a:endParaRPr sz="900">
              <a:latin typeface="Arial"/>
              <a:cs typeface="Arial"/>
            </a:endParaRPr>
          </a:p>
        </p:txBody>
      </p:sp>
      <p:sp>
        <p:nvSpPr>
          <p:cNvPr id="11" name="object 11"/>
          <p:cNvSpPr txBox="1"/>
          <p:nvPr/>
        </p:nvSpPr>
        <p:spPr>
          <a:xfrm>
            <a:off x="3794757" y="301780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(và)</a:t>
            </a:r>
            <a:endParaRPr sz="900">
              <a:latin typeface="Arial"/>
              <a:cs typeface="Arial"/>
            </a:endParaRPr>
          </a:p>
        </p:txBody>
      </p:sp>
      <p:grpSp>
        <p:nvGrpSpPr>
          <p:cNvPr id="12" name="object 12"/>
          <p:cNvGrpSpPr/>
          <p:nvPr/>
        </p:nvGrpSpPr>
        <p:grpSpPr>
          <a:xfrm>
            <a:off x="0" y="3348469"/>
            <a:ext cx="4608195" cy="107950"/>
            <a:chOff x="0" y="3348469"/>
            <a:chExt cx="4608195" cy="107950"/>
          </a:xfrm>
        </p:grpSpPr>
        <p:sp>
          <p:nvSpPr>
            <p:cNvPr id="13" name="object 13"/>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4" name="object 14"/>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5" name="object 15"/>
          <p:cNvSpPr txBox="1"/>
          <p:nvPr/>
        </p:nvSpPr>
        <p:spPr>
          <a:xfrm>
            <a:off x="53467" y="3349927"/>
            <a:ext cx="70421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Nhiều tầng</a:t>
            </a:r>
            <a:r>
              <a:rPr sz="500" spc="-30" dirty="0">
                <a:latin typeface="Arial"/>
                <a:cs typeface="Arial"/>
                <a:hlinkClick r:id="rId5" action="ppaction://hlinksldjump"/>
              </a:rPr>
              <a:t> </a:t>
            </a:r>
            <a:r>
              <a:rPr sz="500" spc="-10" dirty="0">
                <a:latin typeface="Arial"/>
                <a:cs typeface="Arial"/>
                <a:hlinkClick r:id="rId5" action="ppaction://hlinksldjump"/>
              </a:rPr>
              <a:t>Kiến trúc</a:t>
            </a:r>
            <a:endParaRPr sz="500">
              <a:latin typeface="Arial"/>
              <a:cs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Hệ thống </a:t>
            </a:r>
            <a:r>
              <a:rPr sz="500" spc="-10" dirty="0">
                <a:solidFill>
                  <a:srgbClr val="FFFFFF"/>
                </a:solidFill>
                <a:latin typeface="Arial"/>
                <a:cs typeface="Arial"/>
                <a:hlinkClick r:id="rId3" action="ppaction://hlinksldjump"/>
              </a:rPr>
              <a:t>phân lớp</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95300" y="197711"/>
            <a:ext cx="273558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Hiện tại</a:t>
            </a:r>
            <a:r>
              <a:rPr sz="1200" spc="-30" dirty="0">
                <a:solidFill>
                  <a:srgbClr val="3333B2"/>
                </a:solidFill>
                <a:latin typeface="Arial"/>
                <a:cs typeface="Arial"/>
              </a:rPr>
              <a:t> </a:t>
            </a:r>
            <a:r>
              <a:rPr sz="1200" dirty="0">
                <a:solidFill>
                  <a:srgbClr val="3333B2"/>
                </a:solidFill>
                <a:latin typeface="Arial"/>
                <a:cs typeface="Arial"/>
              </a:rPr>
              <a:t>khách hàng</a:t>
            </a:r>
            <a:r>
              <a:rPr sz="1200" spc="-30" dirty="0">
                <a:solidFill>
                  <a:srgbClr val="3333B2"/>
                </a:solidFill>
                <a:latin typeface="Arial"/>
                <a:cs typeface="Arial"/>
              </a:rPr>
              <a:t> </a:t>
            </a:r>
            <a:r>
              <a:rPr sz="1200" dirty="0">
                <a:solidFill>
                  <a:srgbClr val="3333B2"/>
                </a:solidFill>
                <a:latin typeface="Arial"/>
                <a:cs typeface="Arial"/>
              </a:rPr>
              <a:t>Và</a:t>
            </a:r>
            <a:r>
              <a:rPr sz="1200" spc="-25" dirty="0">
                <a:solidFill>
                  <a:srgbClr val="3333B2"/>
                </a:solidFill>
                <a:latin typeface="Arial"/>
                <a:cs typeface="Arial"/>
              </a:rPr>
              <a:t> </a:t>
            </a:r>
            <a:r>
              <a:rPr sz="1200" dirty="0">
                <a:solidFill>
                  <a:srgbClr val="3333B2"/>
                </a:solidFill>
                <a:latin typeface="Arial"/>
                <a:cs typeface="Arial"/>
              </a:rPr>
              <a:t>máy chủ</a:t>
            </a:r>
            <a:r>
              <a:rPr sz="1200" spc="-30" dirty="0">
                <a:solidFill>
                  <a:srgbClr val="3333B2"/>
                </a:solidFill>
                <a:latin typeface="Arial"/>
                <a:cs typeface="Arial"/>
              </a:rPr>
              <a:t> </a:t>
            </a:r>
            <a:r>
              <a:rPr sz="1200" dirty="0">
                <a:solidFill>
                  <a:srgbClr val="3333B2"/>
                </a:solidFill>
                <a:latin typeface="Arial"/>
                <a:cs typeface="Arial"/>
              </a:rPr>
              <a:t>Tại</a:t>
            </a:r>
            <a:r>
              <a:rPr sz="1200" spc="-30" dirty="0">
                <a:solidFill>
                  <a:srgbClr val="3333B2"/>
                </a:solidFill>
                <a:latin typeface="Arial"/>
                <a:cs typeface="Arial"/>
              </a:rPr>
              <a:t> </a:t>
            </a:r>
            <a:r>
              <a:rPr sz="1200" dirty="0">
                <a:solidFill>
                  <a:srgbClr val="3333B2"/>
                </a:solidFill>
                <a:latin typeface="Arial"/>
                <a:cs typeface="Arial"/>
              </a:rPr>
              <a:t>cái</a:t>
            </a:r>
            <a:r>
              <a:rPr sz="1200" spc="-25" dirty="0">
                <a:solidFill>
                  <a:srgbClr val="3333B2"/>
                </a:solidFill>
                <a:latin typeface="Arial"/>
                <a:cs typeface="Arial"/>
              </a:rPr>
              <a:t> </a:t>
            </a:r>
            <a:r>
              <a:rPr sz="1200" dirty="0">
                <a:solidFill>
                  <a:srgbClr val="3333B2"/>
                </a:solidFill>
                <a:latin typeface="Arial"/>
                <a:cs typeface="Arial"/>
              </a:rPr>
              <a:t>như nhau</a:t>
            </a:r>
            <a:r>
              <a:rPr sz="1200" spc="-30" dirty="0">
                <a:solidFill>
                  <a:srgbClr val="3333B2"/>
                </a:solidFill>
                <a:latin typeface="Arial"/>
                <a:cs typeface="Arial"/>
              </a:rPr>
              <a:t> </a:t>
            </a:r>
            <a:r>
              <a:rPr sz="1200" spc="-20" dirty="0">
                <a:solidFill>
                  <a:srgbClr val="3333B2"/>
                </a:solidFill>
                <a:latin typeface="Arial"/>
                <a:cs typeface="Arial"/>
              </a:rPr>
              <a:t>thời gian</a:t>
            </a:r>
            <a:endParaRPr sz="1200">
              <a:latin typeface="Arial"/>
              <a:cs typeface="Arial"/>
            </a:endParaRPr>
          </a:p>
          <a:p>
            <a:pPr marL="260350">
              <a:lnSpc>
                <a:spcPct val="100000"/>
              </a:lnSpc>
              <a:spcBef>
                <a:spcPts val="1055"/>
              </a:spcBef>
            </a:pPr>
            <a:r>
              <a:rPr sz="1000" spc="-10" dirty="0">
                <a:solidFill>
                  <a:srgbClr val="3333B2"/>
                </a:solidFill>
                <a:latin typeface="Arial"/>
                <a:cs typeface="Arial"/>
              </a:rPr>
              <a:t>Kiến trúc </a:t>
            </a:r>
            <a:endParaRPr sz="1000">
              <a:latin typeface="Arial"/>
              <a:cs typeface="Arial"/>
            </a:endParaRPr>
          </a:p>
        </p:txBody>
      </p:sp>
      <p:pic>
        <p:nvPicPr>
          <p:cNvPr id="6" name="object 6"/>
          <p:cNvPicPr/>
          <p:nvPr/>
        </p:nvPicPr>
        <p:blipFill>
          <a:blip r:embed="rId4" cstate="print"/>
          <a:stretch>
            <a:fillRect/>
          </a:stretch>
        </p:blipFill>
        <p:spPr>
          <a:xfrm>
            <a:off x="1130183" y="849914"/>
            <a:ext cx="2350221" cy="875324"/>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70421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Nhiều tầng</a:t>
            </a:r>
            <a:r>
              <a:rPr sz="500" spc="-30" dirty="0">
                <a:latin typeface="Arial"/>
                <a:cs typeface="Arial"/>
                <a:hlinkClick r:id="rId5" action="ppaction://hlinksldjump"/>
              </a:rPr>
              <a:t> </a:t>
            </a:r>
            <a:r>
              <a:rPr sz="500" spc="-10" dirty="0">
                <a:latin typeface="Arial"/>
                <a:cs typeface="Arial"/>
                <a:hlinkClick r:id="rId5" action="ppaction://hlinksldjump"/>
              </a:rPr>
              <a:t>Kiến trúc</a:t>
            </a:r>
            <a:endParaRPr sz="500">
              <a:latin typeface="Arial"/>
              <a:cs typeface="Arial"/>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61410"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Hệ thống </a:t>
            </a:r>
            <a:r>
              <a:rPr sz="500" spc="-10" dirty="0">
                <a:solidFill>
                  <a:srgbClr val="FFFFFF"/>
                </a:solidFill>
                <a:latin typeface="Arial"/>
                <a:cs typeface="Arial"/>
                <a:hlinkClick r:id="rId3" action="ppaction://hlinksldjump"/>
              </a:rPr>
              <a:t>phân lớp</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Ví dụ:</a:t>
            </a:r>
            <a:r>
              <a:rPr spc="35" dirty="0"/>
              <a:t> </a:t>
            </a:r>
            <a:r>
              <a:rPr dirty="0"/>
              <a:t>Các</a:t>
            </a:r>
            <a:r>
              <a:rPr spc="-40" dirty="0"/>
              <a:t> </a:t>
            </a:r>
            <a:r>
              <a:rPr dirty="0"/>
              <a:t>Mạng</a:t>
            </a:r>
            <a:r>
              <a:rPr spc="-35" dirty="0"/>
              <a:t> </a:t>
            </a:r>
            <a:r>
              <a:rPr dirty="0"/>
              <a:t>Tài liệu</a:t>
            </a:r>
            <a:r>
              <a:rPr spc="-35" dirty="0"/>
              <a:t> </a:t>
            </a:r>
            <a:r>
              <a:rPr spc="-10" dirty="0"/>
              <a:t>Hệ thống</a:t>
            </a:r>
          </a:p>
        </p:txBody>
      </p:sp>
      <p:sp>
        <p:nvSpPr>
          <p:cNvPr id="4" name="object 4"/>
          <p:cNvSpPr txBox="1"/>
          <p:nvPr/>
        </p:nvSpPr>
        <p:spPr>
          <a:xfrm>
            <a:off x="343382" y="499476"/>
            <a:ext cx="3816350" cy="904875"/>
          </a:xfrm>
          <a:prstGeom prst="rect">
            <a:avLst/>
          </a:prstGeom>
        </p:spPr>
        <p:txBody>
          <a:bodyPr vert="horz" wrap="square" lIns="0" tIns="27305" rIns="0" bIns="0" rtlCol="0">
            <a:spAutoFit/>
          </a:bodyPr>
          <a:lstStyle/>
          <a:p>
            <a:pPr marL="16510">
              <a:lnSpc>
                <a:spcPct val="100000"/>
              </a:lnSpc>
              <a:spcBef>
                <a:spcPts val="215"/>
              </a:spcBef>
            </a:pPr>
            <a:r>
              <a:rPr sz="1000" spc="-10" dirty="0">
                <a:solidFill>
                  <a:srgbClr val="3333B2"/>
                </a:solidFill>
                <a:latin typeface="Arial"/>
                <a:cs typeface="Arial"/>
              </a:rPr>
              <a:t>Nền tảng</a:t>
            </a:r>
            <a:endParaRPr sz="1000">
              <a:latin typeface="Arial"/>
              <a:cs typeface="Arial"/>
            </a:endParaRPr>
          </a:p>
          <a:p>
            <a:pPr marL="16510" marR="5080">
              <a:lnSpc>
                <a:spcPts val="1210"/>
              </a:lnSpc>
              <a:spcBef>
                <a:spcPts val="35"/>
              </a:spcBef>
            </a:pPr>
            <a:r>
              <a:rPr sz="900" dirty="0">
                <a:latin typeface="Arial"/>
                <a:cs typeface="Arial"/>
              </a:rPr>
              <a:t>Mỗi</a:t>
            </a:r>
            <a:r>
              <a:rPr sz="900" spc="-20" dirty="0">
                <a:latin typeface="Arial"/>
                <a:cs typeface="Arial"/>
              </a:rPr>
              <a:t> </a:t>
            </a:r>
            <a:r>
              <a:rPr sz="900" dirty="0">
                <a:latin typeface="Arial"/>
                <a:cs typeface="Arial"/>
              </a:rPr>
              <a:t>NFS</a:t>
            </a:r>
            <a:r>
              <a:rPr sz="900" spc="-20" dirty="0">
                <a:latin typeface="Arial"/>
                <a:cs typeface="Arial"/>
              </a:rPr>
              <a:t> </a:t>
            </a:r>
            <a:r>
              <a:rPr sz="900" dirty="0">
                <a:latin typeface="Arial"/>
                <a:cs typeface="Arial"/>
              </a:rPr>
              <a:t>máy chủ</a:t>
            </a:r>
            <a:r>
              <a:rPr sz="900" spc="-20" dirty="0">
                <a:latin typeface="Arial"/>
                <a:cs typeface="Arial"/>
              </a:rPr>
              <a:t> </a:t>
            </a:r>
            <a:r>
              <a:rPr sz="900" dirty="0">
                <a:latin typeface="Arial"/>
                <a:cs typeface="Arial"/>
              </a:rPr>
              <a:t>cung cấp</a:t>
            </a:r>
            <a:r>
              <a:rPr sz="900" spc="-20" dirty="0">
                <a:latin typeface="Arial"/>
                <a:cs typeface="Arial"/>
              </a:rPr>
              <a:t> </a:t>
            </a:r>
            <a:r>
              <a:rPr sz="900" dirty="0">
                <a:latin typeface="Arial"/>
                <a:cs typeface="Arial"/>
              </a:rPr>
              <a:t>Một</a:t>
            </a:r>
            <a:r>
              <a:rPr sz="900" spc="-20" dirty="0">
                <a:latin typeface="Arial"/>
                <a:cs typeface="Arial"/>
              </a:rPr>
              <a:t> </a:t>
            </a:r>
            <a:r>
              <a:rPr sz="900" spc="-10" dirty="0">
                <a:latin typeface="Arial"/>
                <a:cs typeface="Arial"/>
              </a:rPr>
              <a:t>chuẩn hóa</a:t>
            </a:r>
            <a:r>
              <a:rPr sz="900" spc="-20" dirty="0">
                <a:latin typeface="Arial"/>
                <a:cs typeface="Arial"/>
              </a:rPr>
              <a:t> </a:t>
            </a:r>
            <a:r>
              <a:rPr sz="900" dirty="0">
                <a:latin typeface="Arial"/>
                <a:cs typeface="Arial"/>
              </a:rPr>
              <a:t>xem</a:t>
            </a:r>
            <a:r>
              <a:rPr sz="900" spc="-20" dirty="0">
                <a:latin typeface="Arial"/>
                <a:cs typeface="Arial"/>
              </a:rPr>
              <a:t> </a:t>
            </a:r>
            <a:r>
              <a:rPr sz="900" dirty="0">
                <a:latin typeface="Arial"/>
                <a:cs typeface="Arial"/>
              </a:rPr>
              <a:t>của</a:t>
            </a:r>
            <a:r>
              <a:rPr sz="900" spc="-20" dirty="0">
                <a:latin typeface="Arial"/>
                <a:cs typeface="Arial"/>
              </a:rPr>
              <a:t> </a:t>
            </a:r>
            <a:r>
              <a:rPr sz="900" dirty="0">
                <a:latin typeface="Arial"/>
                <a:cs typeface="Arial"/>
              </a:rPr>
              <a:t>của nó</a:t>
            </a:r>
            <a:r>
              <a:rPr sz="900" spc="-20" dirty="0">
                <a:latin typeface="Arial"/>
                <a:cs typeface="Arial"/>
              </a:rPr>
              <a:t> </a:t>
            </a:r>
            <a:r>
              <a:rPr sz="900" dirty="0">
                <a:latin typeface="Arial"/>
                <a:cs typeface="Arial"/>
              </a:rPr>
              <a:t>địa phương</a:t>
            </a:r>
            <a:r>
              <a:rPr sz="900" spc="-20" dirty="0">
                <a:latin typeface="Arial"/>
                <a:cs typeface="Arial"/>
              </a:rPr>
              <a:t> </a:t>
            </a:r>
            <a:r>
              <a:rPr sz="900" dirty="0">
                <a:latin typeface="Arial"/>
                <a:cs typeface="Arial"/>
              </a:rPr>
              <a:t>tài liệu</a:t>
            </a:r>
            <a:r>
              <a:rPr sz="900" spc="-20" dirty="0">
                <a:latin typeface="Arial"/>
                <a:cs typeface="Arial"/>
              </a:rPr>
              <a:t> </a:t>
            </a:r>
            <a:r>
              <a:rPr sz="900" dirty="0">
                <a:latin typeface="Arial"/>
                <a:cs typeface="Arial"/>
              </a:rPr>
              <a:t>hệ thống:</a:t>
            </a:r>
            <a:r>
              <a:rPr sz="900" spc="40" dirty="0">
                <a:latin typeface="Arial"/>
                <a:cs typeface="Arial"/>
              </a:rPr>
              <a:t> </a:t>
            </a:r>
            <a:r>
              <a:rPr sz="900" spc="-20" dirty="0">
                <a:latin typeface="Arial"/>
                <a:cs typeface="Arial"/>
              </a:rPr>
              <a:t>mỗi </a:t>
            </a:r>
            <a:r>
              <a:rPr sz="900" dirty="0">
                <a:latin typeface="Arial"/>
                <a:cs typeface="Arial"/>
              </a:rPr>
              <a:t>máy chủ</a:t>
            </a:r>
            <a:r>
              <a:rPr sz="900" spc="-15" dirty="0">
                <a:latin typeface="Arial"/>
                <a:cs typeface="Arial"/>
              </a:rPr>
              <a:t> </a:t>
            </a:r>
            <a:r>
              <a:rPr sz="900" dirty="0">
                <a:latin typeface="Arial"/>
                <a:cs typeface="Arial"/>
              </a:rPr>
              <a:t>hỗ trợ</a:t>
            </a:r>
            <a:r>
              <a:rPr sz="900" spc="-15" dirty="0">
                <a:latin typeface="Arial"/>
                <a:cs typeface="Arial"/>
              </a:rPr>
              <a:t> </a:t>
            </a:r>
            <a:r>
              <a:rPr sz="900" dirty="0">
                <a:latin typeface="Arial"/>
                <a:cs typeface="Arial"/>
              </a:rPr>
              <a:t>cái</a:t>
            </a:r>
            <a:r>
              <a:rPr sz="900" spc="-10" dirty="0">
                <a:latin typeface="Arial"/>
                <a:cs typeface="Arial"/>
              </a:rPr>
              <a:t> </a:t>
            </a:r>
            <a:r>
              <a:rPr sz="900" dirty="0">
                <a:latin typeface="Arial"/>
                <a:cs typeface="Arial"/>
              </a:rPr>
              <a:t>như nhau</a:t>
            </a:r>
            <a:r>
              <a:rPr sz="900" spc="-15" dirty="0">
                <a:latin typeface="Arial"/>
                <a:cs typeface="Arial"/>
              </a:rPr>
              <a:t> </a:t>
            </a:r>
            <a:r>
              <a:rPr sz="900" dirty="0">
                <a:latin typeface="Arial"/>
                <a:cs typeface="Arial"/>
              </a:rPr>
              <a:t>người mẫu,</a:t>
            </a:r>
            <a:r>
              <a:rPr sz="900" spc="-15" dirty="0">
                <a:latin typeface="Arial"/>
                <a:cs typeface="Arial"/>
              </a:rPr>
              <a:t> </a:t>
            </a:r>
            <a:r>
              <a:rPr sz="900" dirty="0">
                <a:latin typeface="Arial"/>
                <a:cs typeface="Arial"/>
              </a:rPr>
              <a:t>bất kể</a:t>
            </a:r>
            <a:r>
              <a:rPr sz="900" spc="-10" dirty="0">
                <a:latin typeface="Arial"/>
                <a:cs typeface="Arial"/>
              </a:rPr>
              <a:t> </a:t>
            </a:r>
            <a:r>
              <a:rPr sz="900" dirty="0">
                <a:latin typeface="Arial"/>
                <a:cs typeface="Arial"/>
              </a:rPr>
              <a:t>cái</a:t>
            </a:r>
            <a:r>
              <a:rPr sz="900" spc="-15" dirty="0">
                <a:latin typeface="Arial"/>
                <a:cs typeface="Arial"/>
              </a:rPr>
              <a:t> </a:t>
            </a:r>
            <a:r>
              <a:rPr sz="900" spc="-10" dirty="0">
                <a:latin typeface="Arial"/>
                <a:cs typeface="Arial"/>
              </a:rPr>
              <a:t>thực hiện</a:t>
            </a:r>
            <a:r>
              <a:rPr sz="900" spc="-15" dirty="0">
                <a:latin typeface="Arial"/>
                <a:cs typeface="Arial"/>
              </a:rPr>
              <a:t> </a:t>
            </a:r>
            <a:r>
              <a:rPr sz="900" dirty="0">
                <a:latin typeface="Arial"/>
                <a:cs typeface="Arial"/>
              </a:rPr>
              <a:t>của</a:t>
            </a:r>
            <a:r>
              <a:rPr sz="900" spc="-10" dirty="0">
                <a:latin typeface="Arial"/>
                <a:cs typeface="Arial"/>
              </a:rPr>
              <a:t> </a:t>
            </a:r>
            <a:r>
              <a:rPr sz="900" dirty="0">
                <a:latin typeface="Arial"/>
                <a:cs typeface="Arial"/>
              </a:rPr>
              <a:t>cái</a:t>
            </a:r>
            <a:r>
              <a:rPr sz="900" spc="-15" dirty="0">
                <a:latin typeface="Arial"/>
                <a:cs typeface="Arial"/>
              </a:rPr>
              <a:t> hệ thống </a:t>
            </a:r>
            <a:r>
              <a:rPr sz="900" spc="-20" dirty="0">
                <a:latin typeface="Arial"/>
                <a:cs typeface="Arial"/>
              </a:rPr>
              <a:t>tập tin </a:t>
            </a:r>
            <a:r>
              <a:rPr sz="900" spc="-10" dirty="0">
                <a:latin typeface="Arial"/>
                <a:cs typeface="Arial"/>
              </a:rPr>
              <a:t>.</a:t>
            </a:r>
            <a:endParaRPr sz="900">
              <a:latin typeface="Arial"/>
              <a:cs typeface="Arial"/>
            </a:endParaRPr>
          </a:p>
          <a:p>
            <a:pPr marL="12700">
              <a:lnSpc>
                <a:spcPct val="100000"/>
              </a:lnSpc>
              <a:spcBef>
                <a:spcPts val="745"/>
              </a:spcBef>
            </a:pPr>
            <a:r>
              <a:rPr sz="1000" dirty="0">
                <a:solidFill>
                  <a:srgbClr val="3333B2"/>
                </a:solidFill>
                <a:latin typeface="Arial"/>
                <a:cs typeface="Arial"/>
              </a:rPr>
              <a:t>Các</a:t>
            </a:r>
            <a:r>
              <a:rPr sz="1000" spc="-30" dirty="0">
                <a:solidFill>
                  <a:srgbClr val="3333B2"/>
                </a:solidFill>
                <a:latin typeface="Arial"/>
                <a:cs typeface="Arial"/>
              </a:rPr>
              <a:t> </a:t>
            </a:r>
            <a:r>
              <a:rPr sz="1000" dirty="0">
                <a:solidFill>
                  <a:srgbClr val="3333B2"/>
                </a:solidFill>
                <a:latin typeface="Arial"/>
                <a:cs typeface="Arial"/>
              </a:rPr>
              <a:t>NFS</a:t>
            </a:r>
            <a:r>
              <a:rPr sz="1000" spc="-30" dirty="0">
                <a:solidFill>
                  <a:srgbClr val="3333B2"/>
                </a:solidFill>
                <a:latin typeface="Arial"/>
                <a:cs typeface="Arial"/>
              </a:rPr>
              <a:t> </a:t>
            </a:r>
            <a:r>
              <a:rPr sz="1000" dirty="0">
                <a:solidFill>
                  <a:srgbClr val="3333B2"/>
                </a:solidFill>
                <a:latin typeface="Arial"/>
                <a:cs typeface="Arial"/>
              </a:rPr>
              <a:t>xa</a:t>
            </a:r>
            <a:r>
              <a:rPr sz="1000" spc="-30" dirty="0">
                <a:solidFill>
                  <a:srgbClr val="3333B2"/>
                </a:solidFill>
                <a:latin typeface="Arial"/>
                <a:cs typeface="Arial"/>
              </a:rPr>
              <a:t> </a:t>
            </a:r>
            <a:r>
              <a:rPr sz="1000" dirty="0">
                <a:solidFill>
                  <a:srgbClr val="3333B2"/>
                </a:solidFill>
                <a:latin typeface="Arial"/>
                <a:cs typeface="Arial"/>
              </a:rPr>
              <a:t>truy cập</a:t>
            </a:r>
            <a:r>
              <a:rPr sz="1000" spc="-30" dirty="0">
                <a:solidFill>
                  <a:srgbClr val="3333B2"/>
                </a:solidFill>
                <a:latin typeface="Arial"/>
                <a:cs typeface="Arial"/>
              </a:rPr>
              <a:t> </a:t>
            </a:r>
            <a:r>
              <a:rPr sz="1000" spc="-10" dirty="0">
                <a:solidFill>
                  <a:srgbClr val="3333B2"/>
                </a:solidFill>
                <a:latin typeface="Arial"/>
                <a:cs typeface="Arial"/>
              </a:rPr>
              <a:t>người mẫu</a:t>
            </a:r>
            <a:endParaRPr sz="1000">
              <a:latin typeface="Arial"/>
              <a:cs typeface="Arial"/>
            </a:endParaRPr>
          </a:p>
        </p:txBody>
      </p:sp>
      <p:pic>
        <p:nvPicPr>
          <p:cNvPr id="5" name="object 5"/>
          <p:cNvPicPr/>
          <p:nvPr/>
        </p:nvPicPr>
        <p:blipFill>
          <a:blip r:embed="rId4" cstate="print"/>
          <a:stretch>
            <a:fillRect/>
          </a:stretch>
        </p:blipFill>
        <p:spPr>
          <a:xfrm>
            <a:off x="565599" y="1540623"/>
            <a:ext cx="1568500" cy="881722"/>
          </a:xfrm>
          <a:prstGeom prst="rect">
            <a:avLst/>
          </a:prstGeom>
        </p:spPr>
      </p:pic>
      <p:pic>
        <p:nvPicPr>
          <p:cNvPr id="6" name="object 6"/>
          <p:cNvPicPr/>
          <p:nvPr/>
        </p:nvPicPr>
        <p:blipFill>
          <a:blip r:embed="rId5" cstate="print"/>
          <a:stretch>
            <a:fillRect/>
          </a:stretch>
        </p:blipFill>
        <p:spPr>
          <a:xfrm>
            <a:off x="2359293" y="1415386"/>
            <a:ext cx="1688105" cy="1133462"/>
          </a:xfrm>
          <a:prstGeom prst="rect">
            <a:avLst/>
          </a:prstGeom>
        </p:spPr>
      </p:pic>
      <p:sp>
        <p:nvSpPr>
          <p:cNvPr id="7" name="object 7"/>
          <p:cNvSpPr txBox="1"/>
          <p:nvPr/>
        </p:nvSpPr>
        <p:spPr>
          <a:xfrm>
            <a:off x="946035" y="2643944"/>
            <a:ext cx="2708275" cy="162560"/>
          </a:xfrm>
          <a:prstGeom prst="rect">
            <a:avLst/>
          </a:prstGeom>
        </p:spPr>
        <p:txBody>
          <a:bodyPr vert="horz" wrap="square" lIns="0" tIns="12065" rIns="0" bIns="0" rtlCol="0">
            <a:spAutoFit/>
          </a:bodyPr>
          <a:lstStyle/>
          <a:p>
            <a:pPr marL="12700">
              <a:lnSpc>
                <a:spcPct val="100000"/>
              </a:lnSpc>
              <a:spcBef>
                <a:spcPts val="95"/>
              </a:spcBef>
              <a:tabLst>
                <a:tab pos="1816735" algn="l"/>
              </a:tabLst>
            </a:pPr>
            <a:r>
              <a:rPr sz="900" dirty="0">
                <a:latin typeface="Arial"/>
                <a:cs typeface="Arial"/>
              </a:rPr>
              <a:t>Xa</a:t>
            </a:r>
            <a:r>
              <a:rPr sz="900" spc="-40" dirty="0">
                <a:latin typeface="Arial"/>
                <a:cs typeface="Arial"/>
              </a:rPr>
              <a:t> </a:t>
            </a:r>
            <a:r>
              <a:rPr sz="900" spc="-10" dirty="0">
                <a:latin typeface="Arial"/>
                <a:cs typeface="Arial"/>
              </a:rPr>
              <a:t>truy cập</a:t>
            </a:r>
            <a:r>
              <a:rPr sz="900" dirty="0">
                <a:latin typeface="Arial"/>
                <a:cs typeface="Arial"/>
              </a:rPr>
              <a:t> </a:t>
            </a:r>
            <a:r>
              <a:rPr sz="900" spc="-10" dirty="0">
                <a:latin typeface="Arial"/>
                <a:cs typeface="Arial"/>
              </a:rPr>
              <a:t>Tải lên/tải xuống</a:t>
            </a:r>
            <a:endParaRPr sz="900">
              <a:latin typeface="Arial"/>
              <a:cs typeface="Arial"/>
            </a:endParaRPr>
          </a:p>
        </p:txBody>
      </p:sp>
      <p:sp>
        <p:nvSpPr>
          <p:cNvPr id="8" name="object 8"/>
          <p:cNvSpPr txBox="1"/>
          <p:nvPr/>
        </p:nvSpPr>
        <p:spPr>
          <a:xfrm>
            <a:off x="347294" y="2721722"/>
            <a:ext cx="3837940" cy="496570"/>
          </a:xfrm>
          <a:prstGeom prst="rect">
            <a:avLst/>
          </a:prstGeom>
        </p:spPr>
        <p:txBody>
          <a:bodyPr vert="horz" wrap="square" lIns="0" tIns="27305" rIns="0" bIns="0" rtlCol="0">
            <a:spAutoFit/>
          </a:bodyPr>
          <a:lstStyle/>
          <a:p>
            <a:pPr marL="12700">
              <a:lnSpc>
                <a:spcPct val="100000"/>
              </a:lnSpc>
              <a:spcBef>
                <a:spcPts val="215"/>
              </a:spcBef>
            </a:pPr>
            <a:r>
              <a:rPr sz="1000" spc="-20" dirty="0">
                <a:solidFill>
                  <a:srgbClr val="4C994C"/>
                </a:solidFill>
                <a:latin typeface="Arial"/>
                <a:cs typeface="Arial"/>
              </a:rPr>
              <a:t>Ghi chú</a:t>
            </a:r>
            <a:endParaRPr sz="1000">
              <a:latin typeface="Arial"/>
              <a:cs typeface="Arial"/>
            </a:endParaRPr>
          </a:p>
          <a:p>
            <a:pPr marL="12700" marR="5080">
              <a:lnSpc>
                <a:spcPts val="1210"/>
              </a:lnSpc>
              <a:spcBef>
                <a:spcPts val="35"/>
              </a:spcBef>
            </a:pPr>
            <a:r>
              <a:rPr sz="900" dirty="0">
                <a:latin typeface="Arial"/>
                <a:cs typeface="Arial"/>
              </a:rPr>
              <a:t>FTP</a:t>
            </a:r>
            <a:r>
              <a:rPr sz="900" spc="-20" dirty="0">
                <a:latin typeface="Arial"/>
                <a:cs typeface="Arial"/>
              </a:rPr>
              <a:t> </a:t>
            </a:r>
            <a:r>
              <a:rPr sz="900" dirty="0">
                <a:latin typeface="Arial"/>
                <a:cs typeface="Arial"/>
              </a:rPr>
              <a:t>là</a:t>
            </a:r>
            <a:r>
              <a:rPr sz="900" spc="-15" dirty="0">
                <a:latin typeface="Arial"/>
                <a:cs typeface="Arial"/>
              </a:rPr>
              <a:t> </a:t>
            </a:r>
            <a:r>
              <a:rPr sz="900" dirty="0">
                <a:latin typeface="Arial"/>
                <a:cs typeface="Arial"/>
              </a:rPr>
              <a:t>Một</a:t>
            </a:r>
            <a:r>
              <a:rPr sz="900" spc="-15" dirty="0">
                <a:latin typeface="Arial"/>
                <a:cs typeface="Arial"/>
              </a:rPr>
              <a:t> </a:t>
            </a:r>
            <a:r>
              <a:rPr sz="900" dirty="0">
                <a:latin typeface="Arial"/>
                <a:cs typeface="Arial"/>
              </a:rPr>
              <a:t>đặc trưng</a:t>
            </a:r>
            <a:r>
              <a:rPr sz="900" spc="-15" dirty="0">
                <a:latin typeface="Arial"/>
                <a:cs typeface="Arial"/>
              </a:rPr>
              <a:t> </a:t>
            </a:r>
            <a:r>
              <a:rPr sz="900" spc="-10" dirty="0">
                <a:latin typeface="Arial"/>
                <a:cs typeface="Arial"/>
              </a:rPr>
              <a:t>tải lên/tải xuống</a:t>
            </a:r>
            <a:r>
              <a:rPr sz="900" spc="-15" dirty="0">
                <a:latin typeface="Arial"/>
                <a:cs typeface="Arial"/>
              </a:rPr>
              <a:t> </a:t>
            </a:r>
            <a:r>
              <a:rPr sz="900" dirty="0">
                <a:latin typeface="Arial"/>
                <a:cs typeface="Arial"/>
              </a:rPr>
              <a:t>người mẫu.</a:t>
            </a:r>
            <a:r>
              <a:rPr sz="900" spc="40" dirty="0">
                <a:latin typeface="Arial"/>
                <a:cs typeface="Arial"/>
              </a:rPr>
              <a:t> </a:t>
            </a:r>
            <a:r>
              <a:rPr sz="900" dirty="0">
                <a:latin typeface="Arial"/>
                <a:cs typeface="Arial"/>
              </a:rPr>
              <a:t>Các</a:t>
            </a:r>
            <a:r>
              <a:rPr sz="900" spc="-15" dirty="0">
                <a:latin typeface="Arial"/>
                <a:cs typeface="Arial"/>
              </a:rPr>
              <a:t> </a:t>
            </a:r>
            <a:r>
              <a:rPr sz="900" dirty="0">
                <a:latin typeface="Arial"/>
                <a:cs typeface="Arial"/>
              </a:rPr>
              <a:t>như nhau</a:t>
            </a:r>
            <a:r>
              <a:rPr sz="900" spc="-15" dirty="0">
                <a:latin typeface="Arial"/>
                <a:cs typeface="Arial"/>
              </a:rPr>
              <a:t> </a:t>
            </a:r>
            <a:r>
              <a:rPr sz="900" dirty="0">
                <a:latin typeface="Arial"/>
                <a:cs typeface="Arial"/>
              </a:rPr>
              <a:t>Có thể</a:t>
            </a:r>
            <a:r>
              <a:rPr sz="900" spc="-20" dirty="0">
                <a:latin typeface="Arial"/>
                <a:cs typeface="Arial"/>
              </a:rPr>
              <a:t> </a:t>
            </a:r>
            <a:r>
              <a:rPr sz="900" dirty="0">
                <a:latin typeface="Arial"/>
                <a:cs typeface="Arial"/>
              </a:rPr>
              <a:t>là</a:t>
            </a:r>
            <a:r>
              <a:rPr sz="900" spc="-15" dirty="0">
                <a:latin typeface="Arial"/>
                <a:cs typeface="Arial"/>
              </a:rPr>
              <a:t> </a:t>
            </a:r>
            <a:r>
              <a:rPr sz="900" dirty="0">
                <a:latin typeface="Arial"/>
                <a:cs typeface="Arial"/>
              </a:rPr>
              <a:t>nói</a:t>
            </a:r>
            <a:r>
              <a:rPr sz="900" spc="-15" dirty="0">
                <a:latin typeface="Arial"/>
                <a:cs typeface="Arial"/>
              </a:rPr>
              <a:t> </a:t>
            </a:r>
            <a:r>
              <a:rPr sz="900" dirty="0">
                <a:latin typeface="Arial"/>
                <a:cs typeface="Arial"/>
              </a:rPr>
              <a:t>vì</a:t>
            </a:r>
            <a:r>
              <a:rPr sz="900" spc="-15" dirty="0">
                <a:latin typeface="Arial"/>
                <a:cs typeface="Arial"/>
              </a:rPr>
              <a:t> </a:t>
            </a:r>
            <a:r>
              <a:rPr sz="900" spc="-10" dirty="0">
                <a:latin typeface="Arial"/>
                <a:cs typeface="Arial"/>
              </a:rPr>
              <a:t>hệ thống </a:t>
            </a:r>
            <a:r>
              <a:rPr sz="900" dirty="0">
                <a:latin typeface="Arial"/>
                <a:cs typeface="Arial"/>
              </a:rPr>
              <a:t>như</a:t>
            </a:r>
            <a:r>
              <a:rPr sz="900" spc="-40" dirty="0">
                <a:latin typeface="Arial"/>
                <a:cs typeface="Arial"/>
              </a:rPr>
              <a:t> </a:t>
            </a:r>
            <a:r>
              <a:rPr sz="900" spc="-10" dirty="0">
                <a:latin typeface="Arial"/>
                <a:cs typeface="Arial"/>
              </a:rPr>
              <a:t>Dropbox.</a:t>
            </a:r>
            <a:endParaRPr sz="900">
              <a:latin typeface="Arial"/>
              <a:cs typeface="Arial"/>
            </a:endParaRPr>
          </a:p>
        </p:txBody>
      </p:sp>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10179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6" action="ppaction://hlinksldjump"/>
              </a:rPr>
              <a:t>Ví dụ:</a:t>
            </a:r>
            <a:r>
              <a:rPr sz="500" spc="10" dirty="0">
                <a:latin typeface="Arial"/>
                <a:cs typeface="Arial"/>
                <a:hlinkClick r:id="rId6" action="ppaction://hlinksldjump"/>
              </a:rPr>
              <a:t> </a:t>
            </a:r>
            <a:r>
              <a:rPr sz="500" dirty="0">
                <a:latin typeface="Arial"/>
                <a:cs typeface="Arial"/>
                <a:hlinkClick r:id="rId6" action="ppaction://hlinksldjump"/>
              </a:rPr>
              <a:t>Các</a:t>
            </a:r>
            <a:r>
              <a:rPr sz="500" spc="-15" dirty="0">
                <a:latin typeface="Arial"/>
                <a:cs typeface="Arial"/>
                <a:hlinkClick r:id="rId6" action="ppaction://hlinksldjump"/>
              </a:rPr>
              <a:t> </a:t>
            </a:r>
            <a:r>
              <a:rPr sz="500" dirty="0">
                <a:latin typeface="Arial"/>
                <a:cs typeface="Arial"/>
                <a:hlinkClick r:id="rId6" action="ppaction://hlinksldjump"/>
              </a:rPr>
              <a:t>Mạng</a:t>
            </a:r>
            <a:r>
              <a:rPr sz="500" spc="-20" dirty="0">
                <a:latin typeface="Arial"/>
                <a:cs typeface="Arial"/>
                <a:hlinkClick r:id="rId6" action="ppaction://hlinksldjump"/>
              </a:rPr>
              <a:t> </a:t>
            </a:r>
            <a:r>
              <a:rPr sz="500" dirty="0">
                <a:latin typeface="Arial"/>
                <a:cs typeface="Arial"/>
                <a:hlinkClick r:id="rId6" action="ppaction://hlinksldjump"/>
              </a:rPr>
              <a:t>Tài liệu</a:t>
            </a:r>
            <a:r>
              <a:rPr sz="500" spc="-20" dirty="0">
                <a:latin typeface="Arial"/>
                <a:cs typeface="Arial"/>
                <a:hlinkClick r:id="rId6" action="ppaction://hlinksldjump"/>
              </a:rPr>
              <a:t> </a:t>
            </a:r>
            <a:r>
              <a:rPr sz="500" spc="-10" dirty="0">
                <a:latin typeface="Arial"/>
                <a:cs typeface="Arial"/>
                <a:hlinkClick r:id="rId6" action="ppaction://hlinksldjump"/>
              </a:rPr>
              <a:t>Hệ thống</a:t>
            </a:r>
            <a:endParaRPr sz="500">
              <a:latin typeface="Arial"/>
              <a:cs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Hệ thống </a:t>
            </a:r>
            <a:r>
              <a:rPr sz="500" spc="-10" dirty="0">
                <a:solidFill>
                  <a:srgbClr val="FFFFFF"/>
                </a:solidFill>
                <a:latin typeface="Arial"/>
                <a:cs typeface="Arial"/>
                <a:hlinkClick r:id="rId3" action="ppaction://hlinksldjump"/>
              </a:rPr>
              <a:t>phân lớp</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95300" y="197711"/>
            <a:ext cx="116459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NFS</a:t>
            </a:r>
            <a:r>
              <a:rPr sz="1200" spc="-30" dirty="0">
                <a:solidFill>
                  <a:srgbClr val="3333B2"/>
                </a:solidFill>
                <a:latin typeface="Arial"/>
                <a:cs typeface="Arial"/>
              </a:rPr>
              <a:t> </a:t>
            </a:r>
            <a:r>
              <a:rPr sz="1200" spc="-10" dirty="0">
                <a:solidFill>
                  <a:srgbClr val="3333B2"/>
                </a:solidFill>
                <a:latin typeface="Arial"/>
                <a:cs typeface="Arial"/>
              </a:rPr>
              <a:t>ngành kiến trúc</a:t>
            </a:r>
            <a:endParaRPr sz="1200">
              <a:latin typeface="Arial"/>
              <a:cs typeface="Arial"/>
            </a:endParaRPr>
          </a:p>
        </p:txBody>
      </p:sp>
      <p:pic>
        <p:nvPicPr>
          <p:cNvPr id="6" name="object 6"/>
          <p:cNvPicPr/>
          <p:nvPr/>
        </p:nvPicPr>
        <p:blipFill>
          <a:blip r:embed="rId4" cstate="print"/>
          <a:stretch>
            <a:fillRect/>
          </a:stretch>
        </p:blipFill>
        <p:spPr>
          <a:xfrm>
            <a:off x="366317" y="471858"/>
            <a:ext cx="3896568" cy="1871457"/>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10179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Ví dụ:</a:t>
            </a:r>
            <a:r>
              <a:rPr sz="500" spc="10" dirty="0">
                <a:latin typeface="Arial"/>
                <a:cs typeface="Arial"/>
                <a:hlinkClick r:id="rId5" action="ppaction://hlinksldjump"/>
              </a:rPr>
              <a:t> </a:t>
            </a:r>
            <a:r>
              <a:rPr sz="500" dirty="0">
                <a:latin typeface="Arial"/>
                <a:cs typeface="Arial"/>
                <a:hlinkClick r:id="rId5" action="ppaction://hlinksldjump"/>
              </a:rPr>
              <a:t>Các</a:t>
            </a:r>
            <a:r>
              <a:rPr sz="500" spc="-15" dirty="0">
                <a:latin typeface="Arial"/>
                <a:cs typeface="Arial"/>
                <a:hlinkClick r:id="rId5" action="ppaction://hlinksldjump"/>
              </a:rPr>
              <a:t> </a:t>
            </a:r>
            <a:r>
              <a:rPr sz="500" dirty="0">
                <a:latin typeface="Arial"/>
                <a:cs typeface="Arial"/>
                <a:hlinkClick r:id="rId5" action="ppaction://hlinksldjump"/>
              </a:rPr>
              <a:t>Mạng</a:t>
            </a:r>
            <a:r>
              <a:rPr sz="500" spc="-20" dirty="0">
                <a:latin typeface="Arial"/>
                <a:cs typeface="Arial"/>
                <a:hlinkClick r:id="rId5" action="ppaction://hlinksldjump"/>
              </a:rPr>
              <a:t> </a:t>
            </a:r>
            <a:r>
              <a:rPr sz="500" dirty="0">
                <a:latin typeface="Arial"/>
                <a:cs typeface="Arial"/>
                <a:hlinkClick r:id="rId5" action="ppaction://hlinksldjump"/>
              </a:rPr>
              <a:t>Tài liệu</a:t>
            </a:r>
            <a:r>
              <a:rPr sz="500" spc="-20" dirty="0">
                <a:latin typeface="Arial"/>
                <a:cs typeface="Arial"/>
                <a:hlinkClick r:id="rId5" action="ppaction://hlinksldjump"/>
              </a:rPr>
              <a:t> </a:t>
            </a:r>
            <a:r>
              <a:rPr sz="500" spc="-10" dirty="0">
                <a:latin typeface="Arial"/>
                <a:cs typeface="Arial"/>
                <a:hlinkClick r:id="rId5" action="ppaction://hlinksldjump"/>
              </a:rPr>
              <a:t>Hệ thống</a:t>
            </a:r>
            <a:endParaRPr sz="500">
              <a:latin typeface="Arial"/>
              <a:cs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Hệ thống </a:t>
            </a:r>
            <a:r>
              <a:rPr sz="500" spc="-10" dirty="0">
                <a:solidFill>
                  <a:srgbClr val="FFFFFF"/>
                </a:solidFill>
                <a:latin typeface="Arial"/>
                <a:cs typeface="Arial"/>
                <a:hlinkClick r:id="rId3" action="ppaction://hlinksldjump"/>
              </a:rPr>
              <a:t>phân lớp</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95300" y="197711"/>
            <a:ext cx="206502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Ví dụ:</a:t>
            </a:r>
            <a:r>
              <a:rPr sz="1200" spc="15" dirty="0">
                <a:solidFill>
                  <a:srgbClr val="3333B2"/>
                </a:solidFill>
                <a:latin typeface="Arial"/>
                <a:cs typeface="Arial"/>
              </a:rPr>
              <a:t> </a:t>
            </a:r>
            <a:r>
              <a:rPr sz="1200" dirty="0">
                <a:solidFill>
                  <a:srgbClr val="3333B2"/>
                </a:solidFill>
                <a:latin typeface="Arial"/>
                <a:cs typeface="Arial"/>
              </a:rPr>
              <a:t>Đơn giản</a:t>
            </a:r>
            <a:r>
              <a:rPr sz="1200" spc="-50" dirty="0">
                <a:solidFill>
                  <a:srgbClr val="3333B2"/>
                </a:solidFill>
                <a:latin typeface="Arial"/>
                <a:cs typeface="Arial"/>
              </a:rPr>
              <a:t> </a:t>
            </a:r>
            <a:r>
              <a:rPr sz="1200" dirty="0">
                <a:solidFill>
                  <a:srgbClr val="3333B2"/>
                </a:solidFill>
                <a:latin typeface="Arial"/>
                <a:cs typeface="Arial"/>
              </a:rPr>
              <a:t>Trang web</a:t>
            </a:r>
            <a:r>
              <a:rPr sz="1200" spc="-55" dirty="0">
                <a:solidFill>
                  <a:srgbClr val="3333B2"/>
                </a:solidFill>
                <a:latin typeface="Arial"/>
                <a:cs typeface="Arial"/>
              </a:rPr>
              <a:t> </a:t>
            </a:r>
            <a:r>
              <a:rPr sz="1200" spc="-10" dirty="0">
                <a:solidFill>
                  <a:srgbClr val="3333B2"/>
                </a:solidFill>
                <a:latin typeface="Arial"/>
                <a:cs typeface="Arial"/>
              </a:rPr>
              <a:t>máy chủ</a:t>
            </a:r>
            <a:endParaRPr sz="1200">
              <a:latin typeface="Arial"/>
              <a:cs typeface="Arial"/>
            </a:endParaRPr>
          </a:p>
          <a:p>
            <a:pPr marL="264160">
              <a:lnSpc>
                <a:spcPct val="100000"/>
              </a:lnSpc>
              <a:spcBef>
                <a:spcPts val="1055"/>
              </a:spcBef>
            </a:pPr>
            <a:r>
              <a:rPr sz="1000" dirty="0">
                <a:solidFill>
                  <a:srgbClr val="3333B2"/>
                </a:solidFill>
                <a:latin typeface="Arial"/>
                <a:cs typeface="Arial"/>
              </a:rPr>
              <a:t>Mặt sau</a:t>
            </a:r>
            <a:r>
              <a:rPr sz="1000" spc="-25" dirty="0">
                <a:solidFill>
                  <a:srgbClr val="3333B2"/>
                </a:solidFill>
                <a:latin typeface="Arial"/>
                <a:cs typeface="Arial"/>
              </a:rPr>
              <a:t> </a:t>
            </a:r>
            <a:r>
              <a:rPr sz="1000" dirty="0">
                <a:solidFill>
                  <a:srgbClr val="3333B2"/>
                </a:solidFill>
                <a:latin typeface="Arial"/>
                <a:cs typeface="Arial"/>
              </a:rPr>
              <a:t>TRONG</a:t>
            </a:r>
            <a:r>
              <a:rPr sz="1000" spc="-25" dirty="0">
                <a:solidFill>
                  <a:srgbClr val="3333B2"/>
                </a:solidFill>
                <a:latin typeface="Arial"/>
                <a:cs typeface="Arial"/>
              </a:rPr>
              <a:t> </a:t>
            </a:r>
            <a:r>
              <a:rPr sz="1000" dirty="0">
                <a:solidFill>
                  <a:srgbClr val="3333B2"/>
                </a:solidFill>
                <a:latin typeface="Arial"/>
                <a:cs typeface="Arial"/>
              </a:rPr>
              <a:t>cái</a:t>
            </a:r>
            <a:r>
              <a:rPr sz="1000" spc="-25" dirty="0">
                <a:solidFill>
                  <a:srgbClr val="3333B2"/>
                </a:solidFill>
                <a:latin typeface="Arial"/>
                <a:cs typeface="Arial"/>
              </a:rPr>
              <a:t> </a:t>
            </a:r>
            <a:r>
              <a:rPr sz="1000" dirty="0">
                <a:solidFill>
                  <a:srgbClr val="3333B2"/>
                </a:solidFill>
                <a:latin typeface="Arial"/>
                <a:cs typeface="Arial"/>
              </a:rPr>
              <a:t>cũ</a:t>
            </a:r>
            <a:r>
              <a:rPr sz="1000" spc="-25" dirty="0">
                <a:solidFill>
                  <a:srgbClr val="3333B2"/>
                </a:solidFill>
                <a:latin typeface="Arial"/>
                <a:cs typeface="Arial"/>
              </a:rPr>
              <a:t> </a:t>
            </a:r>
            <a:r>
              <a:rPr sz="1000" spc="-10" dirty="0">
                <a:solidFill>
                  <a:srgbClr val="3333B2"/>
                </a:solidFill>
                <a:latin typeface="Arial"/>
                <a:cs typeface="Arial"/>
              </a:rPr>
              <a:t>ngày...</a:t>
            </a:r>
            <a:endParaRPr sz="1000">
              <a:latin typeface="Arial"/>
              <a:cs typeface="Arial"/>
            </a:endParaRPr>
          </a:p>
        </p:txBody>
      </p:sp>
      <p:pic>
        <p:nvPicPr>
          <p:cNvPr id="6" name="object 6"/>
          <p:cNvPicPr/>
          <p:nvPr/>
        </p:nvPicPr>
        <p:blipFill>
          <a:blip r:embed="rId4" cstate="print"/>
          <a:stretch>
            <a:fillRect/>
          </a:stretch>
        </p:blipFill>
        <p:spPr>
          <a:xfrm>
            <a:off x="983298" y="714207"/>
            <a:ext cx="2612277" cy="1273774"/>
          </a:xfrm>
          <a:prstGeom prst="rect">
            <a:avLst/>
          </a:prstGeom>
        </p:spPr>
      </p:pic>
      <p:sp>
        <p:nvSpPr>
          <p:cNvPr id="7" name="object 7"/>
          <p:cNvSpPr txBox="1"/>
          <p:nvPr/>
        </p:nvSpPr>
        <p:spPr>
          <a:xfrm>
            <a:off x="321894" y="2101804"/>
            <a:ext cx="3482340" cy="784860"/>
          </a:xfrm>
          <a:prstGeom prst="rect">
            <a:avLst/>
          </a:prstGeom>
        </p:spPr>
        <p:txBody>
          <a:bodyPr vert="horz" wrap="square" lIns="0" tIns="12065" rIns="0" bIns="0" rtlCol="0">
            <a:spAutoFit/>
          </a:bodyPr>
          <a:lstStyle/>
          <a:p>
            <a:pPr marL="38100">
              <a:lnSpc>
                <a:spcPct val="100000"/>
              </a:lnSpc>
              <a:spcBef>
                <a:spcPts val="95"/>
              </a:spcBef>
            </a:pPr>
            <a:r>
              <a:rPr sz="1000" dirty="0">
                <a:solidFill>
                  <a:srgbClr val="3333B2"/>
                </a:solidFill>
                <a:latin typeface="Arial"/>
                <a:cs typeface="Arial"/>
              </a:rPr>
              <a:t>...mạng sống</a:t>
            </a:r>
            <a:r>
              <a:rPr sz="1000" spc="-50" dirty="0">
                <a:solidFill>
                  <a:srgbClr val="3333B2"/>
                </a:solidFill>
                <a:latin typeface="Arial"/>
                <a:cs typeface="Arial"/>
              </a:rPr>
              <a:t> </a:t>
            </a:r>
            <a:r>
              <a:rPr sz="1000" dirty="0">
                <a:solidFill>
                  <a:srgbClr val="3333B2"/>
                </a:solidFill>
                <a:latin typeface="Arial"/>
                <a:cs typeface="Arial"/>
              </a:rPr>
              <a:t>đã từng là</a:t>
            </a:r>
            <a:r>
              <a:rPr sz="1000" spc="-45" dirty="0">
                <a:solidFill>
                  <a:srgbClr val="3333B2"/>
                </a:solidFill>
                <a:latin typeface="Arial"/>
                <a:cs typeface="Arial"/>
              </a:rPr>
              <a:t> </a:t>
            </a:r>
            <a:r>
              <a:rPr sz="1000" spc="-10" dirty="0">
                <a:solidFill>
                  <a:srgbClr val="3333B2"/>
                </a:solidFill>
                <a:latin typeface="Arial"/>
                <a:cs typeface="Arial"/>
              </a:rPr>
              <a:t>đơn giản:</a:t>
            </a:r>
            <a:endParaRPr sz="1000">
              <a:latin typeface="Arial"/>
              <a:cs typeface="Arial"/>
            </a:endParaRPr>
          </a:p>
          <a:p>
            <a:pPr marL="287020" indent="-116839">
              <a:lnSpc>
                <a:spcPct val="100000"/>
              </a:lnSpc>
              <a:spcBef>
                <a:spcPts val="695"/>
              </a:spcBef>
              <a:buClr>
                <a:srgbClr val="3333B2"/>
              </a:buClr>
              <a:buFont typeface="Apple Symbols"/>
              <a:buChar char="•"/>
              <a:tabLst>
                <a:tab pos="287655" algn="l"/>
              </a:tabLst>
            </a:pPr>
            <a:r>
              <a:rPr sz="900" dirty="0">
                <a:latin typeface="Arial"/>
                <a:cs typeface="Arial"/>
              </a:rPr>
              <a:t>MỘT</a:t>
            </a:r>
            <a:r>
              <a:rPr sz="900" spc="-30" dirty="0">
                <a:latin typeface="Arial"/>
                <a:cs typeface="Arial"/>
              </a:rPr>
              <a:t> </a:t>
            </a:r>
            <a:r>
              <a:rPr sz="900" dirty="0">
                <a:latin typeface="Arial"/>
                <a:cs typeface="Arial"/>
              </a:rPr>
              <a:t>trang web</a:t>
            </a:r>
            <a:r>
              <a:rPr sz="900" spc="-25" dirty="0">
                <a:latin typeface="Arial"/>
                <a:cs typeface="Arial"/>
              </a:rPr>
              <a:t> </a:t>
            </a:r>
            <a:r>
              <a:rPr sz="900" dirty="0">
                <a:latin typeface="Arial"/>
                <a:cs typeface="Arial"/>
              </a:rPr>
              <a:t>bao gồm</a:t>
            </a:r>
            <a:r>
              <a:rPr sz="900" spc="-25" dirty="0">
                <a:latin typeface="Arial"/>
                <a:cs typeface="Arial"/>
              </a:rPr>
              <a:t> </a:t>
            </a:r>
            <a:r>
              <a:rPr sz="900" dirty="0">
                <a:latin typeface="Arial"/>
                <a:cs typeface="Arial"/>
              </a:rPr>
              <a:t>BẰNG</a:t>
            </a:r>
            <a:r>
              <a:rPr sz="900" spc="-25" dirty="0">
                <a:latin typeface="Arial"/>
                <a:cs typeface="Arial"/>
              </a:rPr>
              <a:t> </a:t>
            </a:r>
            <a:r>
              <a:rPr sz="900" dirty="0">
                <a:latin typeface="Arial"/>
                <a:cs typeface="Arial"/>
              </a:rPr>
              <a:t>Một</a:t>
            </a:r>
            <a:r>
              <a:rPr sz="900" spc="-30" dirty="0">
                <a:latin typeface="Arial"/>
                <a:cs typeface="Arial"/>
              </a:rPr>
              <a:t> </a:t>
            </a:r>
            <a:r>
              <a:rPr sz="900" dirty="0">
                <a:latin typeface="Arial"/>
                <a:cs typeface="Arial"/>
              </a:rPr>
              <a:t>bộ sưu tập</a:t>
            </a:r>
            <a:r>
              <a:rPr sz="900" spc="-25" dirty="0">
                <a:latin typeface="Arial"/>
                <a:cs typeface="Arial"/>
              </a:rPr>
              <a:t> </a:t>
            </a:r>
            <a:r>
              <a:rPr sz="900" dirty="0">
                <a:latin typeface="Arial"/>
                <a:cs typeface="Arial"/>
              </a:rPr>
              <a:t>của</a:t>
            </a:r>
            <a:r>
              <a:rPr sz="900" spc="-25" dirty="0">
                <a:latin typeface="Arial"/>
                <a:cs typeface="Arial"/>
              </a:rPr>
              <a:t> </a:t>
            </a:r>
            <a:r>
              <a:rPr sz="900" dirty="0">
                <a:latin typeface="Arial"/>
                <a:cs typeface="Arial"/>
              </a:rPr>
              <a:t>HTML</a:t>
            </a:r>
            <a:r>
              <a:rPr sz="900" spc="-25" dirty="0">
                <a:latin typeface="Arial"/>
                <a:cs typeface="Arial"/>
              </a:rPr>
              <a:t> </a:t>
            </a:r>
            <a:r>
              <a:rPr sz="900" spc="-10" dirty="0">
                <a:latin typeface="Arial"/>
                <a:cs typeface="Arial"/>
              </a:rPr>
              <a:t>tập tin</a:t>
            </a:r>
            <a:endParaRPr sz="900">
              <a:latin typeface="Arial"/>
              <a:cs typeface="Arial"/>
            </a:endParaRPr>
          </a:p>
          <a:p>
            <a:pPr marL="290830" indent="-120650">
              <a:lnSpc>
                <a:spcPct val="100000"/>
              </a:lnSpc>
              <a:spcBef>
                <a:spcPts val="425"/>
              </a:spcBef>
              <a:buClr>
                <a:srgbClr val="3333B2"/>
              </a:buClr>
              <a:buFont typeface="Apple Symbols"/>
              <a:buChar char="•"/>
              <a:tabLst>
                <a:tab pos="291465" algn="l"/>
              </a:tabLst>
            </a:pPr>
            <a:r>
              <a:rPr sz="900" dirty="0">
                <a:latin typeface="Arial"/>
                <a:cs typeface="Arial"/>
              </a:rPr>
              <a:t>HTML</a:t>
            </a:r>
            <a:r>
              <a:rPr sz="900" spc="-20" dirty="0">
                <a:latin typeface="Arial"/>
                <a:cs typeface="Arial"/>
              </a:rPr>
              <a:t> </a:t>
            </a:r>
            <a:r>
              <a:rPr sz="900" dirty="0">
                <a:latin typeface="Arial"/>
                <a:cs typeface="Arial"/>
              </a:rPr>
              <a:t>tập tin</a:t>
            </a:r>
            <a:r>
              <a:rPr sz="900" spc="-20" dirty="0">
                <a:latin typeface="Arial"/>
                <a:cs typeface="Arial"/>
              </a:rPr>
              <a:t> </a:t>
            </a:r>
            <a:r>
              <a:rPr sz="900" dirty="0">
                <a:latin typeface="Arial"/>
                <a:cs typeface="Arial"/>
              </a:rPr>
              <a:t>có thể</a:t>
            </a:r>
            <a:r>
              <a:rPr sz="900" spc="-20" dirty="0">
                <a:latin typeface="Arial"/>
                <a:cs typeface="Arial"/>
              </a:rPr>
              <a:t> </a:t>
            </a:r>
            <a:r>
              <a:rPr sz="900" dirty="0">
                <a:latin typeface="Arial"/>
                <a:cs typeface="Arial"/>
              </a:rPr>
              <a:t>là</a:t>
            </a:r>
            <a:r>
              <a:rPr sz="900" spc="-15" dirty="0">
                <a:latin typeface="Arial"/>
                <a:cs typeface="Arial"/>
              </a:rPr>
              <a:t> </a:t>
            </a:r>
            <a:r>
              <a:rPr sz="900" spc="-10" dirty="0">
                <a:latin typeface="Arial"/>
                <a:cs typeface="Arial"/>
              </a:rPr>
              <a:t>được giới thiệu</a:t>
            </a:r>
            <a:r>
              <a:rPr sz="900" spc="-20" dirty="0">
                <a:latin typeface="Arial"/>
                <a:cs typeface="Arial"/>
              </a:rPr>
              <a:t> </a:t>
            </a:r>
            <a:r>
              <a:rPr sz="900" dirty="0">
                <a:latin typeface="Arial"/>
                <a:cs typeface="Arial"/>
              </a:rPr>
              <a:t>ĐẾN</a:t>
            </a:r>
            <a:r>
              <a:rPr sz="900" spc="-20" dirty="0">
                <a:latin typeface="Arial"/>
                <a:cs typeface="Arial"/>
              </a:rPr>
              <a:t> </a:t>
            </a:r>
            <a:r>
              <a:rPr sz="900" dirty="0">
                <a:latin typeface="Arial"/>
                <a:cs typeface="Arial"/>
              </a:rPr>
              <a:t>mỗi</a:t>
            </a:r>
            <a:r>
              <a:rPr sz="900" spc="-15" dirty="0">
                <a:latin typeface="Arial"/>
                <a:cs typeface="Arial"/>
              </a:rPr>
              <a:t> </a:t>
            </a:r>
            <a:r>
              <a:rPr sz="900" dirty="0">
                <a:latin typeface="Arial"/>
                <a:cs typeface="Arial"/>
              </a:rPr>
              <a:t>khác</a:t>
            </a:r>
            <a:r>
              <a:rPr sz="900" spc="-20" dirty="0">
                <a:latin typeface="Arial"/>
                <a:cs typeface="Arial"/>
              </a:rPr>
              <a:t> </a:t>
            </a:r>
            <a:r>
              <a:rPr sz="900" dirty="0">
                <a:latin typeface="Arial"/>
                <a:cs typeface="Arial"/>
              </a:rPr>
              <a:t>qua</a:t>
            </a:r>
            <a:r>
              <a:rPr sz="900" spc="-20" dirty="0">
                <a:latin typeface="Arial"/>
                <a:cs typeface="Arial"/>
              </a:rPr>
              <a:t> </a:t>
            </a:r>
            <a:r>
              <a:rPr sz="900" dirty="0">
                <a:latin typeface="Arial"/>
                <a:cs typeface="Arial"/>
              </a:rPr>
              <a:t>Một</a:t>
            </a:r>
            <a:r>
              <a:rPr sz="900" spc="-20" dirty="0">
                <a:latin typeface="Arial"/>
                <a:cs typeface="Arial"/>
              </a:rPr>
              <a:t> </a:t>
            </a:r>
            <a:r>
              <a:rPr sz="900" spc="-10" dirty="0">
                <a:solidFill>
                  <a:srgbClr val="3333B2"/>
                </a:solidFill>
                <a:latin typeface="Arial"/>
                <a:cs typeface="Arial"/>
              </a:rPr>
              <a:t>siêu liên kết</a:t>
            </a:r>
            <a:endParaRPr sz="900">
              <a:latin typeface="Arial"/>
              <a:cs typeface="Arial"/>
            </a:endParaRPr>
          </a:p>
          <a:p>
            <a:pPr marL="287020" indent="-116839">
              <a:lnSpc>
                <a:spcPct val="100000"/>
              </a:lnSpc>
              <a:spcBef>
                <a:spcPts val="425"/>
              </a:spcBef>
              <a:buClr>
                <a:srgbClr val="3333B2"/>
              </a:buClr>
              <a:buFont typeface="Apple Symbols"/>
              <a:buChar char="•"/>
              <a:tabLst>
                <a:tab pos="287655" algn="l"/>
              </a:tabLst>
            </a:pPr>
            <a:r>
              <a:rPr sz="900" dirty="0">
                <a:latin typeface="Arial"/>
                <a:cs typeface="Arial"/>
              </a:rPr>
              <a:t>MỘT</a:t>
            </a:r>
            <a:r>
              <a:rPr sz="900" spc="-35" dirty="0">
                <a:latin typeface="Arial"/>
                <a:cs typeface="Arial"/>
              </a:rPr>
              <a:t> </a:t>
            </a:r>
            <a:r>
              <a:rPr sz="900" dirty="0">
                <a:latin typeface="Arial"/>
                <a:cs typeface="Arial"/>
              </a:rPr>
              <a:t>Trang web</a:t>
            </a:r>
            <a:r>
              <a:rPr sz="900" spc="-30" dirty="0">
                <a:latin typeface="Arial"/>
                <a:cs typeface="Arial"/>
              </a:rPr>
              <a:t> </a:t>
            </a:r>
            <a:r>
              <a:rPr sz="900" dirty="0">
                <a:latin typeface="Arial"/>
                <a:cs typeface="Arial"/>
              </a:rPr>
              <a:t>máy chủ</a:t>
            </a:r>
            <a:r>
              <a:rPr sz="900" spc="-30" dirty="0">
                <a:latin typeface="Arial"/>
                <a:cs typeface="Arial"/>
              </a:rPr>
              <a:t> </a:t>
            </a:r>
            <a:r>
              <a:rPr sz="900" dirty="0">
                <a:latin typeface="Arial"/>
                <a:cs typeface="Arial"/>
              </a:rPr>
              <a:t>Thiết yếu</a:t>
            </a:r>
            <a:r>
              <a:rPr sz="900" spc="-35" dirty="0">
                <a:latin typeface="Arial"/>
                <a:cs typeface="Arial"/>
              </a:rPr>
              <a:t> </a:t>
            </a:r>
            <a:r>
              <a:rPr sz="900" dirty="0">
                <a:latin typeface="Arial"/>
                <a:cs typeface="Arial"/>
              </a:rPr>
              <a:t>cần thiết</a:t>
            </a:r>
            <a:r>
              <a:rPr sz="900" spc="-30" dirty="0">
                <a:latin typeface="Arial"/>
                <a:cs typeface="Arial"/>
              </a:rPr>
              <a:t> </a:t>
            </a:r>
            <a:r>
              <a:rPr sz="900" dirty="0">
                <a:latin typeface="Arial"/>
                <a:cs typeface="Arial"/>
              </a:rPr>
              <a:t>chỉ một</a:t>
            </a:r>
            <a:r>
              <a:rPr sz="900" spc="-30" dirty="0">
                <a:latin typeface="Arial"/>
                <a:cs typeface="Arial"/>
              </a:rPr>
              <a:t> </a:t>
            </a:r>
            <a:r>
              <a:rPr sz="900" dirty="0">
                <a:latin typeface="Arial"/>
                <a:cs typeface="Arial"/>
              </a:rPr>
              <a:t>Một</a:t>
            </a:r>
            <a:r>
              <a:rPr sz="900" spc="-35" dirty="0">
                <a:latin typeface="Arial"/>
                <a:cs typeface="Arial"/>
              </a:rPr>
              <a:t> </a:t>
            </a:r>
            <a:r>
              <a:rPr sz="900" dirty="0">
                <a:latin typeface="Arial"/>
                <a:cs typeface="Arial"/>
              </a:rPr>
              <a:t>siêu liên kết</a:t>
            </a:r>
            <a:r>
              <a:rPr sz="900" spc="-30" dirty="0">
                <a:latin typeface="Arial"/>
                <a:cs typeface="Arial"/>
              </a:rPr>
              <a:t> </a:t>
            </a:r>
            <a:r>
              <a:rPr sz="900" dirty="0">
                <a:latin typeface="Arial"/>
                <a:cs typeface="Arial"/>
              </a:rPr>
              <a:t>ĐẾN</a:t>
            </a:r>
            <a:r>
              <a:rPr sz="900" spc="-30" dirty="0">
                <a:latin typeface="Arial"/>
                <a:cs typeface="Arial"/>
              </a:rPr>
              <a:t> </a:t>
            </a:r>
            <a:r>
              <a:rPr sz="900" dirty="0">
                <a:latin typeface="Arial"/>
                <a:cs typeface="Arial"/>
              </a:rPr>
              <a:t>tìm về</a:t>
            </a:r>
            <a:r>
              <a:rPr sz="900" spc="-30" dirty="0">
                <a:latin typeface="Arial"/>
                <a:cs typeface="Arial"/>
              </a:rPr>
              <a:t> </a:t>
            </a:r>
            <a:r>
              <a:rPr sz="900" dirty="0">
                <a:latin typeface="Arial"/>
                <a:cs typeface="Arial"/>
              </a:rPr>
              <a:t>Một</a:t>
            </a:r>
            <a:r>
              <a:rPr sz="900" spc="-35" dirty="0">
                <a:latin typeface="Arial"/>
                <a:cs typeface="Arial"/>
              </a:rPr>
              <a:t> </a:t>
            </a:r>
            <a:r>
              <a:rPr sz="900" spc="-20" dirty="0">
                <a:latin typeface="Arial"/>
                <a:cs typeface="Arial"/>
              </a:rPr>
              <a:t>tài liệu</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480148" y="2928127"/>
            <a:ext cx="82550" cy="139700"/>
          </a:xfrm>
          <a:prstGeom prst="rect">
            <a:avLst/>
          </a:prstGeom>
        </p:spPr>
        <p:txBody>
          <a:bodyPr vert="horz" wrap="square" lIns="0" tIns="0" rIns="0" bIns="0" rtlCol="0">
            <a:spAutoFit/>
          </a:bodyPr>
          <a:lstStyle/>
          <a:p>
            <a:pPr marL="12700">
              <a:lnSpc>
                <a:spcPts val="950"/>
              </a:lnSpc>
            </a:pPr>
            <a:r>
              <a:rPr sz="900" spc="105" dirty="0">
                <a:solidFill>
                  <a:srgbClr val="3333B2"/>
                </a:solidFill>
                <a:latin typeface="Apple Symbols"/>
                <a:cs typeface="Apple Symbols"/>
              </a:rPr>
              <a:t>•</a:t>
            </a:r>
            <a:endParaRPr sz="900">
              <a:latin typeface="Apple Symbols"/>
              <a:cs typeface="Apple Symbols"/>
            </a:endParaRPr>
          </a:p>
        </p:txBody>
      </p:sp>
      <p:sp>
        <p:nvSpPr>
          <p:cNvPr id="12" name="object 12"/>
          <p:cNvSpPr txBox="1"/>
          <p:nvPr/>
        </p:nvSpPr>
        <p:spPr>
          <a:xfrm>
            <a:off x="596595" y="2920822"/>
            <a:ext cx="3115945" cy="166370"/>
          </a:xfrm>
          <a:prstGeom prst="rect">
            <a:avLst/>
          </a:prstGeom>
        </p:spPr>
        <p:txBody>
          <a:bodyPr vert="horz" wrap="square" lIns="0" tIns="6985" rIns="0" bIns="0" rtlCol="0">
            <a:spAutoFit/>
          </a:bodyPr>
          <a:lstStyle/>
          <a:p>
            <a:pPr marL="12700">
              <a:lnSpc>
                <a:spcPct val="100000"/>
              </a:lnSpc>
              <a:spcBef>
                <a:spcPts val="55"/>
              </a:spcBef>
            </a:pPr>
            <a:r>
              <a:rPr sz="900" dirty="0">
                <a:latin typeface="Arial"/>
                <a:cs typeface="Arial"/>
              </a:rPr>
              <a:t>MỘT</a:t>
            </a:r>
            <a:r>
              <a:rPr sz="900" spc="-25" dirty="0">
                <a:latin typeface="Arial"/>
                <a:cs typeface="Arial"/>
              </a:rPr>
              <a:t> </a:t>
            </a:r>
            <a:r>
              <a:rPr sz="900" dirty="0">
                <a:latin typeface="Arial"/>
                <a:cs typeface="Arial"/>
              </a:rPr>
              <a:t>trình duyệt</a:t>
            </a:r>
            <a:r>
              <a:rPr sz="900" spc="-25" dirty="0">
                <a:latin typeface="Arial"/>
                <a:cs typeface="Arial"/>
              </a:rPr>
              <a:t> </a:t>
            </a:r>
            <a:r>
              <a:rPr sz="900" dirty="0">
                <a:latin typeface="Arial"/>
                <a:cs typeface="Arial"/>
              </a:rPr>
              <a:t>lấy đi</a:t>
            </a:r>
            <a:r>
              <a:rPr sz="900" spc="-20" dirty="0">
                <a:latin typeface="Arial"/>
                <a:cs typeface="Arial"/>
              </a:rPr>
              <a:t> </a:t>
            </a:r>
            <a:r>
              <a:rPr sz="900" dirty="0">
                <a:latin typeface="Arial"/>
                <a:cs typeface="Arial"/>
              </a:rPr>
              <a:t>chăm sóc</a:t>
            </a:r>
            <a:r>
              <a:rPr sz="900" spc="-25" dirty="0">
                <a:latin typeface="Arial"/>
                <a:cs typeface="Arial"/>
              </a:rPr>
              <a:t> </a:t>
            </a:r>
            <a:r>
              <a:rPr sz="900" dirty="0">
                <a:latin typeface="Arial"/>
                <a:cs typeface="Arial"/>
              </a:rPr>
              <a:t>của</a:t>
            </a:r>
            <a:r>
              <a:rPr sz="900" spc="-25" dirty="0">
                <a:latin typeface="Arial"/>
                <a:cs typeface="Arial"/>
              </a:rPr>
              <a:t> </a:t>
            </a:r>
            <a:r>
              <a:rPr sz="900" dirty="0">
                <a:latin typeface="Arial"/>
                <a:cs typeface="Arial"/>
              </a:rPr>
              <a:t>đúng cách</a:t>
            </a:r>
            <a:r>
              <a:rPr sz="900" spc="-20" dirty="0">
                <a:latin typeface="Arial"/>
                <a:cs typeface="Arial"/>
              </a:rPr>
              <a:t> </a:t>
            </a:r>
            <a:r>
              <a:rPr sz="900" dirty="0">
                <a:latin typeface="Arial"/>
                <a:cs typeface="Arial"/>
              </a:rPr>
              <a:t>kết xuất</a:t>
            </a:r>
            <a:r>
              <a:rPr sz="900" spc="-25" dirty="0">
                <a:latin typeface="Arial"/>
                <a:cs typeface="Arial"/>
              </a:rPr>
              <a:t> </a:t>
            </a:r>
            <a:r>
              <a:rPr sz="900" dirty="0">
                <a:latin typeface="Arial"/>
                <a:cs typeface="Arial"/>
              </a:rPr>
              <a:t>cái</a:t>
            </a:r>
            <a:r>
              <a:rPr sz="900" spc="-25" dirty="0">
                <a:latin typeface="Arial"/>
                <a:cs typeface="Arial"/>
              </a:rPr>
              <a:t> </a:t>
            </a:r>
            <a:r>
              <a:rPr sz="900" dirty="0">
                <a:latin typeface="Arial"/>
                <a:cs typeface="Arial"/>
              </a:rPr>
              <a:t>nội dung</a:t>
            </a:r>
            <a:r>
              <a:rPr sz="900" spc="-20" dirty="0">
                <a:latin typeface="Arial"/>
                <a:cs typeface="Arial"/>
              </a:rPr>
              <a:t> </a:t>
            </a:r>
            <a:r>
              <a:rPr sz="900" dirty="0">
                <a:latin typeface="Arial"/>
                <a:cs typeface="Arial"/>
              </a:rPr>
              <a:t>của</a:t>
            </a:r>
            <a:r>
              <a:rPr sz="900" spc="-25" dirty="0">
                <a:latin typeface="Arial"/>
                <a:cs typeface="Arial"/>
              </a:rPr>
              <a:t> </a:t>
            </a:r>
            <a:r>
              <a:rPr sz="900" dirty="0">
                <a:latin typeface="Arial"/>
                <a:cs typeface="Arial"/>
              </a:rPr>
              <a:t>Một</a:t>
            </a:r>
            <a:r>
              <a:rPr sz="900" spc="-25" dirty="0">
                <a:latin typeface="Arial"/>
                <a:cs typeface="Arial"/>
              </a:rPr>
              <a:t> </a:t>
            </a:r>
            <a:r>
              <a:rPr sz="900" spc="-20" dirty="0">
                <a:latin typeface="Arial"/>
                <a:cs typeface="Arial"/>
              </a:rPr>
              <a:t>tài liệu</a:t>
            </a:r>
            <a:endParaRPr sz="900">
              <a:latin typeface="Arial"/>
              <a:cs typeface="Arial"/>
            </a:endParaRPr>
          </a:p>
        </p:txBody>
      </p:sp>
      <p:sp>
        <p:nvSpPr>
          <p:cNvPr id="13" name="object 13"/>
          <p:cNvSpPr txBox="1"/>
          <p:nvPr/>
        </p:nvSpPr>
        <p:spPr>
          <a:xfrm>
            <a:off x="53467" y="3349927"/>
            <a:ext cx="56578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Ví dụ:</a:t>
            </a:r>
            <a:r>
              <a:rPr sz="500" spc="10" dirty="0">
                <a:latin typeface="Arial"/>
                <a:cs typeface="Arial"/>
                <a:hlinkClick r:id="rId5" action="ppaction://hlinksldjump"/>
              </a:rPr>
              <a:t> </a:t>
            </a:r>
            <a:r>
              <a:rPr sz="500" dirty="0">
                <a:latin typeface="Arial"/>
                <a:cs typeface="Arial"/>
                <a:hlinkClick r:id="rId5" action="ppaction://hlinksldjump"/>
              </a:rPr>
              <a:t>Các</a:t>
            </a:r>
            <a:r>
              <a:rPr sz="500" spc="-15" dirty="0">
                <a:latin typeface="Arial"/>
                <a:cs typeface="Arial"/>
                <a:hlinkClick r:id="rId5" action="ppaction://hlinksldjump"/>
              </a:rPr>
              <a:t> </a:t>
            </a:r>
            <a:r>
              <a:rPr sz="500" spc="-25" dirty="0">
                <a:latin typeface="Arial"/>
                <a:cs typeface="Arial"/>
                <a:hlinkClick r:id="rId5" action="ppaction://hlinksldjump"/>
              </a:rPr>
              <a:t>Trang web</a:t>
            </a:r>
            <a:endParaRPr sz="500">
              <a:latin typeface="Arial"/>
              <a:cs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Hệ thống </a:t>
            </a:r>
            <a:r>
              <a:rPr sz="500" spc="-10" dirty="0">
                <a:solidFill>
                  <a:srgbClr val="FFFFFF"/>
                </a:solidFill>
                <a:latin typeface="Arial"/>
                <a:cs typeface="Arial"/>
                <a:hlinkClick r:id="rId3" action="ppaction://hlinksldjump"/>
              </a:rPr>
              <a:t>phân lớp</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95300" y="197711"/>
            <a:ext cx="285940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Ví dụ</a:t>
            </a:r>
            <a:r>
              <a:rPr sz="1200" spc="-60" dirty="0">
                <a:solidFill>
                  <a:srgbClr val="3333B2"/>
                </a:solidFill>
                <a:latin typeface="Arial"/>
                <a:cs typeface="Arial"/>
              </a:rPr>
              <a:t> </a:t>
            </a:r>
            <a:r>
              <a:rPr sz="1200" dirty="0">
                <a:solidFill>
                  <a:srgbClr val="3333B2"/>
                </a:solidFill>
                <a:latin typeface="Arial"/>
                <a:cs typeface="Arial"/>
              </a:rPr>
              <a:t>(không có):</a:t>
            </a:r>
            <a:r>
              <a:rPr sz="1200" spc="15" dirty="0">
                <a:solidFill>
                  <a:srgbClr val="3333B2"/>
                </a:solidFill>
                <a:latin typeface="Arial"/>
                <a:cs typeface="Arial"/>
              </a:rPr>
              <a:t> </a:t>
            </a:r>
            <a:r>
              <a:rPr sz="1200" dirty="0">
                <a:solidFill>
                  <a:srgbClr val="3333B2"/>
                </a:solidFill>
                <a:latin typeface="Arial"/>
                <a:cs typeface="Arial"/>
              </a:rPr>
              <a:t>Ít hơn</a:t>
            </a:r>
            <a:r>
              <a:rPr sz="1200" spc="-60" dirty="0">
                <a:solidFill>
                  <a:srgbClr val="3333B2"/>
                </a:solidFill>
                <a:latin typeface="Arial"/>
                <a:cs typeface="Arial"/>
              </a:rPr>
              <a:t> </a:t>
            </a:r>
            <a:r>
              <a:rPr sz="1200" dirty="0">
                <a:solidFill>
                  <a:srgbClr val="3333B2"/>
                </a:solidFill>
                <a:latin typeface="Arial"/>
                <a:cs typeface="Arial"/>
              </a:rPr>
              <a:t>đơn giản</a:t>
            </a:r>
            <a:r>
              <a:rPr sz="1200" spc="-55" dirty="0">
                <a:solidFill>
                  <a:srgbClr val="3333B2"/>
                </a:solidFill>
                <a:latin typeface="Arial"/>
                <a:cs typeface="Arial"/>
              </a:rPr>
              <a:t> </a:t>
            </a:r>
            <a:r>
              <a:rPr sz="1200" dirty="0">
                <a:solidFill>
                  <a:srgbClr val="3333B2"/>
                </a:solidFill>
                <a:latin typeface="Arial"/>
                <a:cs typeface="Arial"/>
              </a:rPr>
              <a:t>Trang web</a:t>
            </a:r>
            <a:r>
              <a:rPr sz="1200" spc="-55" dirty="0">
                <a:solidFill>
                  <a:srgbClr val="3333B2"/>
                </a:solidFill>
                <a:latin typeface="Arial"/>
                <a:cs typeface="Arial"/>
              </a:rPr>
              <a:t> </a:t>
            </a:r>
            <a:r>
              <a:rPr sz="1200" spc="-10" dirty="0">
                <a:solidFill>
                  <a:srgbClr val="3333B2"/>
                </a:solidFill>
                <a:latin typeface="Arial"/>
                <a:cs typeface="Arial"/>
              </a:rPr>
              <a:t>máy chủ</a:t>
            </a:r>
            <a:endParaRPr sz="1200">
              <a:latin typeface="Arial"/>
              <a:cs typeface="Arial"/>
            </a:endParaRPr>
          </a:p>
          <a:p>
            <a:pPr marL="264160">
              <a:lnSpc>
                <a:spcPct val="100000"/>
              </a:lnSpc>
              <a:spcBef>
                <a:spcPts val="1055"/>
              </a:spcBef>
            </a:pPr>
            <a:r>
              <a:rPr sz="1000" dirty="0">
                <a:solidFill>
                  <a:srgbClr val="3333B2"/>
                </a:solidFill>
                <a:latin typeface="Arial"/>
                <a:cs typeface="Arial"/>
              </a:rPr>
              <a:t>Vẫn</a:t>
            </a:r>
            <a:r>
              <a:rPr sz="1000" spc="-25" dirty="0">
                <a:solidFill>
                  <a:srgbClr val="3333B2"/>
                </a:solidFill>
                <a:latin typeface="Arial"/>
                <a:cs typeface="Arial"/>
              </a:rPr>
              <a:t> </a:t>
            </a:r>
            <a:r>
              <a:rPr sz="1000" dirty="0">
                <a:solidFill>
                  <a:srgbClr val="3333B2"/>
                </a:solidFill>
                <a:latin typeface="Arial"/>
                <a:cs typeface="Arial"/>
              </a:rPr>
              <a:t>mặt sau</a:t>
            </a:r>
            <a:r>
              <a:rPr sz="1000" spc="-25" dirty="0">
                <a:solidFill>
                  <a:srgbClr val="3333B2"/>
                </a:solidFill>
                <a:latin typeface="Arial"/>
                <a:cs typeface="Arial"/>
              </a:rPr>
              <a:t> </a:t>
            </a:r>
            <a:r>
              <a:rPr sz="1000" dirty="0">
                <a:solidFill>
                  <a:srgbClr val="3333B2"/>
                </a:solidFill>
                <a:latin typeface="Arial"/>
                <a:cs typeface="Arial"/>
              </a:rPr>
              <a:t>TRONG</a:t>
            </a:r>
            <a:r>
              <a:rPr sz="1000" spc="-25" dirty="0">
                <a:solidFill>
                  <a:srgbClr val="3333B2"/>
                </a:solidFill>
                <a:latin typeface="Arial"/>
                <a:cs typeface="Arial"/>
              </a:rPr>
              <a:t> </a:t>
            </a:r>
            <a:r>
              <a:rPr sz="1000" dirty="0">
                <a:solidFill>
                  <a:srgbClr val="3333B2"/>
                </a:solidFill>
                <a:latin typeface="Arial"/>
                <a:cs typeface="Arial"/>
              </a:rPr>
              <a:t>cái</a:t>
            </a:r>
            <a:r>
              <a:rPr sz="1000" spc="-20" dirty="0">
                <a:solidFill>
                  <a:srgbClr val="3333B2"/>
                </a:solidFill>
                <a:latin typeface="Arial"/>
                <a:cs typeface="Arial"/>
              </a:rPr>
              <a:t> </a:t>
            </a:r>
            <a:r>
              <a:rPr sz="1000" dirty="0">
                <a:solidFill>
                  <a:srgbClr val="3333B2"/>
                </a:solidFill>
                <a:latin typeface="Arial"/>
                <a:cs typeface="Arial"/>
              </a:rPr>
              <a:t>cũ</a:t>
            </a:r>
            <a:r>
              <a:rPr sz="1000" spc="-25" dirty="0">
                <a:solidFill>
                  <a:srgbClr val="3333B2"/>
                </a:solidFill>
                <a:latin typeface="Arial"/>
                <a:cs typeface="Arial"/>
              </a:rPr>
              <a:t> </a:t>
            </a:r>
            <a:r>
              <a:rPr sz="1000" spc="-10" dirty="0">
                <a:solidFill>
                  <a:srgbClr val="3333B2"/>
                </a:solidFill>
                <a:latin typeface="Arial"/>
                <a:cs typeface="Arial"/>
              </a:rPr>
              <a:t>ngày...</a:t>
            </a:r>
            <a:endParaRPr sz="1000">
              <a:latin typeface="Arial"/>
              <a:cs typeface="Arial"/>
            </a:endParaRPr>
          </a:p>
        </p:txBody>
      </p:sp>
      <p:pic>
        <p:nvPicPr>
          <p:cNvPr id="6" name="object 6"/>
          <p:cNvPicPr/>
          <p:nvPr/>
        </p:nvPicPr>
        <p:blipFill>
          <a:blip r:embed="rId4" cstate="print"/>
          <a:stretch>
            <a:fillRect/>
          </a:stretch>
        </p:blipFill>
        <p:spPr>
          <a:xfrm>
            <a:off x="739775" y="716774"/>
            <a:ext cx="3103107" cy="1067147"/>
          </a:xfrm>
          <a:prstGeom prst="rect">
            <a:avLst/>
          </a:prstGeom>
        </p:spPr>
      </p:pic>
      <p:sp>
        <p:nvSpPr>
          <p:cNvPr id="7" name="object 7"/>
          <p:cNvSpPr txBox="1"/>
          <p:nvPr/>
        </p:nvSpPr>
        <p:spPr>
          <a:xfrm>
            <a:off x="321894" y="1901538"/>
            <a:ext cx="3779520" cy="975994"/>
          </a:xfrm>
          <a:prstGeom prst="rect">
            <a:avLst/>
          </a:prstGeom>
        </p:spPr>
        <p:txBody>
          <a:bodyPr vert="horz" wrap="square" lIns="0" tIns="12065" rIns="0" bIns="0" rtlCol="0">
            <a:spAutoFit/>
          </a:bodyPr>
          <a:lstStyle/>
          <a:p>
            <a:pPr marL="38100">
              <a:lnSpc>
                <a:spcPct val="100000"/>
              </a:lnSpc>
              <a:spcBef>
                <a:spcPts val="95"/>
              </a:spcBef>
            </a:pPr>
            <a:r>
              <a:rPr sz="1000" dirty="0">
                <a:solidFill>
                  <a:srgbClr val="3333B2"/>
                </a:solidFill>
                <a:latin typeface="Arial"/>
                <a:cs typeface="Arial"/>
              </a:rPr>
              <a:t>...mạng sống</a:t>
            </a:r>
            <a:r>
              <a:rPr sz="1000" spc="-35" dirty="0">
                <a:solidFill>
                  <a:srgbClr val="3333B2"/>
                </a:solidFill>
                <a:latin typeface="Arial"/>
                <a:cs typeface="Arial"/>
              </a:rPr>
              <a:t> </a:t>
            </a:r>
            <a:r>
              <a:rPr sz="1000" dirty="0">
                <a:solidFill>
                  <a:srgbClr val="3333B2"/>
                </a:solidFill>
                <a:latin typeface="Arial"/>
                <a:cs typeface="Arial"/>
              </a:rPr>
              <a:t>đã trở thành</a:t>
            </a:r>
            <a:r>
              <a:rPr sz="1000" spc="-30" dirty="0">
                <a:solidFill>
                  <a:srgbClr val="3333B2"/>
                </a:solidFill>
                <a:latin typeface="Arial"/>
                <a:cs typeface="Arial"/>
              </a:rPr>
              <a:t> </a:t>
            </a:r>
            <a:r>
              <a:rPr sz="1000" dirty="0">
                <a:solidFill>
                  <a:srgbClr val="3333B2"/>
                </a:solidFill>
                <a:latin typeface="Arial"/>
                <a:cs typeface="Arial"/>
              </a:rPr>
              <a:t>Một</a:t>
            </a:r>
            <a:r>
              <a:rPr sz="1000" spc="-30" dirty="0">
                <a:solidFill>
                  <a:srgbClr val="3333B2"/>
                </a:solidFill>
                <a:latin typeface="Arial"/>
                <a:cs typeface="Arial"/>
              </a:rPr>
              <a:t> </a:t>
            </a:r>
            <a:r>
              <a:rPr sz="1000" dirty="0">
                <a:solidFill>
                  <a:srgbClr val="3333B2"/>
                </a:solidFill>
                <a:latin typeface="Arial"/>
                <a:cs typeface="Arial"/>
              </a:rPr>
              <a:t>chút</a:t>
            </a:r>
            <a:r>
              <a:rPr sz="1000" spc="-30" dirty="0">
                <a:solidFill>
                  <a:srgbClr val="3333B2"/>
                </a:solidFill>
                <a:latin typeface="Arial"/>
                <a:cs typeface="Arial"/>
              </a:rPr>
              <a:t> </a:t>
            </a:r>
            <a:r>
              <a:rPr sz="1000" dirty="0">
                <a:solidFill>
                  <a:srgbClr val="3333B2"/>
                </a:solidFill>
                <a:latin typeface="Arial"/>
                <a:cs typeface="Arial"/>
              </a:rPr>
              <a:t>hơn</a:t>
            </a:r>
            <a:r>
              <a:rPr sz="1000" spc="-30" dirty="0">
                <a:solidFill>
                  <a:srgbClr val="3333B2"/>
                </a:solidFill>
                <a:latin typeface="Arial"/>
                <a:cs typeface="Arial"/>
              </a:rPr>
              <a:t> </a:t>
            </a:r>
            <a:r>
              <a:rPr sz="1000" spc="-10" dirty="0">
                <a:solidFill>
                  <a:srgbClr val="3333B2"/>
                </a:solidFill>
                <a:latin typeface="Arial"/>
                <a:cs typeface="Arial"/>
              </a:rPr>
              <a:t>phức tap:</a:t>
            </a:r>
            <a:endParaRPr sz="1000">
              <a:latin typeface="Arial"/>
              <a:cs typeface="Arial"/>
            </a:endParaRPr>
          </a:p>
          <a:p>
            <a:pPr marL="287020" indent="-116839">
              <a:lnSpc>
                <a:spcPct val="100000"/>
              </a:lnSpc>
              <a:spcBef>
                <a:spcPts val="695"/>
              </a:spcBef>
              <a:buClr>
                <a:srgbClr val="3333B2"/>
              </a:buClr>
              <a:buFont typeface="Apple Symbols"/>
              <a:buChar char="•"/>
              <a:tabLst>
                <a:tab pos="287655" algn="l"/>
              </a:tabLst>
            </a:pPr>
            <a:r>
              <a:rPr sz="900" dirty="0">
                <a:latin typeface="Arial"/>
                <a:cs typeface="Arial"/>
              </a:rPr>
              <a:t>MỘT</a:t>
            </a:r>
            <a:r>
              <a:rPr sz="900" spc="-30" dirty="0">
                <a:latin typeface="Arial"/>
                <a:cs typeface="Arial"/>
              </a:rPr>
              <a:t> </a:t>
            </a:r>
            <a:r>
              <a:rPr sz="900" dirty="0">
                <a:latin typeface="Arial"/>
                <a:cs typeface="Arial"/>
              </a:rPr>
              <a:t>trang web</a:t>
            </a:r>
            <a:r>
              <a:rPr sz="900" spc="-30" dirty="0">
                <a:latin typeface="Arial"/>
                <a:cs typeface="Arial"/>
              </a:rPr>
              <a:t> </a:t>
            </a:r>
            <a:r>
              <a:rPr sz="900" dirty="0">
                <a:latin typeface="Arial"/>
                <a:cs typeface="Arial"/>
              </a:rPr>
              <a:t>đã từng là</a:t>
            </a:r>
            <a:r>
              <a:rPr sz="900" spc="-30" dirty="0">
                <a:latin typeface="Arial"/>
                <a:cs typeface="Arial"/>
              </a:rPr>
              <a:t> </a:t>
            </a:r>
            <a:r>
              <a:rPr sz="900" dirty="0">
                <a:latin typeface="Arial"/>
                <a:cs typeface="Arial"/>
              </a:rPr>
              <a:t>được xây dựng</a:t>
            </a:r>
            <a:r>
              <a:rPr sz="900" spc="-35" dirty="0">
                <a:latin typeface="Arial"/>
                <a:cs typeface="Arial"/>
              </a:rPr>
              <a:t> </a:t>
            </a:r>
            <a:r>
              <a:rPr sz="900" dirty="0">
                <a:latin typeface="Arial"/>
                <a:cs typeface="Arial"/>
              </a:rPr>
              <a:t>xung quanh</a:t>
            </a:r>
            <a:r>
              <a:rPr sz="900" spc="-30" dirty="0">
                <a:latin typeface="Arial"/>
                <a:cs typeface="Arial"/>
              </a:rPr>
              <a:t> </a:t>
            </a:r>
            <a:r>
              <a:rPr sz="900" dirty="0">
                <a:latin typeface="Arial"/>
                <a:cs typeface="Arial"/>
              </a:rPr>
              <a:t>Một</a:t>
            </a:r>
            <a:r>
              <a:rPr sz="900" spc="-30" dirty="0">
                <a:latin typeface="Arial"/>
                <a:cs typeface="Arial"/>
              </a:rPr>
              <a:t> </a:t>
            </a:r>
            <a:r>
              <a:rPr sz="900" dirty="0">
                <a:latin typeface="Arial"/>
                <a:cs typeface="Arial"/>
              </a:rPr>
              <a:t>cơ sở dữ liệu</a:t>
            </a:r>
            <a:r>
              <a:rPr sz="900" spc="-30" dirty="0">
                <a:latin typeface="Arial"/>
                <a:cs typeface="Arial"/>
              </a:rPr>
              <a:t> </a:t>
            </a:r>
            <a:r>
              <a:rPr sz="900" dirty="0">
                <a:latin typeface="Arial"/>
                <a:cs typeface="Arial"/>
              </a:rPr>
              <a:t>với</a:t>
            </a:r>
            <a:r>
              <a:rPr sz="900" spc="-30" dirty="0">
                <a:latin typeface="Arial"/>
                <a:cs typeface="Arial"/>
              </a:rPr>
              <a:t> </a:t>
            </a:r>
            <a:r>
              <a:rPr sz="900" spc="-10" dirty="0">
                <a:latin typeface="Arial"/>
                <a:cs typeface="Arial"/>
              </a:rPr>
              <a:t>nội dung</a:t>
            </a:r>
            <a:endParaRPr sz="900">
              <a:latin typeface="Arial"/>
              <a:cs typeface="Arial"/>
            </a:endParaRPr>
          </a:p>
          <a:p>
            <a:pPr marL="287020" indent="-116839">
              <a:lnSpc>
                <a:spcPct val="100000"/>
              </a:lnSpc>
              <a:spcBef>
                <a:spcPts val="425"/>
              </a:spcBef>
              <a:buClr>
                <a:srgbClr val="3333B2"/>
              </a:buClr>
              <a:buFont typeface="Apple Symbols"/>
              <a:buChar char="•"/>
              <a:tabLst>
                <a:tab pos="287655" algn="l"/>
              </a:tabLst>
            </a:pPr>
            <a:r>
              <a:rPr sz="900" dirty="0">
                <a:latin typeface="Arial"/>
                <a:cs typeface="Arial"/>
              </a:rPr>
              <a:t>MỘT</a:t>
            </a:r>
            <a:r>
              <a:rPr sz="900" spc="-15" dirty="0">
                <a:latin typeface="Arial"/>
                <a:cs typeface="Arial"/>
              </a:rPr>
              <a:t> </a:t>
            </a:r>
            <a:r>
              <a:rPr sz="900" spc="-10" dirty="0">
                <a:latin typeface="Arial"/>
                <a:cs typeface="Arial"/>
              </a:rPr>
              <a:t>Trang web</a:t>
            </a:r>
            <a:r>
              <a:rPr sz="900" spc="-15" dirty="0">
                <a:latin typeface="Arial"/>
                <a:cs typeface="Arial"/>
              </a:rPr>
              <a:t> </a:t>
            </a:r>
            <a:r>
              <a:rPr sz="900" dirty="0">
                <a:latin typeface="Arial"/>
                <a:cs typeface="Arial"/>
              </a:rPr>
              <a:t>có thể</a:t>
            </a:r>
            <a:r>
              <a:rPr sz="900" spc="-10" dirty="0">
                <a:latin typeface="Arial"/>
                <a:cs typeface="Arial"/>
              </a:rPr>
              <a:t> </a:t>
            </a:r>
            <a:r>
              <a:rPr sz="900" dirty="0">
                <a:latin typeface="Arial"/>
                <a:cs typeface="Arial"/>
              </a:rPr>
              <a:t>vẫn</a:t>
            </a:r>
            <a:r>
              <a:rPr sz="900" spc="-15" dirty="0">
                <a:latin typeface="Arial"/>
                <a:cs typeface="Arial"/>
              </a:rPr>
              <a:t> </a:t>
            </a:r>
            <a:r>
              <a:rPr sz="900" dirty="0">
                <a:latin typeface="Arial"/>
                <a:cs typeface="Arial"/>
              </a:rPr>
              <a:t>là</a:t>
            </a:r>
            <a:r>
              <a:rPr sz="900" spc="-15" dirty="0">
                <a:latin typeface="Arial"/>
                <a:cs typeface="Arial"/>
              </a:rPr>
              <a:t> </a:t>
            </a:r>
            <a:r>
              <a:rPr sz="900" spc="-10" dirty="0">
                <a:latin typeface="Arial"/>
                <a:cs typeface="Arial"/>
              </a:rPr>
              <a:t>ám chỉ </a:t>
            </a:r>
            <a:r>
              <a:rPr sz="900" dirty="0">
                <a:latin typeface="Arial"/>
                <a:cs typeface="Arial"/>
              </a:rPr>
              <a:t>đến</a:t>
            </a:r>
            <a:r>
              <a:rPr sz="900" spc="-15" dirty="0">
                <a:latin typeface="Arial"/>
                <a:cs typeface="Arial"/>
              </a:rPr>
              <a:t> </a:t>
            </a:r>
            <a:r>
              <a:rPr sz="900" dirty="0">
                <a:latin typeface="Arial"/>
                <a:cs typeface="Arial"/>
              </a:rPr>
              <a:t>qua</a:t>
            </a:r>
            <a:r>
              <a:rPr sz="900" spc="-10" dirty="0">
                <a:latin typeface="Arial"/>
                <a:cs typeface="Arial"/>
              </a:rPr>
              <a:t> </a:t>
            </a:r>
            <a:r>
              <a:rPr sz="900" dirty="0">
                <a:latin typeface="Arial"/>
                <a:cs typeface="Arial"/>
              </a:rPr>
              <a:t>Một</a:t>
            </a:r>
            <a:r>
              <a:rPr sz="900" spc="-15" dirty="0">
                <a:latin typeface="Arial"/>
                <a:cs typeface="Arial"/>
              </a:rPr>
              <a:t> </a:t>
            </a:r>
            <a:r>
              <a:rPr sz="900" spc="-10" dirty="0">
                <a:solidFill>
                  <a:srgbClr val="3333B2"/>
                </a:solidFill>
                <a:latin typeface="Arial"/>
                <a:cs typeface="Arial"/>
              </a:rPr>
              <a:t>siêu liên kết</a:t>
            </a:r>
            <a:endParaRPr sz="900">
              <a:latin typeface="Arial"/>
              <a:cs typeface="Arial"/>
            </a:endParaRPr>
          </a:p>
          <a:p>
            <a:pPr marL="287020" indent="-116839">
              <a:lnSpc>
                <a:spcPct val="100000"/>
              </a:lnSpc>
              <a:spcBef>
                <a:spcPts val="425"/>
              </a:spcBef>
              <a:buClr>
                <a:srgbClr val="3333B2"/>
              </a:buClr>
              <a:buFont typeface="Apple Symbols"/>
              <a:buChar char="•"/>
              <a:tabLst>
                <a:tab pos="287655" algn="l"/>
              </a:tabLst>
            </a:pPr>
            <a:r>
              <a:rPr sz="900" dirty="0">
                <a:latin typeface="Arial"/>
                <a:cs typeface="Arial"/>
              </a:rPr>
              <a:t>MỘT</a:t>
            </a:r>
            <a:r>
              <a:rPr sz="900" spc="-35" dirty="0">
                <a:latin typeface="Arial"/>
                <a:cs typeface="Arial"/>
              </a:rPr>
              <a:t> </a:t>
            </a:r>
            <a:r>
              <a:rPr sz="900" dirty="0">
                <a:latin typeface="Arial"/>
                <a:cs typeface="Arial"/>
              </a:rPr>
              <a:t>Trang web</a:t>
            </a:r>
            <a:r>
              <a:rPr sz="900" spc="-30" dirty="0">
                <a:latin typeface="Arial"/>
                <a:cs typeface="Arial"/>
              </a:rPr>
              <a:t> </a:t>
            </a:r>
            <a:r>
              <a:rPr sz="900" dirty="0">
                <a:latin typeface="Arial"/>
                <a:cs typeface="Arial"/>
              </a:rPr>
              <a:t>máy chủ</a:t>
            </a:r>
            <a:r>
              <a:rPr sz="900" spc="-30" dirty="0">
                <a:latin typeface="Arial"/>
                <a:cs typeface="Arial"/>
              </a:rPr>
              <a:t> </a:t>
            </a:r>
            <a:r>
              <a:rPr sz="900" dirty="0">
                <a:latin typeface="Arial"/>
                <a:cs typeface="Arial"/>
              </a:rPr>
              <a:t>Thiết yếu</a:t>
            </a:r>
            <a:r>
              <a:rPr sz="900" spc="-35" dirty="0">
                <a:latin typeface="Arial"/>
                <a:cs typeface="Arial"/>
              </a:rPr>
              <a:t> </a:t>
            </a:r>
            <a:r>
              <a:rPr sz="900" dirty="0">
                <a:latin typeface="Arial"/>
                <a:cs typeface="Arial"/>
              </a:rPr>
              <a:t>cần thiết</a:t>
            </a:r>
            <a:r>
              <a:rPr sz="900" spc="-30" dirty="0">
                <a:latin typeface="Arial"/>
                <a:cs typeface="Arial"/>
              </a:rPr>
              <a:t> </a:t>
            </a:r>
            <a:r>
              <a:rPr sz="900" dirty="0">
                <a:latin typeface="Arial"/>
                <a:cs typeface="Arial"/>
              </a:rPr>
              <a:t>chỉ một</a:t>
            </a:r>
            <a:r>
              <a:rPr sz="900" spc="-30" dirty="0">
                <a:latin typeface="Arial"/>
                <a:cs typeface="Arial"/>
              </a:rPr>
              <a:t> </a:t>
            </a:r>
            <a:r>
              <a:rPr sz="900" dirty="0">
                <a:latin typeface="Arial"/>
                <a:cs typeface="Arial"/>
              </a:rPr>
              <a:t>Một</a:t>
            </a:r>
            <a:r>
              <a:rPr sz="900" spc="-35" dirty="0">
                <a:latin typeface="Arial"/>
                <a:cs typeface="Arial"/>
              </a:rPr>
              <a:t> </a:t>
            </a:r>
            <a:r>
              <a:rPr sz="900" dirty="0">
                <a:latin typeface="Arial"/>
                <a:cs typeface="Arial"/>
              </a:rPr>
              <a:t>siêu liên kết</a:t>
            </a:r>
            <a:r>
              <a:rPr sz="900" spc="-30" dirty="0">
                <a:latin typeface="Arial"/>
                <a:cs typeface="Arial"/>
              </a:rPr>
              <a:t> </a:t>
            </a:r>
            <a:r>
              <a:rPr sz="900" dirty="0">
                <a:latin typeface="Arial"/>
                <a:cs typeface="Arial"/>
              </a:rPr>
              <a:t>ĐẾN</a:t>
            </a:r>
            <a:r>
              <a:rPr sz="900" spc="-30" dirty="0">
                <a:latin typeface="Arial"/>
                <a:cs typeface="Arial"/>
              </a:rPr>
              <a:t> </a:t>
            </a:r>
            <a:r>
              <a:rPr sz="900" dirty="0">
                <a:latin typeface="Arial"/>
                <a:cs typeface="Arial"/>
              </a:rPr>
              <a:t>tìm về</a:t>
            </a:r>
            <a:r>
              <a:rPr sz="900" spc="-30" dirty="0">
                <a:latin typeface="Arial"/>
                <a:cs typeface="Arial"/>
              </a:rPr>
              <a:t> </a:t>
            </a:r>
            <a:r>
              <a:rPr sz="900" dirty="0">
                <a:latin typeface="Arial"/>
                <a:cs typeface="Arial"/>
              </a:rPr>
              <a:t>Một</a:t>
            </a:r>
            <a:r>
              <a:rPr sz="900" spc="-35" dirty="0">
                <a:latin typeface="Arial"/>
                <a:cs typeface="Arial"/>
              </a:rPr>
              <a:t> </a:t>
            </a:r>
            <a:r>
              <a:rPr sz="900" spc="-20" dirty="0">
                <a:latin typeface="Arial"/>
                <a:cs typeface="Arial"/>
              </a:rPr>
              <a:t>tài liệu</a:t>
            </a:r>
            <a:endParaRPr sz="900">
              <a:latin typeface="Arial"/>
              <a:cs typeface="Arial"/>
            </a:endParaRPr>
          </a:p>
          <a:p>
            <a:pPr marL="287020" indent="-116839">
              <a:lnSpc>
                <a:spcPct val="100000"/>
              </a:lnSpc>
              <a:spcBef>
                <a:spcPts val="420"/>
              </a:spcBef>
              <a:buClr>
                <a:srgbClr val="3333B2"/>
              </a:buClr>
              <a:buFont typeface="Apple Symbols"/>
              <a:buChar char="•"/>
              <a:tabLst>
                <a:tab pos="287655" algn="l"/>
              </a:tabLst>
            </a:pPr>
            <a:r>
              <a:rPr sz="900" dirty="0">
                <a:latin typeface="Arial"/>
                <a:cs typeface="Arial"/>
              </a:rPr>
              <a:t>MỘT</a:t>
            </a:r>
            <a:r>
              <a:rPr sz="900" spc="-30" dirty="0">
                <a:latin typeface="Arial"/>
                <a:cs typeface="Arial"/>
              </a:rPr>
              <a:t> </a:t>
            </a:r>
            <a:r>
              <a:rPr sz="900" dirty="0">
                <a:latin typeface="Arial"/>
                <a:cs typeface="Arial"/>
              </a:rPr>
              <a:t>chia</a:t>
            </a:r>
            <a:r>
              <a:rPr sz="900" spc="-30" dirty="0">
                <a:latin typeface="Arial"/>
                <a:cs typeface="Arial"/>
              </a:rPr>
              <a:t> </a:t>
            </a:r>
            <a:r>
              <a:rPr sz="900" dirty="0">
                <a:latin typeface="Arial"/>
                <a:cs typeface="Arial"/>
              </a:rPr>
              <a:t>chương trình</a:t>
            </a:r>
            <a:r>
              <a:rPr sz="900" spc="-30" dirty="0">
                <a:latin typeface="Arial"/>
                <a:cs typeface="Arial"/>
              </a:rPr>
              <a:t> </a:t>
            </a:r>
            <a:r>
              <a:rPr sz="900" dirty="0">
                <a:latin typeface="Arial"/>
                <a:cs typeface="Arial"/>
              </a:rPr>
              <a:t>( </a:t>
            </a:r>
            <a:r>
              <a:rPr sz="900" dirty="0">
                <a:solidFill>
                  <a:srgbClr val="C80000"/>
                </a:solidFill>
                <a:latin typeface="Arial"/>
                <a:cs typeface="Arial"/>
              </a:rPr>
              <a:t>Chung</a:t>
            </a:r>
            <a:r>
              <a:rPr sz="900" spc="-25" dirty="0">
                <a:solidFill>
                  <a:srgbClr val="C80000"/>
                </a:solidFill>
                <a:latin typeface="Arial"/>
                <a:cs typeface="Arial"/>
              </a:rPr>
              <a:t> </a:t>
            </a:r>
            <a:r>
              <a:rPr sz="900" spc="-10" dirty="0">
                <a:solidFill>
                  <a:srgbClr val="C80000"/>
                </a:solidFill>
                <a:latin typeface="Arial"/>
                <a:cs typeface="Arial"/>
              </a:rPr>
              <a:t>Cổng vào</a:t>
            </a:r>
            <a:r>
              <a:rPr sz="900" spc="-30" dirty="0">
                <a:solidFill>
                  <a:srgbClr val="C80000"/>
                </a:solidFill>
                <a:latin typeface="Arial"/>
                <a:cs typeface="Arial"/>
              </a:rPr>
              <a:t> </a:t>
            </a:r>
            <a:r>
              <a:rPr sz="900" spc="-10" dirty="0">
                <a:solidFill>
                  <a:srgbClr val="C80000"/>
                </a:solidFill>
                <a:latin typeface="Arial"/>
                <a:cs typeface="Arial"/>
              </a:rPr>
              <a:t>Giao diện </a:t>
            </a:r>
            <a:r>
              <a:rPr sz="900" spc="-10" dirty="0">
                <a:latin typeface="Arial"/>
                <a:cs typeface="Arial"/>
              </a:rPr>
              <a:t>)</a:t>
            </a:r>
            <a:r>
              <a:rPr sz="900" spc="-30" dirty="0">
                <a:latin typeface="Arial"/>
                <a:cs typeface="Arial"/>
              </a:rPr>
              <a:t> </a:t>
            </a:r>
            <a:r>
              <a:rPr sz="900" dirty="0">
                <a:solidFill>
                  <a:srgbClr val="3333B2"/>
                </a:solidFill>
                <a:latin typeface="Arial"/>
                <a:cs typeface="Arial"/>
              </a:rPr>
              <a:t>sáng tác</a:t>
            </a:r>
            <a:r>
              <a:rPr sz="900" spc="-30" dirty="0">
                <a:solidFill>
                  <a:srgbClr val="3333B2"/>
                </a:solidFill>
                <a:latin typeface="Arial"/>
                <a:cs typeface="Arial"/>
              </a:rPr>
              <a:t> </a:t>
            </a:r>
            <a:r>
              <a:rPr sz="900" dirty="0">
                <a:latin typeface="Arial"/>
                <a:cs typeface="Arial"/>
              </a:rPr>
              <a:t>Một</a:t>
            </a:r>
            <a:r>
              <a:rPr sz="900" spc="-25" dirty="0">
                <a:latin typeface="Arial"/>
                <a:cs typeface="Arial"/>
              </a:rPr>
              <a:t> </a:t>
            </a:r>
            <a:r>
              <a:rPr sz="900" spc="-20" dirty="0">
                <a:latin typeface="Arial"/>
                <a:cs typeface="Arial"/>
              </a:rPr>
              <a:t>trang</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480148" y="2928127"/>
            <a:ext cx="82550" cy="139700"/>
          </a:xfrm>
          <a:prstGeom prst="rect">
            <a:avLst/>
          </a:prstGeom>
        </p:spPr>
        <p:txBody>
          <a:bodyPr vert="horz" wrap="square" lIns="0" tIns="0" rIns="0" bIns="0" rtlCol="0">
            <a:spAutoFit/>
          </a:bodyPr>
          <a:lstStyle/>
          <a:p>
            <a:pPr marL="12700">
              <a:lnSpc>
                <a:spcPts val="950"/>
              </a:lnSpc>
            </a:pPr>
            <a:r>
              <a:rPr sz="900" spc="105" dirty="0">
                <a:solidFill>
                  <a:srgbClr val="3333B2"/>
                </a:solidFill>
                <a:latin typeface="Apple Symbols"/>
                <a:cs typeface="Apple Symbols"/>
              </a:rPr>
              <a:t>•</a:t>
            </a:r>
            <a:endParaRPr sz="900">
              <a:latin typeface="Apple Symbols"/>
              <a:cs typeface="Apple Symbols"/>
            </a:endParaRPr>
          </a:p>
        </p:txBody>
      </p:sp>
      <p:sp>
        <p:nvSpPr>
          <p:cNvPr id="12" name="object 12"/>
          <p:cNvSpPr txBox="1"/>
          <p:nvPr/>
        </p:nvSpPr>
        <p:spPr>
          <a:xfrm>
            <a:off x="596595" y="2920822"/>
            <a:ext cx="3115945" cy="166370"/>
          </a:xfrm>
          <a:prstGeom prst="rect">
            <a:avLst/>
          </a:prstGeom>
        </p:spPr>
        <p:txBody>
          <a:bodyPr vert="horz" wrap="square" lIns="0" tIns="6985" rIns="0" bIns="0" rtlCol="0">
            <a:spAutoFit/>
          </a:bodyPr>
          <a:lstStyle/>
          <a:p>
            <a:pPr marL="12700">
              <a:lnSpc>
                <a:spcPct val="100000"/>
              </a:lnSpc>
              <a:spcBef>
                <a:spcPts val="55"/>
              </a:spcBef>
            </a:pPr>
            <a:r>
              <a:rPr sz="900" dirty="0">
                <a:latin typeface="Arial"/>
                <a:cs typeface="Arial"/>
              </a:rPr>
              <a:t>MỘT</a:t>
            </a:r>
            <a:r>
              <a:rPr sz="900" spc="-25" dirty="0">
                <a:latin typeface="Arial"/>
                <a:cs typeface="Arial"/>
              </a:rPr>
              <a:t> </a:t>
            </a:r>
            <a:r>
              <a:rPr sz="900" dirty="0">
                <a:latin typeface="Arial"/>
                <a:cs typeface="Arial"/>
              </a:rPr>
              <a:t>trình duyệt</a:t>
            </a:r>
            <a:r>
              <a:rPr sz="900" spc="-25" dirty="0">
                <a:latin typeface="Arial"/>
                <a:cs typeface="Arial"/>
              </a:rPr>
              <a:t> </a:t>
            </a:r>
            <a:r>
              <a:rPr sz="900" dirty="0">
                <a:latin typeface="Arial"/>
                <a:cs typeface="Arial"/>
              </a:rPr>
              <a:t>lấy đi</a:t>
            </a:r>
            <a:r>
              <a:rPr sz="900" spc="-20" dirty="0">
                <a:latin typeface="Arial"/>
                <a:cs typeface="Arial"/>
              </a:rPr>
              <a:t> </a:t>
            </a:r>
            <a:r>
              <a:rPr sz="900" dirty="0">
                <a:latin typeface="Arial"/>
                <a:cs typeface="Arial"/>
              </a:rPr>
              <a:t>chăm sóc</a:t>
            </a:r>
            <a:r>
              <a:rPr sz="900" spc="-25" dirty="0">
                <a:latin typeface="Arial"/>
                <a:cs typeface="Arial"/>
              </a:rPr>
              <a:t> </a:t>
            </a:r>
            <a:r>
              <a:rPr sz="900" dirty="0">
                <a:latin typeface="Arial"/>
                <a:cs typeface="Arial"/>
              </a:rPr>
              <a:t>của</a:t>
            </a:r>
            <a:r>
              <a:rPr sz="900" spc="-25" dirty="0">
                <a:latin typeface="Arial"/>
                <a:cs typeface="Arial"/>
              </a:rPr>
              <a:t> </a:t>
            </a:r>
            <a:r>
              <a:rPr sz="900" dirty="0">
                <a:latin typeface="Arial"/>
                <a:cs typeface="Arial"/>
              </a:rPr>
              <a:t>đúng cách</a:t>
            </a:r>
            <a:r>
              <a:rPr sz="900" spc="-20" dirty="0">
                <a:latin typeface="Arial"/>
                <a:cs typeface="Arial"/>
              </a:rPr>
              <a:t> </a:t>
            </a:r>
            <a:r>
              <a:rPr sz="900" dirty="0">
                <a:latin typeface="Arial"/>
                <a:cs typeface="Arial"/>
              </a:rPr>
              <a:t>kết xuất</a:t>
            </a:r>
            <a:r>
              <a:rPr sz="900" spc="-25" dirty="0">
                <a:latin typeface="Arial"/>
                <a:cs typeface="Arial"/>
              </a:rPr>
              <a:t> </a:t>
            </a:r>
            <a:r>
              <a:rPr sz="900" dirty="0">
                <a:latin typeface="Arial"/>
                <a:cs typeface="Arial"/>
              </a:rPr>
              <a:t>cái</a:t>
            </a:r>
            <a:r>
              <a:rPr sz="900" spc="-25" dirty="0">
                <a:latin typeface="Arial"/>
                <a:cs typeface="Arial"/>
              </a:rPr>
              <a:t> </a:t>
            </a:r>
            <a:r>
              <a:rPr sz="900" dirty="0">
                <a:latin typeface="Arial"/>
                <a:cs typeface="Arial"/>
              </a:rPr>
              <a:t>nội dung</a:t>
            </a:r>
            <a:r>
              <a:rPr sz="900" spc="-20" dirty="0">
                <a:latin typeface="Arial"/>
                <a:cs typeface="Arial"/>
              </a:rPr>
              <a:t> </a:t>
            </a:r>
            <a:r>
              <a:rPr sz="900" dirty="0">
                <a:latin typeface="Arial"/>
                <a:cs typeface="Arial"/>
              </a:rPr>
              <a:t>của</a:t>
            </a:r>
            <a:r>
              <a:rPr sz="900" spc="-25" dirty="0">
                <a:latin typeface="Arial"/>
                <a:cs typeface="Arial"/>
              </a:rPr>
              <a:t> </a:t>
            </a:r>
            <a:r>
              <a:rPr sz="900" dirty="0">
                <a:latin typeface="Arial"/>
                <a:cs typeface="Arial"/>
              </a:rPr>
              <a:t>Một</a:t>
            </a:r>
            <a:r>
              <a:rPr sz="900" spc="-25" dirty="0">
                <a:latin typeface="Arial"/>
                <a:cs typeface="Arial"/>
              </a:rPr>
              <a:t> </a:t>
            </a:r>
            <a:r>
              <a:rPr sz="900" spc="-20" dirty="0">
                <a:latin typeface="Arial"/>
                <a:cs typeface="Arial"/>
              </a:rPr>
              <a:t>tài liệu</a:t>
            </a:r>
            <a:endParaRPr sz="900">
              <a:latin typeface="Arial"/>
              <a:cs typeface="Arial"/>
            </a:endParaRPr>
          </a:p>
        </p:txBody>
      </p:sp>
      <p:sp>
        <p:nvSpPr>
          <p:cNvPr id="13" name="object 13"/>
          <p:cNvSpPr txBox="1"/>
          <p:nvPr/>
        </p:nvSpPr>
        <p:spPr>
          <a:xfrm>
            <a:off x="53467" y="3349927"/>
            <a:ext cx="56578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Ví dụ:</a:t>
            </a:r>
            <a:r>
              <a:rPr sz="500" spc="10" dirty="0">
                <a:latin typeface="Arial"/>
                <a:cs typeface="Arial"/>
                <a:hlinkClick r:id="rId5" action="ppaction://hlinksldjump"/>
              </a:rPr>
              <a:t> </a:t>
            </a:r>
            <a:r>
              <a:rPr sz="500" dirty="0">
                <a:latin typeface="Arial"/>
                <a:cs typeface="Arial"/>
                <a:hlinkClick r:id="rId5" action="ppaction://hlinksldjump"/>
              </a:rPr>
              <a:t>Các</a:t>
            </a:r>
            <a:r>
              <a:rPr sz="500" spc="-15" dirty="0">
                <a:latin typeface="Arial"/>
                <a:cs typeface="Arial"/>
                <a:hlinkClick r:id="rId5" action="ppaction://hlinksldjump"/>
              </a:rPr>
              <a:t> </a:t>
            </a:r>
            <a:r>
              <a:rPr sz="500" spc="-25" dirty="0">
                <a:latin typeface="Arial"/>
                <a:cs typeface="Arial"/>
                <a:hlinkClick r:id="rId5" action="ppaction://hlinksldjump"/>
              </a:rPr>
              <a:t>Trang web</a:t>
            </a:r>
            <a:endParaRPr sz="500">
              <a:latin typeface="Arial"/>
              <a:cs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Đối xứng</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phân phối</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Thay thế</a:t>
            </a:r>
            <a:r>
              <a:rPr spc="-70" dirty="0"/>
              <a:t> </a:t>
            </a:r>
            <a:r>
              <a:rPr spc="-10" dirty="0"/>
              <a:t>các tổ chức</a:t>
            </a:r>
          </a:p>
        </p:txBody>
      </p:sp>
      <p:sp>
        <p:nvSpPr>
          <p:cNvPr id="4" name="object 4"/>
          <p:cNvSpPr txBox="1"/>
          <p:nvPr/>
        </p:nvSpPr>
        <p:spPr>
          <a:xfrm>
            <a:off x="343128" y="499476"/>
            <a:ext cx="3919854" cy="1791970"/>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Thẳng đứng</a:t>
            </a:r>
            <a:r>
              <a:rPr sz="1000" spc="-5" dirty="0">
                <a:solidFill>
                  <a:srgbClr val="3333B2"/>
                </a:solidFill>
                <a:latin typeface="Arial"/>
                <a:cs typeface="Arial"/>
              </a:rPr>
              <a:t> </a:t>
            </a:r>
            <a:r>
              <a:rPr sz="1000" spc="-10" dirty="0">
                <a:solidFill>
                  <a:srgbClr val="3333B2"/>
                </a:solidFill>
                <a:latin typeface="Arial"/>
                <a:cs typeface="Arial"/>
              </a:rPr>
              <a:t>phân bổ</a:t>
            </a:r>
            <a:endParaRPr sz="1000">
              <a:latin typeface="Arial"/>
              <a:cs typeface="Arial"/>
            </a:endParaRPr>
          </a:p>
          <a:p>
            <a:pPr marL="16510" marR="225425">
              <a:lnSpc>
                <a:spcPts val="1210"/>
              </a:lnSpc>
              <a:spcBef>
                <a:spcPts val="35"/>
              </a:spcBef>
            </a:pPr>
            <a:r>
              <a:rPr sz="900" dirty="0">
                <a:latin typeface="Arial"/>
                <a:cs typeface="Arial"/>
              </a:rPr>
              <a:t>Đến</a:t>
            </a:r>
            <a:r>
              <a:rPr sz="900" spc="-35" dirty="0">
                <a:latin typeface="Arial"/>
                <a:cs typeface="Arial"/>
              </a:rPr>
              <a:t> </a:t>
            </a:r>
            <a:r>
              <a:rPr sz="900" dirty="0">
                <a:latin typeface="Arial"/>
                <a:cs typeface="Arial"/>
              </a:rPr>
              <a:t>từ</a:t>
            </a:r>
            <a:r>
              <a:rPr sz="900" spc="-35" dirty="0">
                <a:latin typeface="Arial"/>
                <a:cs typeface="Arial"/>
              </a:rPr>
              <a:t> </a:t>
            </a:r>
            <a:r>
              <a:rPr sz="900" dirty="0">
                <a:latin typeface="Arial"/>
                <a:cs typeface="Arial"/>
              </a:rPr>
              <a:t>chia</a:t>
            </a:r>
            <a:r>
              <a:rPr sz="900" spc="-35" dirty="0">
                <a:latin typeface="Arial"/>
                <a:cs typeface="Arial"/>
              </a:rPr>
              <a:t> </a:t>
            </a:r>
            <a:r>
              <a:rPr sz="900" dirty="0">
                <a:latin typeface="Arial"/>
                <a:cs typeface="Arial"/>
              </a:rPr>
              <a:t>phân phối</a:t>
            </a:r>
            <a:r>
              <a:rPr sz="900" spc="-30" dirty="0">
                <a:latin typeface="Arial"/>
                <a:cs typeface="Arial"/>
              </a:rPr>
              <a:t> </a:t>
            </a:r>
            <a:r>
              <a:rPr sz="900" dirty="0">
                <a:latin typeface="Arial"/>
                <a:cs typeface="Arial"/>
              </a:rPr>
              <a:t>ứng dụng</a:t>
            </a:r>
            <a:r>
              <a:rPr sz="900" spc="-35" dirty="0">
                <a:latin typeface="Arial"/>
                <a:cs typeface="Arial"/>
              </a:rPr>
              <a:t> </a:t>
            </a:r>
            <a:r>
              <a:rPr sz="900" dirty="0">
                <a:latin typeface="Arial"/>
                <a:cs typeface="Arial"/>
              </a:rPr>
              <a:t>vào trong</a:t>
            </a:r>
            <a:r>
              <a:rPr sz="900" spc="-35" dirty="0">
                <a:latin typeface="Arial"/>
                <a:cs typeface="Arial"/>
              </a:rPr>
              <a:t> </a:t>
            </a:r>
            <a:r>
              <a:rPr sz="900" dirty="0">
                <a:latin typeface="Arial"/>
                <a:cs typeface="Arial"/>
              </a:rPr>
              <a:t>ba</a:t>
            </a:r>
            <a:r>
              <a:rPr sz="900" spc="-35" dirty="0">
                <a:latin typeface="Arial"/>
                <a:cs typeface="Arial"/>
              </a:rPr>
              <a:t> </a:t>
            </a:r>
            <a:r>
              <a:rPr sz="900" dirty="0">
                <a:latin typeface="Arial"/>
                <a:cs typeface="Arial"/>
              </a:rPr>
              <a:t>hợp lý</a:t>
            </a:r>
            <a:r>
              <a:rPr sz="900" spc="-30" dirty="0">
                <a:latin typeface="Arial"/>
                <a:cs typeface="Arial"/>
              </a:rPr>
              <a:t> </a:t>
            </a:r>
            <a:r>
              <a:rPr sz="900" spc="-10" dirty="0">
                <a:latin typeface="Arial"/>
                <a:cs typeface="Arial"/>
              </a:rPr>
              <a:t>lớp,</a:t>
            </a:r>
            <a:r>
              <a:rPr sz="900" spc="-35" dirty="0">
                <a:latin typeface="Arial"/>
                <a:cs typeface="Arial"/>
              </a:rPr>
              <a:t> </a:t>
            </a:r>
            <a:r>
              <a:rPr sz="900" spc="-25" dirty="0">
                <a:latin typeface="Arial"/>
                <a:cs typeface="Arial"/>
              </a:rPr>
              <a:t>và </a:t>
            </a:r>
            <a:r>
              <a:rPr sz="900" dirty="0">
                <a:latin typeface="Arial"/>
                <a:cs typeface="Arial"/>
              </a:rPr>
              <a:t>chạy</a:t>
            </a:r>
            <a:r>
              <a:rPr sz="900" spc="-25" dirty="0">
                <a:latin typeface="Arial"/>
                <a:cs typeface="Arial"/>
              </a:rPr>
              <a:t> </a:t>
            </a:r>
            <a:r>
              <a:rPr sz="900" dirty="0">
                <a:latin typeface="Arial"/>
                <a:cs typeface="Arial"/>
              </a:rPr>
              <a:t>cái</a:t>
            </a:r>
            <a:r>
              <a:rPr sz="900" spc="-20" dirty="0">
                <a:latin typeface="Arial"/>
                <a:cs typeface="Arial"/>
              </a:rPr>
              <a:t> </a:t>
            </a:r>
            <a:r>
              <a:rPr sz="900" dirty="0">
                <a:latin typeface="Arial"/>
                <a:cs typeface="Arial"/>
              </a:rPr>
              <a:t>thành phần</a:t>
            </a:r>
            <a:r>
              <a:rPr sz="900" spc="-20" dirty="0">
                <a:latin typeface="Arial"/>
                <a:cs typeface="Arial"/>
              </a:rPr>
              <a:t> </a:t>
            </a:r>
            <a:r>
              <a:rPr sz="900" dirty="0">
                <a:latin typeface="Arial"/>
                <a:cs typeface="Arial"/>
              </a:rPr>
              <a:t>từ</a:t>
            </a:r>
            <a:r>
              <a:rPr sz="900" spc="-20" dirty="0">
                <a:latin typeface="Arial"/>
                <a:cs typeface="Arial"/>
              </a:rPr>
              <a:t> </a:t>
            </a:r>
            <a:r>
              <a:rPr sz="900" dirty="0">
                <a:latin typeface="Arial"/>
                <a:cs typeface="Arial"/>
              </a:rPr>
              <a:t>mỗi</a:t>
            </a:r>
            <a:r>
              <a:rPr sz="900" spc="-20" dirty="0">
                <a:latin typeface="Arial"/>
                <a:cs typeface="Arial"/>
              </a:rPr>
              <a:t> </a:t>
            </a:r>
            <a:r>
              <a:rPr sz="900" spc="-10" dirty="0">
                <a:latin typeface="Arial"/>
                <a:cs typeface="Arial"/>
              </a:rPr>
              <a:t>lớp</a:t>
            </a:r>
            <a:r>
              <a:rPr sz="900" spc="-20" dirty="0">
                <a:latin typeface="Arial"/>
                <a:cs typeface="Arial"/>
              </a:rPr>
              <a:t> </a:t>
            </a:r>
            <a:r>
              <a:rPr sz="900" dirty="0">
                <a:latin typeface="Arial"/>
                <a:cs typeface="Arial"/>
              </a:rPr>
              <a:t>TRÊN</a:t>
            </a:r>
            <a:r>
              <a:rPr sz="900" spc="-20" dirty="0">
                <a:latin typeface="Arial"/>
                <a:cs typeface="Arial"/>
              </a:rPr>
              <a:t> </a:t>
            </a:r>
            <a:r>
              <a:rPr sz="900" dirty="0">
                <a:latin typeface="Arial"/>
                <a:cs typeface="Arial"/>
              </a:rPr>
              <a:t>Một</a:t>
            </a:r>
            <a:r>
              <a:rPr sz="900" spc="-20" dirty="0">
                <a:latin typeface="Arial"/>
                <a:cs typeface="Arial"/>
              </a:rPr>
              <a:t> </a:t>
            </a:r>
            <a:r>
              <a:rPr sz="900" spc="-10" dirty="0">
                <a:latin typeface="Arial"/>
                <a:cs typeface="Arial"/>
              </a:rPr>
              <a:t>khác biệt</a:t>
            </a:r>
            <a:r>
              <a:rPr sz="900" spc="-20" dirty="0">
                <a:latin typeface="Arial"/>
                <a:cs typeface="Arial"/>
              </a:rPr>
              <a:t> </a:t>
            </a:r>
            <a:r>
              <a:rPr sz="900" dirty="0">
                <a:latin typeface="Arial"/>
                <a:cs typeface="Arial"/>
              </a:rPr>
              <a:t>máy chủ</a:t>
            </a:r>
            <a:r>
              <a:rPr sz="900" spc="-20" dirty="0">
                <a:latin typeface="Arial"/>
                <a:cs typeface="Arial"/>
              </a:rPr>
              <a:t> </a:t>
            </a:r>
            <a:r>
              <a:rPr sz="900" spc="-10" dirty="0">
                <a:latin typeface="Arial"/>
                <a:cs typeface="Arial"/>
              </a:rPr>
              <a:t>(máy móc).</a:t>
            </a:r>
            <a:endParaRPr sz="900">
              <a:latin typeface="Arial"/>
              <a:cs typeface="Arial"/>
            </a:endParaRPr>
          </a:p>
          <a:p>
            <a:pPr marL="16510">
              <a:lnSpc>
                <a:spcPct val="100000"/>
              </a:lnSpc>
              <a:spcBef>
                <a:spcPts val="750"/>
              </a:spcBef>
            </a:pPr>
            <a:r>
              <a:rPr sz="1000" dirty="0">
                <a:solidFill>
                  <a:srgbClr val="3333B2"/>
                </a:solidFill>
                <a:latin typeface="Arial"/>
                <a:cs typeface="Arial"/>
              </a:rPr>
              <a:t>Nằm ngang</a:t>
            </a:r>
            <a:r>
              <a:rPr sz="1000" spc="-65" dirty="0">
                <a:solidFill>
                  <a:srgbClr val="3333B2"/>
                </a:solidFill>
                <a:latin typeface="Arial"/>
                <a:cs typeface="Arial"/>
              </a:rPr>
              <a:t> </a:t>
            </a:r>
            <a:r>
              <a:rPr sz="1000" spc="-10" dirty="0">
                <a:solidFill>
                  <a:srgbClr val="3333B2"/>
                </a:solidFill>
                <a:latin typeface="Arial"/>
                <a:cs typeface="Arial"/>
              </a:rPr>
              <a:t>phân bổ</a:t>
            </a:r>
            <a:endParaRPr sz="1000">
              <a:latin typeface="Arial"/>
              <a:cs typeface="Arial"/>
            </a:endParaRPr>
          </a:p>
          <a:p>
            <a:pPr marL="16510" marR="22225" indent="-3810">
              <a:lnSpc>
                <a:spcPts val="1210"/>
              </a:lnSpc>
              <a:spcBef>
                <a:spcPts val="35"/>
              </a:spcBef>
            </a:pPr>
            <a:r>
              <a:rPr sz="900" dirty="0">
                <a:latin typeface="Arial"/>
                <a:cs typeface="Arial"/>
              </a:rPr>
              <a:t>MỘT</a:t>
            </a:r>
            <a:r>
              <a:rPr sz="900" spc="-15" dirty="0">
                <a:latin typeface="Arial"/>
                <a:cs typeface="Arial"/>
              </a:rPr>
              <a:t> </a:t>
            </a:r>
            <a:r>
              <a:rPr sz="900" dirty="0">
                <a:latin typeface="Arial"/>
                <a:cs typeface="Arial"/>
              </a:rPr>
              <a:t>khách hàng</a:t>
            </a:r>
            <a:r>
              <a:rPr sz="900" spc="-15" dirty="0">
                <a:latin typeface="Arial"/>
                <a:cs typeface="Arial"/>
              </a:rPr>
              <a:t> </a:t>
            </a:r>
            <a:r>
              <a:rPr sz="900" dirty="0">
                <a:latin typeface="Arial"/>
                <a:cs typeface="Arial"/>
              </a:rPr>
              <a:t>hoặc</a:t>
            </a:r>
            <a:r>
              <a:rPr sz="900" spc="-15" dirty="0">
                <a:latin typeface="Arial"/>
                <a:cs typeface="Arial"/>
              </a:rPr>
              <a:t> </a:t>
            </a:r>
            <a:r>
              <a:rPr sz="900" dirty="0">
                <a:latin typeface="Arial"/>
                <a:cs typeface="Arial"/>
              </a:rPr>
              <a:t>máy chủ</a:t>
            </a:r>
            <a:r>
              <a:rPr sz="900" spc="-15" dirty="0">
                <a:latin typeface="Arial"/>
                <a:cs typeface="Arial"/>
              </a:rPr>
              <a:t> </a:t>
            </a:r>
            <a:r>
              <a:rPr sz="900" dirty="0">
                <a:latin typeface="Arial"/>
                <a:cs typeface="Arial"/>
              </a:rPr>
              <a:t>có thể</a:t>
            </a:r>
            <a:r>
              <a:rPr sz="900" spc="-15" dirty="0">
                <a:latin typeface="Arial"/>
                <a:cs typeface="Arial"/>
              </a:rPr>
              <a:t> </a:t>
            </a:r>
            <a:r>
              <a:rPr sz="900" dirty="0">
                <a:latin typeface="Arial"/>
                <a:cs typeface="Arial"/>
              </a:rPr>
              <a:t>là</a:t>
            </a:r>
            <a:r>
              <a:rPr sz="900" spc="-15" dirty="0">
                <a:latin typeface="Arial"/>
                <a:cs typeface="Arial"/>
              </a:rPr>
              <a:t> </a:t>
            </a:r>
            <a:r>
              <a:rPr sz="900" spc="-10" dirty="0">
                <a:latin typeface="Arial"/>
                <a:cs typeface="Arial"/>
              </a:rPr>
              <a:t>về mặt vật lý</a:t>
            </a:r>
            <a:r>
              <a:rPr sz="900" spc="-15" dirty="0">
                <a:latin typeface="Arial"/>
                <a:cs typeface="Arial"/>
              </a:rPr>
              <a:t> </a:t>
            </a:r>
            <a:r>
              <a:rPr sz="900" dirty="0">
                <a:latin typeface="Arial"/>
                <a:cs typeface="Arial"/>
              </a:rPr>
              <a:t>tách ra</a:t>
            </a:r>
            <a:r>
              <a:rPr sz="900" spc="-15" dirty="0">
                <a:latin typeface="Arial"/>
                <a:cs typeface="Arial"/>
              </a:rPr>
              <a:t> </a:t>
            </a:r>
            <a:r>
              <a:rPr sz="900" dirty="0">
                <a:latin typeface="Arial"/>
                <a:cs typeface="Arial"/>
              </a:rPr>
              <a:t>hướng lên</a:t>
            </a:r>
            <a:r>
              <a:rPr sz="900" spc="-15" dirty="0">
                <a:latin typeface="Arial"/>
                <a:cs typeface="Arial"/>
              </a:rPr>
              <a:t> </a:t>
            </a:r>
            <a:r>
              <a:rPr sz="900" dirty="0">
                <a:latin typeface="Arial"/>
                <a:cs typeface="Arial"/>
              </a:rPr>
              <a:t>vào trong</a:t>
            </a:r>
            <a:r>
              <a:rPr sz="900" spc="-15" dirty="0">
                <a:latin typeface="Arial"/>
                <a:cs typeface="Arial"/>
              </a:rPr>
              <a:t> </a:t>
            </a:r>
            <a:r>
              <a:rPr sz="900" dirty="0">
                <a:latin typeface="Arial"/>
                <a:cs typeface="Arial"/>
              </a:rPr>
              <a:t>một cách hợp lý</a:t>
            </a:r>
            <a:r>
              <a:rPr sz="900" spc="-15" dirty="0">
                <a:latin typeface="Arial"/>
                <a:cs typeface="Arial"/>
              </a:rPr>
              <a:t> </a:t>
            </a:r>
            <a:r>
              <a:rPr sz="900" spc="-10" dirty="0">
                <a:latin typeface="Arial"/>
                <a:cs typeface="Arial"/>
              </a:rPr>
              <a:t>tương đương</a:t>
            </a:r>
            <a:r>
              <a:rPr sz="900" spc="-15" dirty="0">
                <a:latin typeface="Arial"/>
                <a:cs typeface="Arial"/>
              </a:rPr>
              <a:t> </a:t>
            </a:r>
            <a:r>
              <a:rPr sz="900" dirty="0">
                <a:latin typeface="Arial"/>
                <a:cs typeface="Arial"/>
              </a:rPr>
              <a:t>các bộ phận,</a:t>
            </a:r>
            <a:r>
              <a:rPr sz="900" spc="-15" dirty="0">
                <a:latin typeface="Arial"/>
                <a:cs typeface="Arial"/>
              </a:rPr>
              <a:t> </a:t>
            </a:r>
            <a:r>
              <a:rPr sz="900" spc="-25" dirty="0">
                <a:latin typeface="Arial"/>
                <a:cs typeface="Arial"/>
              </a:rPr>
              <a:t>nhưng </a:t>
            </a:r>
            <a:r>
              <a:rPr sz="900" dirty="0">
                <a:latin typeface="Arial"/>
                <a:cs typeface="Arial"/>
              </a:rPr>
              <a:t>mỗi</a:t>
            </a:r>
            <a:r>
              <a:rPr sz="900" spc="-25" dirty="0">
                <a:latin typeface="Arial"/>
                <a:cs typeface="Arial"/>
              </a:rPr>
              <a:t> </a:t>
            </a:r>
            <a:r>
              <a:rPr sz="900" dirty="0">
                <a:latin typeface="Arial"/>
                <a:cs typeface="Arial"/>
              </a:rPr>
              <a:t>phần</a:t>
            </a:r>
            <a:r>
              <a:rPr sz="900" spc="-20" dirty="0">
                <a:latin typeface="Arial"/>
                <a:cs typeface="Arial"/>
              </a:rPr>
              <a:t> </a:t>
            </a:r>
            <a:r>
              <a:rPr sz="900" dirty="0">
                <a:latin typeface="Arial"/>
                <a:cs typeface="Arial"/>
              </a:rPr>
              <a:t>là</a:t>
            </a:r>
            <a:r>
              <a:rPr sz="900" spc="-25" dirty="0">
                <a:latin typeface="Arial"/>
                <a:cs typeface="Arial"/>
              </a:rPr>
              <a:t> </a:t>
            </a:r>
            <a:r>
              <a:rPr sz="900" dirty="0">
                <a:latin typeface="Arial"/>
                <a:cs typeface="Arial"/>
              </a:rPr>
              <a:t>hoạt động</a:t>
            </a:r>
            <a:r>
              <a:rPr sz="900" spc="-20" dirty="0">
                <a:latin typeface="Arial"/>
                <a:cs typeface="Arial"/>
              </a:rPr>
              <a:t> </a:t>
            </a:r>
            <a:r>
              <a:rPr sz="900" dirty="0">
                <a:latin typeface="Arial"/>
                <a:cs typeface="Arial"/>
              </a:rPr>
              <a:t>TRÊN</a:t>
            </a:r>
            <a:r>
              <a:rPr sz="900" spc="-20" dirty="0">
                <a:latin typeface="Arial"/>
                <a:cs typeface="Arial"/>
              </a:rPr>
              <a:t> </a:t>
            </a:r>
            <a:r>
              <a:rPr sz="900" dirty="0">
                <a:latin typeface="Arial"/>
                <a:cs typeface="Arial"/>
              </a:rPr>
              <a:t>của nó</a:t>
            </a:r>
            <a:r>
              <a:rPr sz="900" spc="-25" dirty="0">
                <a:latin typeface="Arial"/>
                <a:cs typeface="Arial"/>
              </a:rPr>
              <a:t> </a:t>
            </a:r>
            <a:r>
              <a:rPr sz="900" dirty="0">
                <a:latin typeface="Arial"/>
                <a:cs typeface="Arial"/>
              </a:rPr>
              <a:t>sở hữu</a:t>
            </a:r>
            <a:r>
              <a:rPr sz="900" spc="-20" dirty="0">
                <a:latin typeface="Arial"/>
                <a:cs typeface="Arial"/>
              </a:rPr>
              <a:t> </a:t>
            </a:r>
            <a:r>
              <a:rPr sz="900" dirty="0">
                <a:latin typeface="Arial"/>
                <a:cs typeface="Arial"/>
              </a:rPr>
              <a:t>chia sẻ</a:t>
            </a:r>
            <a:r>
              <a:rPr sz="900" spc="-20" dirty="0">
                <a:latin typeface="Arial"/>
                <a:cs typeface="Arial"/>
              </a:rPr>
              <a:t> </a:t>
            </a:r>
            <a:r>
              <a:rPr sz="900" dirty="0">
                <a:latin typeface="Arial"/>
                <a:cs typeface="Arial"/>
              </a:rPr>
              <a:t>của</a:t>
            </a:r>
            <a:r>
              <a:rPr sz="900" spc="-25" dirty="0">
                <a:latin typeface="Arial"/>
                <a:cs typeface="Arial"/>
              </a:rPr>
              <a:t> </a:t>
            </a:r>
            <a:r>
              <a:rPr sz="900" dirty="0">
                <a:latin typeface="Arial"/>
                <a:cs typeface="Arial"/>
              </a:rPr>
              <a:t>cái</a:t>
            </a:r>
            <a:r>
              <a:rPr sz="900" spc="-20" dirty="0">
                <a:latin typeface="Arial"/>
                <a:cs typeface="Arial"/>
              </a:rPr>
              <a:t> </a:t>
            </a:r>
            <a:r>
              <a:rPr sz="900" dirty="0">
                <a:latin typeface="Arial"/>
                <a:cs typeface="Arial"/>
              </a:rPr>
              <a:t>hoàn thành</a:t>
            </a:r>
            <a:r>
              <a:rPr sz="900" spc="-20" dirty="0">
                <a:latin typeface="Arial"/>
                <a:cs typeface="Arial"/>
              </a:rPr>
              <a:t> </a:t>
            </a:r>
            <a:r>
              <a:rPr sz="900" dirty="0">
                <a:latin typeface="Arial"/>
                <a:cs typeface="Arial"/>
              </a:rPr>
              <a:t>dữ liệu</a:t>
            </a:r>
            <a:r>
              <a:rPr sz="900" spc="-25" dirty="0">
                <a:latin typeface="Arial"/>
                <a:cs typeface="Arial"/>
              </a:rPr>
              <a:t> </a:t>
            </a:r>
            <a:r>
              <a:rPr sz="900" spc="-20" dirty="0">
                <a:latin typeface="Arial"/>
                <a:cs typeface="Arial"/>
              </a:rPr>
              <a:t>bộ.</a:t>
            </a:r>
            <a:endParaRPr sz="900">
              <a:latin typeface="Arial"/>
              <a:cs typeface="Arial"/>
            </a:endParaRPr>
          </a:p>
          <a:p>
            <a:pPr marL="16510">
              <a:lnSpc>
                <a:spcPct val="100000"/>
              </a:lnSpc>
              <a:spcBef>
                <a:spcPts val="745"/>
              </a:spcBef>
            </a:pPr>
            <a:r>
              <a:rPr sz="1000" spc="-20" dirty="0">
                <a:solidFill>
                  <a:srgbClr val="3333B2"/>
                </a:solidFill>
                <a:latin typeface="Arial"/>
                <a:cs typeface="Arial"/>
              </a:rPr>
              <a:t>Ngang </a:t>
            </a:r>
            <a:r>
              <a:rPr sz="1000" spc="-10" dirty="0">
                <a:solidFill>
                  <a:srgbClr val="3333B2"/>
                </a:solidFill>
                <a:latin typeface="Arial"/>
                <a:cs typeface="Arial"/>
              </a:rPr>
              <a:t>hàng</a:t>
            </a:r>
            <a:r>
              <a:rPr sz="1000" dirty="0">
                <a:solidFill>
                  <a:srgbClr val="3333B2"/>
                </a:solidFill>
                <a:latin typeface="Arial"/>
                <a:cs typeface="Arial"/>
              </a:rPr>
              <a:t>​</a:t>
            </a:r>
            <a:r>
              <a:rPr sz="1000" spc="15" dirty="0">
                <a:solidFill>
                  <a:srgbClr val="3333B2"/>
                </a:solidFill>
                <a:latin typeface="Arial"/>
                <a:cs typeface="Arial"/>
              </a:rPr>
              <a:t> </a:t>
            </a:r>
            <a:r>
              <a:rPr sz="1000" spc="-10" dirty="0">
                <a:solidFill>
                  <a:srgbClr val="3333B2"/>
                </a:solidFill>
                <a:latin typeface="Arial"/>
                <a:cs typeface="Arial"/>
              </a:rPr>
              <a:t>kiến trúc</a:t>
            </a:r>
            <a:endParaRPr sz="1000">
              <a:latin typeface="Arial"/>
              <a:cs typeface="Arial"/>
            </a:endParaRPr>
          </a:p>
          <a:p>
            <a:pPr marL="16510" marR="5080">
              <a:lnSpc>
                <a:spcPct val="111600"/>
              </a:lnSpc>
              <a:spcBef>
                <a:spcPts val="170"/>
              </a:spcBef>
            </a:pPr>
            <a:r>
              <a:rPr sz="900" dirty="0">
                <a:latin typeface="Arial"/>
                <a:cs typeface="Arial"/>
              </a:rPr>
              <a:t>Các quy trình</a:t>
            </a:r>
            <a:r>
              <a:rPr sz="900" spc="-25" dirty="0">
                <a:latin typeface="Arial"/>
                <a:cs typeface="Arial"/>
              </a:rPr>
              <a:t> </a:t>
            </a:r>
            <a:r>
              <a:rPr sz="900" dirty="0">
                <a:latin typeface="Arial"/>
                <a:cs typeface="Arial"/>
              </a:rPr>
              <a:t>là</a:t>
            </a:r>
            <a:r>
              <a:rPr sz="900" spc="-25" dirty="0">
                <a:latin typeface="Arial"/>
                <a:cs typeface="Arial"/>
              </a:rPr>
              <a:t> </a:t>
            </a:r>
            <a:r>
              <a:rPr sz="900" dirty="0">
                <a:latin typeface="Arial"/>
                <a:cs typeface="Arial"/>
              </a:rPr>
              <a:t>tất cả</a:t>
            </a:r>
            <a:r>
              <a:rPr sz="900" spc="-20" dirty="0">
                <a:latin typeface="Arial"/>
                <a:cs typeface="Arial"/>
              </a:rPr>
              <a:t> </a:t>
            </a:r>
            <a:r>
              <a:rPr sz="900" dirty="0">
                <a:latin typeface="Arial"/>
                <a:cs typeface="Arial"/>
              </a:rPr>
              <a:t>bình đẳng:</a:t>
            </a:r>
            <a:r>
              <a:rPr sz="900" spc="30" dirty="0">
                <a:latin typeface="Arial"/>
                <a:cs typeface="Arial"/>
              </a:rPr>
              <a:t> </a:t>
            </a:r>
            <a:r>
              <a:rPr sz="900" dirty="0">
                <a:latin typeface="Arial"/>
                <a:cs typeface="Arial"/>
              </a:rPr>
              <a:t>cái</a:t>
            </a:r>
            <a:r>
              <a:rPr sz="900" spc="-20" dirty="0">
                <a:latin typeface="Arial"/>
                <a:cs typeface="Arial"/>
              </a:rPr>
              <a:t> </a:t>
            </a:r>
            <a:r>
              <a:rPr sz="900" dirty="0">
                <a:latin typeface="Arial"/>
                <a:cs typeface="Arial"/>
              </a:rPr>
              <a:t>chức năng</a:t>
            </a:r>
            <a:r>
              <a:rPr sz="900" spc="-25" dirty="0">
                <a:latin typeface="Arial"/>
                <a:cs typeface="Arial"/>
              </a:rPr>
              <a:t> </a:t>
            </a:r>
            <a:r>
              <a:rPr sz="900" dirty="0">
                <a:latin typeface="Arial"/>
                <a:cs typeface="Arial"/>
              </a:rPr>
              <a:t>cái đó</a:t>
            </a:r>
            <a:r>
              <a:rPr sz="900" spc="-20" dirty="0">
                <a:latin typeface="Arial"/>
                <a:cs typeface="Arial"/>
              </a:rPr>
              <a:t> </a:t>
            </a:r>
            <a:r>
              <a:rPr sz="900" dirty="0">
                <a:latin typeface="Arial"/>
                <a:cs typeface="Arial"/>
              </a:rPr>
              <a:t>nhu cầu</a:t>
            </a:r>
            <a:r>
              <a:rPr sz="900" spc="-25" dirty="0">
                <a:latin typeface="Arial"/>
                <a:cs typeface="Arial"/>
              </a:rPr>
              <a:t> </a:t>
            </a:r>
            <a:r>
              <a:rPr sz="900" dirty="0">
                <a:latin typeface="Arial"/>
                <a:cs typeface="Arial"/>
              </a:rPr>
              <a:t>ĐẾN</a:t>
            </a:r>
            <a:r>
              <a:rPr sz="900" spc="-25" dirty="0">
                <a:latin typeface="Arial"/>
                <a:cs typeface="Arial"/>
              </a:rPr>
              <a:t> </a:t>
            </a:r>
            <a:r>
              <a:rPr sz="900" dirty="0">
                <a:latin typeface="Arial"/>
                <a:cs typeface="Arial"/>
              </a:rPr>
              <a:t>là</a:t>
            </a:r>
            <a:r>
              <a:rPr sz="900" spc="-20" dirty="0">
                <a:latin typeface="Arial"/>
                <a:cs typeface="Arial"/>
              </a:rPr>
              <a:t> </a:t>
            </a:r>
            <a:r>
              <a:rPr sz="900" dirty="0">
                <a:latin typeface="Arial"/>
                <a:cs typeface="Arial"/>
              </a:rPr>
              <a:t>mang theo</a:t>
            </a:r>
            <a:r>
              <a:rPr sz="900" spc="-25" dirty="0">
                <a:latin typeface="Arial"/>
                <a:cs typeface="Arial"/>
              </a:rPr>
              <a:t> </a:t>
            </a:r>
            <a:r>
              <a:rPr sz="900" dirty="0">
                <a:latin typeface="Arial"/>
                <a:cs typeface="Arial"/>
              </a:rPr>
              <a:t>ngoài</a:t>
            </a:r>
            <a:r>
              <a:rPr sz="900" spc="-20" dirty="0">
                <a:latin typeface="Arial"/>
                <a:cs typeface="Arial"/>
              </a:rPr>
              <a:t> </a:t>
            </a:r>
            <a:r>
              <a:rPr sz="900" spc="-25" dirty="0">
                <a:latin typeface="Arial"/>
                <a:cs typeface="Arial"/>
              </a:rPr>
              <a:t>được </a:t>
            </a:r>
            <a:r>
              <a:rPr sz="900" spc="-10" dirty="0">
                <a:latin typeface="Arial"/>
                <a:cs typeface="Arial"/>
              </a:rPr>
              <a:t>đại diện</a:t>
            </a:r>
            <a:r>
              <a:rPr sz="900" spc="-25" dirty="0">
                <a:latin typeface="Arial"/>
                <a:cs typeface="Arial"/>
              </a:rPr>
              <a:t> </a:t>
            </a:r>
            <a:r>
              <a:rPr sz="900" dirty="0">
                <a:latin typeface="Arial"/>
                <a:cs typeface="Arial"/>
              </a:rPr>
              <a:t>qua</a:t>
            </a:r>
            <a:r>
              <a:rPr sz="900" spc="-20" dirty="0">
                <a:latin typeface="Arial"/>
                <a:cs typeface="Arial"/>
              </a:rPr>
              <a:t> </a:t>
            </a:r>
            <a:r>
              <a:rPr sz="900" spc="-10" dirty="0">
                <a:latin typeface="Arial"/>
                <a:cs typeface="Arial"/>
              </a:rPr>
              <a:t>mọi</a:t>
            </a:r>
            <a:r>
              <a:rPr sz="900" spc="-20" dirty="0">
                <a:latin typeface="Arial"/>
                <a:cs typeface="Arial"/>
              </a:rPr>
              <a:t> </a:t>
            </a:r>
            <a:r>
              <a:rPr sz="900" spc="-10" dirty="0">
                <a:latin typeface="Arial"/>
                <a:cs typeface="Arial"/>
              </a:rPr>
              <a:t>quá trình</a:t>
            </a:r>
            <a:r>
              <a:rPr sz="900" spc="-25" dirty="0">
                <a:latin typeface="Arial"/>
                <a:cs typeface="Arial"/>
              </a:rPr>
              <a:t> </a:t>
            </a:r>
            <a:r>
              <a:rPr sz="900" spc="295" dirty="0">
                <a:latin typeface="Apple Symbols"/>
                <a:cs typeface="Apple Symbols"/>
              </a:rPr>
              <a:t>⇒</a:t>
            </a:r>
            <a:r>
              <a:rPr sz="900" spc="-70" dirty="0">
                <a:latin typeface="Apple Symbols"/>
                <a:cs typeface="Apple Symbols"/>
              </a:rPr>
              <a:t> </a:t>
            </a:r>
            <a:r>
              <a:rPr sz="900" dirty="0">
                <a:latin typeface="Arial"/>
                <a:cs typeface="Arial"/>
              </a:rPr>
              <a:t>mỗi</a:t>
            </a:r>
            <a:r>
              <a:rPr sz="900" spc="-20" dirty="0">
                <a:latin typeface="Arial"/>
                <a:cs typeface="Arial"/>
              </a:rPr>
              <a:t> </a:t>
            </a:r>
            <a:r>
              <a:rPr sz="900" spc="-10" dirty="0">
                <a:latin typeface="Arial"/>
                <a:cs typeface="Arial"/>
              </a:rPr>
              <a:t>quá trình</a:t>
            </a:r>
            <a:r>
              <a:rPr sz="900" spc="-25" dirty="0">
                <a:latin typeface="Arial"/>
                <a:cs typeface="Arial"/>
              </a:rPr>
              <a:t> </a:t>
            </a:r>
            <a:r>
              <a:rPr sz="900" dirty="0">
                <a:latin typeface="Arial"/>
                <a:cs typeface="Arial"/>
              </a:rPr>
              <a:t>sẽ</a:t>
            </a:r>
            <a:r>
              <a:rPr sz="900" spc="-20" dirty="0">
                <a:latin typeface="Arial"/>
                <a:cs typeface="Arial"/>
              </a:rPr>
              <a:t> </a:t>
            </a:r>
            <a:r>
              <a:rPr sz="900" dirty="0">
                <a:latin typeface="Arial"/>
                <a:cs typeface="Arial"/>
              </a:rPr>
              <a:t>hành động</a:t>
            </a:r>
            <a:r>
              <a:rPr sz="900" spc="-20" dirty="0">
                <a:latin typeface="Arial"/>
                <a:cs typeface="Arial"/>
              </a:rPr>
              <a:t> </a:t>
            </a:r>
            <a:r>
              <a:rPr sz="900" dirty="0">
                <a:latin typeface="Arial"/>
                <a:cs typeface="Arial"/>
              </a:rPr>
              <a:t>BẰNG</a:t>
            </a:r>
            <a:r>
              <a:rPr sz="900" spc="-20" dirty="0">
                <a:latin typeface="Arial"/>
                <a:cs typeface="Arial"/>
              </a:rPr>
              <a:t> </a:t>
            </a:r>
            <a:r>
              <a:rPr sz="900" dirty="0">
                <a:latin typeface="Arial"/>
                <a:cs typeface="Arial"/>
              </a:rPr>
              <a:t>Một</a:t>
            </a:r>
            <a:r>
              <a:rPr sz="900" spc="-25" dirty="0">
                <a:latin typeface="Arial"/>
                <a:cs typeface="Arial"/>
              </a:rPr>
              <a:t> </a:t>
            </a:r>
            <a:r>
              <a:rPr sz="900" dirty="0">
                <a:latin typeface="Arial"/>
                <a:cs typeface="Arial"/>
              </a:rPr>
              <a:t>khách hàng</a:t>
            </a:r>
            <a:r>
              <a:rPr sz="900" spc="-20" dirty="0">
                <a:latin typeface="Arial"/>
                <a:cs typeface="Arial"/>
              </a:rPr>
              <a:t> </a:t>
            </a:r>
            <a:r>
              <a:rPr sz="900" dirty="0">
                <a:latin typeface="Arial"/>
                <a:cs typeface="Arial"/>
              </a:rPr>
              <a:t>Và</a:t>
            </a:r>
            <a:r>
              <a:rPr sz="900" spc="-20" dirty="0">
                <a:latin typeface="Arial"/>
                <a:cs typeface="Arial"/>
              </a:rPr>
              <a:t> </a:t>
            </a:r>
            <a:r>
              <a:rPr sz="900" dirty="0">
                <a:latin typeface="Arial"/>
                <a:cs typeface="Arial"/>
              </a:rPr>
              <a:t>Một</a:t>
            </a:r>
            <a:r>
              <a:rPr sz="900" spc="-25" dirty="0">
                <a:latin typeface="Arial"/>
                <a:cs typeface="Arial"/>
              </a:rPr>
              <a:t> </a:t>
            </a:r>
            <a:r>
              <a:rPr sz="900" spc="-10" dirty="0">
                <a:latin typeface="Arial"/>
                <a:cs typeface="Arial"/>
              </a:rPr>
              <a:t>máy chủ </a:t>
            </a:r>
            <a:r>
              <a:rPr sz="900" dirty="0">
                <a:latin typeface="Arial"/>
                <a:cs typeface="Arial"/>
              </a:rPr>
              <a:t>tại</a:t>
            </a:r>
            <a:r>
              <a:rPr sz="900" spc="-25" dirty="0">
                <a:latin typeface="Arial"/>
                <a:cs typeface="Arial"/>
              </a:rPr>
              <a:t> </a:t>
            </a:r>
            <a:r>
              <a:rPr sz="900" dirty="0">
                <a:latin typeface="Arial"/>
                <a:cs typeface="Arial"/>
              </a:rPr>
              <a:t>cái</a:t>
            </a:r>
            <a:r>
              <a:rPr sz="900" spc="-20" dirty="0">
                <a:latin typeface="Arial"/>
                <a:cs typeface="Arial"/>
              </a:rPr>
              <a:t> </a:t>
            </a:r>
            <a:r>
              <a:rPr sz="900" dirty="0">
                <a:latin typeface="Arial"/>
                <a:cs typeface="Arial"/>
              </a:rPr>
              <a:t>như nhau</a:t>
            </a:r>
            <a:r>
              <a:rPr sz="900" spc="-20" dirty="0">
                <a:latin typeface="Arial"/>
                <a:cs typeface="Arial"/>
              </a:rPr>
              <a:t> </a:t>
            </a:r>
            <a:r>
              <a:rPr sz="900" dirty="0">
                <a:latin typeface="Arial"/>
                <a:cs typeface="Arial"/>
              </a:rPr>
              <a:t>thời gian</a:t>
            </a:r>
            <a:r>
              <a:rPr sz="900" spc="-20" dirty="0">
                <a:latin typeface="Arial"/>
                <a:cs typeface="Arial"/>
              </a:rPr>
              <a:t> </a:t>
            </a:r>
            <a:r>
              <a:rPr sz="900" dirty="0">
                <a:latin typeface="Arial"/>
                <a:cs typeface="Arial"/>
              </a:rPr>
              <a:t>(tức là,</a:t>
            </a:r>
            <a:r>
              <a:rPr sz="900" spc="-25" dirty="0">
                <a:latin typeface="Arial"/>
                <a:cs typeface="Arial"/>
              </a:rPr>
              <a:t> </a:t>
            </a:r>
            <a:r>
              <a:rPr sz="900" dirty="0">
                <a:latin typeface="Arial"/>
                <a:cs typeface="Arial"/>
              </a:rPr>
              <a:t>diễn xuất</a:t>
            </a:r>
            <a:r>
              <a:rPr sz="900" spc="-20" dirty="0">
                <a:latin typeface="Arial"/>
                <a:cs typeface="Arial"/>
              </a:rPr>
              <a:t> </a:t>
            </a:r>
            <a:r>
              <a:rPr sz="900" dirty="0">
                <a:latin typeface="Arial"/>
                <a:cs typeface="Arial"/>
              </a:rPr>
              <a:t>BẰNG</a:t>
            </a:r>
            <a:r>
              <a:rPr sz="900" spc="-20" dirty="0">
                <a:latin typeface="Arial"/>
                <a:cs typeface="Arial"/>
              </a:rPr>
              <a:t> </a:t>
            </a:r>
            <a:r>
              <a:rPr sz="900" dirty="0">
                <a:latin typeface="Arial"/>
                <a:cs typeface="Arial"/>
              </a:rPr>
              <a:t>Một</a:t>
            </a:r>
            <a:r>
              <a:rPr sz="900" spc="-25" dirty="0">
                <a:latin typeface="Arial"/>
                <a:cs typeface="Arial"/>
              </a:rPr>
              <a:t> </a:t>
            </a:r>
            <a:r>
              <a:rPr sz="900" spc="-10" dirty="0">
                <a:solidFill>
                  <a:srgbClr val="C80000"/>
                </a:solidFill>
                <a:latin typeface="Arial"/>
                <a:cs typeface="Arial"/>
              </a:rPr>
              <a:t>người hầu </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Đối xứng</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phân phối</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Có cấu trúc</a:t>
            </a:r>
            <a:r>
              <a:rPr spc="-50" dirty="0"/>
              <a:t> </a:t>
            </a:r>
            <a:r>
              <a:rPr spc="-25" dirty="0"/>
              <a:t>ngang hàng</a:t>
            </a:r>
          </a:p>
        </p:txBody>
      </p:sp>
      <p:sp>
        <p:nvSpPr>
          <p:cNvPr id="4" name="object 4"/>
          <p:cNvSpPr txBox="1"/>
          <p:nvPr/>
        </p:nvSpPr>
        <p:spPr>
          <a:xfrm>
            <a:off x="347294" y="499476"/>
            <a:ext cx="3913504" cy="1121410"/>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Nước hoa</a:t>
            </a:r>
            <a:endParaRPr sz="1000">
              <a:latin typeface="Arial"/>
              <a:cs typeface="Arial"/>
            </a:endParaRPr>
          </a:p>
          <a:p>
            <a:pPr marL="12700" marR="5080">
              <a:lnSpc>
                <a:spcPts val="1210"/>
              </a:lnSpc>
              <a:spcBef>
                <a:spcPts val="35"/>
              </a:spcBef>
            </a:pPr>
            <a:r>
              <a:rPr sz="900" spc="-10" dirty="0">
                <a:latin typeface="Arial"/>
                <a:cs typeface="Arial"/>
              </a:rPr>
              <a:t>Làm</a:t>
            </a:r>
            <a:r>
              <a:rPr sz="900" spc="-30" dirty="0">
                <a:latin typeface="Arial"/>
                <a:cs typeface="Arial"/>
              </a:rPr>
              <a:t> </a:t>
            </a:r>
            <a:r>
              <a:rPr sz="900" dirty="0">
                <a:latin typeface="Arial"/>
                <a:cs typeface="Arial"/>
              </a:rPr>
              <a:t>sử dụng</a:t>
            </a:r>
            <a:r>
              <a:rPr sz="900" spc="-25" dirty="0">
                <a:latin typeface="Arial"/>
                <a:cs typeface="Arial"/>
              </a:rPr>
              <a:t> </a:t>
            </a:r>
            <a:r>
              <a:rPr sz="900" dirty="0">
                <a:latin typeface="Arial"/>
                <a:cs typeface="Arial"/>
              </a:rPr>
              <a:t>của</a:t>
            </a:r>
            <a:r>
              <a:rPr sz="900" spc="-30" dirty="0">
                <a:latin typeface="Arial"/>
                <a:cs typeface="Arial"/>
              </a:rPr>
              <a:t> </a:t>
            </a:r>
            <a:r>
              <a:rPr sz="900" dirty="0">
                <a:latin typeface="Arial"/>
                <a:cs typeface="Arial"/>
              </a:rPr>
              <a:t>Một</a:t>
            </a:r>
            <a:r>
              <a:rPr sz="900" spc="-25" dirty="0">
                <a:latin typeface="Arial"/>
                <a:cs typeface="Arial"/>
              </a:rPr>
              <a:t> </a:t>
            </a:r>
            <a:r>
              <a:rPr sz="900" dirty="0">
                <a:solidFill>
                  <a:srgbClr val="3333B2"/>
                </a:solidFill>
                <a:latin typeface="Arial"/>
                <a:cs typeface="Arial"/>
              </a:rPr>
              <a:t>không có </a:t>
            </a:r>
            <a:r>
              <a:rPr sz="900" spc="-10" dirty="0">
                <a:solidFill>
                  <a:srgbClr val="3333B2"/>
                </a:solidFill>
                <a:latin typeface="Arial"/>
                <a:cs typeface="Arial"/>
              </a:rPr>
              <a:t>ngữ nghĩa</a:t>
            </a:r>
            <a:r>
              <a:rPr sz="900" spc="-25" dirty="0">
                <a:solidFill>
                  <a:srgbClr val="3333B2"/>
                </a:solidFill>
                <a:latin typeface="Arial"/>
                <a:cs typeface="Arial"/>
              </a:rPr>
              <a:t> </a:t>
            </a:r>
            <a:r>
              <a:rPr sz="900" dirty="0">
                <a:solidFill>
                  <a:srgbClr val="3333B2"/>
                </a:solidFill>
                <a:latin typeface="Arial"/>
                <a:cs typeface="Arial"/>
              </a:rPr>
              <a:t>mục lục </a:t>
            </a:r>
            <a:r>
              <a:rPr sz="900" dirty="0">
                <a:latin typeface="Arial"/>
                <a:cs typeface="Arial"/>
              </a:rPr>
              <a:t>:</a:t>
            </a:r>
            <a:r>
              <a:rPr sz="900" spc="25" dirty="0">
                <a:latin typeface="Arial"/>
                <a:cs typeface="Arial"/>
              </a:rPr>
              <a:t> </a:t>
            </a:r>
            <a:r>
              <a:rPr sz="900" dirty="0">
                <a:latin typeface="Arial"/>
                <a:cs typeface="Arial"/>
              </a:rPr>
              <a:t>mỗi</a:t>
            </a:r>
            <a:r>
              <a:rPr sz="900" spc="-25" dirty="0">
                <a:latin typeface="Arial"/>
                <a:cs typeface="Arial"/>
              </a:rPr>
              <a:t> </a:t>
            </a:r>
            <a:r>
              <a:rPr sz="900" dirty="0">
                <a:latin typeface="Arial"/>
                <a:cs typeface="Arial"/>
              </a:rPr>
              <a:t>dữ liệu</a:t>
            </a:r>
            <a:r>
              <a:rPr sz="900" spc="-30" dirty="0">
                <a:latin typeface="Arial"/>
                <a:cs typeface="Arial"/>
              </a:rPr>
              <a:t> </a:t>
            </a:r>
            <a:r>
              <a:rPr sz="900" dirty="0">
                <a:latin typeface="Arial"/>
                <a:cs typeface="Arial"/>
              </a:rPr>
              <a:t>mục </a:t>
            </a:r>
            <a:r>
              <a:rPr sz="900" spc="-25" dirty="0">
                <a:latin typeface="Arial"/>
                <a:cs typeface="Arial"/>
              </a:rPr>
              <a:t> </a:t>
            </a:r>
            <a:r>
              <a:rPr sz="900" dirty="0">
                <a:latin typeface="Arial"/>
                <a:cs typeface="Arial"/>
              </a:rPr>
              <a:t>là</a:t>
            </a:r>
            <a:r>
              <a:rPr sz="900" spc="-30" dirty="0">
                <a:latin typeface="Arial"/>
                <a:cs typeface="Arial"/>
              </a:rPr>
              <a:t> </a:t>
            </a:r>
            <a:r>
              <a:rPr sz="900" spc="-10" dirty="0">
                <a:latin typeface="Arial"/>
                <a:cs typeface="Arial"/>
              </a:rPr>
              <a:t>độc đáo</a:t>
            </a:r>
            <a:r>
              <a:rPr sz="900" spc="-25" dirty="0">
                <a:latin typeface="Arial"/>
                <a:cs typeface="Arial"/>
              </a:rPr>
              <a:t> </a:t>
            </a:r>
            <a:r>
              <a:rPr sz="900" spc="-10" dirty="0">
                <a:latin typeface="Arial"/>
                <a:cs typeface="Arial"/>
              </a:rPr>
              <a:t>có liên quan</a:t>
            </a:r>
            <a:r>
              <a:rPr sz="900" spc="-25" dirty="0">
                <a:latin typeface="Arial"/>
                <a:cs typeface="Arial"/>
              </a:rPr>
              <a:t> </a:t>
            </a:r>
            <a:r>
              <a:rPr sz="900" spc="-20" dirty="0">
                <a:latin typeface="Arial"/>
                <a:cs typeface="Arial"/>
              </a:rPr>
              <a:t>với </a:t>
            </a:r>
            <a:r>
              <a:rPr sz="900" dirty="0">
                <a:latin typeface="Arial"/>
                <a:cs typeface="Arial"/>
              </a:rPr>
              <a:t>một</a:t>
            </a:r>
            <a:r>
              <a:rPr sz="900" spc="-25" dirty="0">
                <a:latin typeface="Arial"/>
                <a:cs typeface="Arial"/>
              </a:rPr>
              <a:t> </a:t>
            </a:r>
            <a:r>
              <a:rPr sz="900" spc="-30" dirty="0">
                <a:latin typeface="Arial"/>
                <a:cs typeface="Arial"/>
              </a:rPr>
              <a:t>chìa khóa,</a:t>
            </a:r>
            <a:r>
              <a:rPr sz="900" spc="-25" dirty="0">
                <a:latin typeface="Arial"/>
                <a:cs typeface="Arial"/>
              </a:rPr>
              <a:t> </a:t>
            </a:r>
            <a:r>
              <a:rPr sz="900" dirty="0">
                <a:latin typeface="Arial"/>
                <a:cs typeface="Arial"/>
              </a:rPr>
              <a:t>TRONG</a:t>
            </a:r>
            <a:r>
              <a:rPr sz="900" spc="-20" dirty="0">
                <a:latin typeface="Arial"/>
                <a:cs typeface="Arial"/>
              </a:rPr>
              <a:t> </a:t>
            </a:r>
            <a:r>
              <a:rPr sz="900" dirty="0">
                <a:latin typeface="Arial"/>
                <a:cs typeface="Arial"/>
              </a:rPr>
              <a:t>xoay</a:t>
            </a:r>
            <a:r>
              <a:rPr sz="900" spc="-25" dirty="0">
                <a:latin typeface="Arial"/>
                <a:cs typeface="Arial"/>
              </a:rPr>
              <a:t> </a:t>
            </a:r>
            <a:r>
              <a:rPr sz="900" dirty="0">
                <a:latin typeface="Arial"/>
                <a:cs typeface="Arial"/>
              </a:rPr>
              <a:t>đã sử dụng</a:t>
            </a:r>
            <a:r>
              <a:rPr sz="900" spc="-25" dirty="0">
                <a:latin typeface="Arial"/>
                <a:cs typeface="Arial"/>
              </a:rPr>
              <a:t> </a:t>
            </a:r>
            <a:r>
              <a:rPr sz="900" dirty="0">
                <a:latin typeface="Arial"/>
                <a:cs typeface="Arial"/>
              </a:rPr>
              <a:t>BẰNG</a:t>
            </a:r>
            <a:r>
              <a:rPr sz="900" spc="-20" dirty="0">
                <a:latin typeface="Arial"/>
                <a:cs typeface="Arial"/>
              </a:rPr>
              <a:t> </a:t>
            </a:r>
            <a:r>
              <a:rPr sz="900" dirty="0">
                <a:latin typeface="Arial"/>
                <a:cs typeface="Arial"/>
              </a:rPr>
              <a:t>MỘT</a:t>
            </a:r>
            <a:r>
              <a:rPr sz="900" spc="-25" dirty="0">
                <a:latin typeface="Arial"/>
                <a:cs typeface="Arial"/>
              </a:rPr>
              <a:t> </a:t>
            </a:r>
            <a:r>
              <a:rPr sz="900" dirty="0">
                <a:latin typeface="Arial"/>
                <a:cs typeface="Arial"/>
              </a:rPr>
              <a:t>mục lục.</a:t>
            </a:r>
            <a:r>
              <a:rPr sz="900" spc="30" dirty="0">
                <a:latin typeface="Arial"/>
                <a:cs typeface="Arial"/>
              </a:rPr>
              <a:t> </a:t>
            </a:r>
            <a:r>
              <a:rPr sz="900" dirty="0">
                <a:latin typeface="Arial"/>
                <a:cs typeface="Arial"/>
              </a:rPr>
              <a:t>Chung</a:t>
            </a:r>
            <a:r>
              <a:rPr sz="900" spc="-20" dirty="0">
                <a:latin typeface="Arial"/>
                <a:cs typeface="Arial"/>
              </a:rPr>
              <a:t> </a:t>
            </a:r>
            <a:r>
              <a:rPr sz="900" dirty="0">
                <a:latin typeface="Arial"/>
                <a:cs typeface="Arial"/>
              </a:rPr>
              <a:t>luyện tập:</a:t>
            </a:r>
            <a:r>
              <a:rPr sz="900" spc="30" dirty="0">
                <a:latin typeface="Arial"/>
                <a:cs typeface="Arial"/>
              </a:rPr>
              <a:t> </a:t>
            </a:r>
            <a:r>
              <a:rPr sz="900" dirty="0">
                <a:latin typeface="Arial"/>
                <a:cs typeface="Arial"/>
              </a:rPr>
              <a:t>sử dụng</a:t>
            </a:r>
            <a:r>
              <a:rPr sz="900" spc="-25" dirty="0">
                <a:latin typeface="Arial"/>
                <a:cs typeface="Arial"/>
              </a:rPr>
              <a:t> </a:t>
            </a:r>
            <a:r>
              <a:rPr sz="900" dirty="0">
                <a:latin typeface="Arial"/>
                <a:cs typeface="Arial"/>
              </a:rPr>
              <a:t>Một</a:t>
            </a:r>
            <a:r>
              <a:rPr sz="900" spc="-20" dirty="0">
                <a:latin typeface="Arial"/>
                <a:cs typeface="Arial"/>
              </a:rPr>
              <a:t> </a:t>
            </a:r>
            <a:r>
              <a:rPr sz="900" dirty="0">
                <a:solidFill>
                  <a:srgbClr val="C80000"/>
                </a:solidFill>
                <a:latin typeface="Arial"/>
                <a:cs typeface="Arial"/>
              </a:rPr>
              <a:t>băm</a:t>
            </a:r>
            <a:r>
              <a:rPr sz="900" spc="-25" dirty="0">
                <a:solidFill>
                  <a:srgbClr val="C80000"/>
                </a:solidFill>
                <a:latin typeface="Arial"/>
                <a:cs typeface="Arial"/>
              </a:rPr>
              <a:t> </a:t>
            </a:r>
            <a:r>
              <a:rPr sz="900" spc="-10" dirty="0">
                <a:solidFill>
                  <a:srgbClr val="C80000"/>
                </a:solidFill>
                <a:latin typeface="Arial"/>
                <a:cs typeface="Arial"/>
              </a:rPr>
              <a:t>chức năng</a:t>
            </a:r>
            <a:endParaRPr sz="900">
              <a:latin typeface="Arial"/>
              <a:cs typeface="Arial"/>
            </a:endParaRPr>
          </a:p>
          <a:p>
            <a:pPr marL="911860">
              <a:lnSpc>
                <a:spcPct val="100000"/>
              </a:lnSpc>
              <a:spcBef>
                <a:spcPts val="310"/>
              </a:spcBef>
            </a:pPr>
            <a:r>
              <a:rPr sz="900" i="1" dirty="0">
                <a:latin typeface="Arial"/>
                <a:cs typeface="Arial"/>
              </a:rPr>
              <a:t>khóa </a:t>
            </a:r>
            <a:r>
              <a:rPr sz="900" dirty="0">
                <a:latin typeface="Arial"/>
                <a:cs typeface="Arial"/>
              </a:rPr>
              <a:t>( </a:t>
            </a:r>
            <a:r>
              <a:rPr sz="900" i="1" dirty="0">
                <a:latin typeface="Arial"/>
                <a:cs typeface="Arial"/>
              </a:rPr>
              <a:t>mục dữ liệu </a:t>
            </a:r>
            <a:r>
              <a:rPr sz="900" dirty="0">
                <a:latin typeface="Arial"/>
                <a:cs typeface="Arial"/>
              </a:rPr>
              <a:t>)</a:t>
            </a:r>
            <a:r>
              <a:rPr sz="900" spc="-50" dirty="0">
                <a:latin typeface="Arial"/>
                <a:cs typeface="Arial"/>
              </a:rPr>
              <a:t> </a:t>
            </a:r>
            <a:r>
              <a:rPr sz="900" spc="185" dirty="0">
                <a:latin typeface="Arial"/>
                <a:cs typeface="Arial"/>
              </a:rPr>
              <a:t>=</a:t>
            </a:r>
            <a:r>
              <a:rPr sz="900" spc="-45" dirty="0">
                <a:latin typeface="Arial"/>
                <a:cs typeface="Arial"/>
              </a:rPr>
              <a:t> </a:t>
            </a:r>
            <a:r>
              <a:rPr sz="900" i="1" dirty="0">
                <a:latin typeface="Arial"/>
                <a:cs typeface="Arial"/>
              </a:rPr>
              <a:t>băm </a:t>
            </a:r>
            <a:r>
              <a:rPr sz="900" dirty="0">
                <a:latin typeface="Arial"/>
                <a:cs typeface="Arial"/>
              </a:rPr>
              <a:t>( </a:t>
            </a:r>
            <a:r>
              <a:rPr sz="900" i="1" spc="-10" dirty="0">
                <a:latin typeface="Arial"/>
                <a:cs typeface="Arial"/>
              </a:rPr>
              <a:t>mục </a:t>
            </a:r>
            <a:r>
              <a:rPr sz="900" i="1" dirty="0">
                <a:latin typeface="Arial"/>
                <a:cs typeface="Arial"/>
              </a:rPr>
              <a:t>dữ liệu</a:t>
            </a:r>
            <a:r>
              <a:rPr sz="900" i="1" spc="5" dirty="0">
                <a:latin typeface="Arial"/>
                <a:cs typeface="Arial"/>
              </a:rPr>
              <a:t> </a:t>
            </a:r>
            <a:r>
              <a:rPr sz="900" i="1" spc="-10" dirty="0">
                <a:latin typeface="Arial"/>
                <a:cs typeface="Arial"/>
              </a:rPr>
              <a:t>giá trị </a:t>
            </a:r>
            <a:r>
              <a:rPr sz="900" spc="-10" dirty="0">
                <a:latin typeface="Arial"/>
                <a:cs typeface="Arial"/>
              </a:rPr>
              <a:t>) </a:t>
            </a:r>
            <a:r>
              <a:rPr sz="900" i="1" spc="-10" dirty="0">
                <a:latin typeface="Arial"/>
                <a:cs typeface="Arial"/>
              </a:rPr>
              <a:t>.</a:t>
            </a:r>
            <a:endParaRPr sz="900">
              <a:latin typeface="Arial"/>
              <a:cs typeface="Arial"/>
            </a:endParaRPr>
          </a:p>
          <a:p>
            <a:pPr marL="12700">
              <a:lnSpc>
                <a:spcPct val="100000"/>
              </a:lnSpc>
              <a:spcBef>
                <a:spcPts val="375"/>
              </a:spcBef>
            </a:pPr>
            <a:r>
              <a:rPr sz="900" dirty="0">
                <a:latin typeface="Arial"/>
                <a:cs typeface="Arial"/>
              </a:rPr>
              <a:t>ngang hàng</a:t>
            </a:r>
            <a:r>
              <a:rPr sz="900" spc="-20" dirty="0">
                <a:latin typeface="Arial"/>
                <a:cs typeface="Arial"/>
              </a:rPr>
              <a:t> </a:t>
            </a:r>
            <a:r>
              <a:rPr sz="900" dirty="0">
                <a:latin typeface="Arial"/>
                <a:cs typeface="Arial"/>
              </a:rPr>
              <a:t>hệ thống</a:t>
            </a:r>
            <a:r>
              <a:rPr sz="900" spc="-20" dirty="0">
                <a:latin typeface="Arial"/>
                <a:cs typeface="Arial"/>
              </a:rPr>
              <a:t> </a:t>
            </a:r>
            <a:r>
              <a:rPr sz="900" dirty="0">
                <a:latin typeface="Arial"/>
                <a:cs typeface="Arial"/>
              </a:rPr>
              <a:t>Hiện nay</a:t>
            </a:r>
            <a:r>
              <a:rPr sz="900" spc="-20" dirty="0">
                <a:latin typeface="Arial"/>
                <a:cs typeface="Arial"/>
              </a:rPr>
              <a:t> </a:t>
            </a:r>
            <a:r>
              <a:rPr sz="900" spc="-10" dirty="0">
                <a:latin typeface="Arial"/>
                <a:cs typeface="Arial"/>
              </a:rPr>
              <a:t>chịu trách nhiệm</a:t>
            </a:r>
            <a:r>
              <a:rPr sz="900" spc="-20" dirty="0">
                <a:latin typeface="Arial"/>
                <a:cs typeface="Arial"/>
              </a:rPr>
              <a:t> </a:t>
            </a:r>
            <a:r>
              <a:rPr sz="900" dirty="0">
                <a:latin typeface="Arial"/>
                <a:cs typeface="Arial"/>
              </a:rPr>
              <a:t>vì</a:t>
            </a:r>
            <a:r>
              <a:rPr sz="900" spc="-20" dirty="0">
                <a:latin typeface="Arial"/>
                <a:cs typeface="Arial"/>
              </a:rPr>
              <a:t> </a:t>
            </a:r>
            <a:r>
              <a:rPr sz="900" dirty="0">
                <a:latin typeface="Arial"/>
                <a:cs typeface="Arial"/>
              </a:rPr>
              <a:t>lưu trữ</a:t>
            </a:r>
            <a:r>
              <a:rPr sz="900" spc="-20" dirty="0">
                <a:latin typeface="Arial"/>
                <a:cs typeface="Arial"/>
              </a:rPr>
              <a:t> </a:t>
            </a:r>
            <a:r>
              <a:rPr sz="900" spc="-10" dirty="0">
                <a:latin typeface="Arial"/>
                <a:cs typeface="Arial"/>
              </a:rPr>
              <a:t>( </a:t>
            </a:r>
            <a:r>
              <a:rPr sz="900" i="1" spc="-10" dirty="0">
                <a:latin typeface="Arial"/>
                <a:cs typeface="Arial"/>
              </a:rPr>
              <a:t>khóa </a:t>
            </a:r>
            <a:r>
              <a:rPr sz="900" spc="-10" dirty="0">
                <a:latin typeface="Arial"/>
                <a:cs typeface="Arial"/>
              </a:rPr>
              <a:t>, </a:t>
            </a:r>
            <a:r>
              <a:rPr sz="900" i="1" spc="-10" dirty="0">
                <a:latin typeface="Arial"/>
                <a:cs typeface="Arial"/>
              </a:rPr>
              <a:t>giá trị </a:t>
            </a:r>
            <a:r>
              <a:rPr sz="900" spc="-10" dirty="0">
                <a:latin typeface="Arial"/>
                <a:cs typeface="Arial"/>
              </a:rPr>
              <a:t>)</a:t>
            </a:r>
            <a:r>
              <a:rPr sz="900" spc="-15" dirty="0">
                <a:latin typeface="Arial"/>
                <a:cs typeface="Arial"/>
              </a:rPr>
              <a:t> </a:t>
            </a:r>
            <a:r>
              <a:rPr sz="900" spc="-10" dirty="0">
                <a:latin typeface="Arial"/>
                <a:cs typeface="Arial"/>
              </a:rPr>
              <a:t>cặp.</a:t>
            </a:r>
            <a:endParaRPr sz="900">
              <a:latin typeface="Arial"/>
              <a:cs typeface="Arial"/>
            </a:endParaRPr>
          </a:p>
          <a:p>
            <a:pPr marL="12700">
              <a:lnSpc>
                <a:spcPct val="100000"/>
              </a:lnSpc>
              <a:spcBef>
                <a:spcPts val="810"/>
              </a:spcBef>
            </a:pPr>
            <a:r>
              <a:rPr sz="1000" dirty="0">
                <a:solidFill>
                  <a:srgbClr val="4C994C"/>
                </a:solidFill>
                <a:latin typeface="Arial"/>
                <a:cs typeface="Arial"/>
              </a:rPr>
              <a:t>Đơn giản</a:t>
            </a:r>
            <a:r>
              <a:rPr sz="1000" spc="-55" dirty="0">
                <a:solidFill>
                  <a:srgbClr val="4C994C"/>
                </a:solidFill>
                <a:latin typeface="Arial"/>
                <a:cs typeface="Arial"/>
              </a:rPr>
              <a:t> </a:t>
            </a:r>
            <a:r>
              <a:rPr sz="1000" dirty="0">
                <a:solidFill>
                  <a:srgbClr val="4C994C"/>
                </a:solidFill>
                <a:latin typeface="Arial"/>
                <a:cs typeface="Arial"/>
              </a:rPr>
              <a:t>ví dụ:</a:t>
            </a:r>
            <a:r>
              <a:rPr sz="1000" spc="5" dirty="0">
                <a:solidFill>
                  <a:srgbClr val="4C994C"/>
                </a:solidFill>
                <a:latin typeface="Arial"/>
                <a:cs typeface="Arial"/>
              </a:rPr>
              <a:t> </a:t>
            </a:r>
            <a:r>
              <a:rPr sz="1000" spc="-10" dirty="0">
                <a:solidFill>
                  <a:srgbClr val="4C994C"/>
                </a:solidFill>
                <a:latin typeface="Arial"/>
                <a:cs typeface="Arial"/>
              </a:rPr>
              <a:t>siêu khối lập phương</a:t>
            </a:r>
            <a:endParaRPr sz="1000">
              <a:latin typeface="Arial"/>
              <a:cs typeface="Arial"/>
            </a:endParaRPr>
          </a:p>
        </p:txBody>
      </p:sp>
      <p:pic>
        <p:nvPicPr>
          <p:cNvPr id="5" name="object 5"/>
          <p:cNvPicPr/>
          <p:nvPr/>
        </p:nvPicPr>
        <p:blipFill>
          <a:blip r:embed="rId4" cstate="print"/>
          <a:stretch>
            <a:fillRect/>
          </a:stretch>
        </p:blipFill>
        <p:spPr>
          <a:xfrm>
            <a:off x="1029652" y="1725067"/>
            <a:ext cx="2547548" cy="986966"/>
          </a:xfrm>
          <a:prstGeom prst="rect">
            <a:avLst/>
          </a:prstGeom>
        </p:spPr>
      </p:pic>
      <p:sp>
        <p:nvSpPr>
          <p:cNvPr id="6" name="object 6"/>
          <p:cNvSpPr txBox="1"/>
          <p:nvPr/>
        </p:nvSpPr>
        <p:spPr>
          <a:xfrm>
            <a:off x="317804" y="2747407"/>
            <a:ext cx="3900170" cy="332105"/>
          </a:xfrm>
          <a:prstGeom prst="rect">
            <a:avLst/>
          </a:prstGeom>
        </p:spPr>
        <p:txBody>
          <a:bodyPr vert="horz" wrap="square" lIns="0" tIns="12700" rIns="0" bIns="0" rtlCol="0">
            <a:spAutoFit/>
          </a:bodyPr>
          <a:lstStyle/>
          <a:p>
            <a:pPr marL="38100" marR="30480" indent="3810">
              <a:lnSpc>
                <a:spcPct val="111600"/>
              </a:lnSpc>
              <a:spcBef>
                <a:spcPts val="100"/>
              </a:spcBef>
            </a:pPr>
            <a:r>
              <a:rPr sz="900" dirty="0">
                <a:latin typeface="Arial"/>
                <a:cs typeface="Arial"/>
              </a:rPr>
              <a:t>Nhìn</a:t>
            </a:r>
            <a:r>
              <a:rPr sz="900" spc="-20" dirty="0">
                <a:latin typeface="Arial"/>
                <a:cs typeface="Arial"/>
              </a:rPr>
              <a:t> </a:t>
            </a:r>
            <a:r>
              <a:rPr sz="900" dirty="0">
                <a:latin typeface="Arial"/>
                <a:cs typeface="Arial"/>
              </a:rPr>
              <a:t>hướng lên</a:t>
            </a:r>
            <a:r>
              <a:rPr sz="900" spc="-5" dirty="0">
                <a:latin typeface="Arial"/>
                <a:cs typeface="Arial"/>
              </a:rPr>
              <a:t> </a:t>
            </a:r>
            <a:r>
              <a:rPr sz="900" i="1" dirty="0">
                <a:latin typeface="Arial"/>
                <a:cs typeface="Arial"/>
              </a:rPr>
              <a:t>ngày</a:t>
            </a:r>
            <a:r>
              <a:rPr sz="900" i="1" spc="80" dirty="0">
                <a:latin typeface="Arial"/>
                <a:cs typeface="Arial"/>
              </a:rPr>
              <a:t> </a:t>
            </a:r>
            <a:r>
              <a:rPr sz="900" dirty="0">
                <a:latin typeface="Arial"/>
                <a:cs typeface="Arial"/>
              </a:rPr>
              <a:t>với</a:t>
            </a:r>
            <a:r>
              <a:rPr sz="900" spc="-10" dirty="0">
                <a:latin typeface="Arial"/>
                <a:cs typeface="Arial"/>
              </a:rPr>
              <a:t> </a:t>
            </a:r>
            <a:r>
              <a:rPr sz="900" dirty="0">
                <a:solidFill>
                  <a:srgbClr val="C80000"/>
                </a:solidFill>
                <a:latin typeface="Arial"/>
                <a:cs typeface="Arial"/>
              </a:rPr>
              <a:t>chìa khóa</a:t>
            </a:r>
            <a:r>
              <a:rPr sz="900" spc="-5" dirty="0">
                <a:solidFill>
                  <a:srgbClr val="C80000"/>
                </a:solidFill>
                <a:latin typeface="Arial"/>
                <a:cs typeface="Arial"/>
              </a:rPr>
              <a:t> </a:t>
            </a:r>
            <a:r>
              <a:rPr sz="900" i="1" dirty="0">
                <a:latin typeface="Arial"/>
                <a:cs typeface="Arial"/>
              </a:rPr>
              <a:t>tôi</a:t>
            </a:r>
            <a:r>
              <a:rPr sz="900" i="1" spc="30" dirty="0">
                <a:latin typeface="Arial"/>
                <a:cs typeface="Arial"/>
              </a:rPr>
              <a:t> </a:t>
            </a:r>
            <a:r>
              <a:rPr sz="900" spc="75" dirty="0">
                <a:latin typeface="Apple Symbols"/>
                <a:cs typeface="Apple Symbols"/>
              </a:rPr>
              <a:t>∈</a:t>
            </a:r>
            <a:r>
              <a:rPr sz="900" spc="-100" dirty="0">
                <a:latin typeface="Apple Symbols"/>
                <a:cs typeface="Apple Symbols"/>
              </a:rPr>
              <a:t> </a:t>
            </a:r>
            <a:r>
              <a:rPr sz="900" dirty="0">
                <a:latin typeface="Apple Symbols"/>
                <a:cs typeface="Apple Symbols"/>
              </a:rPr>
              <a:t>{ </a:t>
            </a:r>
            <a:r>
              <a:rPr sz="900" dirty="0">
                <a:latin typeface="Arial"/>
                <a:cs typeface="Arial"/>
              </a:rPr>
              <a:t>0 </a:t>
            </a:r>
            <a:r>
              <a:rPr sz="900" i="1" dirty="0">
                <a:latin typeface="Arial"/>
                <a:cs typeface="Arial"/>
              </a:rPr>
              <a:t>,</a:t>
            </a:r>
            <a:r>
              <a:rPr sz="900" i="1" spc="-155" dirty="0">
                <a:latin typeface="Arial"/>
                <a:cs typeface="Arial"/>
              </a:rPr>
              <a:t> </a:t>
            </a:r>
            <a:r>
              <a:rPr sz="900" spc="-10" dirty="0">
                <a:latin typeface="Arial"/>
                <a:cs typeface="Arial"/>
              </a:rPr>
              <a:t>1 </a:t>
            </a:r>
            <a:r>
              <a:rPr sz="900" i="1" spc="-10" dirty="0">
                <a:latin typeface="Arial"/>
                <a:cs typeface="Arial"/>
              </a:rPr>
              <a:t>,</a:t>
            </a:r>
            <a:r>
              <a:rPr sz="900" i="1" spc="-155" dirty="0">
                <a:latin typeface="Arial"/>
                <a:cs typeface="Arial"/>
              </a:rPr>
              <a:t> </a:t>
            </a:r>
            <a:r>
              <a:rPr sz="900" spc="60" dirty="0">
                <a:latin typeface="Arial"/>
                <a:cs typeface="Arial"/>
              </a:rPr>
              <a:t>2 </a:t>
            </a:r>
            <a:r>
              <a:rPr sz="900" i="1" spc="60" dirty="0">
                <a:latin typeface="Arial"/>
                <a:cs typeface="Arial"/>
              </a:rPr>
              <a:t>,...,</a:t>
            </a:r>
            <a:r>
              <a:rPr sz="900" i="1" spc="-155" dirty="0">
                <a:latin typeface="Arial"/>
                <a:cs typeface="Arial"/>
              </a:rPr>
              <a:t> </a:t>
            </a:r>
            <a:r>
              <a:rPr sz="900" dirty="0">
                <a:latin typeface="Arial"/>
                <a:cs typeface="Arial"/>
              </a:rPr>
              <a:t>2 </a:t>
            </a:r>
            <a:r>
              <a:rPr sz="1050" baseline="27777" dirty="0">
                <a:latin typeface="Arial"/>
                <a:cs typeface="Arial"/>
              </a:rPr>
              <a:t>4</a:t>
            </a:r>
            <a:r>
              <a:rPr sz="1050" spc="-44" baseline="27777" dirty="0">
                <a:latin typeface="Arial"/>
                <a:cs typeface="Arial"/>
              </a:rPr>
              <a:t> </a:t>
            </a:r>
            <a:r>
              <a:rPr sz="900" spc="160" dirty="0">
                <a:latin typeface="Apple Symbols"/>
                <a:cs typeface="Apple Symbols"/>
              </a:rPr>
              <a:t>−</a:t>
            </a:r>
            <a:r>
              <a:rPr sz="900" spc="-180" dirty="0">
                <a:latin typeface="Apple Symbols"/>
                <a:cs typeface="Apple Symbols"/>
              </a:rPr>
              <a:t> </a:t>
            </a:r>
            <a:r>
              <a:rPr sz="900" spc="75" dirty="0">
                <a:latin typeface="Arial"/>
                <a:cs typeface="Arial"/>
              </a:rPr>
              <a:t>1 </a:t>
            </a:r>
            <a:r>
              <a:rPr sz="900" spc="75" dirty="0">
                <a:latin typeface="Apple Symbols"/>
                <a:cs typeface="Apple Symbols"/>
              </a:rPr>
              <a:t>}</a:t>
            </a:r>
            <a:r>
              <a:rPr sz="900" spc="-55" dirty="0">
                <a:latin typeface="Apple Symbols"/>
                <a:cs typeface="Apple Symbols"/>
              </a:rPr>
              <a:t> </a:t>
            </a:r>
            <a:r>
              <a:rPr sz="900" dirty="0">
                <a:latin typeface="Arial"/>
                <a:cs typeface="Arial"/>
              </a:rPr>
              <a:t>có nghĩa</a:t>
            </a:r>
            <a:r>
              <a:rPr sz="900" spc="-10" dirty="0">
                <a:latin typeface="Arial"/>
                <a:cs typeface="Arial"/>
              </a:rPr>
              <a:t> </a:t>
            </a:r>
            <a:r>
              <a:rPr sz="900" dirty="0">
                <a:solidFill>
                  <a:srgbClr val="3333B2"/>
                </a:solidFill>
                <a:latin typeface="Arial"/>
                <a:cs typeface="Arial"/>
              </a:rPr>
              <a:t>lộ trình</a:t>
            </a:r>
            <a:r>
              <a:rPr sz="900" spc="-5" dirty="0">
                <a:solidFill>
                  <a:srgbClr val="3333B2"/>
                </a:solidFill>
                <a:latin typeface="Arial"/>
                <a:cs typeface="Arial"/>
              </a:rPr>
              <a:t> </a:t>
            </a:r>
            <a:r>
              <a:rPr sz="900" dirty="0">
                <a:latin typeface="Arial"/>
                <a:cs typeface="Arial"/>
              </a:rPr>
              <a:t>lời yêu cầu</a:t>
            </a:r>
            <a:r>
              <a:rPr sz="900" spc="-10" dirty="0">
                <a:latin typeface="Arial"/>
                <a:cs typeface="Arial"/>
              </a:rPr>
              <a:t> </a:t>
            </a:r>
            <a:r>
              <a:rPr sz="900" dirty="0">
                <a:latin typeface="Arial"/>
                <a:cs typeface="Arial"/>
              </a:rPr>
              <a:t>ĐẾN</a:t>
            </a:r>
            <a:r>
              <a:rPr sz="900" spc="-10" dirty="0">
                <a:latin typeface="Arial"/>
                <a:cs typeface="Arial"/>
              </a:rPr>
              <a:t> </a:t>
            </a:r>
            <a:r>
              <a:rPr sz="900" spc="-20" dirty="0">
                <a:latin typeface="Arial"/>
                <a:cs typeface="Arial"/>
              </a:rPr>
              <a:t>nút </a:t>
            </a:r>
            <a:r>
              <a:rPr sz="900" dirty="0">
                <a:latin typeface="Arial"/>
                <a:cs typeface="Arial"/>
              </a:rPr>
              <a:t>với</a:t>
            </a:r>
            <a:r>
              <a:rPr sz="900" spc="-35" dirty="0">
                <a:latin typeface="Arial"/>
                <a:cs typeface="Arial"/>
              </a:rPr>
              <a:t> </a:t>
            </a:r>
            <a:r>
              <a:rPr sz="900" dirty="0">
                <a:solidFill>
                  <a:srgbClr val="C80000"/>
                </a:solidFill>
                <a:latin typeface="Arial"/>
                <a:cs typeface="Arial"/>
              </a:rPr>
              <a:t>định danh</a:t>
            </a:r>
            <a:r>
              <a:rPr sz="900" spc="-20" dirty="0">
                <a:solidFill>
                  <a:srgbClr val="C80000"/>
                </a:solidFill>
                <a:latin typeface="Arial"/>
                <a:cs typeface="Arial"/>
              </a:rPr>
              <a:t> </a:t>
            </a:r>
            <a:r>
              <a:rPr sz="900" i="1" spc="-10" dirty="0">
                <a:latin typeface="Arial"/>
                <a:cs typeface="Arial"/>
              </a:rPr>
              <a:t>tôi</a:t>
            </a:r>
            <a:r>
              <a:rPr sz="900" i="1" spc="-165" dirty="0">
                <a:latin typeface="Arial"/>
                <a:cs typeface="Arial"/>
              </a:rPr>
              <a:t> </a:t>
            </a:r>
            <a:r>
              <a:rPr sz="900" spc="-50" dirty="0">
                <a:latin typeface="Arial"/>
                <a:cs typeface="Arial"/>
              </a:rPr>
              <a:t>.</a:t>
            </a:r>
            <a:endParaRPr sz="900">
              <a:latin typeface="Arial"/>
              <a:cs typeface="Arial"/>
            </a:endParaRPr>
          </a:p>
        </p:txBody>
      </p:sp>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9334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Có cấu trúc</a:t>
            </a:r>
            <a:r>
              <a:rPr sz="500" spc="10" dirty="0">
                <a:latin typeface="Arial"/>
                <a:cs typeface="Arial"/>
                <a:hlinkClick r:id="rId5" action="ppaction://hlinksldjump"/>
              </a:rPr>
              <a:t> </a:t>
            </a:r>
            <a:r>
              <a:rPr sz="500" spc="-10" dirty="0">
                <a:latin typeface="Arial"/>
                <a:cs typeface="Arial"/>
                <a:hlinkClick r:id="rId5" action="ppaction://hlinksldjump"/>
              </a:rPr>
              <a:t>ngang </a:t>
            </a:r>
            <a:r>
              <a:rPr sz="500" dirty="0">
                <a:latin typeface="Arial"/>
                <a:cs typeface="Arial"/>
                <a:hlinkClick r:id="rId5" action="ppaction://hlinksldjump"/>
              </a:rPr>
              <a:t>hàng</a:t>
            </a:r>
            <a:r>
              <a:rPr sz="500" spc="10" dirty="0">
                <a:latin typeface="Arial"/>
                <a:cs typeface="Arial"/>
                <a:hlinkClick r:id="rId5" action="ppaction://hlinksldjump"/>
              </a:rPr>
              <a:t> </a:t>
            </a:r>
            <a:r>
              <a:rPr sz="500" spc="-10" dirty="0">
                <a:latin typeface="Arial"/>
                <a:cs typeface="Arial"/>
                <a:hlinkClick r:id="rId5" action="ppaction://hlinksldjump"/>
              </a:rPr>
              <a:t>hệ thống</a:t>
            </a:r>
            <a:endParaRPr sz="500">
              <a:latin typeface="Arial"/>
              <a:cs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Đối xứng</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phân phối</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Ví dụ:</a:t>
            </a:r>
            <a:r>
              <a:rPr spc="15" dirty="0"/>
              <a:t> </a:t>
            </a:r>
            <a:r>
              <a:rPr spc="-10" dirty="0"/>
              <a:t>Dây nhau</a:t>
            </a:r>
          </a:p>
        </p:txBody>
      </p:sp>
      <p:sp>
        <p:nvSpPr>
          <p:cNvPr id="4" name="object 4"/>
          <p:cNvSpPr txBox="1"/>
          <p:nvPr/>
        </p:nvSpPr>
        <p:spPr>
          <a:xfrm>
            <a:off x="334594" y="514774"/>
            <a:ext cx="3960495" cy="1015365"/>
          </a:xfrm>
          <a:prstGeom prst="rect">
            <a:avLst/>
          </a:prstGeom>
        </p:spPr>
        <p:txBody>
          <a:bodyPr vert="horz" wrap="square" lIns="0" tIns="12065" rIns="0" bIns="0" rtlCol="0">
            <a:spAutoFit/>
          </a:bodyPr>
          <a:lstStyle/>
          <a:p>
            <a:pPr marL="25400">
              <a:lnSpc>
                <a:spcPct val="100000"/>
              </a:lnSpc>
              <a:spcBef>
                <a:spcPts val="95"/>
              </a:spcBef>
            </a:pPr>
            <a:r>
              <a:rPr sz="1000" spc="-10" dirty="0">
                <a:solidFill>
                  <a:srgbClr val="3333B2"/>
                </a:solidFill>
                <a:latin typeface="Arial"/>
                <a:cs typeface="Arial"/>
              </a:rPr>
              <a:t>Nguyên tắc</a:t>
            </a:r>
            <a:endParaRPr sz="1000">
              <a:latin typeface="Arial"/>
              <a:cs typeface="Arial"/>
            </a:endParaRPr>
          </a:p>
          <a:p>
            <a:pPr marL="278130" indent="-120650">
              <a:lnSpc>
                <a:spcPct val="100000"/>
              </a:lnSpc>
              <a:spcBef>
                <a:spcPts val="695"/>
              </a:spcBef>
              <a:buClr>
                <a:srgbClr val="3333B2"/>
              </a:buClr>
              <a:buFont typeface="Apple Symbols"/>
              <a:buChar char="•"/>
              <a:tabLst>
                <a:tab pos="278765" algn="l"/>
              </a:tabLst>
            </a:pPr>
            <a:r>
              <a:rPr sz="900" dirty="0">
                <a:latin typeface="Arial"/>
                <a:cs typeface="Arial"/>
              </a:rPr>
              <a:t>Các nút</a:t>
            </a:r>
            <a:r>
              <a:rPr sz="900" spc="-25" dirty="0">
                <a:latin typeface="Arial"/>
                <a:cs typeface="Arial"/>
              </a:rPr>
              <a:t> </a:t>
            </a:r>
            <a:r>
              <a:rPr sz="900" dirty="0">
                <a:latin typeface="Arial"/>
                <a:cs typeface="Arial"/>
              </a:rPr>
              <a:t>là</a:t>
            </a:r>
            <a:r>
              <a:rPr sz="900" spc="-25" dirty="0">
                <a:latin typeface="Arial"/>
                <a:cs typeface="Arial"/>
              </a:rPr>
              <a:t> </a:t>
            </a:r>
            <a:r>
              <a:rPr sz="900" spc="-10" dirty="0">
                <a:latin typeface="Arial"/>
                <a:cs typeface="Arial"/>
              </a:rPr>
              <a:t>một cách hợp lý</a:t>
            </a:r>
            <a:r>
              <a:rPr sz="900" spc="-25" dirty="0">
                <a:latin typeface="Arial"/>
                <a:cs typeface="Arial"/>
              </a:rPr>
              <a:t> </a:t>
            </a:r>
            <a:r>
              <a:rPr sz="900" spc="-10" dirty="0">
                <a:latin typeface="Arial"/>
                <a:cs typeface="Arial"/>
              </a:rPr>
              <a:t>được tổ chức</a:t>
            </a:r>
            <a:r>
              <a:rPr sz="900" spc="-25" dirty="0">
                <a:latin typeface="Arial"/>
                <a:cs typeface="Arial"/>
              </a:rPr>
              <a:t> </a:t>
            </a:r>
            <a:r>
              <a:rPr sz="900" dirty="0">
                <a:latin typeface="Arial"/>
                <a:cs typeface="Arial"/>
              </a:rPr>
              <a:t>TRONG</a:t>
            </a:r>
            <a:r>
              <a:rPr sz="900" spc="-25" dirty="0">
                <a:latin typeface="Arial"/>
                <a:cs typeface="Arial"/>
              </a:rPr>
              <a:t> </a:t>
            </a:r>
            <a:r>
              <a:rPr sz="900" dirty="0">
                <a:latin typeface="Arial"/>
                <a:cs typeface="Arial"/>
              </a:rPr>
              <a:t>Một</a:t>
            </a:r>
            <a:r>
              <a:rPr sz="900" spc="-25" dirty="0">
                <a:latin typeface="Arial"/>
                <a:cs typeface="Arial"/>
              </a:rPr>
              <a:t> </a:t>
            </a:r>
            <a:r>
              <a:rPr sz="900" dirty="0">
                <a:latin typeface="Arial"/>
                <a:cs typeface="Arial"/>
              </a:rPr>
              <a:t>nhẫn.</a:t>
            </a:r>
            <a:r>
              <a:rPr sz="900" spc="30" dirty="0">
                <a:latin typeface="Arial"/>
                <a:cs typeface="Arial"/>
              </a:rPr>
              <a:t> </a:t>
            </a:r>
            <a:r>
              <a:rPr sz="900" dirty="0">
                <a:latin typeface="Arial"/>
                <a:cs typeface="Arial"/>
              </a:rPr>
              <a:t>Mỗi</a:t>
            </a:r>
            <a:r>
              <a:rPr sz="900" spc="-25" dirty="0">
                <a:latin typeface="Arial"/>
                <a:cs typeface="Arial"/>
              </a:rPr>
              <a:t> </a:t>
            </a:r>
            <a:r>
              <a:rPr sz="900" dirty="0">
                <a:latin typeface="Arial"/>
                <a:cs typeface="Arial"/>
              </a:rPr>
              <a:t>nút</a:t>
            </a:r>
            <a:r>
              <a:rPr sz="900" spc="-25" dirty="0">
                <a:latin typeface="Arial"/>
                <a:cs typeface="Arial"/>
              </a:rPr>
              <a:t> </a:t>
            </a:r>
            <a:r>
              <a:rPr sz="900" dirty="0">
                <a:latin typeface="Arial"/>
                <a:cs typeface="Arial"/>
              </a:rPr>
              <a:t>có</a:t>
            </a:r>
            <a:r>
              <a:rPr sz="900" spc="-25" dirty="0">
                <a:latin typeface="Arial"/>
                <a:cs typeface="Arial"/>
              </a:rPr>
              <a:t> </a:t>
            </a:r>
            <a:r>
              <a:rPr sz="900" dirty="0">
                <a:latin typeface="Arial"/>
                <a:cs typeface="Arial"/>
              </a:rPr>
              <a:t>MỘT</a:t>
            </a:r>
            <a:r>
              <a:rPr sz="900" spc="-25" dirty="0">
                <a:latin typeface="Arial"/>
                <a:cs typeface="Arial"/>
              </a:rPr>
              <a:t> </a:t>
            </a:r>
            <a:r>
              <a:rPr sz="900" i="1" spc="-10" dirty="0">
                <a:latin typeface="Arial"/>
                <a:cs typeface="Arial"/>
              </a:rPr>
              <a:t>m </a:t>
            </a:r>
            <a:r>
              <a:rPr sz="900" spc="-10" dirty="0">
                <a:latin typeface="Arial"/>
                <a:cs typeface="Arial"/>
              </a:rPr>
              <a:t>- </a:t>
            </a:r>
            <a:r>
              <a:rPr sz="900" dirty="0">
                <a:latin typeface="Arial"/>
                <a:cs typeface="Arial"/>
              </a:rPr>
              <a:t>chút</a:t>
            </a:r>
            <a:r>
              <a:rPr sz="900" spc="-25" dirty="0">
                <a:latin typeface="Arial"/>
                <a:cs typeface="Arial"/>
              </a:rPr>
              <a:t> </a:t>
            </a:r>
            <a:r>
              <a:rPr sz="900" spc="-10" dirty="0">
                <a:solidFill>
                  <a:srgbClr val="C80000"/>
                </a:solidFill>
                <a:latin typeface="Arial"/>
                <a:cs typeface="Arial"/>
              </a:rPr>
              <a:t>định danh </a:t>
            </a:r>
            <a:r>
              <a:rPr sz="900" spc="-10" dirty="0">
                <a:latin typeface="Arial"/>
                <a:cs typeface="Arial"/>
              </a:rPr>
              <a:t>.</a:t>
            </a:r>
            <a:endParaRPr sz="900">
              <a:latin typeface="Arial"/>
              <a:cs typeface="Arial"/>
            </a:endParaRPr>
          </a:p>
          <a:p>
            <a:pPr marL="278130" indent="-120650">
              <a:lnSpc>
                <a:spcPct val="100000"/>
              </a:lnSpc>
              <a:spcBef>
                <a:spcPts val="125"/>
              </a:spcBef>
              <a:buClr>
                <a:srgbClr val="3333B2"/>
              </a:buClr>
              <a:buFont typeface="Apple Symbols"/>
              <a:buChar char="•"/>
              <a:tabLst>
                <a:tab pos="278765" algn="l"/>
              </a:tabLst>
            </a:pPr>
            <a:r>
              <a:rPr sz="900" dirty="0">
                <a:latin typeface="Arial"/>
                <a:cs typeface="Arial"/>
              </a:rPr>
              <a:t>Mỗi</a:t>
            </a:r>
            <a:r>
              <a:rPr sz="900" spc="-20" dirty="0">
                <a:latin typeface="Arial"/>
                <a:cs typeface="Arial"/>
              </a:rPr>
              <a:t> </a:t>
            </a:r>
            <a:r>
              <a:rPr sz="900" dirty="0">
                <a:latin typeface="Arial"/>
                <a:cs typeface="Arial"/>
              </a:rPr>
              <a:t>dữ liệu</a:t>
            </a:r>
            <a:r>
              <a:rPr sz="900" spc="-20" dirty="0">
                <a:latin typeface="Arial"/>
                <a:cs typeface="Arial"/>
              </a:rPr>
              <a:t> </a:t>
            </a:r>
            <a:r>
              <a:rPr sz="900" dirty="0">
                <a:latin typeface="Arial"/>
                <a:cs typeface="Arial"/>
              </a:rPr>
              <a:t>mục </a:t>
            </a:r>
            <a:r>
              <a:rPr sz="900" spc="-20" dirty="0">
                <a:latin typeface="Arial"/>
                <a:cs typeface="Arial"/>
              </a:rPr>
              <a:t> </a:t>
            </a:r>
            <a:r>
              <a:rPr sz="900" dirty="0">
                <a:latin typeface="Arial"/>
                <a:cs typeface="Arial"/>
              </a:rPr>
              <a:t>là</a:t>
            </a:r>
            <a:r>
              <a:rPr sz="900" spc="-20" dirty="0">
                <a:latin typeface="Arial"/>
                <a:cs typeface="Arial"/>
              </a:rPr>
              <a:t> </a:t>
            </a:r>
            <a:r>
              <a:rPr sz="900" dirty="0">
                <a:latin typeface="Arial"/>
                <a:cs typeface="Arial"/>
              </a:rPr>
              <a:t>băm nhỏ</a:t>
            </a:r>
            <a:r>
              <a:rPr sz="900" spc="-20" dirty="0">
                <a:latin typeface="Arial"/>
                <a:cs typeface="Arial"/>
              </a:rPr>
              <a:t> </a:t>
            </a:r>
            <a:r>
              <a:rPr sz="900" dirty="0">
                <a:latin typeface="Arial"/>
                <a:cs typeface="Arial"/>
              </a:rPr>
              <a:t>ĐẾN</a:t>
            </a:r>
            <a:r>
              <a:rPr sz="900" spc="-20" dirty="0">
                <a:latin typeface="Arial"/>
                <a:cs typeface="Arial"/>
              </a:rPr>
              <a:t> </a:t>
            </a:r>
            <a:r>
              <a:rPr sz="900" dirty="0">
                <a:latin typeface="Arial"/>
                <a:cs typeface="Arial"/>
              </a:rPr>
              <a:t>MỘT</a:t>
            </a:r>
            <a:r>
              <a:rPr sz="900" spc="-15" dirty="0">
                <a:latin typeface="Arial"/>
                <a:cs typeface="Arial"/>
              </a:rPr>
              <a:t> </a:t>
            </a:r>
            <a:r>
              <a:rPr sz="900" i="1" dirty="0">
                <a:latin typeface="Arial"/>
                <a:cs typeface="Arial"/>
              </a:rPr>
              <a:t>m </a:t>
            </a:r>
            <a:r>
              <a:rPr sz="900" dirty="0">
                <a:latin typeface="Arial"/>
                <a:cs typeface="Arial"/>
              </a:rPr>
              <a:t>-bit</a:t>
            </a:r>
            <a:r>
              <a:rPr sz="900" spc="-20" dirty="0">
                <a:latin typeface="Arial"/>
                <a:cs typeface="Arial"/>
              </a:rPr>
              <a:t> </a:t>
            </a:r>
            <a:r>
              <a:rPr sz="900" spc="-20" dirty="0">
                <a:solidFill>
                  <a:srgbClr val="C80000"/>
                </a:solidFill>
                <a:latin typeface="Arial"/>
                <a:cs typeface="Arial"/>
              </a:rPr>
              <a:t>chìa khóa </a:t>
            </a:r>
            <a:r>
              <a:rPr sz="900" spc="-20" dirty="0">
                <a:latin typeface="Arial"/>
                <a:cs typeface="Arial"/>
              </a:rPr>
              <a:t>.</a:t>
            </a:r>
            <a:endParaRPr sz="900">
              <a:latin typeface="Arial"/>
              <a:cs typeface="Arial"/>
            </a:endParaRPr>
          </a:p>
          <a:p>
            <a:pPr marL="278130" marR="259079" indent="-120650">
              <a:lnSpc>
                <a:spcPct val="111600"/>
              </a:lnSpc>
              <a:buClr>
                <a:srgbClr val="3333B2"/>
              </a:buClr>
              <a:buFont typeface="Apple Symbols"/>
              <a:buChar char="•"/>
              <a:tabLst>
                <a:tab pos="278765" algn="l"/>
              </a:tabLst>
            </a:pPr>
            <a:r>
              <a:rPr sz="900" dirty="0">
                <a:latin typeface="Arial"/>
                <a:cs typeface="Arial"/>
              </a:rPr>
              <a:t>Dữ liệu</a:t>
            </a:r>
            <a:r>
              <a:rPr sz="900" spc="-45" dirty="0">
                <a:latin typeface="Arial"/>
                <a:cs typeface="Arial"/>
              </a:rPr>
              <a:t> </a:t>
            </a:r>
            <a:r>
              <a:rPr sz="900" dirty="0">
                <a:latin typeface="Arial"/>
                <a:cs typeface="Arial"/>
              </a:rPr>
              <a:t>mục </a:t>
            </a:r>
            <a:r>
              <a:rPr sz="900" spc="-20" dirty="0">
                <a:latin typeface="Arial"/>
                <a:cs typeface="Arial"/>
              </a:rPr>
              <a:t> </a:t>
            </a:r>
            <a:r>
              <a:rPr sz="900" dirty="0">
                <a:latin typeface="Arial"/>
                <a:cs typeface="Arial"/>
              </a:rPr>
              <a:t>với</a:t>
            </a:r>
            <a:r>
              <a:rPr sz="900" spc="-25" dirty="0">
                <a:latin typeface="Arial"/>
                <a:cs typeface="Arial"/>
              </a:rPr>
              <a:t> </a:t>
            </a:r>
            <a:r>
              <a:rPr sz="900" dirty="0">
                <a:latin typeface="Arial"/>
                <a:cs typeface="Arial"/>
              </a:rPr>
              <a:t>chìa khóa</a:t>
            </a:r>
            <a:r>
              <a:rPr sz="900" spc="-20" dirty="0">
                <a:latin typeface="Arial"/>
                <a:cs typeface="Arial"/>
              </a:rPr>
              <a:t> </a:t>
            </a:r>
            <a:r>
              <a:rPr sz="900" i="1" dirty="0">
                <a:latin typeface="Arial"/>
                <a:cs typeface="Arial"/>
              </a:rPr>
              <a:t>tôi</a:t>
            </a:r>
            <a:r>
              <a:rPr sz="900" i="1" spc="60" dirty="0">
                <a:latin typeface="Arial"/>
                <a:cs typeface="Arial"/>
              </a:rPr>
              <a:t> </a:t>
            </a:r>
            <a:r>
              <a:rPr sz="900" dirty="0">
                <a:latin typeface="Arial"/>
                <a:cs typeface="Arial"/>
              </a:rPr>
              <a:t>là</a:t>
            </a:r>
            <a:r>
              <a:rPr sz="900" spc="-20" dirty="0">
                <a:latin typeface="Arial"/>
                <a:cs typeface="Arial"/>
              </a:rPr>
              <a:t> </a:t>
            </a:r>
            <a:r>
              <a:rPr sz="900" dirty="0">
                <a:latin typeface="Arial"/>
                <a:cs typeface="Arial"/>
              </a:rPr>
              <a:t>được lưu trữ</a:t>
            </a:r>
            <a:r>
              <a:rPr sz="900" spc="-25" dirty="0">
                <a:latin typeface="Arial"/>
                <a:cs typeface="Arial"/>
              </a:rPr>
              <a:t> </a:t>
            </a:r>
            <a:r>
              <a:rPr sz="900" dirty="0">
                <a:latin typeface="Arial"/>
                <a:cs typeface="Arial"/>
              </a:rPr>
              <a:t>Tại</a:t>
            </a:r>
            <a:r>
              <a:rPr sz="900" spc="-20" dirty="0">
                <a:latin typeface="Arial"/>
                <a:cs typeface="Arial"/>
              </a:rPr>
              <a:t> </a:t>
            </a:r>
            <a:r>
              <a:rPr sz="900" dirty="0">
                <a:latin typeface="Arial"/>
                <a:cs typeface="Arial"/>
              </a:rPr>
              <a:t>nút</a:t>
            </a:r>
            <a:r>
              <a:rPr sz="900" spc="-25" dirty="0">
                <a:latin typeface="Arial"/>
                <a:cs typeface="Arial"/>
              </a:rPr>
              <a:t> </a:t>
            </a:r>
            <a:r>
              <a:rPr sz="900" dirty="0">
                <a:latin typeface="Arial"/>
                <a:cs typeface="Arial"/>
              </a:rPr>
              <a:t>với</a:t>
            </a:r>
            <a:r>
              <a:rPr sz="900" spc="-20" dirty="0">
                <a:latin typeface="Arial"/>
                <a:cs typeface="Arial"/>
              </a:rPr>
              <a:t> </a:t>
            </a:r>
            <a:r>
              <a:rPr sz="900" dirty="0">
                <a:latin typeface="Arial"/>
                <a:cs typeface="Arial"/>
              </a:rPr>
              <a:t>nhỏ nhất</a:t>
            </a:r>
            <a:r>
              <a:rPr sz="900" spc="-25" dirty="0">
                <a:latin typeface="Arial"/>
                <a:cs typeface="Arial"/>
              </a:rPr>
              <a:t> </a:t>
            </a:r>
            <a:r>
              <a:rPr sz="900" dirty="0">
                <a:latin typeface="Arial"/>
                <a:cs typeface="Arial"/>
              </a:rPr>
              <a:t>định danh</a:t>
            </a:r>
            <a:r>
              <a:rPr sz="900" spc="-20" dirty="0">
                <a:latin typeface="Arial"/>
                <a:cs typeface="Arial"/>
              </a:rPr>
              <a:t> </a:t>
            </a:r>
            <a:r>
              <a:rPr sz="900" i="1" dirty="0">
                <a:latin typeface="Arial"/>
                <a:cs typeface="Arial"/>
              </a:rPr>
              <a:t>nhận dạng</a:t>
            </a:r>
            <a:r>
              <a:rPr sz="900" i="1" spc="15" dirty="0">
                <a:latin typeface="Arial"/>
                <a:cs typeface="Arial"/>
              </a:rPr>
              <a:t> </a:t>
            </a:r>
            <a:r>
              <a:rPr sz="900" spc="114" dirty="0">
                <a:latin typeface="Apple Symbols"/>
                <a:cs typeface="Apple Symbols"/>
              </a:rPr>
              <a:t>≥</a:t>
            </a:r>
            <a:r>
              <a:rPr sz="900" spc="-105" dirty="0">
                <a:latin typeface="Apple Symbols"/>
                <a:cs typeface="Apple Symbols"/>
              </a:rPr>
              <a:t> </a:t>
            </a:r>
            <a:r>
              <a:rPr sz="900" i="1" spc="-10" dirty="0">
                <a:latin typeface="Arial"/>
                <a:cs typeface="Arial"/>
              </a:rPr>
              <a:t>tôi</a:t>
            </a:r>
            <a:r>
              <a:rPr sz="900" i="1" spc="-165" dirty="0">
                <a:latin typeface="Arial"/>
                <a:cs typeface="Arial"/>
              </a:rPr>
              <a:t> </a:t>
            </a:r>
            <a:r>
              <a:rPr sz="900" spc="-50" dirty="0">
                <a:latin typeface="Arial"/>
                <a:cs typeface="Arial"/>
              </a:rPr>
              <a:t>, </a:t>
            </a:r>
            <a:r>
              <a:rPr sz="900" dirty="0">
                <a:latin typeface="Arial"/>
                <a:cs typeface="Arial"/>
              </a:rPr>
              <a:t>gọi điện</a:t>
            </a:r>
            <a:r>
              <a:rPr sz="900" spc="-40" dirty="0">
                <a:latin typeface="Arial"/>
                <a:cs typeface="Arial"/>
              </a:rPr>
              <a:t> </a:t>
            </a:r>
            <a:r>
              <a:rPr sz="900" dirty="0">
                <a:latin typeface="Arial"/>
                <a:cs typeface="Arial"/>
              </a:rPr>
              <a:t>cái</a:t>
            </a:r>
            <a:r>
              <a:rPr sz="900" spc="-30" dirty="0">
                <a:latin typeface="Arial"/>
                <a:cs typeface="Arial"/>
              </a:rPr>
              <a:t> </a:t>
            </a:r>
            <a:r>
              <a:rPr sz="900" dirty="0">
                <a:solidFill>
                  <a:srgbClr val="C80000"/>
                </a:solidFill>
                <a:latin typeface="Arial"/>
                <a:cs typeface="Arial"/>
              </a:rPr>
              <a:t>người kế nhiệm</a:t>
            </a:r>
            <a:r>
              <a:rPr sz="900" spc="-30" dirty="0">
                <a:solidFill>
                  <a:srgbClr val="C80000"/>
                </a:solidFill>
                <a:latin typeface="Arial"/>
                <a:cs typeface="Arial"/>
              </a:rPr>
              <a:t> </a:t>
            </a:r>
            <a:r>
              <a:rPr sz="900" dirty="0">
                <a:latin typeface="Arial"/>
                <a:cs typeface="Arial"/>
              </a:rPr>
              <a:t>của</a:t>
            </a:r>
            <a:r>
              <a:rPr sz="900" spc="-30" dirty="0">
                <a:latin typeface="Arial"/>
                <a:cs typeface="Arial"/>
              </a:rPr>
              <a:t> </a:t>
            </a:r>
            <a:r>
              <a:rPr sz="900" dirty="0">
                <a:latin typeface="Arial"/>
                <a:cs typeface="Arial"/>
              </a:rPr>
              <a:t>chìa khóa</a:t>
            </a:r>
            <a:r>
              <a:rPr sz="900" spc="-30" dirty="0">
                <a:latin typeface="Arial"/>
                <a:cs typeface="Arial"/>
              </a:rPr>
              <a:t> </a:t>
            </a:r>
            <a:r>
              <a:rPr sz="900" i="1" spc="-10" dirty="0">
                <a:latin typeface="Arial"/>
                <a:cs typeface="Arial"/>
              </a:rPr>
              <a:t>tôi</a:t>
            </a:r>
            <a:r>
              <a:rPr sz="900" i="1" spc="-165" dirty="0">
                <a:latin typeface="Arial"/>
                <a:cs typeface="Arial"/>
              </a:rPr>
              <a:t> </a:t>
            </a:r>
            <a:r>
              <a:rPr sz="900" spc="-50" dirty="0">
                <a:latin typeface="Arial"/>
                <a:cs typeface="Arial"/>
              </a:rPr>
              <a:t>.</a:t>
            </a:r>
            <a:endParaRPr sz="900">
              <a:latin typeface="Arial"/>
              <a:cs typeface="Arial"/>
            </a:endParaRPr>
          </a:p>
          <a:p>
            <a:pPr marL="274320" indent="-116839">
              <a:lnSpc>
                <a:spcPct val="100000"/>
              </a:lnSpc>
              <a:spcBef>
                <a:spcPts val="125"/>
              </a:spcBef>
              <a:buClr>
                <a:srgbClr val="3333B2"/>
              </a:buClr>
              <a:buFont typeface="Apple Symbols"/>
              <a:buChar char="•"/>
              <a:tabLst>
                <a:tab pos="274955" algn="l"/>
              </a:tabLst>
            </a:pPr>
            <a:r>
              <a:rPr sz="900" dirty="0">
                <a:latin typeface="Arial"/>
                <a:cs typeface="Arial"/>
              </a:rPr>
              <a:t>Các</a:t>
            </a:r>
            <a:r>
              <a:rPr sz="900" spc="-20" dirty="0">
                <a:latin typeface="Arial"/>
                <a:cs typeface="Arial"/>
              </a:rPr>
              <a:t> </a:t>
            </a:r>
            <a:r>
              <a:rPr sz="900" dirty="0">
                <a:latin typeface="Arial"/>
                <a:cs typeface="Arial"/>
              </a:rPr>
              <a:t>nhẫn</a:t>
            </a:r>
            <a:r>
              <a:rPr sz="900" spc="-15" dirty="0">
                <a:latin typeface="Arial"/>
                <a:cs typeface="Arial"/>
              </a:rPr>
              <a:t> </a:t>
            </a:r>
            <a:r>
              <a:rPr sz="900" dirty="0">
                <a:latin typeface="Arial"/>
                <a:cs typeface="Arial"/>
              </a:rPr>
              <a:t>là</a:t>
            </a:r>
            <a:r>
              <a:rPr sz="900" spc="-20" dirty="0">
                <a:latin typeface="Arial"/>
                <a:cs typeface="Arial"/>
              </a:rPr>
              <a:t> </a:t>
            </a:r>
            <a:r>
              <a:rPr sz="900" spc="-10" dirty="0">
                <a:latin typeface="Arial"/>
                <a:cs typeface="Arial"/>
              </a:rPr>
              <a:t>mở rộng</a:t>
            </a:r>
            <a:r>
              <a:rPr sz="900" spc="-15" dirty="0">
                <a:latin typeface="Arial"/>
                <a:cs typeface="Arial"/>
              </a:rPr>
              <a:t> </a:t>
            </a:r>
            <a:r>
              <a:rPr sz="900" dirty="0">
                <a:latin typeface="Arial"/>
                <a:cs typeface="Arial"/>
              </a:rPr>
              <a:t>với</a:t>
            </a:r>
            <a:r>
              <a:rPr sz="900" spc="-15" dirty="0">
                <a:latin typeface="Arial"/>
                <a:cs typeface="Arial"/>
              </a:rPr>
              <a:t> </a:t>
            </a:r>
            <a:r>
              <a:rPr sz="900" dirty="0">
                <a:latin typeface="Arial"/>
                <a:cs typeface="Arial"/>
              </a:rPr>
              <a:t>nhiều</a:t>
            </a:r>
            <a:r>
              <a:rPr sz="900" spc="-20" dirty="0">
                <a:latin typeface="Arial"/>
                <a:cs typeface="Arial"/>
              </a:rPr>
              <a:t> </a:t>
            </a:r>
            <a:r>
              <a:rPr sz="900" dirty="0">
                <a:solidFill>
                  <a:srgbClr val="3333B2"/>
                </a:solidFill>
                <a:latin typeface="Arial"/>
                <a:cs typeface="Arial"/>
              </a:rPr>
              <a:t>lối tắt</a:t>
            </a:r>
            <a:r>
              <a:rPr sz="900" spc="-15" dirty="0">
                <a:solidFill>
                  <a:srgbClr val="3333B2"/>
                </a:solidFill>
                <a:latin typeface="Arial"/>
                <a:cs typeface="Arial"/>
              </a:rPr>
              <a:t> </a:t>
            </a:r>
            <a:r>
              <a:rPr sz="900" dirty="0">
                <a:solidFill>
                  <a:srgbClr val="3333B2"/>
                </a:solidFill>
                <a:latin typeface="Arial"/>
                <a:cs typeface="Arial"/>
              </a:rPr>
              <a:t>liên kết</a:t>
            </a:r>
            <a:r>
              <a:rPr sz="900" spc="-15" dirty="0">
                <a:solidFill>
                  <a:srgbClr val="3333B2"/>
                </a:solidFill>
                <a:latin typeface="Arial"/>
                <a:cs typeface="Arial"/>
              </a:rPr>
              <a:t> </a:t>
            </a:r>
            <a:r>
              <a:rPr sz="900" dirty="0">
                <a:latin typeface="Arial"/>
                <a:cs typeface="Arial"/>
              </a:rPr>
              <a:t>ĐẾN</a:t>
            </a:r>
            <a:r>
              <a:rPr sz="900" spc="-20" dirty="0">
                <a:latin typeface="Arial"/>
                <a:cs typeface="Arial"/>
              </a:rPr>
              <a:t> </a:t>
            </a:r>
            <a:r>
              <a:rPr sz="900" dirty="0">
                <a:latin typeface="Arial"/>
                <a:cs typeface="Arial"/>
              </a:rPr>
              <a:t>khác</a:t>
            </a:r>
            <a:r>
              <a:rPr sz="900" spc="-15" dirty="0">
                <a:latin typeface="Arial"/>
                <a:cs typeface="Arial"/>
              </a:rPr>
              <a:t> </a:t>
            </a:r>
            <a:r>
              <a:rPr sz="900" spc="-10" dirty="0">
                <a:latin typeface="Arial"/>
                <a:cs typeface="Arial"/>
              </a:rPr>
              <a:t>các nút.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9334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Có cấu trúc</a:t>
            </a:r>
            <a:r>
              <a:rPr sz="500" spc="10" dirty="0">
                <a:latin typeface="Arial"/>
                <a:cs typeface="Arial"/>
                <a:hlinkClick r:id="rId4" action="ppaction://hlinksldjump"/>
              </a:rPr>
              <a:t> </a:t>
            </a:r>
            <a:r>
              <a:rPr sz="500" spc="-10" dirty="0">
                <a:latin typeface="Arial"/>
                <a:cs typeface="Arial"/>
                <a:hlinkClick r:id="rId4" action="ppaction://hlinksldjump"/>
              </a:rPr>
              <a:t>ngang </a:t>
            </a:r>
            <a:r>
              <a:rPr sz="500" dirty="0">
                <a:latin typeface="Arial"/>
                <a:cs typeface="Arial"/>
                <a:hlinkClick r:id="rId4" action="ppaction://hlinksldjump"/>
              </a:rPr>
              <a:t>hàng</a:t>
            </a:r>
            <a:r>
              <a:rPr sz="500" spc="10" dirty="0">
                <a:latin typeface="Arial"/>
                <a:cs typeface="Arial"/>
                <a:hlinkClick r:id="rId4" action="ppaction://hlinksldjump"/>
              </a:rPr>
              <a:t> </a:t>
            </a:r>
            <a:r>
              <a:rPr sz="500" spc="-10" dirty="0">
                <a:latin typeface="Arial"/>
                <a:cs typeface="Arial"/>
                <a:hlinkClick r:id="rId4" action="ppaction://hlinksldjump"/>
              </a:rPr>
              <a:t>hệ thống</a:t>
            </a:r>
            <a:endParaRPr sz="500">
              <a:latin typeface="Arial"/>
              <a:cs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227832" y="-1515"/>
            <a:ext cx="132715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Đối xứng</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phân phối</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95300" y="197711"/>
            <a:ext cx="112395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Ví dụ:</a:t>
            </a:r>
            <a:r>
              <a:rPr sz="1200" spc="15" dirty="0">
                <a:solidFill>
                  <a:srgbClr val="3333B2"/>
                </a:solidFill>
                <a:latin typeface="Arial"/>
                <a:cs typeface="Arial"/>
              </a:rPr>
              <a:t> </a:t>
            </a:r>
            <a:r>
              <a:rPr sz="1200" spc="-10" dirty="0">
                <a:solidFill>
                  <a:srgbClr val="3333B2"/>
                </a:solidFill>
                <a:latin typeface="Arial"/>
                <a:cs typeface="Arial"/>
              </a:rPr>
              <a:t>Dây nhau</a:t>
            </a:r>
            <a:endParaRPr sz="1200">
              <a:latin typeface="Arial"/>
              <a:cs typeface="Arial"/>
            </a:endParaRPr>
          </a:p>
        </p:txBody>
      </p:sp>
      <p:pic>
        <p:nvPicPr>
          <p:cNvPr id="6" name="object 6"/>
          <p:cNvPicPr/>
          <p:nvPr/>
        </p:nvPicPr>
        <p:blipFill>
          <a:blip r:embed="rId4" cstate="print"/>
          <a:stretch>
            <a:fillRect/>
          </a:stretch>
        </p:blipFill>
        <p:spPr>
          <a:xfrm>
            <a:off x="476431" y="678294"/>
            <a:ext cx="3725499" cy="2397023"/>
          </a:xfrm>
          <a:prstGeom prst="rect">
            <a:avLst/>
          </a:prstGeom>
        </p:spPr>
      </p:pic>
      <p:sp>
        <p:nvSpPr>
          <p:cNvPr id="7" name="object 7"/>
          <p:cNvSpPr txBox="1"/>
          <p:nvPr/>
        </p:nvSpPr>
        <p:spPr>
          <a:xfrm>
            <a:off x="1661782" y="3115762"/>
            <a:ext cx="1322070" cy="162560"/>
          </a:xfrm>
          <a:prstGeom prst="rect">
            <a:avLst/>
          </a:prstGeom>
        </p:spPr>
        <p:txBody>
          <a:bodyPr vert="horz" wrap="square" lIns="0" tIns="12065" rIns="0" bIns="0" rtlCol="0">
            <a:spAutoFit/>
          </a:bodyPr>
          <a:lstStyle/>
          <a:p>
            <a:pPr marL="12700">
              <a:lnSpc>
                <a:spcPct val="100000"/>
              </a:lnSpc>
              <a:spcBef>
                <a:spcPts val="95"/>
              </a:spcBef>
            </a:pPr>
            <a:r>
              <a:rPr sz="900" i="1" spc="-25" dirty="0">
                <a:latin typeface="Arial"/>
                <a:cs typeface="Arial"/>
              </a:rPr>
              <a:t>tra cứu </a:t>
            </a:r>
            <a:r>
              <a:rPr sz="900" spc="-25" dirty="0">
                <a:latin typeface="Arial"/>
                <a:cs typeface="Arial"/>
              </a:rPr>
              <a:t>(3)@9</a:t>
            </a:r>
            <a:r>
              <a:rPr sz="900" spc="-45" dirty="0">
                <a:latin typeface="Arial"/>
                <a:cs typeface="Arial"/>
              </a:rPr>
              <a:t> </a:t>
            </a:r>
            <a:r>
              <a:rPr sz="900" dirty="0">
                <a:latin typeface="Arial"/>
                <a:cs typeface="Arial"/>
              </a:rPr>
              <a:t>:</a:t>
            </a:r>
            <a:r>
              <a:rPr sz="900" spc="-45" dirty="0">
                <a:latin typeface="Arial"/>
                <a:cs typeface="Arial"/>
              </a:rPr>
              <a:t> </a:t>
            </a:r>
            <a:r>
              <a:rPr sz="900" spc="-10" dirty="0">
                <a:latin typeface="Arial"/>
                <a:cs typeface="Arial"/>
              </a:rPr>
              <a:t>28</a:t>
            </a:r>
            <a:r>
              <a:rPr sz="900" spc="-45" dirty="0">
                <a:latin typeface="Arial"/>
                <a:cs typeface="Arial"/>
              </a:rPr>
              <a:t> </a:t>
            </a:r>
            <a:r>
              <a:rPr sz="900" spc="245" dirty="0">
                <a:latin typeface="Apple Symbols"/>
                <a:cs typeface="Apple Symbols"/>
              </a:rPr>
              <a:t>→</a:t>
            </a:r>
            <a:r>
              <a:rPr sz="900" spc="-95" dirty="0">
                <a:latin typeface="Apple Symbols"/>
                <a:cs typeface="Apple Symbols"/>
              </a:rPr>
              <a:t> </a:t>
            </a:r>
            <a:r>
              <a:rPr sz="900" dirty="0">
                <a:latin typeface="Arial"/>
                <a:cs typeface="Arial"/>
              </a:rPr>
              <a:t>1</a:t>
            </a:r>
            <a:r>
              <a:rPr sz="900" spc="-45" dirty="0">
                <a:latin typeface="Arial"/>
                <a:cs typeface="Arial"/>
              </a:rPr>
              <a:t> </a:t>
            </a:r>
            <a:r>
              <a:rPr sz="900" spc="245" dirty="0">
                <a:latin typeface="Apple Symbols"/>
                <a:cs typeface="Apple Symbols"/>
              </a:rPr>
              <a:t>→</a:t>
            </a:r>
            <a:r>
              <a:rPr sz="900" spc="-95" dirty="0">
                <a:latin typeface="Apple Symbols"/>
                <a:cs typeface="Apple Symbols"/>
              </a:rPr>
              <a:t> </a:t>
            </a:r>
            <a:r>
              <a:rPr sz="900" spc="-50" dirty="0">
                <a:latin typeface="Arial"/>
                <a:cs typeface="Arial"/>
              </a:rPr>
              <a:t>4</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9334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Có cấu trúc</a:t>
            </a:r>
            <a:r>
              <a:rPr sz="500" spc="10" dirty="0">
                <a:latin typeface="Arial"/>
                <a:cs typeface="Arial"/>
                <a:hlinkClick r:id="rId5" action="ppaction://hlinksldjump"/>
              </a:rPr>
              <a:t> </a:t>
            </a:r>
            <a:r>
              <a:rPr sz="500" spc="-10" dirty="0">
                <a:latin typeface="Arial"/>
                <a:cs typeface="Arial"/>
                <a:hlinkClick r:id="rId5" action="ppaction://hlinksldjump"/>
              </a:rPr>
              <a:t>ngang </a:t>
            </a:r>
            <a:r>
              <a:rPr sz="500" dirty="0">
                <a:latin typeface="Arial"/>
                <a:cs typeface="Arial"/>
                <a:hlinkClick r:id="rId5" action="ppaction://hlinksldjump"/>
              </a:rPr>
              <a:t>hàng</a:t>
            </a:r>
            <a:r>
              <a:rPr sz="500" spc="10" dirty="0">
                <a:latin typeface="Arial"/>
                <a:cs typeface="Arial"/>
                <a:hlinkClick r:id="rId5" action="ppaction://hlinksldjump"/>
              </a:rPr>
              <a:t> </a:t>
            </a:r>
            <a:r>
              <a:rPr sz="500" spc="-10" dirty="0">
                <a:latin typeface="Arial"/>
                <a:cs typeface="Arial"/>
                <a:hlinkClick r:id="rId5" action="ppaction://hlinksldjump"/>
              </a:rPr>
              <a:t>hệ thống</a:t>
            </a:r>
            <a:endParaRPr sz="500">
              <a:latin typeface="Arial"/>
              <a:cs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Đối xứng</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phân phối</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Không có cấu trúc</a:t>
            </a:r>
            <a:r>
              <a:rPr spc="-60" dirty="0"/>
              <a:t> </a:t>
            </a:r>
            <a:r>
              <a:rPr spc="-25" dirty="0"/>
              <a:t>ngang hàng</a:t>
            </a:r>
          </a:p>
        </p:txBody>
      </p:sp>
      <p:sp>
        <p:nvSpPr>
          <p:cNvPr id="4" name="object 4"/>
          <p:cNvSpPr txBox="1"/>
          <p:nvPr/>
        </p:nvSpPr>
        <p:spPr>
          <a:xfrm>
            <a:off x="334594" y="499476"/>
            <a:ext cx="3940810" cy="2101215"/>
          </a:xfrm>
          <a:prstGeom prst="rect">
            <a:avLst/>
          </a:prstGeom>
        </p:spPr>
        <p:txBody>
          <a:bodyPr vert="horz" wrap="square" lIns="0" tIns="27305" rIns="0" bIns="0" rtlCol="0">
            <a:spAutoFit/>
          </a:bodyPr>
          <a:lstStyle/>
          <a:p>
            <a:pPr marL="25400">
              <a:lnSpc>
                <a:spcPct val="100000"/>
              </a:lnSpc>
              <a:spcBef>
                <a:spcPts val="215"/>
              </a:spcBef>
            </a:pPr>
            <a:r>
              <a:rPr sz="1000" spc="-10" dirty="0">
                <a:solidFill>
                  <a:srgbClr val="3333B2"/>
                </a:solidFill>
                <a:latin typeface="Arial"/>
                <a:cs typeface="Arial"/>
              </a:rPr>
              <a:t>Nước hoa</a:t>
            </a:r>
            <a:endParaRPr sz="1000">
              <a:latin typeface="Arial"/>
              <a:cs typeface="Arial"/>
            </a:endParaRPr>
          </a:p>
          <a:p>
            <a:pPr marL="25400" marR="17780">
              <a:lnSpc>
                <a:spcPts val="1210"/>
              </a:lnSpc>
              <a:spcBef>
                <a:spcPts val="35"/>
              </a:spcBef>
            </a:pPr>
            <a:r>
              <a:rPr sz="900" dirty="0">
                <a:latin typeface="Arial"/>
                <a:cs typeface="Arial"/>
              </a:rPr>
              <a:t>Mỗi</a:t>
            </a:r>
            <a:r>
              <a:rPr sz="900" spc="-30" dirty="0">
                <a:latin typeface="Arial"/>
                <a:cs typeface="Arial"/>
              </a:rPr>
              <a:t> </a:t>
            </a:r>
            <a:r>
              <a:rPr sz="900" dirty="0">
                <a:latin typeface="Arial"/>
                <a:cs typeface="Arial"/>
              </a:rPr>
              <a:t>nút</a:t>
            </a:r>
            <a:r>
              <a:rPr sz="900" spc="-25" dirty="0">
                <a:latin typeface="Arial"/>
                <a:cs typeface="Arial"/>
              </a:rPr>
              <a:t> </a:t>
            </a:r>
            <a:r>
              <a:rPr sz="900" dirty="0">
                <a:latin typeface="Arial"/>
                <a:cs typeface="Arial"/>
              </a:rPr>
              <a:t>duy trì</a:t>
            </a:r>
            <a:r>
              <a:rPr sz="900" spc="-25" dirty="0">
                <a:latin typeface="Arial"/>
                <a:cs typeface="Arial"/>
              </a:rPr>
              <a:t> </a:t>
            </a:r>
            <a:r>
              <a:rPr sz="900" dirty="0">
                <a:latin typeface="Arial"/>
                <a:cs typeface="Arial"/>
              </a:rPr>
              <a:t>MỘT</a:t>
            </a:r>
            <a:r>
              <a:rPr sz="900" spc="-25" dirty="0">
                <a:latin typeface="Arial"/>
                <a:cs typeface="Arial"/>
              </a:rPr>
              <a:t> </a:t>
            </a:r>
            <a:r>
              <a:rPr sz="900" dirty="0">
                <a:latin typeface="Arial"/>
                <a:cs typeface="Arial"/>
              </a:rPr>
              <a:t>quảng cáo</a:t>
            </a:r>
            <a:r>
              <a:rPr sz="900" spc="-30" dirty="0">
                <a:latin typeface="Arial"/>
                <a:cs typeface="Arial"/>
              </a:rPr>
              <a:t> </a:t>
            </a:r>
            <a:r>
              <a:rPr sz="900" dirty="0">
                <a:latin typeface="Arial"/>
                <a:cs typeface="Arial"/>
              </a:rPr>
              <a:t>học</a:t>
            </a:r>
            <a:r>
              <a:rPr sz="900" spc="-25" dirty="0">
                <a:latin typeface="Arial"/>
                <a:cs typeface="Arial"/>
              </a:rPr>
              <a:t> </a:t>
            </a:r>
            <a:r>
              <a:rPr sz="900" dirty="0">
                <a:latin typeface="Arial"/>
                <a:cs typeface="Arial"/>
              </a:rPr>
              <a:t>danh sách</a:t>
            </a:r>
            <a:r>
              <a:rPr sz="900" spc="-25" dirty="0">
                <a:latin typeface="Arial"/>
                <a:cs typeface="Arial"/>
              </a:rPr>
              <a:t> </a:t>
            </a:r>
            <a:r>
              <a:rPr sz="900" dirty="0">
                <a:latin typeface="Arial"/>
                <a:cs typeface="Arial"/>
              </a:rPr>
              <a:t>của</a:t>
            </a:r>
            <a:r>
              <a:rPr sz="900" spc="-25" dirty="0">
                <a:latin typeface="Arial"/>
                <a:cs typeface="Arial"/>
              </a:rPr>
              <a:t> </a:t>
            </a:r>
            <a:r>
              <a:rPr sz="900" dirty="0">
                <a:latin typeface="Arial"/>
                <a:cs typeface="Arial"/>
              </a:rPr>
              <a:t>hàng xóm.</a:t>
            </a:r>
            <a:r>
              <a:rPr sz="900" spc="25" dirty="0">
                <a:latin typeface="Arial"/>
                <a:cs typeface="Arial"/>
              </a:rPr>
              <a:t> </a:t>
            </a:r>
            <a:r>
              <a:rPr sz="900" dirty="0">
                <a:latin typeface="Arial"/>
                <a:cs typeface="Arial"/>
              </a:rPr>
              <a:t>Các</a:t>
            </a:r>
            <a:r>
              <a:rPr sz="900" spc="-25" dirty="0">
                <a:latin typeface="Arial"/>
                <a:cs typeface="Arial"/>
              </a:rPr>
              <a:t> </a:t>
            </a:r>
            <a:r>
              <a:rPr sz="900" dirty="0">
                <a:latin typeface="Arial"/>
                <a:cs typeface="Arial"/>
              </a:rPr>
              <a:t>kết quả</a:t>
            </a:r>
            <a:r>
              <a:rPr sz="900" spc="-25" dirty="0">
                <a:latin typeface="Arial"/>
                <a:cs typeface="Arial"/>
              </a:rPr>
              <a:t> </a:t>
            </a:r>
            <a:r>
              <a:rPr sz="900" spc="-10" dirty="0">
                <a:latin typeface="Arial"/>
                <a:cs typeface="Arial"/>
              </a:rPr>
              <a:t>lớp phủ </a:t>
            </a:r>
            <a:r>
              <a:rPr sz="900" spc="-20" dirty="0">
                <a:latin typeface="Arial"/>
                <a:cs typeface="Arial"/>
              </a:rPr>
              <a:t>giống như</a:t>
            </a:r>
            <a:r>
              <a:rPr sz="900" spc="-45" dirty="0">
                <a:latin typeface="Arial"/>
                <a:cs typeface="Arial"/>
              </a:rPr>
              <a:t> </a:t>
            </a:r>
            <a:r>
              <a:rPr sz="900" dirty="0">
                <a:latin typeface="Arial"/>
                <a:cs typeface="Arial"/>
              </a:rPr>
              <a:t>Một</a:t>
            </a:r>
            <a:r>
              <a:rPr sz="900" spc="-35" dirty="0">
                <a:latin typeface="Arial"/>
                <a:cs typeface="Arial"/>
              </a:rPr>
              <a:t> </a:t>
            </a:r>
            <a:r>
              <a:rPr sz="900" spc="-10" dirty="0">
                <a:solidFill>
                  <a:srgbClr val="C80000"/>
                </a:solidFill>
                <a:latin typeface="Arial"/>
                <a:cs typeface="Arial"/>
              </a:rPr>
              <a:t>ngẫu nhiên</a:t>
            </a:r>
            <a:r>
              <a:rPr sz="900" spc="-30" dirty="0">
                <a:solidFill>
                  <a:srgbClr val="C80000"/>
                </a:solidFill>
                <a:latin typeface="Arial"/>
                <a:cs typeface="Arial"/>
              </a:rPr>
              <a:t> </a:t>
            </a:r>
            <a:r>
              <a:rPr sz="900" dirty="0">
                <a:solidFill>
                  <a:srgbClr val="C80000"/>
                </a:solidFill>
                <a:latin typeface="Arial"/>
                <a:cs typeface="Arial"/>
              </a:rPr>
              <a:t>đồ thị </a:t>
            </a:r>
            <a:r>
              <a:rPr sz="900" dirty="0">
                <a:latin typeface="Arial"/>
                <a:cs typeface="Arial"/>
              </a:rPr>
              <a:t>:</a:t>
            </a:r>
            <a:r>
              <a:rPr sz="900" spc="25" dirty="0">
                <a:latin typeface="Arial"/>
                <a:cs typeface="Arial"/>
              </a:rPr>
              <a:t> </a:t>
            </a:r>
            <a:r>
              <a:rPr sz="900" dirty="0">
                <a:latin typeface="Arial"/>
                <a:cs typeface="Arial"/>
              </a:rPr>
              <a:t>MỘT</a:t>
            </a:r>
            <a:r>
              <a:rPr sz="900" spc="-25" dirty="0">
                <a:latin typeface="Arial"/>
                <a:cs typeface="Arial"/>
              </a:rPr>
              <a:t> </a:t>
            </a:r>
            <a:r>
              <a:rPr sz="900" spc="-10" dirty="0">
                <a:latin typeface="Arial"/>
                <a:cs typeface="Arial"/>
              </a:rPr>
              <a:t>bờ rìa</a:t>
            </a:r>
            <a:r>
              <a:rPr sz="900" spc="-30" dirty="0">
                <a:latin typeface="Arial"/>
                <a:cs typeface="Arial"/>
              </a:rPr>
              <a:t> </a:t>
            </a:r>
            <a:r>
              <a:rPr sz="900" dirty="0">
                <a:latin typeface="Apple Symbols"/>
                <a:cs typeface="Apple Symbols"/>
              </a:rPr>
              <a:t>⟨ </a:t>
            </a:r>
            <a:r>
              <a:rPr sz="900" i="1" dirty="0">
                <a:latin typeface="Arial"/>
                <a:cs typeface="Arial"/>
              </a:rPr>
              <a:t>bạn,</a:t>
            </a:r>
            <a:r>
              <a:rPr sz="900" i="1" spc="-155" dirty="0">
                <a:latin typeface="Arial"/>
                <a:cs typeface="Arial"/>
              </a:rPr>
              <a:t> </a:t>
            </a:r>
            <a:r>
              <a:rPr sz="900" i="1" spc="-10" dirty="0">
                <a:latin typeface="Arial"/>
                <a:cs typeface="Arial"/>
              </a:rPr>
              <a:t>v</a:t>
            </a:r>
            <a:r>
              <a:rPr sz="900" i="1" spc="-160" dirty="0">
                <a:latin typeface="Arial"/>
                <a:cs typeface="Arial"/>
              </a:rPr>
              <a:t> </a:t>
            </a:r>
            <a:r>
              <a:rPr sz="900" dirty="0">
                <a:latin typeface="Apple Symbols"/>
                <a:cs typeface="Apple Symbols"/>
              </a:rPr>
              <a:t>⟩</a:t>
            </a:r>
            <a:r>
              <a:rPr sz="900" spc="-75" dirty="0">
                <a:latin typeface="Apple Symbols"/>
                <a:cs typeface="Apple Symbols"/>
              </a:rPr>
              <a:t> </a:t>
            </a:r>
            <a:r>
              <a:rPr sz="900" spc="-10" dirty="0">
                <a:latin typeface="Arial"/>
                <a:cs typeface="Arial"/>
              </a:rPr>
              <a:t>tồn tại</a:t>
            </a:r>
            <a:r>
              <a:rPr sz="900" spc="-30" dirty="0">
                <a:latin typeface="Arial"/>
                <a:cs typeface="Arial"/>
              </a:rPr>
              <a:t> </a:t>
            </a:r>
            <a:r>
              <a:rPr sz="900" dirty="0">
                <a:latin typeface="Arial"/>
                <a:cs typeface="Arial"/>
              </a:rPr>
              <a:t>chỉ một</a:t>
            </a:r>
            <a:r>
              <a:rPr sz="900" spc="-25" dirty="0">
                <a:latin typeface="Arial"/>
                <a:cs typeface="Arial"/>
              </a:rPr>
              <a:t> </a:t>
            </a:r>
            <a:r>
              <a:rPr sz="900" dirty="0">
                <a:latin typeface="Arial"/>
                <a:cs typeface="Arial"/>
              </a:rPr>
              <a:t>với</a:t>
            </a:r>
            <a:r>
              <a:rPr sz="900" spc="-30" dirty="0">
                <a:latin typeface="Arial"/>
                <a:cs typeface="Arial"/>
              </a:rPr>
              <a:t> </a:t>
            </a:r>
            <a:r>
              <a:rPr sz="900" dirty="0">
                <a:latin typeface="Arial"/>
                <a:cs typeface="Arial"/>
              </a:rPr>
              <a:t>Một</a:t>
            </a:r>
            <a:r>
              <a:rPr sz="900" spc="-30" dirty="0">
                <a:latin typeface="Arial"/>
                <a:cs typeface="Arial"/>
              </a:rPr>
              <a:t> </a:t>
            </a:r>
            <a:r>
              <a:rPr sz="900" dirty="0">
                <a:latin typeface="Arial"/>
                <a:cs typeface="Arial"/>
              </a:rPr>
              <a:t>chắc chắn</a:t>
            </a:r>
            <a:r>
              <a:rPr sz="900" spc="-25" dirty="0">
                <a:latin typeface="Arial"/>
                <a:cs typeface="Arial"/>
              </a:rPr>
              <a:t> </a:t>
            </a:r>
            <a:r>
              <a:rPr sz="900" spc="-10" dirty="0">
                <a:latin typeface="Arial"/>
                <a:cs typeface="Arial"/>
              </a:rPr>
              <a:t>xác suất </a:t>
            </a:r>
            <a:r>
              <a:rPr sz="900" dirty="0">
                <a:latin typeface="Arial"/>
                <a:cs typeface="Arial"/>
              </a:rPr>
              <a:t>P[ </a:t>
            </a:r>
            <a:r>
              <a:rPr sz="900" dirty="0">
                <a:latin typeface="Apple Symbols"/>
                <a:cs typeface="Apple Symbols"/>
              </a:rPr>
              <a:t>⟨ </a:t>
            </a:r>
            <a:r>
              <a:rPr sz="900" i="1" dirty="0">
                <a:latin typeface="Arial"/>
                <a:cs typeface="Arial"/>
              </a:rPr>
              <a:t>u,</a:t>
            </a:r>
            <a:r>
              <a:rPr sz="900" i="1" spc="-150" dirty="0">
                <a:latin typeface="Arial"/>
                <a:cs typeface="Arial"/>
              </a:rPr>
              <a:t> </a:t>
            </a:r>
            <a:r>
              <a:rPr sz="900" i="1" spc="-10" dirty="0">
                <a:latin typeface="Arial"/>
                <a:cs typeface="Arial"/>
              </a:rPr>
              <a:t>v</a:t>
            </a:r>
            <a:r>
              <a:rPr sz="900" i="1" spc="-155" dirty="0">
                <a:latin typeface="Arial"/>
                <a:cs typeface="Arial"/>
              </a:rPr>
              <a:t> </a:t>
            </a:r>
            <a:r>
              <a:rPr sz="900" spc="-25" dirty="0">
                <a:latin typeface="Apple Symbols"/>
                <a:cs typeface="Apple Symbols"/>
              </a:rPr>
              <a:t>⟩ </a:t>
            </a:r>
            <a:r>
              <a:rPr sz="900" spc="-25" dirty="0">
                <a:latin typeface="Arial"/>
                <a:cs typeface="Arial"/>
              </a:rPr>
              <a:t>].</a:t>
            </a:r>
            <a:endParaRPr sz="900">
              <a:latin typeface="Arial"/>
              <a:cs typeface="Arial"/>
            </a:endParaRPr>
          </a:p>
          <a:p>
            <a:pPr marL="25400">
              <a:lnSpc>
                <a:spcPct val="100000"/>
              </a:lnSpc>
              <a:spcBef>
                <a:spcPts val="745"/>
              </a:spcBef>
            </a:pPr>
            <a:r>
              <a:rPr sz="1000" spc="-10" dirty="0">
                <a:solidFill>
                  <a:srgbClr val="3333B2"/>
                </a:solidFill>
                <a:latin typeface="Arial"/>
                <a:cs typeface="Arial"/>
              </a:rPr>
              <a:t>Tìm kiếm</a:t>
            </a:r>
            <a:endParaRPr sz="1000">
              <a:latin typeface="Arial"/>
              <a:cs typeface="Arial"/>
            </a:endParaRPr>
          </a:p>
          <a:p>
            <a:pPr marL="278130" marR="39370" indent="-120650">
              <a:lnSpc>
                <a:spcPct val="111600"/>
              </a:lnSpc>
              <a:spcBef>
                <a:spcPts val="580"/>
              </a:spcBef>
              <a:buClr>
                <a:srgbClr val="3333B2"/>
              </a:buClr>
              <a:buFont typeface="Apple Symbols"/>
              <a:buChar char="•"/>
              <a:tabLst>
                <a:tab pos="278765" algn="l"/>
              </a:tabLst>
            </a:pPr>
            <a:r>
              <a:rPr sz="900" dirty="0">
                <a:solidFill>
                  <a:srgbClr val="C80000"/>
                </a:solidFill>
                <a:latin typeface="Arial"/>
                <a:cs typeface="Arial"/>
              </a:rPr>
              <a:t>Lũ lụt </a:t>
            </a:r>
            <a:r>
              <a:rPr sz="900" dirty="0">
                <a:latin typeface="Arial"/>
                <a:cs typeface="Arial"/>
              </a:rPr>
              <a:t>:</a:t>
            </a:r>
            <a:r>
              <a:rPr sz="900" spc="25" dirty="0">
                <a:latin typeface="Arial"/>
                <a:cs typeface="Arial"/>
              </a:rPr>
              <a:t> </a:t>
            </a:r>
            <a:r>
              <a:rPr sz="900" dirty="0">
                <a:latin typeface="Arial"/>
                <a:cs typeface="Arial"/>
              </a:rPr>
              <a:t>phát hành</a:t>
            </a:r>
            <a:r>
              <a:rPr sz="900" spc="-25" dirty="0">
                <a:latin typeface="Arial"/>
                <a:cs typeface="Arial"/>
              </a:rPr>
              <a:t> </a:t>
            </a:r>
            <a:r>
              <a:rPr sz="900" dirty="0">
                <a:latin typeface="Arial"/>
                <a:cs typeface="Arial"/>
              </a:rPr>
              <a:t>nút</a:t>
            </a:r>
            <a:r>
              <a:rPr sz="900" spc="-30" dirty="0">
                <a:latin typeface="Arial"/>
                <a:cs typeface="Arial"/>
              </a:rPr>
              <a:t> </a:t>
            </a:r>
            <a:r>
              <a:rPr sz="900" i="1" dirty="0">
                <a:latin typeface="Arial"/>
                <a:cs typeface="Arial"/>
              </a:rPr>
              <a:t>bạn</a:t>
            </a:r>
            <a:r>
              <a:rPr sz="900" i="1" spc="10" dirty="0">
                <a:latin typeface="Arial"/>
                <a:cs typeface="Arial"/>
              </a:rPr>
              <a:t> </a:t>
            </a:r>
            <a:r>
              <a:rPr sz="900" dirty="0">
                <a:latin typeface="Arial"/>
                <a:cs typeface="Arial"/>
              </a:rPr>
              <a:t>vượt qua</a:t>
            </a:r>
            <a:r>
              <a:rPr sz="900" spc="-30" dirty="0">
                <a:latin typeface="Arial"/>
                <a:cs typeface="Arial"/>
              </a:rPr>
              <a:t> </a:t>
            </a:r>
            <a:r>
              <a:rPr sz="900" dirty="0">
                <a:latin typeface="Arial"/>
                <a:cs typeface="Arial"/>
              </a:rPr>
              <a:t>lời yêu cầu</a:t>
            </a:r>
            <a:r>
              <a:rPr sz="900" spc="-25" dirty="0">
                <a:latin typeface="Arial"/>
                <a:cs typeface="Arial"/>
              </a:rPr>
              <a:t> </a:t>
            </a:r>
            <a:r>
              <a:rPr sz="900" dirty="0">
                <a:latin typeface="Arial"/>
                <a:cs typeface="Arial"/>
              </a:rPr>
              <a:t>vì</a:t>
            </a:r>
            <a:r>
              <a:rPr sz="900" spc="-25" dirty="0">
                <a:latin typeface="Arial"/>
                <a:cs typeface="Arial"/>
              </a:rPr>
              <a:t> </a:t>
            </a:r>
            <a:r>
              <a:rPr sz="900" i="1" dirty="0">
                <a:latin typeface="Arial"/>
                <a:cs typeface="Arial"/>
              </a:rPr>
              <a:t>ngày</a:t>
            </a:r>
            <a:r>
              <a:rPr sz="900" i="1" spc="50" dirty="0">
                <a:latin typeface="Arial"/>
                <a:cs typeface="Arial"/>
              </a:rPr>
              <a:t> </a:t>
            </a:r>
            <a:r>
              <a:rPr sz="900" dirty="0">
                <a:latin typeface="Arial"/>
                <a:cs typeface="Arial"/>
              </a:rPr>
              <a:t>ĐẾN</a:t>
            </a:r>
            <a:r>
              <a:rPr sz="900" spc="-25" dirty="0">
                <a:latin typeface="Arial"/>
                <a:cs typeface="Arial"/>
              </a:rPr>
              <a:t> </a:t>
            </a:r>
            <a:r>
              <a:rPr sz="900" dirty="0">
                <a:latin typeface="Arial"/>
                <a:cs typeface="Arial"/>
              </a:rPr>
              <a:t>tất cả</a:t>
            </a:r>
            <a:r>
              <a:rPr sz="900" spc="-25" dirty="0">
                <a:latin typeface="Arial"/>
                <a:cs typeface="Arial"/>
              </a:rPr>
              <a:t> </a:t>
            </a:r>
            <a:r>
              <a:rPr sz="900" dirty="0">
                <a:latin typeface="Arial"/>
                <a:cs typeface="Arial"/>
              </a:rPr>
              <a:t>hàng xóm.</a:t>
            </a:r>
            <a:r>
              <a:rPr sz="900" spc="25" dirty="0">
                <a:latin typeface="Arial"/>
                <a:cs typeface="Arial"/>
              </a:rPr>
              <a:t> </a:t>
            </a:r>
            <a:r>
              <a:rPr sz="900" spc="-10" dirty="0">
                <a:latin typeface="Arial"/>
                <a:cs typeface="Arial"/>
              </a:rPr>
              <a:t>Yêu cầu </a:t>
            </a:r>
            <a:r>
              <a:rPr sz="900" dirty="0">
                <a:latin typeface="Arial"/>
                <a:cs typeface="Arial"/>
              </a:rPr>
              <a:t>là</a:t>
            </a:r>
            <a:r>
              <a:rPr sz="900" spc="-25" dirty="0">
                <a:latin typeface="Arial"/>
                <a:cs typeface="Arial"/>
              </a:rPr>
              <a:t> </a:t>
            </a:r>
            <a:r>
              <a:rPr sz="900" dirty="0">
                <a:latin typeface="Arial"/>
                <a:cs typeface="Arial"/>
              </a:rPr>
              <a:t>bị bỏ qua</a:t>
            </a:r>
            <a:r>
              <a:rPr sz="900" spc="-25" dirty="0">
                <a:latin typeface="Arial"/>
                <a:cs typeface="Arial"/>
              </a:rPr>
              <a:t> </a:t>
            </a:r>
            <a:r>
              <a:rPr sz="900" dirty="0">
                <a:latin typeface="Arial"/>
                <a:cs typeface="Arial"/>
              </a:rPr>
              <a:t>khi</a:t>
            </a:r>
            <a:r>
              <a:rPr sz="900" spc="-20" dirty="0">
                <a:latin typeface="Arial"/>
                <a:cs typeface="Arial"/>
              </a:rPr>
              <a:t> </a:t>
            </a:r>
            <a:r>
              <a:rPr sz="900" dirty="0">
                <a:latin typeface="Arial"/>
                <a:cs typeface="Arial"/>
              </a:rPr>
              <a:t>nhận được</a:t>
            </a:r>
            <a:r>
              <a:rPr sz="900" spc="-25" dirty="0">
                <a:latin typeface="Arial"/>
                <a:cs typeface="Arial"/>
              </a:rPr>
              <a:t> </a:t>
            </a:r>
            <a:r>
              <a:rPr sz="900" dirty="0">
                <a:latin typeface="Arial"/>
                <a:cs typeface="Arial"/>
              </a:rPr>
              <a:t>nút</a:t>
            </a:r>
            <a:r>
              <a:rPr sz="900" spc="-20" dirty="0">
                <a:latin typeface="Arial"/>
                <a:cs typeface="Arial"/>
              </a:rPr>
              <a:t> </a:t>
            </a:r>
            <a:r>
              <a:rPr sz="900" dirty="0">
                <a:latin typeface="Arial"/>
                <a:cs typeface="Arial"/>
              </a:rPr>
              <a:t>có</a:t>
            </a:r>
            <a:r>
              <a:rPr sz="900" spc="-25" dirty="0">
                <a:latin typeface="Arial"/>
                <a:cs typeface="Arial"/>
              </a:rPr>
              <a:t> </a:t>
            </a:r>
            <a:r>
              <a:rPr sz="900" dirty="0">
                <a:latin typeface="Arial"/>
                <a:cs typeface="Arial"/>
              </a:rPr>
              <a:t>đã xem</a:t>
            </a:r>
            <a:r>
              <a:rPr sz="900" spc="-25" dirty="0">
                <a:latin typeface="Arial"/>
                <a:cs typeface="Arial"/>
              </a:rPr>
              <a:t> </a:t>
            </a:r>
            <a:r>
              <a:rPr sz="900" dirty="0">
                <a:latin typeface="Arial"/>
                <a:cs typeface="Arial"/>
              </a:rPr>
              <a:t>Nó</a:t>
            </a:r>
            <a:r>
              <a:rPr sz="900" spc="-20" dirty="0">
                <a:latin typeface="Arial"/>
                <a:cs typeface="Arial"/>
              </a:rPr>
              <a:t> </a:t>
            </a:r>
            <a:r>
              <a:rPr sz="900" dirty="0">
                <a:latin typeface="Arial"/>
                <a:cs typeface="Arial"/>
              </a:rPr>
              <a:t>trước.</a:t>
            </a:r>
            <a:r>
              <a:rPr sz="900" spc="30" dirty="0">
                <a:latin typeface="Arial"/>
                <a:cs typeface="Arial"/>
              </a:rPr>
              <a:t> </a:t>
            </a:r>
            <a:r>
              <a:rPr sz="900" spc="-10" dirty="0">
                <a:latin typeface="Arial"/>
                <a:cs typeface="Arial"/>
              </a:rPr>
              <a:t>Nếu không thì,</a:t>
            </a:r>
            <a:r>
              <a:rPr sz="900" spc="-20" dirty="0">
                <a:latin typeface="Arial"/>
                <a:cs typeface="Arial"/>
              </a:rPr>
              <a:t> </a:t>
            </a:r>
            <a:r>
              <a:rPr sz="900" i="1" spc="-50" dirty="0">
                <a:latin typeface="Arial"/>
                <a:cs typeface="Arial"/>
              </a:rPr>
              <a:t>v</a:t>
            </a:r>
            <a:r>
              <a:rPr sz="900" i="1" dirty="0">
                <a:latin typeface="Arial"/>
                <a:cs typeface="Arial"/>
              </a:rPr>
              <a:t> </a:t>
            </a:r>
            <a:r>
              <a:rPr sz="900" dirty="0">
                <a:latin typeface="Arial"/>
                <a:cs typeface="Arial"/>
              </a:rPr>
              <a:t>tìm kiếm</a:t>
            </a:r>
            <a:r>
              <a:rPr sz="900" spc="-30" dirty="0">
                <a:latin typeface="Arial"/>
                <a:cs typeface="Arial"/>
              </a:rPr>
              <a:t> </a:t>
            </a:r>
            <a:r>
              <a:rPr sz="900" dirty="0">
                <a:latin typeface="Arial"/>
                <a:cs typeface="Arial"/>
              </a:rPr>
              <a:t>tại địa phương</a:t>
            </a:r>
            <a:r>
              <a:rPr sz="900" spc="-30" dirty="0">
                <a:latin typeface="Arial"/>
                <a:cs typeface="Arial"/>
              </a:rPr>
              <a:t> </a:t>
            </a:r>
            <a:r>
              <a:rPr sz="900" dirty="0">
                <a:latin typeface="Arial"/>
                <a:cs typeface="Arial"/>
              </a:rPr>
              <a:t>vì</a:t>
            </a:r>
            <a:r>
              <a:rPr sz="900" spc="-30" dirty="0">
                <a:latin typeface="Arial"/>
                <a:cs typeface="Arial"/>
              </a:rPr>
              <a:t> </a:t>
            </a:r>
            <a:r>
              <a:rPr sz="900" i="1" dirty="0">
                <a:latin typeface="Arial"/>
                <a:cs typeface="Arial"/>
              </a:rPr>
              <a:t>ngày</a:t>
            </a:r>
            <a:r>
              <a:rPr sz="900" i="1" spc="50" dirty="0">
                <a:latin typeface="Arial"/>
                <a:cs typeface="Arial"/>
              </a:rPr>
              <a:t> </a:t>
            </a:r>
            <a:r>
              <a:rPr sz="900" dirty="0">
                <a:latin typeface="Arial"/>
                <a:cs typeface="Arial"/>
              </a:rPr>
              <a:t>(đệ quy).</a:t>
            </a:r>
            <a:r>
              <a:rPr sz="900" spc="25" dirty="0">
                <a:latin typeface="Arial"/>
                <a:cs typeface="Arial"/>
              </a:rPr>
              <a:t> </a:t>
            </a:r>
            <a:r>
              <a:rPr sz="900" dirty="0">
                <a:latin typeface="Arial"/>
                <a:cs typeface="Arial"/>
              </a:rPr>
              <a:t>Có thể</a:t>
            </a:r>
            <a:r>
              <a:rPr sz="900" spc="-30" dirty="0">
                <a:latin typeface="Arial"/>
                <a:cs typeface="Arial"/>
              </a:rPr>
              <a:t> </a:t>
            </a:r>
            <a:r>
              <a:rPr sz="900" dirty="0">
                <a:latin typeface="Arial"/>
                <a:cs typeface="Arial"/>
              </a:rPr>
              <a:t>là</a:t>
            </a:r>
            <a:r>
              <a:rPr sz="900" spc="-30" dirty="0">
                <a:latin typeface="Arial"/>
                <a:cs typeface="Arial"/>
              </a:rPr>
              <a:t> </a:t>
            </a:r>
            <a:r>
              <a:rPr sz="900" dirty="0">
                <a:latin typeface="Arial"/>
                <a:cs typeface="Arial"/>
              </a:rPr>
              <a:t>giới hạn</a:t>
            </a:r>
            <a:r>
              <a:rPr sz="900" spc="-30" dirty="0">
                <a:latin typeface="Arial"/>
                <a:cs typeface="Arial"/>
              </a:rPr>
              <a:t> </a:t>
            </a:r>
            <a:r>
              <a:rPr sz="900" dirty="0">
                <a:latin typeface="Arial"/>
                <a:cs typeface="Arial"/>
              </a:rPr>
              <a:t>qua</a:t>
            </a:r>
            <a:r>
              <a:rPr sz="900" spc="-30" dirty="0">
                <a:latin typeface="Arial"/>
                <a:cs typeface="Arial"/>
              </a:rPr>
              <a:t> </a:t>
            </a:r>
            <a:r>
              <a:rPr sz="900" dirty="0">
                <a:latin typeface="Arial"/>
                <a:cs typeface="Arial"/>
              </a:rPr>
              <a:t>Một</a:t>
            </a:r>
            <a:r>
              <a:rPr sz="900" spc="-30" dirty="0">
                <a:latin typeface="Arial"/>
                <a:cs typeface="Arial"/>
              </a:rPr>
              <a:t> </a:t>
            </a:r>
            <a:r>
              <a:rPr sz="900" spc="-10" dirty="0">
                <a:solidFill>
                  <a:srgbClr val="C80000"/>
                </a:solidFill>
                <a:latin typeface="Arial"/>
                <a:cs typeface="Arial"/>
              </a:rPr>
              <a:t>Thời </a:t>
            </a:r>
            <a:r>
              <a:rPr sz="900" dirty="0">
                <a:solidFill>
                  <a:srgbClr val="C80000"/>
                </a:solidFill>
                <a:latin typeface="Arial"/>
                <a:cs typeface="Arial"/>
              </a:rPr>
              <a:t>gian </a:t>
            </a:r>
            <a:r>
              <a:rPr sz="900" spc="-50" dirty="0">
                <a:solidFill>
                  <a:srgbClr val="C80000"/>
                </a:solidFill>
                <a:latin typeface="Arial"/>
                <a:cs typeface="Arial"/>
              </a:rPr>
              <a:t>sống </a:t>
            </a:r>
            <a:r>
              <a:rPr sz="900" dirty="0">
                <a:latin typeface="Arial"/>
                <a:cs typeface="Arial"/>
              </a:rPr>
              <a:t>:</a:t>
            </a:r>
            <a:r>
              <a:rPr sz="900" spc="25" dirty="0">
                <a:latin typeface="Arial"/>
                <a:cs typeface="Arial"/>
              </a:rPr>
              <a:t> </a:t>
            </a:r>
            <a:r>
              <a:rPr sz="900" spc="-50" dirty="0">
                <a:latin typeface="Arial"/>
                <a:cs typeface="Arial"/>
              </a:rPr>
              <a:t>tối </a:t>
            </a:r>
            <a:r>
              <a:rPr sz="900" dirty="0">
                <a:latin typeface="Arial"/>
                <a:cs typeface="Arial"/>
              </a:rPr>
              <a:t>đa</a:t>
            </a:r>
            <a:r>
              <a:rPr sz="900" spc="-40" dirty="0">
                <a:latin typeface="Arial"/>
                <a:cs typeface="Arial"/>
              </a:rPr>
              <a:t> </a:t>
            </a:r>
            <a:r>
              <a:rPr sz="900" dirty="0">
                <a:latin typeface="Arial"/>
                <a:cs typeface="Arial"/>
              </a:rPr>
              <a:t>con số</a:t>
            </a:r>
            <a:r>
              <a:rPr sz="900" spc="-35" dirty="0">
                <a:latin typeface="Arial"/>
                <a:cs typeface="Arial"/>
              </a:rPr>
              <a:t> </a:t>
            </a:r>
            <a:r>
              <a:rPr sz="900" dirty="0">
                <a:latin typeface="Arial"/>
                <a:cs typeface="Arial"/>
              </a:rPr>
              <a:t>của</a:t>
            </a:r>
            <a:r>
              <a:rPr sz="900" spc="-40" dirty="0">
                <a:latin typeface="Arial"/>
                <a:cs typeface="Arial"/>
              </a:rPr>
              <a:t> </a:t>
            </a:r>
            <a:r>
              <a:rPr sz="900" spc="-20" dirty="0">
                <a:latin typeface="Arial"/>
                <a:cs typeface="Arial"/>
              </a:rPr>
              <a:t>hoa bia.</a:t>
            </a:r>
            <a:endParaRPr sz="900">
              <a:latin typeface="Arial"/>
              <a:cs typeface="Arial"/>
            </a:endParaRPr>
          </a:p>
          <a:p>
            <a:pPr marL="278130" marR="60960" indent="-120650">
              <a:lnSpc>
                <a:spcPct val="111600"/>
              </a:lnSpc>
              <a:spcBef>
                <a:spcPts val="400"/>
              </a:spcBef>
              <a:buClr>
                <a:srgbClr val="3333B2"/>
              </a:buClr>
              <a:buFont typeface="Apple Symbols"/>
              <a:buChar char="•"/>
              <a:tabLst>
                <a:tab pos="278765" algn="l"/>
              </a:tabLst>
            </a:pPr>
            <a:r>
              <a:rPr sz="900" dirty="0">
                <a:solidFill>
                  <a:srgbClr val="C80000"/>
                </a:solidFill>
                <a:latin typeface="Arial"/>
                <a:cs typeface="Arial"/>
              </a:rPr>
              <a:t>Ngẫu nhiên</a:t>
            </a:r>
            <a:r>
              <a:rPr sz="900" spc="-30" dirty="0">
                <a:solidFill>
                  <a:srgbClr val="C80000"/>
                </a:solidFill>
                <a:latin typeface="Arial"/>
                <a:cs typeface="Arial"/>
              </a:rPr>
              <a:t> </a:t>
            </a:r>
            <a:r>
              <a:rPr sz="900" dirty="0">
                <a:solidFill>
                  <a:srgbClr val="C80000"/>
                </a:solidFill>
                <a:latin typeface="Arial"/>
                <a:cs typeface="Arial"/>
              </a:rPr>
              <a:t>đi bộ </a:t>
            </a:r>
            <a:r>
              <a:rPr sz="900" dirty="0">
                <a:latin typeface="Arial"/>
                <a:cs typeface="Arial"/>
              </a:rPr>
              <a:t>:</a:t>
            </a:r>
            <a:r>
              <a:rPr sz="900" spc="25" dirty="0">
                <a:latin typeface="Arial"/>
                <a:cs typeface="Arial"/>
              </a:rPr>
              <a:t> </a:t>
            </a:r>
            <a:r>
              <a:rPr sz="900" dirty="0">
                <a:latin typeface="Arial"/>
                <a:cs typeface="Arial"/>
              </a:rPr>
              <a:t>phát hành</a:t>
            </a:r>
            <a:r>
              <a:rPr sz="900" spc="-30" dirty="0">
                <a:latin typeface="Arial"/>
                <a:cs typeface="Arial"/>
              </a:rPr>
              <a:t> </a:t>
            </a:r>
            <a:r>
              <a:rPr sz="900" dirty="0">
                <a:latin typeface="Arial"/>
                <a:cs typeface="Arial"/>
              </a:rPr>
              <a:t>nút</a:t>
            </a:r>
            <a:r>
              <a:rPr sz="900" spc="-30" dirty="0">
                <a:latin typeface="Arial"/>
                <a:cs typeface="Arial"/>
              </a:rPr>
              <a:t> </a:t>
            </a:r>
            <a:r>
              <a:rPr sz="900" i="1" dirty="0">
                <a:latin typeface="Arial"/>
                <a:cs typeface="Arial"/>
              </a:rPr>
              <a:t>bạn</a:t>
            </a:r>
            <a:r>
              <a:rPr sz="900" i="1" spc="10" dirty="0">
                <a:latin typeface="Arial"/>
                <a:cs typeface="Arial"/>
              </a:rPr>
              <a:t> </a:t>
            </a:r>
            <a:r>
              <a:rPr sz="900" dirty="0">
                <a:latin typeface="Arial"/>
                <a:cs typeface="Arial"/>
              </a:rPr>
              <a:t>vượt qua</a:t>
            </a:r>
            <a:r>
              <a:rPr sz="900" spc="-30" dirty="0">
                <a:latin typeface="Arial"/>
                <a:cs typeface="Arial"/>
              </a:rPr>
              <a:t> </a:t>
            </a:r>
            <a:r>
              <a:rPr sz="900" dirty="0">
                <a:latin typeface="Arial"/>
                <a:cs typeface="Arial"/>
              </a:rPr>
              <a:t>lời yêu cầu</a:t>
            </a:r>
            <a:r>
              <a:rPr sz="900" spc="-30" dirty="0">
                <a:latin typeface="Arial"/>
                <a:cs typeface="Arial"/>
              </a:rPr>
              <a:t> </a:t>
            </a:r>
            <a:r>
              <a:rPr sz="900" dirty="0">
                <a:latin typeface="Arial"/>
                <a:cs typeface="Arial"/>
              </a:rPr>
              <a:t>vì</a:t>
            </a:r>
            <a:r>
              <a:rPr sz="900" spc="-30" dirty="0">
                <a:latin typeface="Arial"/>
                <a:cs typeface="Arial"/>
              </a:rPr>
              <a:t> </a:t>
            </a:r>
            <a:r>
              <a:rPr sz="900" i="1" dirty="0">
                <a:latin typeface="Arial"/>
                <a:cs typeface="Arial"/>
              </a:rPr>
              <a:t>ngày</a:t>
            </a:r>
            <a:r>
              <a:rPr sz="900" i="1" spc="55" dirty="0">
                <a:latin typeface="Arial"/>
                <a:cs typeface="Arial"/>
              </a:rPr>
              <a:t> </a:t>
            </a:r>
            <a:r>
              <a:rPr sz="900" dirty="0">
                <a:latin typeface="Arial"/>
                <a:cs typeface="Arial"/>
              </a:rPr>
              <a:t>ĐẾN</a:t>
            </a:r>
            <a:r>
              <a:rPr sz="900" spc="-30" dirty="0">
                <a:latin typeface="Arial"/>
                <a:cs typeface="Arial"/>
              </a:rPr>
              <a:t> </a:t>
            </a:r>
            <a:r>
              <a:rPr sz="900" dirty="0">
                <a:latin typeface="Arial"/>
                <a:cs typeface="Arial"/>
              </a:rPr>
              <a:t>ngẫu nhiên</a:t>
            </a:r>
            <a:r>
              <a:rPr sz="900" spc="-30" dirty="0">
                <a:latin typeface="Arial"/>
                <a:cs typeface="Arial"/>
              </a:rPr>
              <a:t> </a:t>
            </a:r>
            <a:r>
              <a:rPr sz="900" spc="-10" dirty="0">
                <a:latin typeface="Arial"/>
                <a:cs typeface="Arial"/>
              </a:rPr>
              <a:t>người hàng xóm được chọn,</a:t>
            </a:r>
            <a:r>
              <a:rPr sz="900" spc="-20" dirty="0">
                <a:latin typeface="Arial"/>
                <a:cs typeface="Arial"/>
              </a:rPr>
              <a:t> </a:t>
            </a:r>
            <a:r>
              <a:rPr sz="900" i="1" spc="-10" dirty="0">
                <a:latin typeface="Arial"/>
                <a:cs typeface="Arial"/>
              </a:rPr>
              <a:t>v</a:t>
            </a:r>
            <a:r>
              <a:rPr sz="900" i="1" spc="-160" dirty="0">
                <a:latin typeface="Arial"/>
                <a:cs typeface="Arial"/>
              </a:rPr>
              <a:t> </a:t>
            </a:r>
            <a:r>
              <a:rPr sz="900" dirty="0">
                <a:latin typeface="Arial"/>
                <a:cs typeface="Arial"/>
              </a:rPr>
              <a:t>.</a:t>
            </a:r>
            <a:r>
              <a:rPr sz="900" spc="45" dirty="0">
                <a:latin typeface="Arial"/>
                <a:cs typeface="Arial"/>
              </a:rPr>
              <a:t> </a:t>
            </a:r>
            <a:r>
              <a:rPr sz="900" dirty="0">
                <a:latin typeface="Arial"/>
                <a:cs typeface="Arial"/>
              </a:rPr>
              <a:t>Nếu như</a:t>
            </a:r>
            <a:r>
              <a:rPr sz="900" spc="-15" dirty="0">
                <a:latin typeface="Arial"/>
                <a:cs typeface="Arial"/>
              </a:rPr>
              <a:t> </a:t>
            </a:r>
            <a:r>
              <a:rPr sz="900" i="1" dirty="0">
                <a:latin typeface="Arial"/>
                <a:cs typeface="Arial"/>
              </a:rPr>
              <a:t>v</a:t>
            </a:r>
            <a:r>
              <a:rPr sz="900" i="1" spc="80" dirty="0">
                <a:latin typeface="Arial"/>
                <a:cs typeface="Arial"/>
              </a:rPr>
              <a:t> </a:t>
            </a:r>
            <a:r>
              <a:rPr sz="900" dirty="0">
                <a:latin typeface="Arial"/>
                <a:cs typeface="Arial"/>
              </a:rPr>
              <a:t>làm</a:t>
            </a:r>
            <a:r>
              <a:rPr sz="900" spc="-10" dirty="0">
                <a:latin typeface="Arial"/>
                <a:cs typeface="Arial"/>
              </a:rPr>
              <a:t> </a:t>
            </a:r>
            <a:r>
              <a:rPr sz="900" dirty="0">
                <a:latin typeface="Arial"/>
                <a:cs typeface="Arial"/>
              </a:rPr>
              <a:t>không</a:t>
            </a:r>
            <a:r>
              <a:rPr sz="900" spc="-15" dirty="0">
                <a:latin typeface="Arial"/>
                <a:cs typeface="Arial"/>
              </a:rPr>
              <a:t> </a:t>
            </a:r>
            <a:r>
              <a:rPr sz="900" spc="-10" dirty="0">
                <a:latin typeface="Arial"/>
                <a:cs typeface="Arial"/>
              </a:rPr>
              <a:t>có </a:t>
            </a:r>
            <a:r>
              <a:rPr sz="900" i="1" spc="-10" dirty="0">
                <a:latin typeface="Arial"/>
                <a:cs typeface="Arial"/>
              </a:rPr>
              <a:t>d</a:t>
            </a:r>
            <a:r>
              <a:rPr sz="900" i="1" spc="-165"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nó </a:t>
            </a:r>
            <a:r>
              <a:rPr sz="900" spc="-10" dirty="0">
                <a:latin typeface="Arial"/>
                <a:cs typeface="Arial"/>
              </a:rPr>
              <a:t>chuyển tiếp</a:t>
            </a:r>
            <a:r>
              <a:rPr sz="900" spc="-15" dirty="0">
                <a:latin typeface="Arial"/>
                <a:cs typeface="Arial"/>
              </a:rPr>
              <a:t> </a:t>
            </a:r>
            <a:r>
              <a:rPr sz="900" dirty="0">
                <a:latin typeface="Arial"/>
                <a:cs typeface="Arial"/>
              </a:rPr>
              <a:t>lời yêu cầu</a:t>
            </a:r>
            <a:r>
              <a:rPr sz="900" spc="-10" dirty="0">
                <a:latin typeface="Arial"/>
                <a:cs typeface="Arial"/>
              </a:rPr>
              <a:t> </a:t>
            </a:r>
            <a:r>
              <a:rPr sz="900" dirty="0">
                <a:latin typeface="Arial"/>
                <a:cs typeface="Arial"/>
              </a:rPr>
              <a:t>ĐẾN</a:t>
            </a:r>
            <a:r>
              <a:rPr sz="900" spc="-15" dirty="0">
                <a:latin typeface="Arial"/>
                <a:cs typeface="Arial"/>
              </a:rPr>
              <a:t> </a:t>
            </a:r>
            <a:r>
              <a:rPr sz="900" dirty="0">
                <a:latin typeface="Arial"/>
                <a:cs typeface="Arial"/>
              </a:rPr>
              <a:t>một</a:t>
            </a:r>
            <a:r>
              <a:rPr sz="900" spc="-10" dirty="0">
                <a:latin typeface="Arial"/>
                <a:cs typeface="Arial"/>
              </a:rPr>
              <a:t> </a:t>
            </a:r>
            <a:r>
              <a:rPr sz="900" dirty="0">
                <a:latin typeface="Arial"/>
                <a:cs typeface="Arial"/>
              </a:rPr>
              <a:t>của</a:t>
            </a:r>
            <a:r>
              <a:rPr sz="900" spc="-15" dirty="0">
                <a:latin typeface="Arial"/>
                <a:cs typeface="Arial"/>
              </a:rPr>
              <a:t> </a:t>
            </a:r>
            <a:r>
              <a:rPr sz="900" i="1" spc="-25" dirty="0">
                <a:latin typeface="Arial"/>
                <a:cs typeface="Arial"/>
              </a:rPr>
              <a:t>nó </a:t>
            </a:r>
            <a:r>
              <a:rPr sz="900" dirty="0">
                <a:latin typeface="Arial"/>
                <a:cs typeface="Arial"/>
              </a:rPr>
              <a:t>ngẫu nhiên</a:t>
            </a:r>
            <a:r>
              <a:rPr sz="900" spc="-40" dirty="0">
                <a:latin typeface="Arial"/>
                <a:cs typeface="Arial"/>
              </a:rPr>
              <a:t> </a:t>
            </a:r>
            <a:r>
              <a:rPr sz="900" dirty="0">
                <a:latin typeface="Arial"/>
                <a:cs typeface="Arial"/>
              </a:rPr>
              <a:t>đã chọn</a:t>
            </a:r>
            <a:r>
              <a:rPr sz="900" spc="-35" dirty="0">
                <a:latin typeface="Arial"/>
                <a:cs typeface="Arial"/>
              </a:rPr>
              <a:t> </a:t>
            </a:r>
            <a:r>
              <a:rPr sz="900" dirty="0">
                <a:latin typeface="Arial"/>
                <a:cs typeface="Arial"/>
              </a:rPr>
              <a:t>hàng xóm,</a:t>
            </a:r>
            <a:r>
              <a:rPr sz="900" spc="-35" dirty="0">
                <a:latin typeface="Arial"/>
                <a:cs typeface="Arial"/>
              </a:rPr>
              <a:t> </a:t>
            </a:r>
            <a:r>
              <a:rPr sz="900" dirty="0">
                <a:latin typeface="Arial"/>
                <a:cs typeface="Arial"/>
              </a:rPr>
              <a:t>Và</a:t>
            </a:r>
            <a:r>
              <a:rPr sz="900" spc="-40" dirty="0">
                <a:latin typeface="Arial"/>
                <a:cs typeface="Arial"/>
              </a:rPr>
              <a:t> </a:t>
            </a:r>
            <a:r>
              <a:rPr sz="900" dirty="0">
                <a:latin typeface="Arial"/>
                <a:cs typeface="Arial"/>
              </a:rPr>
              <a:t>Vì thế</a:t>
            </a:r>
            <a:r>
              <a:rPr sz="900" spc="-35" dirty="0">
                <a:latin typeface="Arial"/>
                <a:cs typeface="Arial"/>
              </a:rPr>
              <a:t> </a:t>
            </a:r>
            <a:r>
              <a:rPr sz="900" spc="-25" dirty="0">
                <a:latin typeface="Arial"/>
                <a:cs typeface="Arial"/>
              </a:rPr>
              <a:t>TRÊN.</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0039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Không có cấu trúc</a:t>
            </a:r>
            <a:r>
              <a:rPr sz="500" spc="5" dirty="0">
                <a:latin typeface="Arial"/>
                <a:cs typeface="Arial"/>
                <a:hlinkClick r:id="rId4" action="ppaction://hlinksldjump"/>
              </a:rPr>
              <a:t> </a:t>
            </a:r>
            <a:r>
              <a:rPr sz="500" spc="-10" dirty="0">
                <a:latin typeface="Arial"/>
                <a:cs typeface="Arial"/>
                <a:hlinkClick r:id="rId4" action="ppaction://hlinksldjump"/>
              </a:rPr>
              <a:t>ngang </a:t>
            </a:r>
            <a:r>
              <a:rPr sz="500" dirty="0">
                <a:latin typeface="Arial"/>
                <a:cs typeface="Arial"/>
                <a:hlinkClick r:id="rId4" action="ppaction://hlinksldjump"/>
              </a:rPr>
              <a:t>hàng</a:t>
            </a:r>
            <a:r>
              <a:rPr sz="500" spc="10" dirty="0">
                <a:latin typeface="Arial"/>
                <a:cs typeface="Arial"/>
                <a:hlinkClick r:id="rId4" action="ppaction://hlinksldjump"/>
              </a:rPr>
              <a:t> </a:t>
            </a:r>
            <a:r>
              <a:rPr sz="500" spc="-10" dirty="0">
                <a:latin typeface="Arial"/>
                <a:cs typeface="Arial"/>
                <a:hlinkClick r:id="rId4" action="ppaction://hlinksldjump"/>
              </a:rPr>
              <a:t>hệ thống</a:t>
            </a:r>
            <a:endParaRPr sz="500">
              <a:latin typeface="Arial"/>
              <a:cs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Đối xứng</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phân phối</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Lũ lụt</a:t>
            </a:r>
            <a:r>
              <a:rPr spc="-65" dirty="0"/>
              <a:t> </a:t>
            </a:r>
            <a:r>
              <a:rPr dirty="0"/>
              <a:t>so với</a:t>
            </a:r>
            <a:r>
              <a:rPr spc="-60" dirty="0"/>
              <a:t> </a:t>
            </a:r>
            <a:r>
              <a:rPr dirty="0"/>
              <a:t>ngẫu nhiên</a:t>
            </a:r>
            <a:r>
              <a:rPr spc="-60" dirty="0"/>
              <a:t> </a:t>
            </a:r>
            <a:r>
              <a:rPr spc="-20" dirty="0"/>
              <a:t>đi bộ</a:t>
            </a:r>
          </a:p>
        </p:txBody>
      </p:sp>
      <p:sp>
        <p:nvSpPr>
          <p:cNvPr id="4" name="object 4"/>
          <p:cNvSpPr txBox="1"/>
          <p:nvPr/>
        </p:nvSpPr>
        <p:spPr>
          <a:xfrm>
            <a:off x="343547" y="499476"/>
            <a:ext cx="3710304" cy="902335"/>
          </a:xfrm>
          <a:prstGeom prst="rect">
            <a:avLst/>
          </a:prstGeom>
        </p:spPr>
        <p:txBody>
          <a:bodyPr vert="horz" wrap="square" lIns="0" tIns="27305" rIns="0" bIns="0" rtlCol="0">
            <a:spAutoFit/>
          </a:bodyPr>
          <a:lstStyle/>
          <a:p>
            <a:pPr marL="15875">
              <a:lnSpc>
                <a:spcPct val="100000"/>
              </a:lnSpc>
              <a:spcBef>
                <a:spcPts val="215"/>
              </a:spcBef>
            </a:pPr>
            <a:r>
              <a:rPr sz="1000" spc="-10" dirty="0">
                <a:solidFill>
                  <a:srgbClr val="3333B2"/>
                </a:solidFill>
                <a:latin typeface="Arial"/>
                <a:cs typeface="Arial"/>
              </a:rPr>
              <a:t>Người mẫu</a:t>
            </a:r>
            <a:endParaRPr sz="1000">
              <a:latin typeface="Arial"/>
              <a:cs typeface="Arial"/>
            </a:endParaRPr>
          </a:p>
          <a:p>
            <a:pPr marL="15875" marR="5080" indent="-3810">
              <a:lnSpc>
                <a:spcPts val="1210"/>
              </a:lnSpc>
              <a:spcBef>
                <a:spcPts val="35"/>
              </a:spcBef>
            </a:pPr>
            <a:r>
              <a:rPr sz="900" dirty="0">
                <a:latin typeface="Arial"/>
                <a:cs typeface="Arial"/>
              </a:rPr>
              <a:t>Cho rằng</a:t>
            </a:r>
            <a:r>
              <a:rPr sz="900" spc="-25" dirty="0">
                <a:latin typeface="Arial"/>
                <a:cs typeface="Arial"/>
              </a:rPr>
              <a:t> </a:t>
            </a:r>
            <a:r>
              <a:rPr sz="900" i="1" dirty="0">
                <a:latin typeface="Arial"/>
                <a:cs typeface="Arial"/>
              </a:rPr>
              <a:t>N</a:t>
            </a:r>
            <a:r>
              <a:rPr sz="900" i="1" spc="45" dirty="0">
                <a:latin typeface="Arial"/>
                <a:cs typeface="Arial"/>
              </a:rPr>
              <a:t> </a:t>
            </a:r>
            <a:r>
              <a:rPr sz="900" dirty="0">
                <a:latin typeface="Arial"/>
                <a:cs typeface="Arial"/>
              </a:rPr>
              <a:t>các nút</a:t>
            </a:r>
            <a:r>
              <a:rPr sz="900" spc="-25" dirty="0">
                <a:latin typeface="Arial"/>
                <a:cs typeface="Arial"/>
              </a:rPr>
              <a:t> </a:t>
            </a:r>
            <a:r>
              <a:rPr sz="900" dirty="0">
                <a:latin typeface="Arial"/>
                <a:cs typeface="Arial"/>
              </a:rPr>
              <a:t>Và</a:t>
            </a:r>
            <a:r>
              <a:rPr sz="900" spc="-20" dirty="0">
                <a:latin typeface="Arial"/>
                <a:cs typeface="Arial"/>
              </a:rPr>
              <a:t> </a:t>
            </a:r>
            <a:r>
              <a:rPr sz="900" dirty="0">
                <a:latin typeface="Arial"/>
                <a:cs typeface="Arial"/>
              </a:rPr>
              <a:t>cái đó</a:t>
            </a:r>
            <a:r>
              <a:rPr sz="900" spc="-25" dirty="0">
                <a:latin typeface="Arial"/>
                <a:cs typeface="Arial"/>
              </a:rPr>
              <a:t> </a:t>
            </a:r>
            <a:r>
              <a:rPr sz="900" dirty="0">
                <a:latin typeface="Arial"/>
                <a:cs typeface="Arial"/>
              </a:rPr>
              <a:t>mỗi</a:t>
            </a:r>
            <a:r>
              <a:rPr sz="900" spc="-25" dirty="0">
                <a:latin typeface="Arial"/>
                <a:cs typeface="Arial"/>
              </a:rPr>
              <a:t> </a:t>
            </a:r>
            <a:r>
              <a:rPr sz="900" dirty="0">
                <a:latin typeface="Arial"/>
                <a:cs typeface="Arial"/>
              </a:rPr>
              <a:t>dữ liệu</a:t>
            </a:r>
            <a:r>
              <a:rPr sz="900" spc="-20" dirty="0">
                <a:latin typeface="Arial"/>
                <a:cs typeface="Arial"/>
              </a:rPr>
              <a:t> </a:t>
            </a:r>
            <a:r>
              <a:rPr sz="900" dirty="0">
                <a:latin typeface="Arial"/>
                <a:cs typeface="Arial"/>
              </a:rPr>
              <a:t>mục </a:t>
            </a:r>
            <a:r>
              <a:rPr sz="900" spc="-25" dirty="0">
                <a:latin typeface="Arial"/>
                <a:cs typeface="Arial"/>
              </a:rPr>
              <a:t> </a:t>
            </a:r>
            <a:r>
              <a:rPr sz="900" dirty="0">
                <a:latin typeface="Arial"/>
                <a:cs typeface="Arial"/>
              </a:rPr>
              <a:t>là</a:t>
            </a:r>
            <a:r>
              <a:rPr sz="900" spc="-20" dirty="0">
                <a:latin typeface="Arial"/>
                <a:cs typeface="Arial"/>
              </a:rPr>
              <a:t> </a:t>
            </a:r>
            <a:r>
              <a:rPr sz="900" dirty="0">
                <a:latin typeface="Arial"/>
                <a:cs typeface="Arial"/>
              </a:rPr>
              <a:t>đã sao chép</a:t>
            </a:r>
            <a:r>
              <a:rPr sz="900" spc="-25" dirty="0">
                <a:latin typeface="Arial"/>
                <a:cs typeface="Arial"/>
              </a:rPr>
              <a:t> </a:t>
            </a:r>
            <a:r>
              <a:rPr sz="900" dirty="0">
                <a:latin typeface="Arial"/>
                <a:cs typeface="Arial"/>
              </a:rPr>
              <a:t>sang</a:t>
            </a:r>
            <a:r>
              <a:rPr sz="900" spc="-20" dirty="0">
                <a:latin typeface="Arial"/>
                <a:cs typeface="Arial"/>
              </a:rPr>
              <a:t> </a:t>
            </a:r>
            <a:r>
              <a:rPr sz="900" i="1" dirty="0">
                <a:latin typeface="Arial"/>
                <a:cs typeface="Arial"/>
              </a:rPr>
              <a:t>r</a:t>
            </a:r>
            <a:r>
              <a:rPr sz="900" i="1" spc="75" dirty="0">
                <a:latin typeface="Arial"/>
                <a:cs typeface="Arial"/>
              </a:rPr>
              <a:t> </a:t>
            </a:r>
            <a:r>
              <a:rPr sz="900" dirty="0">
                <a:latin typeface="Arial"/>
                <a:cs typeface="Arial"/>
              </a:rPr>
              <a:t>được chọn </a:t>
            </a:r>
            <a:r>
              <a:rPr sz="900" spc="-10" dirty="0">
                <a:latin typeface="Arial"/>
                <a:cs typeface="Arial"/>
              </a:rPr>
              <a:t>ngẫu nhiên</a:t>
            </a:r>
            <a:r>
              <a:rPr sz="900" spc="-35" dirty="0">
                <a:latin typeface="Arial"/>
                <a:cs typeface="Arial"/>
              </a:rPr>
              <a:t> </a:t>
            </a:r>
            <a:r>
              <a:rPr sz="900" spc="-10" dirty="0">
                <a:latin typeface="Arial"/>
                <a:cs typeface="Arial"/>
              </a:rPr>
              <a:t>các nút.</a:t>
            </a:r>
            <a:endParaRPr sz="900">
              <a:latin typeface="Arial"/>
              <a:cs typeface="Arial"/>
            </a:endParaRPr>
          </a:p>
          <a:p>
            <a:pPr marL="15875">
              <a:lnSpc>
                <a:spcPct val="100000"/>
              </a:lnSpc>
              <a:spcBef>
                <a:spcPts val="750"/>
              </a:spcBef>
            </a:pPr>
            <a:r>
              <a:rPr sz="1000" dirty="0">
                <a:solidFill>
                  <a:srgbClr val="3333B2"/>
                </a:solidFill>
                <a:latin typeface="Arial"/>
                <a:cs typeface="Arial"/>
              </a:rPr>
              <a:t>Ngẫu nhiên</a:t>
            </a:r>
            <a:r>
              <a:rPr sz="1000" spc="-45" dirty="0">
                <a:solidFill>
                  <a:srgbClr val="3333B2"/>
                </a:solidFill>
                <a:latin typeface="Arial"/>
                <a:cs typeface="Arial"/>
              </a:rPr>
              <a:t> </a:t>
            </a:r>
            <a:r>
              <a:rPr sz="1000" spc="-20" dirty="0">
                <a:solidFill>
                  <a:srgbClr val="3333B2"/>
                </a:solidFill>
                <a:latin typeface="Arial"/>
                <a:cs typeface="Arial"/>
              </a:rPr>
              <a:t>đi bộ</a:t>
            </a:r>
            <a:endParaRPr sz="1000">
              <a:latin typeface="Arial"/>
              <a:cs typeface="Arial"/>
            </a:endParaRPr>
          </a:p>
          <a:p>
            <a:pPr marL="15875">
              <a:lnSpc>
                <a:spcPct val="100000"/>
              </a:lnSpc>
              <a:spcBef>
                <a:spcPts val="100"/>
              </a:spcBef>
            </a:pPr>
            <a:r>
              <a:rPr sz="900" spc="-20" dirty="0">
                <a:latin typeface="Arial"/>
                <a:cs typeface="Arial"/>
              </a:rPr>
              <a:t>P[ </a:t>
            </a:r>
            <a:r>
              <a:rPr sz="900" i="1" spc="-20" dirty="0">
                <a:latin typeface="Arial"/>
                <a:cs typeface="Arial"/>
              </a:rPr>
              <a:t>k</a:t>
            </a:r>
            <a:r>
              <a:rPr sz="900" i="1" spc="-16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xác suất</a:t>
            </a:r>
            <a:r>
              <a:rPr sz="900" spc="-20" dirty="0">
                <a:latin typeface="Arial"/>
                <a:cs typeface="Arial"/>
              </a:rPr>
              <a:t> </a:t>
            </a:r>
            <a:r>
              <a:rPr sz="900" dirty="0">
                <a:latin typeface="Arial"/>
                <a:cs typeface="Arial"/>
              </a:rPr>
              <a:t>cái đó</a:t>
            </a:r>
            <a:r>
              <a:rPr sz="900" spc="-20" dirty="0">
                <a:latin typeface="Arial"/>
                <a:cs typeface="Arial"/>
              </a:rPr>
              <a:t> </a:t>
            </a:r>
            <a:r>
              <a:rPr sz="900" dirty="0">
                <a:latin typeface="Arial"/>
                <a:cs typeface="Arial"/>
              </a:rPr>
              <a:t>mục </a:t>
            </a:r>
            <a:r>
              <a:rPr sz="900" spc="-20" dirty="0">
                <a:latin typeface="Arial"/>
                <a:cs typeface="Arial"/>
              </a:rPr>
              <a:t> </a:t>
            </a:r>
            <a:r>
              <a:rPr sz="900" dirty="0">
                <a:latin typeface="Arial"/>
                <a:cs typeface="Arial"/>
              </a:rPr>
              <a:t>là</a:t>
            </a:r>
            <a:r>
              <a:rPr sz="900" spc="-20" dirty="0">
                <a:latin typeface="Arial"/>
                <a:cs typeface="Arial"/>
              </a:rPr>
              <a:t> </a:t>
            </a:r>
            <a:r>
              <a:rPr sz="900" dirty="0">
                <a:latin typeface="Arial"/>
                <a:cs typeface="Arial"/>
              </a:rPr>
              <a:t>thành lập</a:t>
            </a:r>
            <a:r>
              <a:rPr sz="900" spc="-15" dirty="0">
                <a:latin typeface="Arial"/>
                <a:cs typeface="Arial"/>
              </a:rPr>
              <a:t> </a:t>
            </a:r>
            <a:r>
              <a:rPr sz="900" dirty="0">
                <a:latin typeface="Arial"/>
                <a:cs typeface="Arial"/>
              </a:rPr>
              <a:t>sau đó</a:t>
            </a:r>
            <a:r>
              <a:rPr sz="900" spc="-20" dirty="0">
                <a:latin typeface="Arial"/>
                <a:cs typeface="Arial"/>
              </a:rPr>
              <a:t> </a:t>
            </a:r>
            <a:r>
              <a:rPr sz="900" i="1" dirty="0">
                <a:latin typeface="Arial"/>
                <a:cs typeface="Arial"/>
              </a:rPr>
              <a:t>tôi</a:t>
            </a:r>
            <a:r>
              <a:rPr sz="900" i="1" spc="65" dirty="0">
                <a:latin typeface="Arial"/>
                <a:cs typeface="Arial"/>
              </a:rPr>
              <a:t> </a:t>
            </a:r>
            <a:r>
              <a:rPr sz="900" spc="-10" dirty="0">
                <a:latin typeface="Arial"/>
                <a:cs typeface="Arial"/>
              </a:rPr>
              <a:t>cố gắng:</a:t>
            </a:r>
            <a:endParaRPr sz="900">
              <a:latin typeface="Arial"/>
              <a:cs typeface="Arial"/>
            </a:endParaRPr>
          </a:p>
        </p:txBody>
      </p:sp>
      <p:sp>
        <p:nvSpPr>
          <p:cNvPr id="5" name="object 5"/>
          <p:cNvSpPr txBox="1"/>
          <p:nvPr/>
        </p:nvSpPr>
        <p:spPr>
          <a:xfrm>
            <a:off x="1729016" y="1526890"/>
            <a:ext cx="1149985" cy="162560"/>
          </a:xfrm>
          <a:prstGeom prst="rect">
            <a:avLst/>
          </a:prstGeom>
        </p:spPr>
        <p:txBody>
          <a:bodyPr vert="horz" wrap="square" lIns="0" tIns="12065" rIns="0" bIns="0" rtlCol="0">
            <a:spAutoFit/>
          </a:bodyPr>
          <a:lstStyle/>
          <a:p>
            <a:pPr marL="38100">
              <a:lnSpc>
                <a:spcPct val="100000"/>
              </a:lnSpc>
              <a:spcBef>
                <a:spcPts val="95"/>
              </a:spcBef>
            </a:pPr>
            <a:r>
              <a:rPr sz="900" spc="-20" dirty="0">
                <a:latin typeface="Arial"/>
                <a:cs typeface="Arial"/>
              </a:rPr>
              <a:t>P[ </a:t>
            </a:r>
            <a:r>
              <a:rPr sz="900" i="1" spc="-20" dirty="0">
                <a:latin typeface="Arial"/>
                <a:cs typeface="Arial"/>
              </a:rPr>
              <a:t>k</a:t>
            </a:r>
            <a:r>
              <a:rPr sz="900" i="1" spc="-160" dirty="0">
                <a:latin typeface="Arial"/>
                <a:cs typeface="Arial"/>
              </a:rPr>
              <a:t> </a:t>
            </a:r>
            <a:r>
              <a:rPr sz="900" dirty="0">
                <a:latin typeface="Arial"/>
                <a:cs typeface="Arial"/>
              </a:rPr>
              <a:t>]</a:t>
            </a:r>
            <a:r>
              <a:rPr sz="900" spc="-45" dirty="0">
                <a:latin typeface="Arial"/>
                <a:cs typeface="Arial"/>
              </a:rPr>
              <a:t> </a:t>
            </a:r>
            <a:r>
              <a:rPr sz="900" spc="185" dirty="0">
                <a:latin typeface="Arial"/>
                <a:cs typeface="Arial"/>
              </a:rPr>
              <a:t>=</a:t>
            </a:r>
            <a:r>
              <a:rPr sz="900" spc="90" dirty="0">
                <a:latin typeface="Arial"/>
                <a:cs typeface="Arial"/>
              </a:rPr>
              <a:t> </a:t>
            </a:r>
            <a:r>
              <a:rPr sz="1350" u="sng" spc="-97" baseline="37037" dirty="0">
                <a:uFill>
                  <a:solidFill>
                    <a:srgbClr val="000000"/>
                  </a:solidFill>
                </a:uFill>
                <a:latin typeface="Times New Roman"/>
                <a:cs typeface="Times New Roman"/>
              </a:rPr>
              <a:t> </a:t>
            </a:r>
            <a:r>
              <a:rPr sz="1350" i="1" u="sng" baseline="37037" dirty="0">
                <a:uFill>
                  <a:solidFill>
                    <a:srgbClr val="000000"/>
                  </a:solidFill>
                </a:uFill>
                <a:latin typeface="Arial"/>
                <a:cs typeface="Arial"/>
              </a:rPr>
              <a:t>r</a:t>
            </a:r>
            <a:r>
              <a:rPr sz="1350" i="1" u="sng" spc="37" baseline="37037" dirty="0">
                <a:uFill>
                  <a:solidFill>
                    <a:srgbClr val="000000"/>
                  </a:solidFill>
                </a:uFill>
                <a:latin typeface="Arial"/>
                <a:cs typeface="Arial"/>
              </a:rPr>
              <a:t> </a:t>
            </a:r>
            <a:r>
              <a:rPr sz="1350" i="1" spc="-195" baseline="37037" dirty="0">
                <a:latin typeface="Arial"/>
                <a:cs typeface="Arial"/>
              </a:rPr>
              <a:t> </a:t>
            </a:r>
            <a:r>
              <a:rPr sz="900" dirty="0">
                <a:latin typeface="Arial"/>
                <a:cs typeface="Arial"/>
              </a:rPr>
              <a:t>(1</a:t>
            </a:r>
            <a:r>
              <a:rPr sz="900" spc="-120" dirty="0">
                <a:latin typeface="Arial"/>
                <a:cs typeface="Arial"/>
              </a:rPr>
              <a:t> </a:t>
            </a:r>
            <a:r>
              <a:rPr sz="900" spc="160" dirty="0">
                <a:latin typeface="Apple Symbols"/>
                <a:cs typeface="Apple Symbols"/>
              </a:rPr>
              <a:t>−</a:t>
            </a:r>
            <a:r>
              <a:rPr sz="900" spc="-45" dirty="0">
                <a:latin typeface="Apple Symbols"/>
                <a:cs typeface="Apple Symbols"/>
              </a:rPr>
              <a:t> </a:t>
            </a:r>
            <a:r>
              <a:rPr sz="1350" u="sng" spc="-97" baseline="37037" dirty="0">
                <a:uFill>
                  <a:solidFill>
                    <a:srgbClr val="000000"/>
                  </a:solidFill>
                </a:uFill>
                <a:latin typeface="Times New Roman"/>
                <a:cs typeface="Times New Roman"/>
              </a:rPr>
              <a:t> </a:t>
            </a:r>
            <a:r>
              <a:rPr sz="1350" i="1" u="sng" baseline="37037" dirty="0">
                <a:uFill>
                  <a:solidFill>
                    <a:srgbClr val="000000"/>
                  </a:solidFill>
                </a:uFill>
                <a:latin typeface="Arial"/>
                <a:cs typeface="Arial"/>
              </a:rPr>
              <a:t>r</a:t>
            </a:r>
            <a:r>
              <a:rPr sz="1350" i="1" u="sng" spc="37" baseline="37037" dirty="0">
                <a:uFill>
                  <a:solidFill>
                    <a:srgbClr val="000000"/>
                  </a:solidFill>
                </a:uFill>
                <a:latin typeface="Arial"/>
                <a:cs typeface="Arial"/>
              </a:rPr>
              <a:t> </a:t>
            </a:r>
            <a:r>
              <a:rPr sz="1350" i="1" spc="-187" baseline="37037" dirty="0">
                <a:latin typeface="Arial"/>
                <a:cs typeface="Arial"/>
              </a:rPr>
              <a:t> </a:t>
            </a:r>
            <a:r>
              <a:rPr sz="900" dirty="0">
                <a:latin typeface="Arial"/>
                <a:cs typeface="Arial"/>
              </a:rPr>
              <a:t>) </a:t>
            </a:r>
            <a:r>
              <a:rPr sz="1050" i="1" baseline="27777" dirty="0">
                <a:latin typeface="Arial"/>
                <a:cs typeface="Arial"/>
              </a:rPr>
              <a:t>là</a:t>
            </a:r>
            <a:r>
              <a:rPr sz="1050" i="1" spc="-187" baseline="27777" dirty="0">
                <a:latin typeface="Arial"/>
                <a:cs typeface="Arial"/>
              </a:rPr>
              <a:t> </a:t>
            </a:r>
            <a:r>
              <a:rPr sz="1050" spc="44" baseline="27777" dirty="0">
                <a:latin typeface="Apple Symbols"/>
                <a:cs typeface="Apple Symbols"/>
              </a:rPr>
              <a:t>− </a:t>
            </a:r>
            <a:r>
              <a:rPr sz="1050" spc="44" baseline="27777" dirty="0">
                <a:latin typeface="Arial"/>
                <a:cs typeface="Arial"/>
              </a:rPr>
              <a:t>1 </a:t>
            </a:r>
            <a:r>
              <a:rPr sz="900" i="1" spc="30" dirty="0">
                <a:latin typeface="Arial"/>
                <a:cs typeface="Arial"/>
              </a:rPr>
              <a:t>.</a:t>
            </a:r>
            <a:endParaRPr sz="900">
              <a:latin typeface="Arial"/>
              <a:cs typeface="Arial"/>
            </a:endParaRPr>
          </a:p>
        </p:txBody>
      </p:sp>
      <p:sp>
        <p:nvSpPr>
          <p:cNvPr id="6" name="object 6"/>
          <p:cNvSpPr txBox="1"/>
          <p:nvPr/>
        </p:nvSpPr>
        <p:spPr>
          <a:xfrm>
            <a:off x="347294" y="1537541"/>
            <a:ext cx="3562985" cy="433705"/>
          </a:xfrm>
          <a:prstGeom prst="rect">
            <a:avLst/>
          </a:prstGeom>
        </p:spPr>
        <p:txBody>
          <a:bodyPr vert="horz" wrap="square" lIns="0" tIns="79375" rIns="0" bIns="0" rtlCol="0">
            <a:spAutoFit/>
          </a:bodyPr>
          <a:lstStyle/>
          <a:p>
            <a:pPr marL="434975" algn="ctr">
              <a:lnSpc>
                <a:spcPct val="100000"/>
              </a:lnSpc>
              <a:spcBef>
                <a:spcPts val="625"/>
              </a:spcBef>
              <a:tabLst>
                <a:tab pos="784860" algn="l"/>
              </a:tabLst>
            </a:pPr>
            <a:r>
              <a:rPr sz="900" i="1" spc="-50" dirty="0">
                <a:latin typeface="Arial"/>
                <a:cs typeface="Arial"/>
              </a:rPr>
              <a:t>N</a:t>
            </a:r>
            <a:r>
              <a:rPr sz="900" i="1" dirty="0">
                <a:latin typeface="Arial"/>
                <a:cs typeface="Arial"/>
              </a:rPr>
              <a:t> </a:t>
            </a:r>
            <a:r>
              <a:rPr sz="900" i="1" spc="-50" dirty="0">
                <a:latin typeface="Arial"/>
                <a:cs typeface="Arial"/>
              </a:rPr>
              <a:t>N</a:t>
            </a:r>
            <a:endParaRPr sz="900">
              <a:latin typeface="Arial"/>
              <a:cs typeface="Arial"/>
            </a:endParaRPr>
          </a:p>
          <a:p>
            <a:pPr marL="12700">
              <a:lnSpc>
                <a:spcPct val="100000"/>
              </a:lnSpc>
              <a:spcBef>
                <a:spcPts val="530"/>
              </a:spcBef>
            </a:pPr>
            <a:r>
              <a:rPr sz="900" i="1" dirty="0">
                <a:latin typeface="Arial"/>
                <a:cs typeface="Arial"/>
              </a:rPr>
              <a:t>S</a:t>
            </a:r>
            <a:r>
              <a:rPr sz="900" i="1" spc="20" dirty="0">
                <a:latin typeface="Arial"/>
                <a:cs typeface="Arial"/>
              </a:rPr>
              <a:t> </a:t>
            </a:r>
            <a:r>
              <a:rPr sz="900" dirty="0">
                <a:latin typeface="Arial"/>
                <a:cs typeface="Arial"/>
              </a:rPr>
              <a:t>("tìm kiếm</a:t>
            </a:r>
            <a:r>
              <a:rPr sz="900" spc="-20" dirty="0">
                <a:latin typeface="Arial"/>
                <a:cs typeface="Arial"/>
              </a:rPr>
              <a:t> </a:t>
            </a:r>
            <a:r>
              <a:rPr sz="900" dirty="0">
                <a:latin typeface="Arial"/>
                <a:cs typeface="Arial"/>
              </a:rPr>
              <a:t>kích cỡ")</a:t>
            </a:r>
            <a:r>
              <a:rPr sz="900" spc="-25" dirty="0">
                <a:latin typeface="Arial"/>
                <a:cs typeface="Arial"/>
              </a:rPr>
              <a:t> </a:t>
            </a:r>
            <a:r>
              <a:rPr sz="900" dirty="0">
                <a:latin typeface="Arial"/>
                <a:cs typeface="Arial"/>
              </a:rPr>
              <a:t>là</a:t>
            </a:r>
            <a:r>
              <a:rPr sz="900" spc="-20" dirty="0">
                <a:latin typeface="Arial"/>
                <a:cs typeface="Arial"/>
              </a:rPr>
              <a:t> </a:t>
            </a:r>
            <a:r>
              <a:rPr sz="900" spc="-10" dirty="0">
                <a:latin typeface="Arial"/>
                <a:cs typeface="Arial"/>
              </a:rPr>
              <a:t>hy vọng</a:t>
            </a:r>
            <a:r>
              <a:rPr sz="900" spc="-20" dirty="0">
                <a:latin typeface="Arial"/>
                <a:cs typeface="Arial"/>
              </a:rPr>
              <a:t> </a:t>
            </a:r>
            <a:r>
              <a:rPr sz="900" dirty="0">
                <a:latin typeface="Arial"/>
                <a:cs typeface="Arial"/>
              </a:rPr>
              <a:t>con số</a:t>
            </a:r>
            <a:r>
              <a:rPr sz="900" spc="-20" dirty="0">
                <a:latin typeface="Arial"/>
                <a:cs typeface="Arial"/>
              </a:rPr>
              <a:t> </a:t>
            </a:r>
            <a:r>
              <a:rPr sz="900" dirty="0">
                <a:latin typeface="Arial"/>
                <a:cs typeface="Arial"/>
              </a:rPr>
              <a:t>của</a:t>
            </a:r>
            <a:r>
              <a:rPr sz="900" spc="-20" dirty="0">
                <a:latin typeface="Arial"/>
                <a:cs typeface="Arial"/>
              </a:rPr>
              <a:t> </a:t>
            </a:r>
            <a:r>
              <a:rPr sz="900" dirty="0">
                <a:latin typeface="Arial"/>
                <a:cs typeface="Arial"/>
              </a:rPr>
              <a:t>các nút</a:t>
            </a:r>
            <a:r>
              <a:rPr sz="900" spc="-25" dirty="0">
                <a:latin typeface="Arial"/>
                <a:cs typeface="Arial"/>
              </a:rPr>
              <a:t> </a:t>
            </a:r>
            <a:r>
              <a:rPr sz="900" dirty="0">
                <a:latin typeface="Arial"/>
                <a:cs typeface="Arial"/>
              </a:rPr>
              <a:t>cái đó</a:t>
            </a:r>
            <a:r>
              <a:rPr sz="900" spc="-20" dirty="0">
                <a:latin typeface="Arial"/>
                <a:cs typeface="Arial"/>
              </a:rPr>
              <a:t> </a:t>
            </a:r>
            <a:r>
              <a:rPr sz="900" dirty="0">
                <a:latin typeface="Arial"/>
                <a:cs typeface="Arial"/>
              </a:rPr>
              <a:t>nhu cầu</a:t>
            </a:r>
            <a:r>
              <a:rPr sz="900" spc="-20" dirty="0">
                <a:latin typeface="Arial"/>
                <a:cs typeface="Arial"/>
              </a:rPr>
              <a:t> </a:t>
            </a:r>
            <a:r>
              <a:rPr sz="900" dirty="0">
                <a:latin typeface="Arial"/>
                <a:cs typeface="Arial"/>
              </a:rPr>
              <a:t>ĐẾN</a:t>
            </a:r>
            <a:r>
              <a:rPr sz="900" spc="-20" dirty="0">
                <a:latin typeface="Arial"/>
                <a:cs typeface="Arial"/>
              </a:rPr>
              <a:t> </a:t>
            </a:r>
            <a:r>
              <a:rPr sz="900" dirty="0">
                <a:latin typeface="Arial"/>
                <a:cs typeface="Arial"/>
              </a:rPr>
              <a:t>là</a:t>
            </a:r>
            <a:r>
              <a:rPr sz="900" spc="-20" dirty="0">
                <a:latin typeface="Arial"/>
                <a:cs typeface="Arial"/>
              </a:rPr>
              <a:t> </a:t>
            </a:r>
            <a:r>
              <a:rPr sz="900" spc="-10" dirty="0">
                <a:latin typeface="Arial"/>
                <a:cs typeface="Arial"/>
              </a:rPr>
              <a:t>đã thăm dò:</a:t>
            </a:r>
            <a:endParaRPr sz="900">
              <a:latin typeface="Arial"/>
              <a:cs typeface="Arial"/>
            </a:endParaRPr>
          </a:p>
        </p:txBody>
      </p:sp>
      <p:sp>
        <p:nvSpPr>
          <p:cNvPr id="7" name="object 7"/>
          <p:cNvSpPr txBox="1"/>
          <p:nvPr/>
        </p:nvSpPr>
        <p:spPr>
          <a:xfrm>
            <a:off x="1026515" y="2300391"/>
            <a:ext cx="201295" cy="132080"/>
          </a:xfrm>
          <a:prstGeom prst="rect">
            <a:avLst/>
          </a:prstGeom>
        </p:spPr>
        <p:txBody>
          <a:bodyPr vert="horz" wrap="square" lIns="0" tIns="12065" rIns="0" bIns="0" rtlCol="0">
            <a:spAutoFit/>
          </a:bodyPr>
          <a:lstStyle/>
          <a:p>
            <a:pPr marL="12700">
              <a:lnSpc>
                <a:spcPct val="100000"/>
              </a:lnSpc>
              <a:spcBef>
                <a:spcPts val="95"/>
              </a:spcBef>
            </a:pPr>
            <a:r>
              <a:rPr sz="700" i="1" spc="-10" dirty="0">
                <a:latin typeface="Arial"/>
                <a:cs typeface="Arial"/>
              </a:rPr>
              <a:t>tôi</a:t>
            </a:r>
            <a:r>
              <a:rPr sz="700" i="1" spc="-120" dirty="0">
                <a:latin typeface="Arial"/>
                <a:cs typeface="Arial"/>
              </a:rPr>
              <a:t> </a:t>
            </a:r>
            <a:r>
              <a:rPr sz="700" spc="50" dirty="0">
                <a:latin typeface="Arial"/>
                <a:cs typeface="Arial"/>
              </a:rPr>
              <a:t>=1</a:t>
            </a:r>
            <a:endParaRPr sz="700">
              <a:latin typeface="Arial"/>
              <a:cs typeface="Arial"/>
            </a:endParaRPr>
          </a:p>
        </p:txBody>
      </p:sp>
      <p:sp>
        <p:nvSpPr>
          <p:cNvPr id="8" name="object 8"/>
          <p:cNvSpPr txBox="1"/>
          <p:nvPr/>
        </p:nvSpPr>
        <p:spPr>
          <a:xfrm>
            <a:off x="1078928" y="2053744"/>
            <a:ext cx="756920" cy="132080"/>
          </a:xfrm>
          <a:prstGeom prst="rect">
            <a:avLst/>
          </a:prstGeom>
        </p:spPr>
        <p:txBody>
          <a:bodyPr vert="horz" wrap="square" lIns="0" tIns="12065" rIns="0" bIns="0" rtlCol="0">
            <a:spAutoFit/>
          </a:bodyPr>
          <a:lstStyle/>
          <a:p>
            <a:pPr marL="12700">
              <a:lnSpc>
                <a:spcPct val="100000"/>
              </a:lnSpc>
              <a:spcBef>
                <a:spcPts val="95"/>
              </a:spcBef>
              <a:tabLst>
                <a:tab pos="679450" algn="l"/>
              </a:tabLst>
            </a:pPr>
            <a:r>
              <a:rPr sz="700" i="1" spc="-50" dirty="0">
                <a:latin typeface="Arial"/>
                <a:cs typeface="Arial"/>
              </a:rPr>
              <a:t>N</a:t>
            </a:r>
            <a:r>
              <a:rPr sz="700" i="1" dirty="0">
                <a:latin typeface="Arial"/>
                <a:cs typeface="Arial"/>
              </a:rPr>
              <a:t> </a:t>
            </a:r>
            <a:r>
              <a:rPr sz="700" i="1" spc="-50" dirty="0">
                <a:latin typeface="Arial"/>
                <a:cs typeface="Arial"/>
              </a:rPr>
              <a:t>N</a:t>
            </a:r>
            <a:endParaRPr sz="700">
              <a:latin typeface="Arial"/>
              <a:cs typeface="Arial"/>
            </a:endParaRPr>
          </a:p>
        </p:txBody>
      </p:sp>
      <p:sp>
        <p:nvSpPr>
          <p:cNvPr id="9" name="object 9"/>
          <p:cNvSpPr txBox="1"/>
          <p:nvPr/>
        </p:nvSpPr>
        <p:spPr>
          <a:xfrm>
            <a:off x="1693798" y="2300391"/>
            <a:ext cx="201295" cy="132080"/>
          </a:xfrm>
          <a:prstGeom prst="rect">
            <a:avLst/>
          </a:prstGeom>
        </p:spPr>
        <p:txBody>
          <a:bodyPr vert="horz" wrap="square" lIns="0" tIns="12065" rIns="0" bIns="0" rtlCol="0">
            <a:spAutoFit/>
          </a:bodyPr>
          <a:lstStyle/>
          <a:p>
            <a:pPr marL="12700">
              <a:lnSpc>
                <a:spcPct val="100000"/>
              </a:lnSpc>
              <a:spcBef>
                <a:spcPts val="95"/>
              </a:spcBef>
            </a:pPr>
            <a:r>
              <a:rPr sz="700" i="1" spc="-10" dirty="0">
                <a:latin typeface="Arial"/>
                <a:cs typeface="Arial"/>
              </a:rPr>
              <a:t>tôi</a:t>
            </a:r>
            <a:r>
              <a:rPr sz="700" i="1" spc="-120" dirty="0">
                <a:latin typeface="Arial"/>
                <a:cs typeface="Arial"/>
              </a:rPr>
              <a:t> </a:t>
            </a:r>
            <a:r>
              <a:rPr sz="700" spc="50" dirty="0">
                <a:latin typeface="Arial"/>
                <a:cs typeface="Arial"/>
              </a:rPr>
              <a:t>=1</a:t>
            </a:r>
            <a:endParaRPr sz="700">
              <a:latin typeface="Arial"/>
              <a:cs typeface="Arial"/>
            </a:endParaRPr>
          </a:p>
        </p:txBody>
      </p:sp>
      <p:sp>
        <p:nvSpPr>
          <p:cNvPr id="10" name="object 10"/>
          <p:cNvSpPr txBox="1"/>
          <p:nvPr/>
        </p:nvSpPr>
        <p:spPr>
          <a:xfrm>
            <a:off x="2028710" y="2073028"/>
            <a:ext cx="116839" cy="162560"/>
          </a:xfrm>
          <a:prstGeom prst="rect">
            <a:avLst/>
          </a:prstGeom>
        </p:spPr>
        <p:txBody>
          <a:bodyPr vert="horz" wrap="square" lIns="0" tIns="12065" rIns="0" bIns="0" rtlCol="0">
            <a:spAutoFit/>
          </a:bodyPr>
          <a:lstStyle/>
          <a:p>
            <a:pPr marL="12700">
              <a:lnSpc>
                <a:spcPct val="100000"/>
              </a:lnSpc>
              <a:spcBef>
                <a:spcPts val="95"/>
              </a:spcBef>
            </a:pPr>
            <a:r>
              <a:rPr sz="900" u="sng" spc="-75" dirty="0">
                <a:uFill>
                  <a:solidFill>
                    <a:srgbClr val="000000"/>
                  </a:solidFill>
                </a:uFill>
                <a:latin typeface="Times New Roman"/>
                <a:cs typeface="Times New Roman"/>
              </a:rPr>
              <a:t> </a:t>
            </a:r>
            <a:r>
              <a:rPr sz="900" i="1" u="sng" spc="-50" dirty="0">
                <a:uFill>
                  <a:solidFill>
                    <a:srgbClr val="000000"/>
                  </a:solidFill>
                </a:uFill>
                <a:latin typeface="Arial"/>
                <a:cs typeface="Arial"/>
              </a:rPr>
              <a:t>r</a:t>
            </a:r>
            <a:r>
              <a:rPr sz="900" i="1" u="sng" spc="500" dirty="0">
                <a:uFill>
                  <a:solidFill>
                    <a:srgbClr val="000000"/>
                  </a:solidFill>
                </a:uFill>
                <a:latin typeface="Arial"/>
                <a:cs typeface="Arial"/>
              </a:rPr>
              <a:t> </a:t>
            </a:r>
            <a:endParaRPr sz="900">
              <a:latin typeface="Arial"/>
              <a:cs typeface="Arial"/>
            </a:endParaRPr>
          </a:p>
        </p:txBody>
      </p:sp>
      <p:sp>
        <p:nvSpPr>
          <p:cNvPr id="11" name="object 11"/>
          <p:cNvSpPr txBox="1"/>
          <p:nvPr/>
        </p:nvSpPr>
        <p:spPr>
          <a:xfrm>
            <a:off x="2353589" y="2103089"/>
            <a:ext cx="399415" cy="162560"/>
          </a:xfrm>
          <a:prstGeom prst="rect">
            <a:avLst/>
          </a:prstGeom>
        </p:spPr>
        <p:txBody>
          <a:bodyPr vert="horz" wrap="square" lIns="0" tIns="12065" rIns="0" bIns="0" rtlCol="0">
            <a:spAutoFit/>
          </a:bodyPr>
          <a:lstStyle/>
          <a:p>
            <a:pPr marL="38100">
              <a:lnSpc>
                <a:spcPct val="100000"/>
              </a:lnSpc>
              <a:spcBef>
                <a:spcPts val="95"/>
              </a:spcBef>
            </a:pPr>
            <a:r>
              <a:rPr sz="1350" i="1" u="sng" baseline="15432" dirty="0">
                <a:uFill>
                  <a:solidFill>
                    <a:srgbClr val="000000"/>
                  </a:solidFill>
                </a:uFill>
                <a:latin typeface="Arial"/>
                <a:cs typeface="Arial"/>
              </a:rPr>
              <a:t>r</a:t>
            </a:r>
            <a:r>
              <a:rPr sz="1350" i="1" u="sng" spc="7" baseline="15432" dirty="0">
                <a:uFill>
                  <a:solidFill>
                    <a:srgbClr val="000000"/>
                  </a:solidFill>
                </a:uFill>
                <a:latin typeface="Arial"/>
                <a:cs typeface="Arial"/>
              </a:rPr>
              <a:t> </a:t>
            </a:r>
            <a:r>
              <a:rPr sz="1350" i="1" spc="337" baseline="15432" dirty="0">
                <a:latin typeface="Arial"/>
                <a:cs typeface="Arial"/>
              </a:rPr>
              <a:t> </a:t>
            </a:r>
            <a:r>
              <a:rPr sz="700" i="1" spc="-10" dirty="0">
                <a:latin typeface="Arial"/>
                <a:cs typeface="Arial"/>
              </a:rPr>
              <a:t>tôi</a:t>
            </a:r>
            <a:r>
              <a:rPr sz="700" i="1" spc="-125" dirty="0">
                <a:latin typeface="Arial"/>
                <a:cs typeface="Arial"/>
              </a:rPr>
              <a:t> </a:t>
            </a:r>
            <a:r>
              <a:rPr sz="700" spc="25" dirty="0">
                <a:latin typeface="Apple Symbols"/>
                <a:cs typeface="Apple Symbols"/>
              </a:rPr>
              <a:t>− </a:t>
            </a:r>
            <a:r>
              <a:rPr sz="700" spc="25" dirty="0">
                <a:latin typeface="Arial"/>
                <a:cs typeface="Arial"/>
              </a:rPr>
              <a:t>1</a:t>
            </a:r>
            <a:endParaRPr sz="700">
              <a:latin typeface="Arial"/>
              <a:cs typeface="Arial"/>
            </a:endParaRPr>
          </a:p>
        </p:txBody>
      </p:sp>
      <p:sp>
        <p:nvSpPr>
          <p:cNvPr id="12" name="object 12"/>
          <p:cNvSpPr txBox="1"/>
          <p:nvPr/>
        </p:nvSpPr>
        <p:spPr>
          <a:xfrm>
            <a:off x="778230" y="2100014"/>
            <a:ext cx="3051810" cy="222250"/>
          </a:xfrm>
          <a:prstGeom prst="rect">
            <a:avLst/>
          </a:prstGeom>
        </p:spPr>
        <p:txBody>
          <a:bodyPr vert="horz" wrap="square" lIns="0" tIns="11430" rIns="0" bIns="0" rtlCol="0">
            <a:spAutoFit/>
          </a:bodyPr>
          <a:lstStyle/>
          <a:p>
            <a:pPr marL="38100">
              <a:lnSpc>
                <a:spcPct val="100000"/>
              </a:lnSpc>
              <a:spcBef>
                <a:spcPts val="90"/>
              </a:spcBef>
              <a:tabLst>
                <a:tab pos="1967864" algn="l"/>
              </a:tabLst>
            </a:pPr>
            <a:r>
              <a:rPr sz="900" i="1" dirty="0">
                <a:latin typeface="Arial"/>
                <a:cs typeface="Arial"/>
              </a:rPr>
              <a:t>S</a:t>
            </a:r>
            <a:r>
              <a:rPr sz="900" i="1" spc="-5" dirty="0">
                <a:latin typeface="Arial"/>
                <a:cs typeface="Arial"/>
              </a:rPr>
              <a:t> </a:t>
            </a:r>
            <a:r>
              <a:rPr sz="900" spc="185" dirty="0">
                <a:latin typeface="Arial"/>
                <a:cs typeface="Arial"/>
              </a:rPr>
              <a:t>=</a:t>
            </a:r>
            <a:r>
              <a:rPr sz="900" spc="200" dirty="0">
                <a:latin typeface="Arial"/>
                <a:cs typeface="Arial"/>
              </a:rPr>
              <a:t> </a:t>
            </a:r>
            <a:r>
              <a:rPr sz="1950" baseline="-8547" dirty="0">
                <a:latin typeface="Times New Roman"/>
                <a:cs typeface="Times New Roman"/>
              </a:rPr>
              <a:t>∑</a:t>
            </a:r>
            <a:r>
              <a:rPr sz="1950" spc="30" baseline="-8547" dirty="0">
                <a:latin typeface="Times New Roman"/>
                <a:cs typeface="Times New Roman"/>
              </a:rPr>
              <a:t> </a:t>
            </a:r>
            <a:r>
              <a:rPr sz="900" i="1" dirty="0">
                <a:latin typeface="Arial"/>
                <a:cs typeface="Arial"/>
              </a:rPr>
              <a:t>tôi</a:t>
            </a:r>
            <a:r>
              <a:rPr sz="900" i="1" spc="-35" dirty="0">
                <a:latin typeface="Arial"/>
                <a:cs typeface="Arial"/>
              </a:rPr>
              <a:t> </a:t>
            </a:r>
            <a:r>
              <a:rPr sz="900" dirty="0">
                <a:latin typeface="Apple Symbols"/>
                <a:cs typeface="Apple Symbols"/>
              </a:rPr>
              <a:t>·</a:t>
            </a:r>
            <a:r>
              <a:rPr sz="900" spc="-175" dirty="0">
                <a:latin typeface="Apple Symbols"/>
                <a:cs typeface="Apple Symbols"/>
              </a:rPr>
              <a:t> </a:t>
            </a:r>
            <a:r>
              <a:rPr sz="900" spc="-20" dirty="0">
                <a:latin typeface="Arial"/>
                <a:cs typeface="Arial"/>
              </a:rPr>
              <a:t>P[ </a:t>
            </a:r>
            <a:r>
              <a:rPr sz="900" i="1" spc="-20" dirty="0">
                <a:latin typeface="Arial"/>
                <a:cs typeface="Arial"/>
              </a:rPr>
              <a:t>k</a:t>
            </a:r>
            <a:r>
              <a:rPr sz="900" i="1" spc="-160" dirty="0">
                <a:latin typeface="Arial"/>
                <a:cs typeface="Arial"/>
              </a:rPr>
              <a:t> </a:t>
            </a:r>
            <a:r>
              <a:rPr sz="900" dirty="0">
                <a:latin typeface="Arial"/>
                <a:cs typeface="Arial"/>
              </a:rPr>
              <a:t>]</a:t>
            </a:r>
            <a:r>
              <a:rPr sz="900" spc="-45" dirty="0">
                <a:latin typeface="Arial"/>
                <a:cs typeface="Arial"/>
              </a:rPr>
              <a:t> </a:t>
            </a:r>
            <a:r>
              <a:rPr sz="900" spc="185" dirty="0">
                <a:latin typeface="Arial"/>
                <a:cs typeface="Arial"/>
              </a:rPr>
              <a:t>=</a:t>
            </a:r>
            <a:r>
              <a:rPr sz="900" spc="195" dirty="0">
                <a:latin typeface="Arial"/>
                <a:cs typeface="Arial"/>
              </a:rPr>
              <a:t> </a:t>
            </a:r>
            <a:r>
              <a:rPr sz="1950" baseline="-8547" dirty="0">
                <a:latin typeface="Times New Roman"/>
                <a:cs typeface="Times New Roman"/>
              </a:rPr>
              <a:t>∑</a:t>
            </a:r>
            <a:r>
              <a:rPr sz="1950" spc="30" baseline="-8547" dirty="0">
                <a:latin typeface="Times New Roman"/>
                <a:cs typeface="Times New Roman"/>
              </a:rPr>
              <a:t> </a:t>
            </a:r>
            <a:r>
              <a:rPr sz="900" i="1" dirty="0">
                <a:latin typeface="Arial"/>
                <a:cs typeface="Arial"/>
              </a:rPr>
              <a:t>tôi</a:t>
            </a:r>
            <a:r>
              <a:rPr sz="900" i="1" spc="-30" dirty="0">
                <a:latin typeface="Arial"/>
                <a:cs typeface="Arial"/>
              </a:rPr>
              <a:t> </a:t>
            </a:r>
            <a:r>
              <a:rPr sz="900" dirty="0">
                <a:latin typeface="Apple Symbols"/>
                <a:cs typeface="Apple Symbols"/>
              </a:rPr>
              <a:t>·</a:t>
            </a:r>
            <a:r>
              <a:rPr sz="900" spc="-50" dirty="0">
                <a:latin typeface="Apple Symbols"/>
                <a:cs typeface="Apple Symbols"/>
              </a:rPr>
              <a:t> </a:t>
            </a:r>
            <a:r>
              <a:rPr sz="1350" i="1" spc="-15" baseline="-37037" dirty="0">
                <a:latin typeface="Arial"/>
                <a:cs typeface="Arial"/>
              </a:rPr>
              <a:t>N</a:t>
            </a:r>
            <a:r>
              <a:rPr sz="1350" i="1" spc="-89" baseline="-37037" dirty="0">
                <a:latin typeface="Arial"/>
                <a:cs typeface="Arial"/>
              </a:rPr>
              <a:t> </a:t>
            </a:r>
            <a:r>
              <a:rPr sz="900" dirty="0">
                <a:latin typeface="Arial"/>
                <a:cs typeface="Arial"/>
              </a:rPr>
              <a:t>(1</a:t>
            </a:r>
            <a:r>
              <a:rPr sz="900" spc="-125" dirty="0">
                <a:latin typeface="Arial"/>
                <a:cs typeface="Arial"/>
              </a:rPr>
              <a:t> </a:t>
            </a:r>
            <a:r>
              <a:rPr sz="900" spc="160" dirty="0">
                <a:latin typeface="Apple Symbols"/>
                <a:cs typeface="Apple Symbols"/>
              </a:rPr>
              <a:t>−</a:t>
            </a:r>
            <a:r>
              <a:rPr sz="900" spc="-50" dirty="0">
                <a:latin typeface="Apple Symbols"/>
                <a:cs typeface="Apple Symbols"/>
              </a:rPr>
              <a:t> </a:t>
            </a:r>
            <a:r>
              <a:rPr sz="1350" i="1" spc="-15" baseline="-37037" dirty="0">
                <a:latin typeface="Arial"/>
                <a:cs typeface="Arial"/>
              </a:rPr>
              <a:t>N</a:t>
            </a:r>
            <a:r>
              <a:rPr sz="1350" i="1" spc="-89" baseline="-37037" dirty="0">
                <a:latin typeface="Arial"/>
                <a:cs typeface="Arial"/>
              </a:rPr>
              <a:t> </a:t>
            </a:r>
            <a:r>
              <a:rPr sz="900" spc="5" dirty="0">
                <a:latin typeface="Arial"/>
                <a:cs typeface="Arial"/>
              </a:rPr>
              <a:t>)</a:t>
            </a:r>
            <a:r>
              <a:rPr sz="900" dirty="0">
                <a:latin typeface="Arial"/>
                <a:cs typeface="Arial"/>
              </a:rPr>
              <a:t> </a:t>
            </a:r>
            <a:r>
              <a:rPr sz="900" spc="145" dirty="0">
                <a:latin typeface="Apple Symbols"/>
                <a:cs typeface="Apple Symbols"/>
              </a:rPr>
              <a:t>≈</a:t>
            </a:r>
            <a:r>
              <a:rPr sz="900" spc="-105" dirty="0">
                <a:latin typeface="Apple Symbols"/>
                <a:cs typeface="Apple Symbols"/>
              </a:rPr>
              <a:t> </a:t>
            </a:r>
            <a:r>
              <a:rPr sz="900" i="1" spc="80" dirty="0">
                <a:latin typeface="Arial"/>
                <a:cs typeface="Arial"/>
              </a:rPr>
              <a:t>N/r </a:t>
            </a:r>
            <a:r>
              <a:rPr sz="900" dirty="0">
                <a:latin typeface="Arial"/>
                <a:cs typeface="Arial"/>
              </a:rPr>
              <a:t>cho</a:t>
            </a:r>
            <a:r>
              <a:rPr sz="900" spc="-10" dirty="0">
                <a:latin typeface="Arial"/>
                <a:cs typeface="Arial"/>
              </a:rPr>
              <a:t> </a:t>
            </a:r>
            <a:r>
              <a:rPr sz="900" dirty="0">
                <a:latin typeface="Arial"/>
                <a:cs typeface="Arial"/>
              </a:rPr>
              <a:t>1</a:t>
            </a:r>
            <a:r>
              <a:rPr sz="900" spc="-55" dirty="0">
                <a:latin typeface="Arial"/>
                <a:cs typeface="Arial"/>
              </a:rPr>
              <a:t> </a:t>
            </a:r>
            <a:r>
              <a:rPr sz="900" spc="229" dirty="0">
                <a:latin typeface="Apple Symbols"/>
                <a:cs typeface="Apple Symbols"/>
              </a:rPr>
              <a:t>≪</a:t>
            </a:r>
            <a:r>
              <a:rPr sz="900" spc="-105" dirty="0">
                <a:latin typeface="Apple Symbols"/>
                <a:cs typeface="Apple Symbols"/>
              </a:rPr>
              <a:t> </a:t>
            </a:r>
            <a:r>
              <a:rPr sz="900" i="1" dirty="0">
                <a:latin typeface="Arial"/>
                <a:cs typeface="Arial"/>
              </a:rPr>
              <a:t>r</a:t>
            </a:r>
            <a:r>
              <a:rPr sz="900" i="1" spc="45" dirty="0">
                <a:latin typeface="Arial"/>
                <a:cs typeface="Arial"/>
              </a:rPr>
              <a:t> </a:t>
            </a:r>
            <a:r>
              <a:rPr sz="900" spc="165" dirty="0">
                <a:latin typeface="Apple Symbols"/>
                <a:cs typeface="Apple Symbols"/>
              </a:rPr>
              <a:t>≤</a:t>
            </a:r>
            <a:r>
              <a:rPr sz="900" spc="-105" dirty="0">
                <a:latin typeface="Apple Symbols"/>
                <a:cs typeface="Apple Symbols"/>
              </a:rPr>
              <a:t> </a:t>
            </a:r>
            <a:r>
              <a:rPr sz="900" i="1" spc="-25" dirty="0">
                <a:latin typeface="Arial"/>
                <a:cs typeface="Arial"/>
              </a:rPr>
              <a:t>N.</a:t>
            </a:r>
            <a:endParaRPr sz="900">
              <a:latin typeface="Arial"/>
              <a:cs typeface="Arial"/>
            </a:endParaRPr>
          </a:p>
        </p:txBody>
      </p:sp>
      <p:grpSp>
        <p:nvGrpSpPr>
          <p:cNvPr id="13" name="object 13"/>
          <p:cNvGrpSpPr/>
          <p:nvPr/>
        </p:nvGrpSpPr>
        <p:grpSpPr>
          <a:xfrm>
            <a:off x="0" y="3348469"/>
            <a:ext cx="4608195" cy="107950"/>
            <a:chOff x="0" y="3348469"/>
            <a:chExt cx="4608195" cy="107950"/>
          </a:xfrm>
        </p:grpSpPr>
        <p:sp>
          <p:nvSpPr>
            <p:cNvPr id="14" name="object 14"/>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5" name="object 15"/>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6" name="object 16"/>
          <p:cNvSpPr txBox="1"/>
          <p:nvPr/>
        </p:nvSpPr>
        <p:spPr>
          <a:xfrm>
            <a:off x="53467" y="3349927"/>
            <a:ext cx="10039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Không có cấu trúc</a:t>
            </a:r>
            <a:r>
              <a:rPr sz="500" spc="5" dirty="0">
                <a:latin typeface="Arial"/>
                <a:cs typeface="Arial"/>
                <a:hlinkClick r:id="rId4" action="ppaction://hlinksldjump"/>
              </a:rPr>
              <a:t> </a:t>
            </a:r>
            <a:r>
              <a:rPr sz="500" spc="-10" dirty="0">
                <a:latin typeface="Arial"/>
                <a:cs typeface="Arial"/>
                <a:hlinkClick r:id="rId4" action="ppaction://hlinksldjump"/>
              </a:rPr>
              <a:t>ngang </a:t>
            </a:r>
            <a:r>
              <a:rPr sz="500" dirty="0">
                <a:latin typeface="Arial"/>
                <a:cs typeface="Arial"/>
                <a:hlinkClick r:id="rId4" action="ppaction://hlinksldjump"/>
              </a:rPr>
              <a:t>hàng</a:t>
            </a:r>
            <a:r>
              <a:rPr sz="500" spc="10" dirty="0">
                <a:latin typeface="Arial"/>
                <a:cs typeface="Arial"/>
                <a:hlinkClick r:id="rId4" action="ppaction://hlinksldjump"/>
              </a:rPr>
              <a:t> </a:t>
            </a:r>
            <a:r>
              <a:rPr sz="500" spc="-10" dirty="0">
                <a:latin typeface="Arial"/>
                <a:cs typeface="Arial"/>
                <a:hlinkClick r:id="rId4" action="ppaction://hlinksldjump"/>
              </a:rPr>
              <a:t>hệ thống</a:t>
            </a:r>
            <a:endParaRPr sz="500">
              <a:latin typeface="Arial"/>
              <a:cs typeface="Arial"/>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Đối xứng</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phân phối</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Lũ lụt</a:t>
            </a:r>
            <a:r>
              <a:rPr spc="-65" dirty="0"/>
              <a:t> </a:t>
            </a:r>
            <a:r>
              <a:rPr dirty="0"/>
              <a:t>so với</a:t>
            </a:r>
            <a:r>
              <a:rPr spc="-60" dirty="0"/>
              <a:t> </a:t>
            </a:r>
            <a:r>
              <a:rPr dirty="0"/>
              <a:t>ngẫu nhiên</a:t>
            </a:r>
            <a:r>
              <a:rPr spc="-60" dirty="0"/>
              <a:t> </a:t>
            </a:r>
            <a:r>
              <a:rPr spc="-20" dirty="0"/>
              <a:t>đi bộ</a:t>
            </a:r>
          </a:p>
        </p:txBody>
      </p:sp>
      <p:sp>
        <p:nvSpPr>
          <p:cNvPr id="4" name="object 4"/>
          <p:cNvSpPr txBox="1"/>
          <p:nvPr/>
        </p:nvSpPr>
        <p:spPr>
          <a:xfrm>
            <a:off x="334594" y="514774"/>
            <a:ext cx="3560445" cy="710565"/>
          </a:xfrm>
          <a:prstGeom prst="rect">
            <a:avLst/>
          </a:prstGeom>
        </p:spPr>
        <p:txBody>
          <a:bodyPr vert="horz" wrap="square" lIns="0" tIns="12065" rIns="0" bIns="0" rtlCol="0">
            <a:spAutoFit/>
          </a:bodyPr>
          <a:lstStyle/>
          <a:p>
            <a:pPr marL="25400">
              <a:lnSpc>
                <a:spcPct val="100000"/>
              </a:lnSpc>
              <a:spcBef>
                <a:spcPts val="95"/>
              </a:spcBef>
            </a:pPr>
            <a:r>
              <a:rPr sz="1000" spc="-10" dirty="0">
                <a:solidFill>
                  <a:srgbClr val="3333B2"/>
                </a:solidFill>
                <a:latin typeface="Arial"/>
                <a:cs typeface="Arial"/>
              </a:rPr>
              <a:t>Lũ lụt</a:t>
            </a:r>
            <a:endParaRPr sz="1000">
              <a:latin typeface="Arial"/>
              <a:cs typeface="Arial"/>
            </a:endParaRPr>
          </a:p>
          <a:p>
            <a:pPr marL="278130" indent="-120650">
              <a:lnSpc>
                <a:spcPct val="100000"/>
              </a:lnSpc>
              <a:spcBef>
                <a:spcPts val="710"/>
              </a:spcBef>
              <a:buClr>
                <a:srgbClr val="3333B2"/>
              </a:buClr>
              <a:buFont typeface="Apple Symbols"/>
              <a:buChar char="•"/>
              <a:tabLst>
                <a:tab pos="278765" algn="l"/>
              </a:tabLst>
            </a:pPr>
            <a:r>
              <a:rPr sz="900" dirty="0">
                <a:latin typeface="Arial"/>
                <a:cs typeface="Arial"/>
              </a:rPr>
              <a:t>Lụt</a:t>
            </a:r>
            <a:r>
              <a:rPr sz="900" spc="-30" dirty="0">
                <a:latin typeface="Arial"/>
                <a:cs typeface="Arial"/>
              </a:rPr>
              <a:t> </a:t>
            </a:r>
            <a:r>
              <a:rPr sz="900" dirty="0">
                <a:latin typeface="Arial"/>
                <a:cs typeface="Arial"/>
              </a:rPr>
              <a:t>ĐẾN</a:t>
            </a:r>
            <a:r>
              <a:rPr sz="900" spc="-25" dirty="0">
                <a:latin typeface="Arial"/>
                <a:cs typeface="Arial"/>
              </a:rPr>
              <a:t> </a:t>
            </a:r>
            <a:r>
              <a:rPr sz="900" i="1" dirty="0">
                <a:latin typeface="Arial"/>
                <a:cs typeface="Arial"/>
              </a:rPr>
              <a:t>ngày</a:t>
            </a:r>
            <a:r>
              <a:rPr sz="900" i="1" spc="60" dirty="0">
                <a:latin typeface="Arial"/>
                <a:cs typeface="Arial"/>
              </a:rPr>
              <a:t> </a:t>
            </a:r>
            <a:r>
              <a:rPr sz="900" dirty="0">
                <a:latin typeface="Arial"/>
                <a:cs typeface="Arial"/>
              </a:rPr>
              <a:t>ngẫu nhiên</a:t>
            </a:r>
            <a:r>
              <a:rPr sz="900" spc="-30" dirty="0">
                <a:latin typeface="Arial"/>
                <a:cs typeface="Arial"/>
              </a:rPr>
              <a:t> </a:t>
            </a:r>
            <a:r>
              <a:rPr sz="900" dirty="0">
                <a:latin typeface="Arial"/>
                <a:cs typeface="Arial"/>
              </a:rPr>
              <a:t>đã chọn</a:t>
            </a:r>
            <a:r>
              <a:rPr sz="900" spc="-25" dirty="0">
                <a:latin typeface="Arial"/>
                <a:cs typeface="Arial"/>
              </a:rPr>
              <a:t> </a:t>
            </a:r>
            <a:r>
              <a:rPr sz="900" spc="-10" dirty="0">
                <a:latin typeface="Arial"/>
                <a:cs typeface="Arial"/>
              </a:rPr>
              <a:t>hàng xóm</a:t>
            </a:r>
            <a:endParaRPr sz="900">
              <a:latin typeface="Arial"/>
              <a:cs typeface="Arial"/>
            </a:endParaRPr>
          </a:p>
          <a:p>
            <a:pPr marL="274320" marR="17780" indent="-116839">
              <a:lnSpc>
                <a:spcPct val="111600"/>
              </a:lnSpc>
              <a:buClr>
                <a:srgbClr val="3333B2"/>
              </a:buClr>
              <a:buFont typeface="Apple Symbols"/>
              <a:buChar char="•"/>
              <a:tabLst>
                <a:tab pos="274955" algn="l"/>
              </a:tabLst>
            </a:pPr>
            <a:r>
              <a:rPr sz="900" dirty="0">
                <a:latin typeface="Arial"/>
                <a:cs typeface="Arial"/>
              </a:rPr>
              <a:t>Sau </a:t>
            </a:r>
            <a:r>
              <a:rPr sz="900" i="1" dirty="0">
                <a:latin typeface="Arial"/>
                <a:cs typeface="Arial"/>
              </a:rPr>
              <a:t>k</a:t>
            </a:r>
            <a:r>
              <a:rPr sz="900" i="1" spc="95" dirty="0">
                <a:latin typeface="Arial"/>
                <a:cs typeface="Arial"/>
              </a:rPr>
              <a:t> </a:t>
            </a:r>
            <a:r>
              <a:rPr sz="900" dirty="0">
                <a:latin typeface="Arial"/>
                <a:cs typeface="Arial"/>
              </a:rPr>
              <a:t>bước, một số</a:t>
            </a:r>
            <a:r>
              <a:rPr sz="900" spc="5" dirty="0">
                <a:latin typeface="Arial"/>
                <a:cs typeface="Arial"/>
              </a:rPr>
              <a:t> </a:t>
            </a:r>
            <a:r>
              <a:rPr sz="900" i="1" dirty="0">
                <a:latin typeface="Arial"/>
                <a:cs typeface="Arial"/>
              </a:rPr>
              <a:t>R </a:t>
            </a:r>
            <a:r>
              <a:rPr sz="900" dirty="0">
                <a:latin typeface="Arial"/>
                <a:cs typeface="Arial"/>
              </a:rPr>
              <a:t>( </a:t>
            </a:r>
            <a:r>
              <a:rPr sz="900" i="1" dirty="0">
                <a:latin typeface="Arial"/>
                <a:cs typeface="Arial"/>
              </a:rPr>
              <a:t>k</a:t>
            </a:r>
            <a:r>
              <a:rPr sz="900" i="1" spc="-165" dirty="0">
                <a:latin typeface="Arial"/>
                <a:cs typeface="Arial"/>
              </a:rPr>
              <a:t> </a:t>
            </a:r>
            <a:r>
              <a:rPr sz="900" spc="55" dirty="0">
                <a:latin typeface="Arial"/>
                <a:cs typeface="Arial"/>
              </a:rPr>
              <a:t>)</a:t>
            </a:r>
            <a:r>
              <a:rPr sz="900" spc="-50" dirty="0">
                <a:latin typeface="Arial"/>
                <a:cs typeface="Arial"/>
              </a:rPr>
              <a:t> </a:t>
            </a:r>
            <a:r>
              <a:rPr sz="900" spc="185" dirty="0">
                <a:latin typeface="Arial"/>
                <a:cs typeface="Arial"/>
              </a:rPr>
              <a:t>=</a:t>
            </a:r>
            <a:r>
              <a:rPr sz="900" spc="-45" dirty="0">
                <a:latin typeface="Arial"/>
                <a:cs typeface="Arial"/>
              </a:rPr>
              <a:t> </a:t>
            </a:r>
            <a:r>
              <a:rPr sz="900" i="1" dirty="0">
                <a:latin typeface="Arial"/>
                <a:cs typeface="Arial"/>
              </a:rPr>
              <a:t>ngày</a:t>
            </a:r>
            <a:r>
              <a:rPr sz="900" i="1" spc="-35" dirty="0">
                <a:latin typeface="Arial"/>
                <a:cs typeface="Arial"/>
              </a:rPr>
              <a:t> </a:t>
            </a:r>
            <a:r>
              <a:rPr sz="900" dirty="0">
                <a:latin typeface="Apple Symbols"/>
                <a:cs typeface="Apple Symbols"/>
              </a:rPr>
              <a:t>·</a:t>
            </a:r>
            <a:r>
              <a:rPr sz="900" spc="-180" dirty="0">
                <a:latin typeface="Apple Symbols"/>
                <a:cs typeface="Apple Symbols"/>
              </a:rPr>
              <a:t> </a:t>
            </a:r>
            <a:r>
              <a:rPr sz="900" dirty="0">
                <a:latin typeface="Arial"/>
                <a:cs typeface="Arial"/>
              </a:rPr>
              <a:t>( </a:t>
            </a:r>
            <a:r>
              <a:rPr sz="900" i="1" dirty="0">
                <a:latin typeface="Arial"/>
                <a:cs typeface="Arial"/>
              </a:rPr>
              <a:t>ngày</a:t>
            </a:r>
            <a:r>
              <a:rPr sz="900" i="1" spc="-30" dirty="0">
                <a:latin typeface="Arial"/>
                <a:cs typeface="Arial"/>
              </a:rPr>
              <a:t> </a:t>
            </a:r>
            <a:r>
              <a:rPr sz="900" spc="160" dirty="0">
                <a:latin typeface="Apple Symbols"/>
                <a:cs typeface="Apple Symbols"/>
              </a:rPr>
              <a:t>−</a:t>
            </a:r>
            <a:r>
              <a:rPr sz="900" spc="-180" dirty="0">
                <a:latin typeface="Apple Symbols"/>
                <a:cs typeface="Apple Symbols"/>
              </a:rPr>
              <a:t> </a:t>
            </a:r>
            <a:r>
              <a:rPr sz="900" dirty="0">
                <a:latin typeface="Arial"/>
                <a:cs typeface="Arial"/>
              </a:rPr>
              <a:t>1) </a:t>
            </a:r>
            <a:r>
              <a:rPr sz="1050" i="1" baseline="27777" dirty="0">
                <a:latin typeface="Arial"/>
                <a:cs typeface="Arial"/>
              </a:rPr>
              <a:t>số</a:t>
            </a:r>
            <a:r>
              <a:rPr sz="1050" i="1" spc="-179" baseline="27777" dirty="0">
                <a:latin typeface="Arial"/>
                <a:cs typeface="Arial"/>
              </a:rPr>
              <a:t> </a:t>
            </a:r>
            <a:r>
              <a:rPr sz="1050" spc="89" baseline="27777" dirty="0">
                <a:latin typeface="Apple Symbols"/>
                <a:cs typeface="Apple Symbols"/>
              </a:rPr>
              <a:t>− </a:t>
            </a:r>
            <a:r>
              <a:rPr sz="1050" spc="89" baseline="27777" dirty="0">
                <a:latin typeface="Arial"/>
                <a:cs typeface="Arial"/>
              </a:rPr>
              <a:t>1</a:t>
            </a:r>
            <a:r>
              <a:rPr sz="1050" spc="165" baseline="27777" dirty="0">
                <a:latin typeface="Arial"/>
                <a:cs typeface="Arial"/>
              </a:rPr>
              <a:t> </a:t>
            </a:r>
            <a:r>
              <a:rPr sz="900" dirty="0">
                <a:latin typeface="Arial"/>
                <a:cs typeface="Arial"/>
              </a:rPr>
              <a:t>sẽ </a:t>
            </a:r>
            <a:r>
              <a:rPr sz="900" spc="-10" dirty="0">
                <a:latin typeface="Arial"/>
                <a:cs typeface="Arial"/>
              </a:rPr>
              <a:t>có </a:t>
            </a:r>
            <a:r>
              <a:rPr sz="900" dirty="0">
                <a:latin typeface="Arial"/>
                <a:cs typeface="Arial"/>
              </a:rPr>
              <a:t>được</a:t>
            </a:r>
            <a:r>
              <a:rPr sz="900" spc="5" dirty="0">
                <a:latin typeface="Arial"/>
                <a:cs typeface="Arial"/>
              </a:rPr>
              <a:t> </a:t>
            </a:r>
            <a:r>
              <a:rPr sz="900" spc="-10" dirty="0">
                <a:latin typeface="Arial"/>
                <a:cs typeface="Arial"/>
              </a:rPr>
              <a:t>đã đạt được </a:t>
            </a:r>
            <a:r>
              <a:rPr sz="900" dirty="0">
                <a:latin typeface="Arial"/>
                <a:cs typeface="Arial"/>
              </a:rPr>
              <a:t>(giả sử</a:t>
            </a:r>
            <a:r>
              <a:rPr sz="900" spc="-25" dirty="0">
                <a:latin typeface="Arial"/>
                <a:cs typeface="Arial"/>
              </a:rPr>
              <a:t> </a:t>
            </a:r>
            <a:r>
              <a:rPr sz="900" i="1" dirty="0">
                <a:latin typeface="Arial"/>
                <a:cs typeface="Arial"/>
              </a:rPr>
              <a:t>tôi</a:t>
            </a:r>
            <a:r>
              <a:rPr sz="900" i="1" spc="65" dirty="0">
                <a:latin typeface="Arial"/>
                <a:cs typeface="Arial"/>
              </a:rPr>
              <a:t> </a:t>
            </a:r>
            <a:r>
              <a:rPr sz="900" dirty="0">
                <a:latin typeface="Arial"/>
                <a:cs typeface="Arial"/>
              </a:rPr>
              <a:t>là</a:t>
            </a:r>
            <a:r>
              <a:rPr sz="900" spc="-20" dirty="0">
                <a:latin typeface="Arial"/>
                <a:cs typeface="Arial"/>
              </a:rPr>
              <a:t> </a:t>
            </a:r>
            <a:r>
              <a:rPr sz="900" spc="-10" dirty="0">
                <a:latin typeface="Arial"/>
                <a:cs typeface="Arial"/>
              </a:rPr>
              <a:t>bé nhỏ).</a:t>
            </a:r>
            <a:endParaRPr sz="900">
              <a:latin typeface="Arial"/>
              <a:cs typeface="Arial"/>
            </a:endParaRPr>
          </a:p>
        </p:txBody>
      </p:sp>
      <p:sp>
        <p:nvSpPr>
          <p:cNvPr id="5" name="object 5"/>
          <p:cNvSpPr txBox="1"/>
          <p:nvPr/>
        </p:nvSpPr>
        <p:spPr>
          <a:xfrm>
            <a:off x="2584018" y="1283997"/>
            <a:ext cx="89535" cy="132080"/>
          </a:xfrm>
          <a:prstGeom prst="rect">
            <a:avLst/>
          </a:prstGeom>
        </p:spPr>
        <p:txBody>
          <a:bodyPr vert="horz" wrap="square" lIns="0" tIns="12065" rIns="0" bIns="0" rtlCol="0">
            <a:spAutoFit/>
          </a:bodyPr>
          <a:lstStyle/>
          <a:p>
            <a:pPr marL="12700">
              <a:lnSpc>
                <a:spcPct val="100000"/>
              </a:lnSpc>
              <a:spcBef>
                <a:spcPts val="95"/>
              </a:spcBef>
            </a:pPr>
            <a:r>
              <a:rPr sz="700" i="1" spc="-5" dirty="0">
                <a:latin typeface="Arial"/>
                <a:cs typeface="Arial"/>
              </a:rPr>
              <a:t>N</a:t>
            </a:r>
            <a:endParaRPr sz="700">
              <a:latin typeface="Arial"/>
              <a:cs typeface="Arial"/>
            </a:endParaRPr>
          </a:p>
        </p:txBody>
      </p:sp>
      <p:sp>
        <p:nvSpPr>
          <p:cNvPr id="6" name="object 6"/>
          <p:cNvSpPr txBox="1"/>
          <p:nvPr/>
        </p:nvSpPr>
        <p:spPr>
          <a:xfrm>
            <a:off x="454748" y="1216337"/>
            <a:ext cx="3763010" cy="162560"/>
          </a:xfrm>
          <a:prstGeom prst="rect">
            <a:avLst/>
          </a:prstGeom>
        </p:spPr>
        <p:txBody>
          <a:bodyPr vert="horz" wrap="square" lIns="0" tIns="12065" rIns="0" bIns="0" rtlCol="0">
            <a:spAutoFit/>
          </a:bodyPr>
          <a:lstStyle/>
          <a:p>
            <a:pPr marL="152400" indent="-114935">
              <a:lnSpc>
                <a:spcPct val="100000"/>
              </a:lnSpc>
              <a:spcBef>
                <a:spcPts val="95"/>
              </a:spcBef>
              <a:buClr>
                <a:srgbClr val="3333B2"/>
              </a:buClr>
              <a:buFont typeface="Apple Symbols"/>
              <a:buChar char="•"/>
              <a:tabLst>
                <a:tab pos="153035" algn="l"/>
              </a:tabLst>
            </a:pPr>
            <a:r>
              <a:rPr sz="900" dirty="0">
                <a:latin typeface="Arial"/>
                <a:cs typeface="Arial"/>
              </a:rPr>
              <a:t>Với</a:t>
            </a:r>
            <a:r>
              <a:rPr sz="900" spc="-25" dirty="0">
                <a:latin typeface="Arial"/>
                <a:cs typeface="Arial"/>
              </a:rPr>
              <a:t> </a:t>
            </a:r>
            <a:r>
              <a:rPr sz="900" dirty="0">
                <a:latin typeface="Arial"/>
                <a:cs typeface="Arial"/>
              </a:rPr>
              <a:t>phân số</a:t>
            </a:r>
            <a:r>
              <a:rPr sz="900" spc="-10" dirty="0">
                <a:latin typeface="Arial"/>
                <a:cs typeface="Arial"/>
              </a:rPr>
              <a:t> </a:t>
            </a:r>
            <a:r>
              <a:rPr sz="900" i="1" spc="95" dirty="0">
                <a:latin typeface="Arial"/>
                <a:cs typeface="Arial"/>
              </a:rPr>
              <a:t>r/N</a:t>
            </a:r>
            <a:r>
              <a:rPr sz="900" i="1" spc="60" dirty="0">
                <a:latin typeface="Arial"/>
                <a:cs typeface="Arial"/>
              </a:rPr>
              <a:t> </a:t>
            </a:r>
            <a:r>
              <a:rPr sz="900" dirty="0">
                <a:latin typeface="Arial"/>
                <a:cs typeface="Arial"/>
              </a:rPr>
              <a:t>các nút</a:t>
            </a:r>
            <a:r>
              <a:rPr sz="900" spc="-10" dirty="0">
                <a:latin typeface="Arial"/>
                <a:cs typeface="Arial"/>
              </a:rPr>
              <a:t> </a:t>
            </a:r>
            <a:r>
              <a:rPr sz="900" dirty="0">
                <a:latin typeface="Arial"/>
                <a:cs typeface="Arial"/>
              </a:rPr>
              <a:t>có</a:t>
            </a:r>
            <a:r>
              <a:rPr sz="900" spc="-10" dirty="0">
                <a:latin typeface="Arial"/>
                <a:cs typeface="Arial"/>
              </a:rPr>
              <a:t> </a:t>
            </a:r>
            <a:r>
              <a:rPr sz="900" dirty="0">
                <a:latin typeface="Arial"/>
                <a:cs typeface="Arial"/>
              </a:rPr>
              <a:t>dữ liệu,</a:t>
            </a:r>
            <a:r>
              <a:rPr sz="900" spc="-10" dirty="0">
                <a:latin typeface="Arial"/>
                <a:cs typeface="Arial"/>
              </a:rPr>
              <a:t> </a:t>
            </a:r>
            <a:r>
              <a:rPr sz="900" dirty="0">
                <a:latin typeface="Arial"/>
                <a:cs typeface="Arial"/>
              </a:rPr>
              <a:t>nếu như</a:t>
            </a:r>
            <a:r>
              <a:rPr sz="900" spc="105" dirty="0">
                <a:latin typeface="Arial"/>
                <a:cs typeface="Arial"/>
              </a:rPr>
              <a:t> </a:t>
            </a:r>
            <a:r>
              <a:rPr sz="1050" u="sng" spc="-89" baseline="27777" dirty="0">
                <a:uFill>
                  <a:solidFill>
                    <a:srgbClr val="000000"/>
                  </a:solidFill>
                </a:uFill>
                <a:latin typeface="Times New Roman"/>
                <a:cs typeface="Times New Roman"/>
              </a:rPr>
              <a:t> </a:t>
            </a:r>
            <a:r>
              <a:rPr sz="1050" i="1" u="sng" baseline="27777" dirty="0">
                <a:uFill>
                  <a:solidFill>
                    <a:srgbClr val="000000"/>
                  </a:solidFill>
                </a:uFill>
                <a:latin typeface="Arial"/>
                <a:cs typeface="Arial"/>
              </a:rPr>
              <a:t>r</a:t>
            </a:r>
            <a:r>
              <a:rPr sz="1050" i="1" u="sng" spc="7" baseline="27777" dirty="0">
                <a:uFill>
                  <a:solidFill>
                    <a:srgbClr val="000000"/>
                  </a:solidFill>
                </a:uFill>
                <a:latin typeface="Arial"/>
                <a:cs typeface="Arial"/>
              </a:rPr>
              <a:t> </a:t>
            </a:r>
            <a:r>
              <a:rPr sz="1050" i="1" spc="60" baseline="27777" dirty="0">
                <a:latin typeface="Arial"/>
                <a:cs typeface="Arial"/>
              </a:rPr>
              <a:t> </a:t>
            </a:r>
            <a:r>
              <a:rPr sz="900" dirty="0">
                <a:latin typeface="Apple Symbols"/>
                <a:cs typeface="Apple Symbols"/>
              </a:rPr>
              <a:t>·</a:t>
            </a:r>
            <a:r>
              <a:rPr sz="900" spc="-180" dirty="0">
                <a:latin typeface="Apple Symbols"/>
                <a:cs typeface="Apple Symbols"/>
              </a:rPr>
              <a:t> </a:t>
            </a:r>
            <a:r>
              <a:rPr sz="900" i="1" dirty="0">
                <a:latin typeface="Arial"/>
                <a:cs typeface="Arial"/>
              </a:rPr>
              <a:t>R </a:t>
            </a:r>
            <a:r>
              <a:rPr sz="900" dirty="0">
                <a:latin typeface="Arial"/>
                <a:cs typeface="Arial"/>
              </a:rPr>
              <a:t>( </a:t>
            </a:r>
            <a:r>
              <a:rPr sz="900" i="1" dirty="0">
                <a:latin typeface="Arial"/>
                <a:cs typeface="Arial"/>
              </a:rPr>
              <a:t>k</a:t>
            </a:r>
            <a:r>
              <a:rPr sz="900" i="1" spc="-165" dirty="0">
                <a:latin typeface="Arial"/>
                <a:cs typeface="Arial"/>
              </a:rPr>
              <a:t> </a:t>
            </a:r>
            <a:r>
              <a:rPr sz="900" spc="55" dirty="0">
                <a:latin typeface="Arial"/>
                <a:cs typeface="Arial"/>
              </a:rPr>
              <a:t>)</a:t>
            </a:r>
            <a:r>
              <a:rPr sz="900" spc="-60" dirty="0">
                <a:latin typeface="Arial"/>
                <a:cs typeface="Arial"/>
              </a:rPr>
              <a:t> </a:t>
            </a:r>
            <a:r>
              <a:rPr sz="900" spc="114" dirty="0">
                <a:latin typeface="Apple Symbols"/>
                <a:cs typeface="Apple Symbols"/>
              </a:rPr>
              <a:t>≥</a:t>
            </a:r>
            <a:r>
              <a:rPr sz="900" spc="-105" dirty="0">
                <a:latin typeface="Apple Symbols"/>
                <a:cs typeface="Apple Symbols"/>
              </a:rPr>
              <a:t> </a:t>
            </a:r>
            <a:r>
              <a:rPr sz="900" dirty="0">
                <a:latin typeface="Arial"/>
                <a:cs typeface="Arial"/>
              </a:rPr>
              <a:t>1,</a:t>
            </a:r>
            <a:r>
              <a:rPr sz="900" spc="-10" dirty="0">
                <a:latin typeface="Arial"/>
                <a:cs typeface="Arial"/>
              </a:rPr>
              <a:t> </a:t>
            </a:r>
            <a:r>
              <a:rPr sz="900" dirty="0">
                <a:latin typeface="Arial"/>
                <a:cs typeface="Arial"/>
              </a:rPr>
              <a:t>chúng tôi</a:t>
            </a:r>
            <a:r>
              <a:rPr sz="900" spc="-10" dirty="0">
                <a:latin typeface="Arial"/>
                <a:cs typeface="Arial"/>
              </a:rPr>
              <a:t> </a:t>
            </a:r>
            <a:r>
              <a:rPr sz="900" dirty="0">
                <a:latin typeface="Arial"/>
                <a:cs typeface="Arial"/>
              </a:rPr>
              <a:t>sẽ </a:t>
            </a:r>
            <a:r>
              <a:rPr sz="900" spc="-10" dirty="0">
                <a:latin typeface="Arial"/>
                <a:cs typeface="Arial"/>
              </a:rPr>
              <a:t>tìm thấy</a:t>
            </a:r>
            <a:endParaRPr sz="900">
              <a:latin typeface="Arial"/>
              <a:cs typeface="Arial"/>
            </a:endParaRPr>
          </a:p>
        </p:txBody>
      </p:sp>
      <p:sp>
        <p:nvSpPr>
          <p:cNvPr id="7" name="object 7"/>
          <p:cNvSpPr txBox="1"/>
          <p:nvPr/>
        </p:nvSpPr>
        <p:spPr>
          <a:xfrm>
            <a:off x="309194" y="1369435"/>
            <a:ext cx="3929379" cy="1256030"/>
          </a:xfrm>
          <a:prstGeom prst="rect">
            <a:avLst/>
          </a:prstGeom>
        </p:spPr>
        <p:txBody>
          <a:bodyPr vert="horz" wrap="square" lIns="0" tIns="12065" rIns="0" bIns="0" rtlCol="0">
            <a:spAutoFit/>
          </a:bodyPr>
          <a:lstStyle/>
          <a:p>
            <a:pPr marL="303530">
              <a:lnSpc>
                <a:spcPct val="100000"/>
              </a:lnSpc>
              <a:spcBef>
                <a:spcPts val="95"/>
              </a:spcBef>
            </a:pPr>
            <a:r>
              <a:rPr sz="900" dirty="0">
                <a:latin typeface="Arial"/>
                <a:cs typeface="Arial"/>
              </a:rPr>
              <a:t>cái</a:t>
            </a:r>
            <a:r>
              <a:rPr sz="900" spc="-30" dirty="0">
                <a:latin typeface="Arial"/>
                <a:cs typeface="Arial"/>
              </a:rPr>
              <a:t> </a:t>
            </a:r>
            <a:r>
              <a:rPr sz="900" dirty="0">
                <a:latin typeface="Arial"/>
                <a:cs typeface="Arial"/>
              </a:rPr>
              <a:t>dữ liệu</a:t>
            </a:r>
            <a:r>
              <a:rPr sz="900" spc="-20" dirty="0">
                <a:latin typeface="Arial"/>
                <a:cs typeface="Arial"/>
              </a:rPr>
              <a:t> </a:t>
            </a:r>
            <a:r>
              <a:rPr sz="900" spc="-10" dirty="0">
                <a:latin typeface="Arial"/>
                <a:cs typeface="Arial"/>
              </a:rPr>
              <a:t>mục.</a:t>
            </a:r>
            <a:endParaRPr sz="900">
              <a:latin typeface="Arial"/>
              <a:cs typeface="Arial"/>
            </a:endParaRPr>
          </a:p>
          <a:p>
            <a:pPr>
              <a:lnSpc>
                <a:spcPct val="100000"/>
              </a:lnSpc>
              <a:spcBef>
                <a:spcPts val="20"/>
              </a:spcBef>
            </a:pPr>
            <a:endParaRPr sz="1050">
              <a:latin typeface="Arial"/>
              <a:cs typeface="Arial"/>
            </a:endParaRPr>
          </a:p>
          <a:p>
            <a:pPr marL="50800">
              <a:lnSpc>
                <a:spcPct val="100000"/>
              </a:lnSpc>
            </a:pPr>
            <a:r>
              <a:rPr sz="1000" spc="-10" dirty="0">
                <a:solidFill>
                  <a:srgbClr val="4C994C"/>
                </a:solidFill>
                <a:latin typeface="Arial"/>
                <a:cs typeface="Arial"/>
              </a:rPr>
              <a:t>So sánh</a:t>
            </a:r>
            <a:endParaRPr sz="1000">
              <a:latin typeface="Arial"/>
              <a:cs typeface="Arial"/>
            </a:endParaRPr>
          </a:p>
          <a:p>
            <a:pPr marL="303530" indent="-120650">
              <a:lnSpc>
                <a:spcPct val="100000"/>
              </a:lnSpc>
              <a:spcBef>
                <a:spcPts val="695"/>
              </a:spcBef>
              <a:buClr>
                <a:srgbClr val="3333B2"/>
              </a:buClr>
              <a:buFont typeface="Apple Symbols"/>
              <a:buChar char="•"/>
              <a:tabLst>
                <a:tab pos="304165" algn="l"/>
              </a:tabLst>
            </a:pPr>
            <a:r>
              <a:rPr sz="900" dirty="0">
                <a:latin typeface="Arial"/>
                <a:cs typeface="Arial"/>
              </a:rPr>
              <a:t>Nếu như</a:t>
            </a:r>
            <a:r>
              <a:rPr sz="900" spc="-20" dirty="0">
                <a:latin typeface="Arial"/>
                <a:cs typeface="Arial"/>
              </a:rPr>
              <a:t> </a:t>
            </a:r>
            <a:r>
              <a:rPr sz="900" i="1" spc="95" dirty="0">
                <a:latin typeface="Arial"/>
                <a:cs typeface="Arial"/>
              </a:rPr>
              <a:t>r/N</a:t>
            </a:r>
            <a:r>
              <a:rPr sz="900" i="1" spc="10" dirty="0">
                <a:latin typeface="Arial"/>
                <a:cs typeface="Arial"/>
              </a:rPr>
              <a:t> </a:t>
            </a:r>
            <a:r>
              <a:rPr sz="900" spc="185" dirty="0">
                <a:latin typeface="Arial"/>
                <a:cs typeface="Arial"/>
              </a:rPr>
              <a:t>=</a:t>
            </a:r>
            <a:r>
              <a:rPr sz="900" spc="-60" dirty="0">
                <a:latin typeface="Arial"/>
                <a:cs typeface="Arial"/>
              </a:rPr>
              <a:t> </a:t>
            </a:r>
            <a:r>
              <a:rPr sz="900" dirty="0">
                <a:latin typeface="Arial"/>
                <a:cs typeface="Arial"/>
              </a:rPr>
              <a:t>0. 001 </a:t>
            </a:r>
            <a:r>
              <a:rPr sz="900" i="1" dirty="0">
                <a:latin typeface="Arial"/>
                <a:cs typeface="Arial"/>
              </a:rPr>
              <a:t>,</a:t>
            </a:r>
            <a:r>
              <a:rPr sz="900" spc="-15" dirty="0">
                <a:latin typeface="Arial"/>
                <a:cs typeface="Arial"/>
              </a:rPr>
              <a:t> </a:t>
            </a:r>
            <a:r>
              <a:rPr sz="900" dirty="0">
                <a:latin typeface="Arial"/>
                <a:cs typeface="Arial"/>
              </a:rPr>
              <a:t>sau đó</a:t>
            </a:r>
            <a:r>
              <a:rPr sz="900" spc="-10" dirty="0">
                <a:latin typeface="Arial"/>
                <a:cs typeface="Arial"/>
              </a:rPr>
              <a:t> </a:t>
            </a:r>
            <a:r>
              <a:rPr sz="900" i="1" dirty="0">
                <a:latin typeface="Arial"/>
                <a:cs typeface="Arial"/>
              </a:rPr>
              <a:t>S</a:t>
            </a:r>
            <a:r>
              <a:rPr sz="900" i="1" spc="-15" dirty="0">
                <a:latin typeface="Arial"/>
                <a:cs typeface="Arial"/>
              </a:rPr>
              <a:t> </a:t>
            </a:r>
            <a:r>
              <a:rPr sz="900" spc="145" dirty="0">
                <a:latin typeface="Apple Symbols"/>
                <a:cs typeface="Apple Symbols"/>
              </a:rPr>
              <a:t>≈</a:t>
            </a:r>
            <a:r>
              <a:rPr sz="900" spc="-105" dirty="0">
                <a:latin typeface="Apple Symbols"/>
                <a:cs typeface="Apple Symbols"/>
              </a:rPr>
              <a:t> </a:t>
            </a:r>
            <a:r>
              <a:rPr sz="900" spc="-20" dirty="0">
                <a:latin typeface="Arial"/>
                <a:cs typeface="Arial"/>
              </a:rPr>
              <a:t>1000</a:t>
            </a:r>
            <a:endParaRPr sz="900">
              <a:latin typeface="Arial"/>
              <a:cs typeface="Arial"/>
            </a:endParaRPr>
          </a:p>
          <a:p>
            <a:pPr marL="298450" indent="-115570">
              <a:lnSpc>
                <a:spcPct val="100000"/>
              </a:lnSpc>
              <a:spcBef>
                <a:spcPts val="520"/>
              </a:spcBef>
              <a:buClr>
                <a:srgbClr val="3333B2"/>
              </a:buClr>
              <a:buFont typeface="Apple Symbols"/>
              <a:buChar char="•"/>
              <a:tabLst>
                <a:tab pos="299085" algn="l"/>
              </a:tabLst>
            </a:pPr>
            <a:r>
              <a:rPr sz="900" dirty="0">
                <a:latin typeface="Arial"/>
                <a:cs typeface="Arial"/>
              </a:rPr>
              <a:t>Với</a:t>
            </a:r>
            <a:r>
              <a:rPr sz="900" spc="-25" dirty="0">
                <a:latin typeface="Arial"/>
                <a:cs typeface="Arial"/>
              </a:rPr>
              <a:t> </a:t>
            </a:r>
            <a:r>
              <a:rPr sz="900" dirty="0">
                <a:latin typeface="Arial"/>
                <a:cs typeface="Arial"/>
              </a:rPr>
              <a:t>ngập lụt</a:t>
            </a:r>
            <a:r>
              <a:rPr sz="900" spc="-20" dirty="0">
                <a:latin typeface="Arial"/>
                <a:cs typeface="Arial"/>
              </a:rPr>
              <a:t> </a:t>
            </a:r>
            <a:r>
              <a:rPr sz="900" dirty="0">
                <a:latin typeface="Arial"/>
                <a:cs typeface="Arial"/>
              </a:rPr>
              <a:t>Và</a:t>
            </a:r>
            <a:r>
              <a:rPr sz="900" spc="-15" dirty="0">
                <a:latin typeface="Arial"/>
                <a:cs typeface="Arial"/>
              </a:rPr>
              <a:t> </a:t>
            </a:r>
            <a:r>
              <a:rPr sz="900" i="1" dirty="0">
                <a:latin typeface="Arial"/>
                <a:cs typeface="Arial"/>
              </a:rPr>
              <a:t>ngày</a:t>
            </a:r>
            <a:r>
              <a:rPr sz="900" i="1" spc="20" dirty="0">
                <a:latin typeface="Arial"/>
                <a:cs typeface="Arial"/>
              </a:rPr>
              <a:t> </a:t>
            </a:r>
            <a:r>
              <a:rPr sz="900" spc="185" dirty="0">
                <a:latin typeface="Arial"/>
                <a:cs typeface="Arial"/>
              </a:rPr>
              <a:t>=</a:t>
            </a:r>
            <a:r>
              <a:rPr sz="900" spc="-60" dirty="0">
                <a:latin typeface="Arial"/>
                <a:cs typeface="Arial"/>
              </a:rPr>
              <a:t> </a:t>
            </a:r>
            <a:r>
              <a:rPr sz="900" spc="-10" dirty="0">
                <a:latin typeface="Arial"/>
                <a:cs typeface="Arial"/>
              </a:rPr>
              <a:t>10 </a:t>
            </a:r>
            <a:r>
              <a:rPr sz="900" i="1" spc="-10" dirty="0">
                <a:latin typeface="Arial"/>
                <a:cs typeface="Arial"/>
              </a:rPr>
              <a:t>,</a:t>
            </a:r>
            <a:r>
              <a:rPr sz="900" i="1" spc="-155" dirty="0">
                <a:latin typeface="Arial"/>
                <a:cs typeface="Arial"/>
              </a:rPr>
              <a:t> </a:t>
            </a:r>
            <a:r>
              <a:rPr sz="900" i="1" dirty="0">
                <a:latin typeface="Arial"/>
                <a:cs typeface="Arial"/>
              </a:rPr>
              <a:t>tôi</a:t>
            </a:r>
            <a:r>
              <a:rPr sz="900" i="1" spc="20" dirty="0">
                <a:latin typeface="Arial"/>
                <a:cs typeface="Arial"/>
              </a:rPr>
              <a:t> </a:t>
            </a:r>
            <a:r>
              <a:rPr sz="900" spc="185" dirty="0">
                <a:latin typeface="Arial"/>
                <a:cs typeface="Arial"/>
              </a:rPr>
              <a:t>=</a:t>
            </a:r>
            <a:r>
              <a:rPr sz="900" spc="-60" dirty="0">
                <a:latin typeface="Arial"/>
                <a:cs typeface="Arial"/>
              </a:rPr>
              <a:t> </a:t>
            </a:r>
            <a:r>
              <a:rPr sz="900" dirty="0">
                <a:latin typeface="Arial"/>
                <a:cs typeface="Arial"/>
              </a:rPr>
              <a:t>4,</a:t>
            </a:r>
            <a:r>
              <a:rPr sz="900" spc="-20" dirty="0">
                <a:latin typeface="Arial"/>
                <a:cs typeface="Arial"/>
              </a:rPr>
              <a:t> </a:t>
            </a:r>
            <a:r>
              <a:rPr sz="900" dirty="0">
                <a:latin typeface="Arial"/>
                <a:cs typeface="Arial"/>
              </a:rPr>
              <a:t>chúng tôi</a:t>
            </a:r>
            <a:r>
              <a:rPr sz="900" spc="-15" dirty="0">
                <a:latin typeface="Arial"/>
                <a:cs typeface="Arial"/>
              </a:rPr>
              <a:t> </a:t>
            </a:r>
            <a:r>
              <a:rPr sz="900" dirty="0">
                <a:latin typeface="Arial"/>
                <a:cs typeface="Arial"/>
              </a:rPr>
              <a:t>liên hệ</a:t>
            </a:r>
            <a:r>
              <a:rPr sz="900" spc="-15" dirty="0">
                <a:latin typeface="Arial"/>
                <a:cs typeface="Arial"/>
              </a:rPr>
              <a:t> </a:t>
            </a:r>
            <a:r>
              <a:rPr sz="900" dirty="0">
                <a:latin typeface="Arial"/>
                <a:cs typeface="Arial"/>
              </a:rPr>
              <a:t>7290</a:t>
            </a:r>
            <a:r>
              <a:rPr sz="900" spc="-20" dirty="0">
                <a:latin typeface="Arial"/>
                <a:cs typeface="Arial"/>
              </a:rPr>
              <a:t> </a:t>
            </a:r>
            <a:r>
              <a:rPr sz="900" spc="-10" dirty="0">
                <a:latin typeface="Arial"/>
                <a:cs typeface="Arial"/>
              </a:rPr>
              <a:t>các nút.</a:t>
            </a:r>
            <a:endParaRPr sz="900">
              <a:latin typeface="Arial"/>
              <a:cs typeface="Arial"/>
            </a:endParaRPr>
          </a:p>
          <a:p>
            <a:pPr marL="303530" marR="43180" indent="-120650">
              <a:lnSpc>
                <a:spcPct val="111600"/>
              </a:lnSpc>
              <a:spcBef>
                <a:spcPts val="400"/>
              </a:spcBef>
              <a:buClr>
                <a:srgbClr val="3333B2"/>
              </a:buClr>
              <a:buFont typeface="Apple Symbols"/>
              <a:buChar char="•"/>
              <a:tabLst>
                <a:tab pos="304165" algn="l"/>
              </a:tabLst>
            </a:pPr>
            <a:r>
              <a:rPr sz="900" dirty="0">
                <a:latin typeface="Arial"/>
                <a:cs typeface="Arial"/>
              </a:rPr>
              <a:t>Ngẫu nhiên</a:t>
            </a:r>
            <a:r>
              <a:rPr sz="900" spc="-25" dirty="0">
                <a:latin typeface="Arial"/>
                <a:cs typeface="Arial"/>
              </a:rPr>
              <a:t> </a:t>
            </a:r>
            <a:r>
              <a:rPr sz="900" dirty="0">
                <a:latin typeface="Arial"/>
                <a:cs typeface="Arial"/>
              </a:rPr>
              <a:t>đi bộ</a:t>
            </a:r>
            <a:r>
              <a:rPr sz="900" spc="-25" dirty="0">
                <a:latin typeface="Arial"/>
                <a:cs typeface="Arial"/>
              </a:rPr>
              <a:t> </a:t>
            </a:r>
            <a:r>
              <a:rPr sz="900" dirty="0">
                <a:latin typeface="Arial"/>
                <a:cs typeface="Arial"/>
              </a:rPr>
              <a:t>là</a:t>
            </a:r>
            <a:r>
              <a:rPr sz="900" spc="-25" dirty="0">
                <a:latin typeface="Arial"/>
                <a:cs typeface="Arial"/>
              </a:rPr>
              <a:t> </a:t>
            </a:r>
            <a:r>
              <a:rPr sz="900" dirty="0">
                <a:latin typeface="Arial"/>
                <a:cs typeface="Arial"/>
              </a:rPr>
              <a:t>hơn</a:t>
            </a:r>
            <a:r>
              <a:rPr sz="900" spc="-25" dirty="0">
                <a:latin typeface="Arial"/>
                <a:cs typeface="Arial"/>
              </a:rPr>
              <a:t> </a:t>
            </a:r>
            <a:r>
              <a:rPr sz="900" spc="-10" dirty="0">
                <a:latin typeface="Arial"/>
                <a:cs typeface="Arial"/>
              </a:rPr>
              <a:t>giao tiếp</a:t>
            </a:r>
            <a:r>
              <a:rPr sz="900" spc="-20" dirty="0">
                <a:latin typeface="Arial"/>
                <a:cs typeface="Arial"/>
              </a:rPr>
              <a:t> </a:t>
            </a:r>
            <a:r>
              <a:rPr sz="900" dirty="0">
                <a:latin typeface="Arial"/>
                <a:cs typeface="Arial"/>
              </a:rPr>
              <a:t>có hiệu quả,</a:t>
            </a:r>
            <a:r>
              <a:rPr sz="900" spc="-25" dirty="0">
                <a:latin typeface="Arial"/>
                <a:cs typeface="Arial"/>
              </a:rPr>
              <a:t> </a:t>
            </a:r>
            <a:r>
              <a:rPr sz="900" dirty="0">
                <a:latin typeface="Arial"/>
                <a:cs typeface="Arial"/>
              </a:rPr>
              <a:t>Nhưng</a:t>
            </a:r>
            <a:r>
              <a:rPr sz="900" spc="-25" dirty="0">
                <a:latin typeface="Arial"/>
                <a:cs typeface="Arial"/>
              </a:rPr>
              <a:t> </a:t>
            </a:r>
            <a:r>
              <a:rPr sz="900" dirty="0">
                <a:latin typeface="Arial"/>
                <a:cs typeface="Arial"/>
              </a:rPr>
              <a:t>có thể</a:t>
            </a:r>
            <a:r>
              <a:rPr sz="900" spc="-25" dirty="0">
                <a:latin typeface="Arial"/>
                <a:cs typeface="Arial"/>
              </a:rPr>
              <a:t> </a:t>
            </a:r>
            <a:r>
              <a:rPr sz="900" dirty="0">
                <a:latin typeface="Arial"/>
                <a:cs typeface="Arial"/>
              </a:rPr>
              <a:t>lấy</a:t>
            </a:r>
            <a:r>
              <a:rPr sz="900" spc="-25" dirty="0">
                <a:latin typeface="Arial"/>
                <a:cs typeface="Arial"/>
              </a:rPr>
              <a:t> </a:t>
            </a:r>
            <a:r>
              <a:rPr sz="900" spc="-10" dirty="0">
                <a:latin typeface="Arial"/>
                <a:cs typeface="Arial"/>
              </a:rPr>
              <a:t>lâu hơn </a:t>
            </a:r>
            <a:r>
              <a:rPr sz="900" dirty="0">
                <a:latin typeface="Arial"/>
                <a:cs typeface="Arial"/>
              </a:rPr>
              <a:t>trước</a:t>
            </a:r>
            <a:r>
              <a:rPr sz="900" spc="-35" dirty="0">
                <a:latin typeface="Arial"/>
                <a:cs typeface="Arial"/>
              </a:rPr>
              <a:t> </a:t>
            </a:r>
            <a:r>
              <a:rPr sz="900" dirty="0">
                <a:latin typeface="Arial"/>
                <a:cs typeface="Arial"/>
              </a:rPr>
              <a:t>họ</a:t>
            </a:r>
            <a:r>
              <a:rPr sz="900" spc="-35" dirty="0">
                <a:latin typeface="Arial"/>
                <a:cs typeface="Arial"/>
              </a:rPr>
              <a:t> </a:t>
            </a:r>
            <a:r>
              <a:rPr sz="900" dirty="0">
                <a:latin typeface="Arial"/>
                <a:cs typeface="Arial"/>
              </a:rPr>
              <a:t>tìm thấy</a:t>
            </a:r>
            <a:r>
              <a:rPr sz="900" spc="-35" dirty="0">
                <a:latin typeface="Arial"/>
                <a:cs typeface="Arial"/>
              </a:rPr>
              <a:t> </a:t>
            </a:r>
            <a:r>
              <a:rPr sz="900" dirty="0">
                <a:latin typeface="Arial"/>
                <a:cs typeface="Arial"/>
              </a:rPr>
              <a:t>cái</a:t>
            </a:r>
            <a:r>
              <a:rPr sz="900" spc="-35" dirty="0">
                <a:latin typeface="Arial"/>
                <a:cs typeface="Arial"/>
              </a:rPr>
              <a:t> </a:t>
            </a:r>
            <a:r>
              <a:rPr sz="900" spc="-10" dirty="0">
                <a:latin typeface="Arial"/>
                <a:cs typeface="Arial"/>
              </a:rPr>
              <a:t>kết quả.</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10039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Không có cấu trúc</a:t>
            </a:r>
            <a:r>
              <a:rPr sz="500" spc="5" dirty="0">
                <a:latin typeface="Arial"/>
                <a:cs typeface="Arial"/>
                <a:hlinkClick r:id="rId4" action="ppaction://hlinksldjump"/>
              </a:rPr>
              <a:t> </a:t>
            </a:r>
            <a:r>
              <a:rPr sz="500" spc="-10" dirty="0">
                <a:latin typeface="Arial"/>
                <a:cs typeface="Arial"/>
                <a:hlinkClick r:id="rId4" action="ppaction://hlinksldjump"/>
              </a:rPr>
              <a:t>ngang </a:t>
            </a:r>
            <a:r>
              <a:rPr sz="500" dirty="0">
                <a:latin typeface="Arial"/>
                <a:cs typeface="Arial"/>
                <a:hlinkClick r:id="rId4" action="ppaction://hlinksldjump"/>
              </a:rPr>
              <a:t>hàng</a:t>
            </a:r>
            <a:r>
              <a:rPr sz="500" spc="10" dirty="0">
                <a:latin typeface="Arial"/>
                <a:cs typeface="Arial"/>
                <a:hlinkClick r:id="rId4" action="ppaction://hlinksldjump"/>
              </a:rPr>
              <a:t> </a:t>
            </a:r>
            <a:r>
              <a:rPr sz="500" spc="-10" dirty="0">
                <a:latin typeface="Arial"/>
                <a:cs typeface="Arial"/>
                <a:hlinkClick r:id="rId4" action="ppaction://hlinksldjump"/>
              </a:rPr>
              <a:t>hệ thống</a:t>
            </a:r>
            <a:endParaRPr sz="500">
              <a:latin typeface="Arial"/>
              <a:cs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Đối xứng</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phân phối</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Siêu </a:t>
            </a:r>
            <a:r>
              <a:rPr dirty="0"/>
              <a:t>ngang hàng</a:t>
            </a:r>
            <a:r>
              <a:rPr spc="-15" dirty="0"/>
              <a:t> </a:t>
            </a:r>
            <a:r>
              <a:rPr spc="-10" dirty="0"/>
              <a:t>mạng lưới</a:t>
            </a:r>
          </a:p>
        </p:txBody>
      </p:sp>
      <p:sp>
        <p:nvSpPr>
          <p:cNvPr id="4" name="object 4"/>
          <p:cNvSpPr txBox="1"/>
          <p:nvPr/>
        </p:nvSpPr>
        <p:spPr>
          <a:xfrm>
            <a:off x="334594" y="499476"/>
            <a:ext cx="3912235" cy="1006475"/>
          </a:xfrm>
          <a:prstGeom prst="rect">
            <a:avLst/>
          </a:prstGeom>
        </p:spPr>
        <p:txBody>
          <a:bodyPr vert="horz" wrap="square" lIns="0" tIns="27305" rIns="0" bIns="0" rtlCol="0">
            <a:spAutoFit/>
          </a:bodyPr>
          <a:lstStyle/>
          <a:p>
            <a:pPr marL="25400">
              <a:lnSpc>
                <a:spcPct val="100000"/>
              </a:lnSpc>
              <a:spcBef>
                <a:spcPts val="215"/>
              </a:spcBef>
            </a:pPr>
            <a:r>
              <a:rPr sz="1000" spc="-10" dirty="0">
                <a:solidFill>
                  <a:srgbClr val="3333B2"/>
                </a:solidFill>
                <a:latin typeface="Arial"/>
                <a:cs typeface="Arial"/>
              </a:rPr>
              <a:t>Nước hoa</a:t>
            </a:r>
            <a:endParaRPr sz="1000">
              <a:latin typeface="Arial"/>
              <a:cs typeface="Arial"/>
            </a:endParaRPr>
          </a:p>
          <a:p>
            <a:pPr marL="25400">
              <a:lnSpc>
                <a:spcPct val="100000"/>
              </a:lnSpc>
              <a:spcBef>
                <a:spcPts val="105"/>
              </a:spcBef>
            </a:pPr>
            <a:r>
              <a:rPr sz="900" dirty="0">
                <a:latin typeface="Arial"/>
                <a:cs typeface="Arial"/>
              </a:rPr>
              <a:t>Nó</a:t>
            </a:r>
            <a:r>
              <a:rPr sz="900" spc="-30" dirty="0">
                <a:latin typeface="Arial"/>
                <a:cs typeface="Arial"/>
              </a:rPr>
              <a:t> </a:t>
            </a:r>
            <a:r>
              <a:rPr sz="900" dirty="0">
                <a:latin typeface="Arial"/>
                <a:cs typeface="Arial"/>
              </a:rPr>
              <a:t>là</a:t>
            </a:r>
            <a:r>
              <a:rPr sz="900" spc="-30" dirty="0">
                <a:latin typeface="Arial"/>
                <a:cs typeface="Arial"/>
              </a:rPr>
              <a:t> </a:t>
            </a:r>
            <a:r>
              <a:rPr sz="900" spc="-10" dirty="0">
                <a:latin typeface="Arial"/>
                <a:cs typeface="Arial"/>
              </a:rPr>
              <a:t>Thỉnh thoảng</a:t>
            </a:r>
            <a:r>
              <a:rPr sz="900" spc="-30" dirty="0">
                <a:latin typeface="Arial"/>
                <a:cs typeface="Arial"/>
              </a:rPr>
              <a:t> </a:t>
            </a:r>
            <a:r>
              <a:rPr sz="900" spc="-10" dirty="0">
                <a:latin typeface="Arial"/>
                <a:cs typeface="Arial"/>
              </a:rPr>
              <a:t>hợp lý</a:t>
            </a:r>
            <a:r>
              <a:rPr sz="900" spc="-30" dirty="0">
                <a:latin typeface="Arial"/>
                <a:cs typeface="Arial"/>
              </a:rPr>
              <a:t> </a:t>
            </a:r>
            <a:r>
              <a:rPr sz="900" dirty="0">
                <a:latin typeface="Arial"/>
                <a:cs typeface="Arial"/>
              </a:rPr>
              <a:t>ĐẾN</a:t>
            </a:r>
            <a:r>
              <a:rPr sz="900" spc="-30" dirty="0">
                <a:latin typeface="Arial"/>
                <a:cs typeface="Arial"/>
              </a:rPr>
              <a:t> </a:t>
            </a:r>
            <a:r>
              <a:rPr sz="900" spc="-10" dirty="0">
                <a:latin typeface="Arial"/>
                <a:cs typeface="Arial"/>
              </a:rPr>
              <a:t>phá vỡ</a:t>
            </a:r>
            <a:r>
              <a:rPr sz="900" spc="-30" dirty="0">
                <a:latin typeface="Arial"/>
                <a:cs typeface="Arial"/>
              </a:rPr>
              <a:t> </a:t>
            </a:r>
            <a:r>
              <a:rPr sz="900" dirty="0">
                <a:latin typeface="Arial"/>
                <a:cs typeface="Arial"/>
              </a:rPr>
              <a:t>cái</a:t>
            </a:r>
            <a:r>
              <a:rPr sz="900" spc="-30" dirty="0">
                <a:latin typeface="Arial"/>
                <a:cs typeface="Arial"/>
              </a:rPr>
              <a:t> </a:t>
            </a:r>
            <a:r>
              <a:rPr sz="900" spc="-10" dirty="0">
                <a:latin typeface="Arial"/>
                <a:cs typeface="Arial"/>
              </a:rPr>
              <a:t>tính đối xứng</a:t>
            </a:r>
            <a:r>
              <a:rPr sz="900" spc="-25" dirty="0">
                <a:latin typeface="Arial"/>
                <a:cs typeface="Arial"/>
              </a:rPr>
              <a:t> </a:t>
            </a:r>
            <a:r>
              <a:rPr sz="900" dirty="0">
                <a:latin typeface="Arial"/>
                <a:cs typeface="Arial"/>
              </a:rPr>
              <a:t>TRONG</a:t>
            </a:r>
            <a:r>
              <a:rPr sz="900" spc="-30" dirty="0">
                <a:latin typeface="Arial"/>
                <a:cs typeface="Arial"/>
              </a:rPr>
              <a:t> </a:t>
            </a:r>
            <a:r>
              <a:rPr sz="900" dirty="0">
                <a:latin typeface="Arial"/>
                <a:cs typeface="Arial"/>
              </a:rPr>
              <a:t>nguyên chất</a:t>
            </a:r>
            <a:r>
              <a:rPr sz="900" spc="-30" dirty="0">
                <a:latin typeface="Arial"/>
                <a:cs typeface="Arial"/>
              </a:rPr>
              <a:t> </a:t>
            </a:r>
            <a:r>
              <a:rPr sz="900" spc="-20" dirty="0">
                <a:latin typeface="Arial"/>
                <a:cs typeface="Arial"/>
              </a:rPr>
              <a:t>ngang </a:t>
            </a:r>
            <a:r>
              <a:rPr sz="900" dirty="0">
                <a:latin typeface="Arial"/>
                <a:cs typeface="Arial"/>
              </a:rPr>
              <a:t>hàng</a:t>
            </a:r>
            <a:r>
              <a:rPr sz="900" spc="-30" dirty="0">
                <a:latin typeface="Arial"/>
                <a:cs typeface="Arial"/>
              </a:rPr>
              <a:t> </a:t>
            </a:r>
            <a:r>
              <a:rPr sz="900" spc="-10" dirty="0">
                <a:latin typeface="Arial"/>
                <a:cs typeface="Arial"/>
              </a:rPr>
              <a:t>mạng lưới:</a:t>
            </a:r>
            <a:endParaRPr sz="900">
              <a:latin typeface="Arial"/>
              <a:cs typeface="Arial"/>
            </a:endParaRPr>
          </a:p>
          <a:p>
            <a:pPr marL="278130" marR="224790" indent="-120650">
              <a:lnSpc>
                <a:spcPct val="111600"/>
              </a:lnSpc>
              <a:spcBef>
                <a:spcPts val="400"/>
              </a:spcBef>
              <a:buClr>
                <a:srgbClr val="3333B2"/>
              </a:buClr>
              <a:buFont typeface="Apple Symbols"/>
              <a:buChar char="•"/>
              <a:tabLst>
                <a:tab pos="273685" algn="l"/>
              </a:tabLst>
            </a:pPr>
            <a:r>
              <a:rPr sz="900" dirty="0">
                <a:latin typeface="Arial"/>
                <a:cs typeface="Arial"/>
              </a:rPr>
              <a:t>Khi</a:t>
            </a:r>
            <a:r>
              <a:rPr sz="900" spc="-40" dirty="0">
                <a:latin typeface="Arial"/>
                <a:cs typeface="Arial"/>
              </a:rPr>
              <a:t> </a:t>
            </a:r>
            <a:r>
              <a:rPr sz="900" dirty="0">
                <a:latin typeface="Arial"/>
                <a:cs typeface="Arial"/>
              </a:rPr>
              <a:t>tìm kiếm</a:t>
            </a:r>
            <a:r>
              <a:rPr sz="900" spc="-40" dirty="0">
                <a:latin typeface="Arial"/>
                <a:cs typeface="Arial"/>
              </a:rPr>
              <a:t> </a:t>
            </a:r>
            <a:r>
              <a:rPr sz="900" dirty="0">
                <a:latin typeface="Arial"/>
                <a:cs typeface="Arial"/>
              </a:rPr>
              <a:t>TRONG</a:t>
            </a:r>
            <a:r>
              <a:rPr sz="900" spc="-40" dirty="0">
                <a:latin typeface="Arial"/>
                <a:cs typeface="Arial"/>
              </a:rPr>
              <a:t> </a:t>
            </a:r>
            <a:r>
              <a:rPr sz="900" dirty="0">
                <a:latin typeface="Arial"/>
                <a:cs typeface="Arial"/>
              </a:rPr>
              <a:t>không có cấu trúc</a:t>
            </a:r>
            <a:r>
              <a:rPr sz="900" spc="-40" dirty="0">
                <a:latin typeface="Arial"/>
                <a:cs typeface="Arial"/>
              </a:rPr>
              <a:t> </a:t>
            </a:r>
            <a:r>
              <a:rPr sz="900" dirty="0">
                <a:latin typeface="Arial"/>
                <a:cs typeface="Arial"/>
              </a:rPr>
              <a:t>ngang hàng</a:t>
            </a:r>
            <a:r>
              <a:rPr sz="900" spc="-40" dirty="0">
                <a:latin typeface="Arial"/>
                <a:cs typeface="Arial"/>
              </a:rPr>
              <a:t> </a:t>
            </a:r>
            <a:r>
              <a:rPr sz="900" dirty="0">
                <a:latin typeface="Arial"/>
                <a:cs typeface="Arial"/>
              </a:rPr>
              <a:t>hệ thống,</a:t>
            </a:r>
            <a:r>
              <a:rPr sz="900" spc="-40" dirty="0">
                <a:latin typeface="Arial"/>
                <a:cs typeface="Arial"/>
              </a:rPr>
              <a:t> </a:t>
            </a:r>
            <a:r>
              <a:rPr sz="900" dirty="0">
                <a:latin typeface="Arial"/>
                <a:cs typeface="Arial"/>
              </a:rPr>
              <a:t>có</a:t>
            </a:r>
            <a:r>
              <a:rPr sz="900" spc="-40" dirty="0">
                <a:latin typeface="Arial"/>
                <a:cs typeface="Arial"/>
              </a:rPr>
              <a:t> </a:t>
            </a:r>
            <a:r>
              <a:rPr sz="900" dirty="0">
                <a:solidFill>
                  <a:srgbClr val="C80000"/>
                </a:solidFill>
                <a:latin typeface="Arial"/>
                <a:cs typeface="Arial"/>
              </a:rPr>
              <a:t>chỉ số</a:t>
            </a:r>
            <a:r>
              <a:rPr sz="900" spc="-40" dirty="0">
                <a:solidFill>
                  <a:srgbClr val="C80000"/>
                </a:solidFill>
                <a:latin typeface="Arial"/>
                <a:cs typeface="Arial"/>
              </a:rPr>
              <a:t> </a:t>
            </a:r>
            <a:r>
              <a:rPr sz="900" spc="-10" dirty="0">
                <a:solidFill>
                  <a:srgbClr val="C80000"/>
                </a:solidFill>
                <a:latin typeface="Arial"/>
                <a:cs typeface="Arial"/>
              </a:rPr>
              <a:t>máy chủ </a:t>
            </a:r>
            <a:r>
              <a:rPr sz="900" spc="-10" dirty="0">
                <a:latin typeface="Arial"/>
                <a:cs typeface="Arial"/>
              </a:rPr>
              <a:t>cải thiện</a:t>
            </a:r>
            <a:r>
              <a:rPr sz="900" spc="-5" dirty="0">
                <a:latin typeface="Arial"/>
                <a:cs typeface="Arial"/>
              </a:rPr>
              <a:t> </a:t>
            </a:r>
            <a:r>
              <a:rPr sz="900" spc="-10" dirty="0">
                <a:latin typeface="Arial"/>
                <a:cs typeface="Arial"/>
              </a:rPr>
              <a:t>hiệu suất</a:t>
            </a:r>
            <a:endParaRPr sz="900">
              <a:latin typeface="Arial"/>
              <a:cs typeface="Arial"/>
            </a:endParaRPr>
          </a:p>
          <a:p>
            <a:pPr marL="278130" marR="17780" indent="-120650">
              <a:lnSpc>
                <a:spcPct val="111600"/>
              </a:lnSpc>
              <a:buClr>
                <a:srgbClr val="3333B2"/>
              </a:buClr>
              <a:buFont typeface="Apple Symbols"/>
              <a:buChar char="•"/>
              <a:tabLst>
                <a:tab pos="278765" algn="l"/>
              </a:tabLst>
            </a:pPr>
            <a:r>
              <a:rPr sz="900" dirty="0">
                <a:latin typeface="Arial"/>
                <a:cs typeface="Arial"/>
              </a:rPr>
              <a:t>Quyết định</a:t>
            </a:r>
            <a:r>
              <a:rPr sz="900" spc="-30" dirty="0">
                <a:latin typeface="Arial"/>
                <a:cs typeface="Arial"/>
              </a:rPr>
              <a:t> </a:t>
            </a:r>
            <a:r>
              <a:rPr sz="900" dirty="0">
                <a:latin typeface="Arial"/>
                <a:cs typeface="Arial"/>
              </a:rPr>
              <a:t>Ở đâu</a:t>
            </a:r>
            <a:r>
              <a:rPr sz="900" spc="-25" dirty="0">
                <a:latin typeface="Arial"/>
                <a:cs typeface="Arial"/>
              </a:rPr>
              <a:t> </a:t>
            </a:r>
            <a:r>
              <a:rPr sz="900" dirty="0">
                <a:latin typeface="Arial"/>
                <a:cs typeface="Arial"/>
              </a:rPr>
              <a:t>ĐẾN</a:t>
            </a:r>
            <a:r>
              <a:rPr sz="900" spc="-25" dirty="0">
                <a:latin typeface="Arial"/>
                <a:cs typeface="Arial"/>
              </a:rPr>
              <a:t> </a:t>
            </a:r>
            <a:r>
              <a:rPr sz="900" dirty="0">
                <a:latin typeface="Arial"/>
                <a:cs typeface="Arial"/>
              </a:rPr>
              <a:t>cửa hàng</a:t>
            </a:r>
            <a:r>
              <a:rPr sz="900" spc="-25" dirty="0">
                <a:latin typeface="Arial"/>
                <a:cs typeface="Arial"/>
              </a:rPr>
              <a:t> </a:t>
            </a:r>
            <a:r>
              <a:rPr sz="900" dirty="0">
                <a:latin typeface="Arial"/>
                <a:cs typeface="Arial"/>
              </a:rPr>
              <a:t>dữ liệu</a:t>
            </a:r>
            <a:r>
              <a:rPr sz="900" spc="-25" dirty="0">
                <a:latin typeface="Arial"/>
                <a:cs typeface="Arial"/>
              </a:rPr>
              <a:t> </a:t>
            </a:r>
            <a:r>
              <a:rPr sz="900" dirty="0">
                <a:latin typeface="Arial"/>
                <a:cs typeface="Arial"/>
              </a:rPr>
              <a:t>Có thể</a:t>
            </a:r>
            <a:r>
              <a:rPr sz="900" spc="-25" dirty="0">
                <a:latin typeface="Arial"/>
                <a:cs typeface="Arial"/>
              </a:rPr>
              <a:t> </a:t>
            </a:r>
            <a:r>
              <a:rPr sz="900" dirty="0">
                <a:latin typeface="Arial"/>
                <a:cs typeface="Arial"/>
              </a:rPr>
              <a:t>thường</a:t>
            </a:r>
            <a:r>
              <a:rPr sz="900" spc="-25" dirty="0">
                <a:latin typeface="Arial"/>
                <a:cs typeface="Arial"/>
              </a:rPr>
              <a:t> </a:t>
            </a:r>
            <a:r>
              <a:rPr sz="900" dirty="0">
                <a:latin typeface="Arial"/>
                <a:cs typeface="Arial"/>
              </a:rPr>
              <a:t>là</a:t>
            </a:r>
            <a:r>
              <a:rPr sz="900" spc="-30" dirty="0">
                <a:latin typeface="Arial"/>
                <a:cs typeface="Arial"/>
              </a:rPr>
              <a:t> </a:t>
            </a:r>
            <a:r>
              <a:rPr sz="900" dirty="0">
                <a:latin typeface="Arial"/>
                <a:cs typeface="Arial"/>
              </a:rPr>
              <a:t>xong</a:t>
            </a:r>
            <a:r>
              <a:rPr sz="900" spc="-25" dirty="0">
                <a:latin typeface="Arial"/>
                <a:cs typeface="Arial"/>
              </a:rPr>
              <a:t> </a:t>
            </a:r>
            <a:r>
              <a:rPr sz="900" dirty="0">
                <a:latin typeface="Arial"/>
                <a:cs typeface="Arial"/>
              </a:rPr>
              <a:t>hơn</a:t>
            </a:r>
            <a:r>
              <a:rPr sz="900" spc="-25" dirty="0">
                <a:latin typeface="Arial"/>
                <a:cs typeface="Arial"/>
              </a:rPr>
              <a:t> </a:t>
            </a:r>
            <a:r>
              <a:rPr sz="900" dirty="0">
                <a:latin typeface="Arial"/>
                <a:cs typeface="Arial"/>
              </a:rPr>
              <a:t>hiệu quả</a:t>
            </a:r>
            <a:r>
              <a:rPr sz="900" spc="-25" dirty="0">
                <a:latin typeface="Arial"/>
                <a:cs typeface="Arial"/>
              </a:rPr>
              <a:t> </a:t>
            </a:r>
            <a:r>
              <a:rPr sz="900" spc="-10" dirty="0">
                <a:latin typeface="Arial"/>
                <a:cs typeface="Arial"/>
              </a:rPr>
              <a:t>thông qua </a:t>
            </a:r>
            <a:r>
              <a:rPr sz="900" spc="-10" dirty="0">
                <a:solidFill>
                  <a:srgbClr val="C80000"/>
                </a:solidFill>
                <a:latin typeface="Arial"/>
                <a:cs typeface="Arial"/>
              </a:rPr>
              <a:t>các nhà môi giới </a:t>
            </a:r>
            <a:r>
              <a:rPr sz="900" spc="-10" dirty="0">
                <a:latin typeface="Arial"/>
                <a:cs typeface="Arial"/>
              </a:rPr>
              <a:t>.</a:t>
            </a:r>
            <a:endParaRPr sz="900">
              <a:latin typeface="Arial"/>
              <a:cs typeface="Arial"/>
            </a:endParaRPr>
          </a:p>
        </p:txBody>
      </p:sp>
      <p:pic>
        <p:nvPicPr>
          <p:cNvPr id="5" name="object 5"/>
          <p:cNvPicPr/>
          <p:nvPr/>
        </p:nvPicPr>
        <p:blipFill>
          <a:blip r:embed="rId4" cstate="print"/>
          <a:stretch>
            <a:fillRect/>
          </a:stretch>
        </p:blipFill>
        <p:spPr>
          <a:xfrm>
            <a:off x="1009874" y="1645142"/>
            <a:ext cx="2585711" cy="1182207"/>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33604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Theo thứ bậc</a:t>
            </a:r>
            <a:r>
              <a:rPr sz="500" spc="65" dirty="0">
                <a:latin typeface="Arial"/>
                <a:cs typeface="Arial"/>
                <a:hlinkClick r:id="rId5" action="ppaction://hlinksldjump"/>
              </a:rPr>
              <a:t> </a:t>
            </a:r>
            <a:r>
              <a:rPr sz="500" spc="-10" dirty="0">
                <a:latin typeface="Arial"/>
                <a:cs typeface="Arial"/>
                <a:hlinkClick r:id="rId5" action="ppaction://hlinksldjump"/>
              </a:rPr>
              <a:t>được tổ chức</a:t>
            </a:r>
            <a:r>
              <a:rPr sz="500" spc="65" dirty="0">
                <a:latin typeface="Arial"/>
                <a:cs typeface="Arial"/>
                <a:hlinkClick r:id="rId5" action="ppaction://hlinksldjump"/>
              </a:rPr>
              <a:t> </a:t>
            </a:r>
            <a:r>
              <a:rPr sz="500" spc="-10" dirty="0">
                <a:latin typeface="Arial"/>
                <a:cs typeface="Arial"/>
                <a:hlinkClick r:id="rId5" action="ppaction://hlinksldjump"/>
              </a:rPr>
              <a:t>ngang </a:t>
            </a:r>
            <a:r>
              <a:rPr sz="500" dirty="0">
                <a:latin typeface="Arial"/>
                <a:cs typeface="Arial"/>
                <a:hlinkClick r:id="rId5" action="ppaction://hlinksldjump"/>
              </a:rPr>
              <a:t>hàng</a:t>
            </a:r>
            <a:r>
              <a:rPr sz="500" spc="70" dirty="0">
                <a:latin typeface="Arial"/>
                <a:cs typeface="Arial"/>
                <a:hlinkClick r:id="rId5" action="ppaction://hlinksldjump"/>
              </a:rPr>
              <a:t> </a:t>
            </a:r>
            <a:r>
              <a:rPr sz="500" spc="-10" dirty="0">
                <a:latin typeface="Arial"/>
                <a:cs typeface="Arial"/>
                <a:hlinkClick r:id="rId5" action="ppaction://hlinksldjump"/>
              </a:rPr>
              <a:t>mạng lưới</a:t>
            </a:r>
            <a:endParaRPr sz="500">
              <a:latin typeface="Arial"/>
              <a:cs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Đối xứng</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phân phối</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Sự hợp tác:</a:t>
            </a:r>
            <a:r>
              <a:rPr spc="30" dirty="0"/>
              <a:t> </a:t>
            </a:r>
            <a:r>
              <a:rPr dirty="0"/>
              <a:t>Các</a:t>
            </a:r>
            <a:r>
              <a:rPr spc="-35" dirty="0"/>
              <a:t> </a:t>
            </a:r>
            <a:r>
              <a:rPr spc="-20" dirty="0"/>
              <a:t>BitTorrent</a:t>
            </a:r>
            <a:r>
              <a:rPr spc="-40" dirty="0"/>
              <a:t> </a:t>
            </a:r>
            <a:r>
              <a:rPr spc="-20" dirty="0"/>
              <a:t>trường hợp</a:t>
            </a:r>
          </a:p>
        </p:txBody>
      </p:sp>
      <p:sp>
        <p:nvSpPr>
          <p:cNvPr id="4" name="object 4"/>
          <p:cNvSpPr txBox="1"/>
          <p:nvPr/>
        </p:nvSpPr>
        <p:spPr>
          <a:xfrm>
            <a:off x="334594" y="514774"/>
            <a:ext cx="3832860" cy="1015365"/>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Nguyên tắc:</a:t>
            </a:r>
            <a:r>
              <a:rPr sz="1000" spc="30" dirty="0">
                <a:solidFill>
                  <a:srgbClr val="3333B2"/>
                </a:solidFill>
                <a:latin typeface="Arial"/>
                <a:cs typeface="Arial"/>
              </a:rPr>
              <a:t> </a:t>
            </a:r>
            <a:r>
              <a:rPr sz="1000" dirty="0">
                <a:solidFill>
                  <a:srgbClr val="3333B2"/>
                </a:solidFill>
                <a:latin typeface="Arial"/>
                <a:cs typeface="Arial"/>
              </a:rPr>
              <a:t>tìm kiếm</a:t>
            </a:r>
            <a:r>
              <a:rPr sz="1000" spc="-30" dirty="0">
                <a:solidFill>
                  <a:srgbClr val="3333B2"/>
                </a:solidFill>
                <a:latin typeface="Arial"/>
                <a:cs typeface="Arial"/>
              </a:rPr>
              <a:t> </a:t>
            </a:r>
            <a:r>
              <a:rPr sz="1000" dirty="0">
                <a:solidFill>
                  <a:srgbClr val="3333B2"/>
                </a:solidFill>
                <a:latin typeface="Arial"/>
                <a:cs typeface="Arial"/>
              </a:rPr>
              <a:t>vì</a:t>
            </a:r>
            <a:r>
              <a:rPr sz="1000" spc="-25" dirty="0">
                <a:solidFill>
                  <a:srgbClr val="3333B2"/>
                </a:solidFill>
                <a:latin typeface="Arial"/>
                <a:cs typeface="Arial"/>
              </a:rPr>
              <a:t> </a:t>
            </a:r>
            <a:r>
              <a:rPr sz="1000" dirty="0">
                <a:solidFill>
                  <a:srgbClr val="3333B2"/>
                </a:solidFill>
                <a:latin typeface="Arial"/>
                <a:cs typeface="Arial"/>
              </a:rPr>
              <a:t>Một</a:t>
            </a:r>
            <a:r>
              <a:rPr sz="1000" spc="-30" dirty="0">
                <a:solidFill>
                  <a:srgbClr val="3333B2"/>
                </a:solidFill>
                <a:latin typeface="Arial"/>
                <a:cs typeface="Arial"/>
              </a:rPr>
              <a:t> </a:t>
            </a:r>
            <a:r>
              <a:rPr sz="1000" dirty="0">
                <a:solidFill>
                  <a:srgbClr val="3333B2"/>
                </a:solidFill>
                <a:latin typeface="Arial"/>
                <a:cs typeface="Arial"/>
              </a:rPr>
              <a:t>tài liệu</a:t>
            </a:r>
            <a:r>
              <a:rPr sz="1000" spc="-30" dirty="0">
                <a:solidFill>
                  <a:srgbClr val="3333B2"/>
                </a:solidFill>
                <a:latin typeface="Arial"/>
                <a:cs typeface="Arial"/>
              </a:rPr>
              <a:t> </a:t>
            </a:r>
            <a:r>
              <a:rPr sz="1000" i="1" spc="-50" dirty="0">
                <a:solidFill>
                  <a:srgbClr val="3333B2"/>
                </a:solidFill>
                <a:latin typeface="Arial"/>
                <a:cs typeface="Arial"/>
              </a:rPr>
              <a:t>F</a:t>
            </a:r>
            <a:endParaRPr sz="1000">
              <a:latin typeface="Arial"/>
              <a:cs typeface="Arial"/>
            </a:endParaRPr>
          </a:p>
          <a:p>
            <a:pPr marL="278130" indent="-120650">
              <a:lnSpc>
                <a:spcPct val="100000"/>
              </a:lnSpc>
              <a:spcBef>
                <a:spcPts val="695"/>
              </a:spcBef>
              <a:buClr>
                <a:srgbClr val="3333B2"/>
              </a:buClr>
              <a:buFont typeface="Apple Symbols"/>
              <a:buChar char="•"/>
              <a:tabLst>
                <a:tab pos="278765" algn="l"/>
              </a:tabLst>
            </a:pPr>
            <a:r>
              <a:rPr sz="900" dirty="0">
                <a:latin typeface="Arial"/>
                <a:cs typeface="Arial"/>
              </a:rPr>
              <a:t>Tra cứu</a:t>
            </a:r>
            <a:r>
              <a:rPr sz="900" spc="-20" dirty="0">
                <a:latin typeface="Arial"/>
                <a:cs typeface="Arial"/>
              </a:rPr>
              <a:t> </a:t>
            </a:r>
            <a:r>
              <a:rPr sz="900" dirty="0">
                <a:latin typeface="Arial"/>
                <a:cs typeface="Arial"/>
              </a:rPr>
              <a:t>tài liệu</a:t>
            </a:r>
            <a:r>
              <a:rPr sz="900" spc="-15" dirty="0">
                <a:latin typeface="Arial"/>
                <a:cs typeface="Arial"/>
              </a:rPr>
              <a:t> </a:t>
            </a:r>
            <a:r>
              <a:rPr sz="900" dirty="0">
                <a:latin typeface="Arial"/>
                <a:cs typeface="Arial"/>
              </a:rPr>
              <a:t>Tại</a:t>
            </a:r>
            <a:r>
              <a:rPr sz="900" spc="-20" dirty="0">
                <a:latin typeface="Arial"/>
                <a:cs typeface="Arial"/>
              </a:rPr>
              <a:t> </a:t>
            </a:r>
            <a:r>
              <a:rPr sz="900" dirty="0">
                <a:latin typeface="Arial"/>
                <a:cs typeface="Arial"/>
              </a:rPr>
              <a:t>Một</a:t>
            </a:r>
            <a:r>
              <a:rPr sz="900" spc="-15" dirty="0">
                <a:latin typeface="Arial"/>
                <a:cs typeface="Arial"/>
              </a:rPr>
              <a:t> </a:t>
            </a:r>
            <a:r>
              <a:rPr sz="900" dirty="0">
                <a:latin typeface="Arial"/>
                <a:cs typeface="Arial"/>
              </a:rPr>
              <a:t>toàn cầu</a:t>
            </a:r>
            <a:r>
              <a:rPr sz="900" spc="-20" dirty="0">
                <a:latin typeface="Arial"/>
                <a:cs typeface="Arial"/>
              </a:rPr>
              <a:t> </a:t>
            </a:r>
            <a:r>
              <a:rPr sz="900" dirty="0">
                <a:latin typeface="Arial"/>
                <a:cs typeface="Arial"/>
              </a:rPr>
              <a:t>thư mục</a:t>
            </a:r>
            <a:r>
              <a:rPr sz="900" spc="-15" dirty="0">
                <a:latin typeface="Arial"/>
                <a:cs typeface="Arial"/>
              </a:rPr>
              <a:t> </a:t>
            </a:r>
            <a:r>
              <a:rPr sz="900" spc="295" dirty="0">
                <a:latin typeface="Apple Symbols"/>
                <a:cs typeface="Apple Symbols"/>
              </a:rPr>
              <a:t>⇒</a:t>
            </a:r>
            <a:r>
              <a:rPr sz="900" spc="-70" dirty="0">
                <a:latin typeface="Apple Symbols"/>
                <a:cs typeface="Apple Symbols"/>
              </a:rPr>
              <a:t> </a:t>
            </a:r>
            <a:r>
              <a:rPr sz="900" dirty="0">
                <a:latin typeface="Arial"/>
                <a:cs typeface="Arial"/>
              </a:rPr>
              <a:t>trả lại</a:t>
            </a:r>
            <a:r>
              <a:rPr sz="900" spc="-15" dirty="0">
                <a:latin typeface="Arial"/>
                <a:cs typeface="Arial"/>
              </a:rPr>
              <a:t> </a:t>
            </a:r>
            <a:r>
              <a:rPr sz="900" dirty="0">
                <a:latin typeface="Arial"/>
                <a:cs typeface="Arial"/>
              </a:rPr>
              <a:t>Một</a:t>
            </a:r>
            <a:r>
              <a:rPr sz="900" spc="-20" dirty="0">
                <a:latin typeface="Arial"/>
                <a:cs typeface="Arial"/>
              </a:rPr>
              <a:t> </a:t>
            </a:r>
            <a:r>
              <a:rPr sz="900" dirty="0">
                <a:solidFill>
                  <a:srgbClr val="C80000"/>
                </a:solidFill>
                <a:latin typeface="Arial"/>
                <a:cs typeface="Arial"/>
              </a:rPr>
              <a:t>dòng nước lũ</a:t>
            </a:r>
            <a:r>
              <a:rPr sz="900" spc="-15" dirty="0">
                <a:solidFill>
                  <a:srgbClr val="C80000"/>
                </a:solidFill>
                <a:latin typeface="Arial"/>
                <a:cs typeface="Arial"/>
              </a:rPr>
              <a:t> </a:t>
            </a:r>
            <a:r>
              <a:rPr sz="900" spc="-20" dirty="0">
                <a:solidFill>
                  <a:srgbClr val="C80000"/>
                </a:solidFill>
                <a:latin typeface="Arial"/>
                <a:cs typeface="Arial"/>
              </a:rPr>
              <a:t>tài liệu</a:t>
            </a:r>
            <a:endParaRPr sz="900">
              <a:latin typeface="Arial"/>
              <a:cs typeface="Arial"/>
            </a:endParaRPr>
          </a:p>
          <a:p>
            <a:pPr marL="278130" marR="17780" indent="-120650">
              <a:lnSpc>
                <a:spcPct val="111600"/>
              </a:lnSpc>
              <a:buClr>
                <a:srgbClr val="3333B2"/>
              </a:buClr>
              <a:buFont typeface="Apple Symbols"/>
              <a:buChar char="•"/>
              <a:tabLst>
                <a:tab pos="274955" algn="l"/>
              </a:tabLst>
            </a:pPr>
            <a:r>
              <a:rPr sz="900" spc="-20" dirty="0">
                <a:latin typeface="Arial"/>
                <a:cs typeface="Arial"/>
              </a:rPr>
              <a:t>Dòng chảy dữ dội</a:t>
            </a:r>
            <a:r>
              <a:rPr sz="900" spc="-25" dirty="0">
                <a:latin typeface="Arial"/>
                <a:cs typeface="Arial"/>
              </a:rPr>
              <a:t> </a:t>
            </a:r>
            <a:r>
              <a:rPr sz="900" dirty="0">
                <a:latin typeface="Arial"/>
                <a:cs typeface="Arial"/>
              </a:rPr>
              <a:t>tài liệu</a:t>
            </a:r>
            <a:r>
              <a:rPr sz="900" spc="-25" dirty="0">
                <a:latin typeface="Arial"/>
                <a:cs typeface="Arial"/>
              </a:rPr>
              <a:t> </a:t>
            </a:r>
            <a:r>
              <a:rPr sz="900" dirty="0">
                <a:latin typeface="Arial"/>
                <a:cs typeface="Arial"/>
              </a:rPr>
              <a:t>chứa</a:t>
            </a:r>
            <a:r>
              <a:rPr sz="900" spc="-25" dirty="0">
                <a:latin typeface="Arial"/>
                <a:cs typeface="Arial"/>
              </a:rPr>
              <a:t> </a:t>
            </a:r>
            <a:r>
              <a:rPr sz="900" spc="-10" dirty="0">
                <a:latin typeface="Arial"/>
                <a:cs typeface="Arial"/>
              </a:rPr>
              <a:t>thẩm quyền giải quyết</a:t>
            </a:r>
            <a:r>
              <a:rPr sz="900" spc="-25" dirty="0">
                <a:latin typeface="Arial"/>
                <a:cs typeface="Arial"/>
              </a:rPr>
              <a:t> </a:t>
            </a:r>
            <a:r>
              <a:rPr sz="900" dirty="0">
                <a:latin typeface="Arial"/>
                <a:cs typeface="Arial"/>
              </a:rPr>
              <a:t>ĐẾN</a:t>
            </a:r>
            <a:r>
              <a:rPr sz="900" spc="-25" dirty="0">
                <a:latin typeface="Arial"/>
                <a:cs typeface="Arial"/>
              </a:rPr>
              <a:t> </a:t>
            </a:r>
            <a:r>
              <a:rPr sz="900" dirty="0">
                <a:solidFill>
                  <a:srgbClr val="C80000"/>
                </a:solidFill>
                <a:latin typeface="Arial"/>
                <a:cs typeface="Arial"/>
              </a:rPr>
              <a:t>theo dõi </a:t>
            </a:r>
            <a:r>
              <a:rPr sz="900" dirty="0">
                <a:latin typeface="Arial"/>
                <a:cs typeface="Arial"/>
              </a:rPr>
              <a:t>:</a:t>
            </a:r>
            <a:r>
              <a:rPr sz="900" spc="30" dirty="0">
                <a:latin typeface="Arial"/>
                <a:cs typeface="Arial"/>
              </a:rPr>
              <a:t> </a:t>
            </a:r>
            <a:r>
              <a:rPr sz="900" dirty="0">
                <a:latin typeface="Arial"/>
                <a:cs typeface="Arial"/>
              </a:rPr>
              <a:t>Một</a:t>
            </a:r>
            <a:r>
              <a:rPr sz="900" spc="-25" dirty="0">
                <a:latin typeface="Arial"/>
                <a:cs typeface="Arial"/>
              </a:rPr>
              <a:t> </a:t>
            </a:r>
            <a:r>
              <a:rPr sz="900" dirty="0">
                <a:latin typeface="Arial"/>
                <a:cs typeface="Arial"/>
              </a:rPr>
              <a:t>máy chủ</a:t>
            </a:r>
            <a:r>
              <a:rPr sz="900" spc="-25" dirty="0">
                <a:latin typeface="Arial"/>
                <a:cs typeface="Arial"/>
              </a:rPr>
              <a:t> </a:t>
            </a:r>
            <a:r>
              <a:rPr sz="900" dirty="0">
                <a:latin typeface="Arial"/>
                <a:cs typeface="Arial"/>
              </a:rPr>
              <a:t>giữ gìn</a:t>
            </a:r>
            <a:r>
              <a:rPr sz="900" spc="-25" dirty="0">
                <a:latin typeface="Arial"/>
                <a:cs typeface="Arial"/>
              </a:rPr>
              <a:t> </a:t>
            </a:r>
            <a:r>
              <a:rPr sz="900" dirty="0">
                <a:latin typeface="Arial"/>
                <a:cs typeface="Arial"/>
              </a:rPr>
              <a:t>MỘT</a:t>
            </a:r>
            <a:r>
              <a:rPr sz="900" spc="-25" dirty="0">
                <a:latin typeface="Arial"/>
                <a:cs typeface="Arial"/>
              </a:rPr>
              <a:t> </a:t>
            </a:r>
            <a:r>
              <a:rPr sz="900" dirty="0">
                <a:latin typeface="Arial"/>
                <a:cs typeface="Arial"/>
              </a:rPr>
              <a:t>tài khoản </a:t>
            </a:r>
            <a:r>
              <a:rPr sz="900" spc="-10" dirty="0">
                <a:latin typeface="Arial"/>
                <a:cs typeface="Arial"/>
              </a:rPr>
              <a:t>chính xác</a:t>
            </a:r>
            <a:r>
              <a:rPr sz="900" spc="-40" dirty="0">
                <a:latin typeface="Arial"/>
                <a:cs typeface="Arial"/>
              </a:rPr>
              <a:t> </a:t>
            </a:r>
            <a:r>
              <a:rPr sz="900" dirty="0">
                <a:latin typeface="Arial"/>
                <a:cs typeface="Arial"/>
              </a:rPr>
              <a:t>của</a:t>
            </a:r>
            <a:r>
              <a:rPr sz="900" spc="-25" dirty="0">
                <a:latin typeface="Arial"/>
                <a:cs typeface="Arial"/>
              </a:rPr>
              <a:t> </a:t>
            </a:r>
            <a:r>
              <a:rPr sz="900" dirty="0">
                <a:solidFill>
                  <a:srgbClr val="3333B2"/>
                </a:solidFill>
                <a:latin typeface="Arial"/>
                <a:cs typeface="Arial"/>
              </a:rPr>
              <a:t>tích cực</a:t>
            </a:r>
            <a:r>
              <a:rPr sz="900" spc="-30" dirty="0">
                <a:solidFill>
                  <a:srgbClr val="3333B2"/>
                </a:solidFill>
                <a:latin typeface="Arial"/>
                <a:cs typeface="Arial"/>
              </a:rPr>
              <a:t> </a:t>
            </a:r>
            <a:r>
              <a:rPr sz="900" dirty="0">
                <a:latin typeface="Arial"/>
                <a:cs typeface="Arial"/>
              </a:rPr>
              <a:t>các nút</a:t>
            </a:r>
            <a:r>
              <a:rPr sz="900" spc="-25" dirty="0">
                <a:latin typeface="Arial"/>
                <a:cs typeface="Arial"/>
              </a:rPr>
              <a:t> </a:t>
            </a:r>
            <a:r>
              <a:rPr sz="900" dirty="0">
                <a:latin typeface="Arial"/>
                <a:cs typeface="Arial"/>
              </a:rPr>
              <a:t>cái đó</a:t>
            </a:r>
            <a:r>
              <a:rPr sz="900" spc="-30" dirty="0">
                <a:latin typeface="Arial"/>
                <a:cs typeface="Arial"/>
              </a:rPr>
              <a:t> </a:t>
            </a:r>
            <a:r>
              <a:rPr sz="900" spc="-10" dirty="0">
                <a:latin typeface="Arial"/>
                <a:cs typeface="Arial"/>
              </a:rPr>
              <a:t>có</a:t>
            </a:r>
            <a:r>
              <a:rPr sz="900" spc="-25" dirty="0">
                <a:latin typeface="Arial"/>
                <a:cs typeface="Arial"/>
              </a:rPr>
              <a:t> </a:t>
            </a:r>
            <a:r>
              <a:rPr sz="900" dirty="0">
                <a:latin typeface="Arial"/>
                <a:cs typeface="Arial"/>
              </a:rPr>
              <a:t>(các khối</a:t>
            </a:r>
            <a:r>
              <a:rPr sz="900" spc="-30" dirty="0">
                <a:latin typeface="Arial"/>
                <a:cs typeface="Arial"/>
              </a:rPr>
              <a:t> </a:t>
            </a:r>
            <a:r>
              <a:rPr sz="900" dirty="0">
                <a:latin typeface="Arial"/>
                <a:cs typeface="Arial"/>
              </a:rPr>
              <a:t>của)</a:t>
            </a:r>
            <a:r>
              <a:rPr sz="900" spc="-25" dirty="0">
                <a:latin typeface="Arial"/>
                <a:cs typeface="Arial"/>
              </a:rPr>
              <a:t> </a:t>
            </a:r>
            <a:r>
              <a:rPr sz="900" i="1" spc="-10" dirty="0">
                <a:latin typeface="Arial"/>
                <a:cs typeface="Arial"/>
              </a:rPr>
              <a:t>F</a:t>
            </a:r>
            <a:r>
              <a:rPr sz="900" i="1" spc="-140" dirty="0">
                <a:latin typeface="Arial"/>
                <a:cs typeface="Arial"/>
              </a:rPr>
              <a:t> </a:t>
            </a:r>
            <a:r>
              <a:rPr sz="900" spc="-50" dirty="0">
                <a:latin typeface="Arial"/>
                <a:cs typeface="Arial"/>
              </a:rPr>
              <a:t>.</a:t>
            </a:r>
            <a:endParaRPr sz="900">
              <a:latin typeface="Arial"/>
              <a:cs typeface="Arial"/>
            </a:endParaRPr>
          </a:p>
          <a:p>
            <a:pPr marL="278130" marR="125730" indent="-120650">
              <a:lnSpc>
                <a:spcPct val="111600"/>
              </a:lnSpc>
              <a:buClr>
                <a:srgbClr val="3333B2"/>
              </a:buClr>
              <a:buFont typeface="Apple Symbols"/>
              <a:buChar char="•"/>
              <a:tabLst>
                <a:tab pos="278765" algn="l"/>
              </a:tabLst>
            </a:pPr>
            <a:r>
              <a:rPr sz="900" i="1" dirty="0">
                <a:latin typeface="Arial"/>
                <a:cs typeface="Arial"/>
              </a:rPr>
              <a:t>P</a:t>
            </a:r>
            <a:r>
              <a:rPr sz="900" i="1" spc="30" dirty="0">
                <a:latin typeface="Arial"/>
                <a:cs typeface="Arial"/>
              </a:rPr>
              <a:t> </a:t>
            </a:r>
            <a:r>
              <a:rPr sz="900" dirty="0">
                <a:latin typeface="Arial"/>
                <a:cs typeface="Arial"/>
              </a:rPr>
              <a:t>Có thể</a:t>
            </a:r>
            <a:r>
              <a:rPr sz="900" spc="-25" dirty="0">
                <a:latin typeface="Arial"/>
                <a:cs typeface="Arial"/>
              </a:rPr>
              <a:t> </a:t>
            </a:r>
            <a:r>
              <a:rPr sz="900" dirty="0">
                <a:latin typeface="Arial"/>
                <a:cs typeface="Arial"/>
              </a:rPr>
              <a:t>tham gia</a:t>
            </a:r>
            <a:r>
              <a:rPr sz="900" spc="-30" dirty="0">
                <a:latin typeface="Arial"/>
                <a:cs typeface="Arial"/>
              </a:rPr>
              <a:t> </a:t>
            </a:r>
            <a:r>
              <a:rPr sz="900" dirty="0">
                <a:solidFill>
                  <a:srgbClr val="C80000"/>
                </a:solidFill>
                <a:latin typeface="Arial"/>
                <a:cs typeface="Arial"/>
              </a:rPr>
              <a:t>bầy đàn </a:t>
            </a:r>
            <a:r>
              <a:rPr sz="900" dirty="0">
                <a:latin typeface="Arial"/>
                <a:cs typeface="Arial"/>
              </a:rPr>
              <a:t>,</a:t>
            </a:r>
            <a:r>
              <a:rPr sz="900" spc="-25" dirty="0">
                <a:latin typeface="Arial"/>
                <a:cs typeface="Arial"/>
              </a:rPr>
              <a:t> </a:t>
            </a:r>
            <a:r>
              <a:rPr sz="900" dirty="0">
                <a:latin typeface="Arial"/>
                <a:cs typeface="Arial"/>
              </a:rPr>
              <a:t>lấy</a:t>
            </a:r>
            <a:r>
              <a:rPr sz="900" spc="-25" dirty="0">
                <a:latin typeface="Arial"/>
                <a:cs typeface="Arial"/>
              </a:rPr>
              <a:t> </a:t>
            </a:r>
            <a:r>
              <a:rPr sz="900" dirty="0">
                <a:latin typeface="Arial"/>
                <a:cs typeface="Arial"/>
              </a:rPr>
              <a:t>Một</a:t>
            </a:r>
            <a:r>
              <a:rPr sz="900" spc="-25" dirty="0">
                <a:latin typeface="Arial"/>
                <a:cs typeface="Arial"/>
              </a:rPr>
              <a:t> </a:t>
            </a:r>
            <a:r>
              <a:rPr sz="900" dirty="0">
                <a:latin typeface="Arial"/>
                <a:cs typeface="Arial"/>
              </a:rPr>
              <a:t>miếng</a:t>
            </a:r>
            <a:r>
              <a:rPr sz="900" spc="-30" dirty="0">
                <a:latin typeface="Arial"/>
                <a:cs typeface="Arial"/>
              </a:rPr>
              <a:t> </a:t>
            </a:r>
            <a:r>
              <a:rPr sz="900" dirty="0">
                <a:latin typeface="Arial"/>
                <a:cs typeface="Arial"/>
              </a:rPr>
              <a:t>vì</a:t>
            </a:r>
            <a:r>
              <a:rPr sz="900" spc="-25" dirty="0">
                <a:latin typeface="Arial"/>
                <a:cs typeface="Arial"/>
              </a:rPr>
              <a:t> </a:t>
            </a:r>
            <a:r>
              <a:rPr sz="900" dirty="0">
                <a:latin typeface="Arial"/>
                <a:cs typeface="Arial"/>
              </a:rPr>
              <a:t>miễn phí,</a:t>
            </a:r>
            <a:r>
              <a:rPr sz="900" spc="-25" dirty="0">
                <a:latin typeface="Arial"/>
                <a:cs typeface="Arial"/>
              </a:rPr>
              <a:t> </a:t>
            </a:r>
            <a:r>
              <a:rPr sz="900" dirty="0">
                <a:latin typeface="Arial"/>
                <a:cs typeface="Arial"/>
              </a:rPr>
              <a:t>Và</a:t>
            </a:r>
            <a:r>
              <a:rPr sz="900" spc="-30" dirty="0">
                <a:latin typeface="Arial"/>
                <a:cs typeface="Arial"/>
              </a:rPr>
              <a:t> </a:t>
            </a:r>
            <a:r>
              <a:rPr sz="900" dirty="0">
                <a:latin typeface="Arial"/>
                <a:cs typeface="Arial"/>
              </a:rPr>
              <a:t>sau đó</a:t>
            </a:r>
            <a:r>
              <a:rPr sz="900" spc="-25" dirty="0">
                <a:latin typeface="Arial"/>
                <a:cs typeface="Arial"/>
              </a:rPr>
              <a:t> </a:t>
            </a:r>
            <a:r>
              <a:rPr sz="900" dirty="0">
                <a:latin typeface="Arial"/>
                <a:cs typeface="Arial"/>
              </a:rPr>
              <a:t>buôn bán</a:t>
            </a:r>
            <a:r>
              <a:rPr sz="900" spc="-25" dirty="0">
                <a:latin typeface="Arial"/>
                <a:cs typeface="Arial"/>
              </a:rPr>
              <a:t> </a:t>
            </a:r>
            <a:r>
              <a:rPr sz="900" dirty="0">
                <a:latin typeface="Arial"/>
                <a:cs typeface="Arial"/>
              </a:rPr>
              <a:t>Một</a:t>
            </a:r>
            <a:r>
              <a:rPr sz="900" spc="-30" dirty="0">
                <a:latin typeface="Arial"/>
                <a:cs typeface="Arial"/>
              </a:rPr>
              <a:t> </a:t>
            </a:r>
            <a:r>
              <a:rPr sz="900" dirty="0">
                <a:latin typeface="Arial"/>
                <a:cs typeface="Arial"/>
              </a:rPr>
              <a:t>sao chép</a:t>
            </a:r>
            <a:r>
              <a:rPr sz="900" spc="-25" dirty="0">
                <a:latin typeface="Arial"/>
                <a:cs typeface="Arial"/>
              </a:rPr>
              <a:t> </a:t>
            </a:r>
            <a:r>
              <a:rPr sz="900" dirty="0">
                <a:latin typeface="Arial"/>
                <a:cs typeface="Arial"/>
              </a:rPr>
              <a:t>của</a:t>
            </a:r>
            <a:r>
              <a:rPr sz="900" spc="-25" dirty="0">
                <a:latin typeface="Arial"/>
                <a:cs typeface="Arial"/>
              </a:rPr>
              <a:t> cái </a:t>
            </a:r>
            <a:r>
              <a:rPr sz="900" dirty="0">
                <a:latin typeface="Arial"/>
                <a:cs typeface="Arial"/>
              </a:rPr>
              <a:t>cục </a:t>
            </a:r>
            <a:r>
              <a:rPr sz="900" spc="-20" dirty="0">
                <a:latin typeface="Arial"/>
                <a:cs typeface="Arial"/>
              </a:rPr>
              <a:t>đó</a:t>
            </a:r>
            <a:r>
              <a:rPr sz="900" spc="-25" dirty="0">
                <a:latin typeface="Arial"/>
                <a:cs typeface="Arial"/>
              </a:rPr>
              <a:t> </a:t>
            </a:r>
            <a:r>
              <a:rPr sz="900" dirty="0">
                <a:latin typeface="Arial"/>
                <a:cs typeface="Arial"/>
              </a:rPr>
              <a:t>vì</a:t>
            </a:r>
            <a:r>
              <a:rPr sz="900" spc="-20" dirty="0">
                <a:latin typeface="Arial"/>
                <a:cs typeface="Arial"/>
              </a:rPr>
              <a:t> </a:t>
            </a:r>
            <a:r>
              <a:rPr sz="900" dirty="0">
                <a:latin typeface="Arial"/>
                <a:cs typeface="Arial"/>
              </a:rPr>
              <a:t>khác</a:t>
            </a:r>
            <a:r>
              <a:rPr sz="900" spc="-25" dirty="0">
                <a:latin typeface="Arial"/>
                <a:cs typeface="Arial"/>
              </a:rPr>
              <a:t> </a:t>
            </a:r>
            <a:r>
              <a:rPr sz="900" dirty="0">
                <a:latin typeface="Arial"/>
                <a:cs typeface="Arial"/>
              </a:rPr>
              <a:t>một</a:t>
            </a:r>
            <a:r>
              <a:rPr sz="900" spc="-20" dirty="0">
                <a:latin typeface="Arial"/>
                <a:cs typeface="Arial"/>
              </a:rPr>
              <a:t> </a:t>
            </a:r>
            <a:r>
              <a:rPr sz="900" dirty="0">
                <a:latin typeface="Arial"/>
                <a:cs typeface="Arial"/>
              </a:rPr>
              <a:t>với</a:t>
            </a:r>
            <a:r>
              <a:rPr sz="900" spc="-25" dirty="0">
                <a:latin typeface="Arial"/>
                <a:cs typeface="Arial"/>
              </a:rPr>
              <a:t> </a:t>
            </a:r>
            <a:r>
              <a:rPr sz="900" dirty="0">
                <a:latin typeface="Arial"/>
                <a:cs typeface="Arial"/>
              </a:rPr>
              <a:t>Một</a:t>
            </a:r>
            <a:r>
              <a:rPr sz="900" spc="-20" dirty="0">
                <a:latin typeface="Arial"/>
                <a:cs typeface="Arial"/>
              </a:rPr>
              <a:t> </a:t>
            </a:r>
            <a:r>
              <a:rPr sz="900" dirty="0">
                <a:latin typeface="Arial"/>
                <a:cs typeface="Arial"/>
              </a:rPr>
              <a:t>ngang hàng</a:t>
            </a:r>
            <a:r>
              <a:rPr sz="900" spc="-25" dirty="0">
                <a:latin typeface="Arial"/>
                <a:cs typeface="Arial"/>
              </a:rPr>
              <a:t> </a:t>
            </a:r>
            <a:r>
              <a:rPr sz="900" i="1" dirty="0">
                <a:latin typeface="Arial"/>
                <a:cs typeface="Arial"/>
              </a:rPr>
              <a:t>Hỏi</a:t>
            </a:r>
            <a:r>
              <a:rPr sz="900" i="1" spc="20" dirty="0">
                <a:latin typeface="Arial"/>
                <a:cs typeface="Arial"/>
              </a:rPr>
              <a:t> </a:t>
            </a:r>
            <a:r>
              <a:rPr sz="900" dirty="0">
                <a:latin typeface="Arial"/>
                <a:cs typeface="Arial"/>
              </a:rPr>
              <a:t>Mà còn</a:t>
            </a:r>
            <a:r>
              <a:rPr sz="900" spc="-20" dirty="0">
                <a:latin typeface="Arial"/>
                <a:cs typeface="Arial"/>
              </a:rPr>
              <a:t> </a:t>
            </a:r>
            <a:r>
              <a:rPr sz="900" dirty="0">
                <a:latin typeface="Arial"/>
                <a:cs typeface="Arial"/>
              </a:rPr>
              <a:t>TRONG</a:t>
            </a:r>
            <a:r>
              <a:rPr sz="900" spc="-20" dirty="0">
                <a:latin typeface="Arial"/>
                <a:cs typeface="Arial"/>
              </a:rPr>
              <a:t> </a:t>
            </a:r>
            <a:r>
              <a:rPr sz="900" dirty="0">
                <a:latin typeface="Arial"/>
                <a:cs typeface="Arial"/>
              </a:rPr>
              <a:t>cái</a:t>
            </a:r>
            <a:r>
              <a:rPr sz="900" spc="-25" dirty="0">
                <a:latin typeface="Arial"/>
                <a:cs typeface="Arial"/>
              </a:rPr>
              <a:t> </a:t>
            </a:r>
            <a:r>
              <a:rPr sz="900" spc="-10" dirty="0">
                <a:latin typeface="Arial"/>
                <a:cs typeface="Arial"/>
              </a:rPr>
              <a:t>bầy đàn.</a:t>
            </a:r>
            <a:endParaRPr sz="900">
              <a:latin typeface="Arial"/>
              <a:cs typeface="Arial"/>
            </a:endParaRPr>
          </a:p>
        </p:txBody>
      </p:sp>
      <p:pic>
        <p:nvPicPr>
          <p:cNvPr id="5" name="object 5"/>
          <p:cNvPicPr/>
          <p:nvPr/>
        </p:nvPicPr>
        <p:blipFill>
          <a:blip r:embed="rId4" cstate="print"/>
          <a:stretch>
            <a:fillRect/>
          </a:stretch>
        </p:blipFill>
        <p:spPr>
          <a:xfrm>
            <a:off x="498633" y="1692570"/>
            <a:ext cx="3618332" cy="1081055"/>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58102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Ví dụ:</a:t>
            </a:r>
            <a:r>
              <a:rPr sz="500" spc="5" dirty="0">
                <a:latin typeface="Arial"/>
                <a:cs typeface="Arial"/>
                <a:hlinkClick r:id="rId5" action="ppaction://hlinksldjump"/>
              </a:rPr>
              <a:t> </a:t>
            </a:r>
            <a:r>
              <a:rPr sz="500" spc="-10" dirty="0">
                <a:latin typeface="Arial"/>
                <a:cs typeface="Arial"/>
                <a:hlinkClick r:id="rId5" action="ppaction://hlinksldjump"/>
              </a:rPr>
              <a:t>BitTorrent</a:t>
            </a:r>
            <a:endParaRPr sz="500">
              <a:latin typeface="Arial"/>
              <a:cs typeface="Aria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lai</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95300" y="197711"/>
            <a:ext cx="116459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Đám mây</a:t>
            </a:r>
            <a:r>
              <a:rPr sz="1200" spc="-40" dirty="0">
                <a:solidFill>
                  <a:srgbClr val="3333B2"/>
                </a:solidFill>
                <a:latin typeface="Arial"/>
                <a:cs typeface="Arial"/>
              </a:rPr>
              <a:t> </a:t>
            </a:r>
            <a:r>
              <a:rPr sz="1200" spc="-10" dirty="0">
                <a:solidFill>
                  <a:srgbClr val="3333B2"/>
                </a:solidFill>
                <a:latin typeface="Arial"/>
                <a:cs typeface="Arial"/>
              </a:rPr>
              <a:t>tính toán</a:t>
            </a:r>
            <a:endParaRPr sz="1200">
              <a:latin typeface="Arial"/>
              <a:cs typeface="Arial"/>
            </a:endParaRPr>
          </a:p>
        </p:txBody>
      </p:sp>
      <p:pic>
        <p:nvPicPr>
          <p:cNvPr id="6" name="object 6"/>
          <p:cNvPicPr/>
          <p:nvPr/>
        </p:nvPicPr>
        <p:blipFill>
          <a:blip r:embed="rId4" cstate="print"/>
          <a:stretch>
            <a:fillRect/>
          </a:stretch>
        </p:blipFill>
        <p:spPr>
          <a:xfrm>
            <a:off x="510415" y="557889"/>
            <a:ext cx="3584783" cy="1562919"/>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5003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Đám mây</a:t>
            </a:r>
            <a:r>
              <a:rPr sz="500" spc="-20" dirty="0">
                <a:latin typeface="Arial"/>
                <a:cs typeface="Arial"/>
                <a:hlinkClick r:id="rId3" action="ppaction://hlinksldjump"/>
              </a:rPr>
              <a:t> </a:t>
            </a:r>
            <a:r>
              <a:rPr sz="500" spc="-10" dirty="0">
                <a:latin typeface="Arial"/>
                <a:cs typeface="Arial"/>
                <a:hlinkClick r:id="rId3" action="ppaction://hlinksldjump"/>
              </a:rPr>
              <a:t>tính toán</a:t>
            </a:r>
            <a:endParaRPr sz="500">
              <a:latin typeface="Arial"/>
              <a:cs typeface="Arial"/>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06495"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lai</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Đám mây</a:t>
            </a:r>
            <a:r>
              <a:rPr spc="-40" dirty="0"/>
              <a:t> </a:t>
            </a:r>
            <a:r>
              <a:rPr spc="-10" dirty="0"/>
              <a:t>tính toán</a:t>
            </a:r>
          </a:p>
        </p:txBody>
      </p:sp>
      <p:sp>
        <p:nvSpPr>
          <p:cNvPr id="4" name="object 4"/>
          <p:cNvSpPr txBox="1"/>
          <p:nvPr/>
        </p:nvSpPr>
        <p:spPr>
          <a:xfrm>
            <a:off x="334594" y="514774"/>
            <a:ext cx="3926840" cy="1932939"/>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Làm</a:t>
            </a:r>
            <a:r>
              <a:rPr sz="1000" spc="-45" dirty="0">
                <a:solidFill>
                  <a:srgbClr val="3333B2"/>
                </a:solidFill>
                <a:latin typeface="Arial"/>
                <a:cs typeface="Arial"/>
              </a:rPr>
              <a:t> </a:t>
            </a:r>
            <a:r>
              <a:rPr sz="1000" dirty="0">
                <a:solidFill>
                  <a:srgbClr val="3333B2"/>
                </a:solidFill>
                <a:latin typeface="Arial"/>
                <a:cs typeface="Arial"/>
              </a:rPr>
              <a:t>Một</a:t>
            </a:r>
            <a:r>
              <a:rPr sz="1000" spc="-45" dirty="0">
                <a:solidFill>
                  <a:srgbClr val="3333B2"/>
                </a:solidFill>
                <a:latin typeface="Arial"/>
                <a:cs typeface="Arial"/>
              </a:rPr>
              <a:t> </a:t>
            </a:r>
            <a:r>
              <a:rPr sz="1000" dirty="0">
                <a:solidFill>
                  <a:srgbClr val="3333B2"/>
                </a:solidFill>
                <a:latin typeface="Arial"/>
                <a:cs typeface="Arial"/>
              </a:rPr>
              <a:t>sự phân biệt</a:t>
            </a:r>
            <a:r>
              <a:rPr sz="1000" spc="-40" dirty="0">
                <a:solidFill>
                  <a:srgbClr val="3333B2"/>
                </a:solidFill>
                <a:latin typeface="Arial"/>
                <a:cs typeface="Arial"/>
              </a:rPr>
              <a:t> </a:t>
            </a:r>
            <a:r>
              <a:rPr sz="1000" dirty="0">
                <a:solidFill>
                  <a:srgbClr val="3333B2"/>
                </a:solidFill>
                <a:latin typeface="Arial"/>
                <a:cs typeface="Arial"/>
              </a:rPr>
              <a:t>giữa</a:t>
            </a:r>
            <a:r>
              <a:rPr sz="1000" spc="-45" dirty="0">
                <a:solidFill>
                  <a:srgbClr val="3333B2"/>
                </a:solidFill>
                <a:latin typeface="Arial"/>
                <a:cs typeface="Arial"/>
              </a:rPr>
              <a:t> </a:t>
            </a:r>
            <a:r>
              <a:rPr sz="1000" dirty="0">
                <a:solidFill>
                  <a:srgbClr val="3333B2"/>
                </a:solidFill>
                <a:latin typeface="Arial"/>
                <a:cs typeface="Arial"/>
              </a:rPr>
              <a:t>bốn</a:t>
            </a:r>
            <a:r>
              <a:rPr sz="1000" spc="-40" dirty="0">
                <a:solidFill>
                  <a:srgbClr val="3333B2"/>
                </a:solidFill>
                <a:latin typeface="Arial"/>
                <a:cs typeface="Arial"/>
              </a:rPr>
              <a:t> </a:t>
            </a:r>
            <a:r>
              <a:rPr sz="1000" spc="-10" dirty="0">
                <a:solidFill>
                  <a:srgbClr val="3333B2"/>
                </a:solidFill>
                <a:latin typeface="Arial"/>
                <a:cs typeface="Arial"/>
              </a:rPr>
              <a:t>lớp</a:t>
            </a:r>
            <a:endParaRPr sz="1000">
              <a:latin typeface="Arial"/>
              <a:cs typeface="Arial"/>
            </a:endParaRPr>
          </a:p>
          <a:p>
            <a:pPr marL="278130" marR="40640" indent="-120650">
              <a:lnSpc>
                <a:spcPct val="111600"/>
              </a:lnSpc>
              <a:spcBef>
                <a:spcPts val="575"/>
              </a:spcBef>
              <a:buClr>
                <a:srgbClr val="3333B2"/>
              </a:buClr>
              <a:buFont typeface="Apple Symbols"/>
              <a:buChar char="•"/>
              <a:tabLst>
                <a:tab pos="278765" algn="l"/>
              </a:tabLst>
            </a:pPr>
            <a:r>
              <a:rPr sz="900" dirty="0">
                <a:solidFill>
                  <a:srgbClr val="C80000"/>
                </a:solidFill>
                <a:latin typeface="Arial"/>
                <a:cs typeface="Arial"/>
              </a:rPr>
              <a:t>Phần cứng </a:t>
            </a:r>
            <a:r>
              <a:rPr sz="900" dirty="0">
                <a:latin typeface="Arial"/>
                <a:cs typeface="Arial"/>
              </a:rPr>
              <a:t>:</a:t>
            </a:r>
            <a:r>
              <a:rPr sz="900" spc="20" dirty="0">
                <a:latin typeface="Arial"/>
                <a:cs typeface="Arial"/>
              </a:rPr>
              <a:t> </a:t>
            </a:r>
            <a:r>
              <a:rPr sz="900" spc="-10" dirty="0">
                <a:latin typeface="Arial"/>
                <a:cs typeface="Arial"/>
              </a:rPr>
              <a:t>Bộ xử lý,</a:t>
            </a:r>
            <a:r>
              <a:rPr sz="900" spc="-30" dirty="0">
                <a:latin typeface="Arial"/>
                <a:cs typeface="Arial"/>
              </a:rPr>
              <a:t> </a:t>
            </a:r>
            <a:r>
              <a:rPr sz="900" dirty="0">
                <a:latin typeface="Arial"/>
                <a:cs typeface="Arial"/>
              </a:rPr>
              <a:t>bộ định tuyến,</a:t>
            </a:r>
            <a:r>
              <a:rPr sz="900" spc="-35" dirty="0">
                <a:latin typeface="Arial"/>
                <a:cs typeface="Arial"/>
              </a:rPr>
              <a:t> </a:t>
            </a:r>
            <a:r>
              <a:rPr sz="900" dirty="0">
                <a:latin typeface="Arial"/>
                <a:cs typeface="Arial"/>
              </a:rPr>
              <a:t>quyền lực</a:t>
            </a:r>
            <a:r>
              <a:rPr sz="900" spc="-30" dirty="0">
                <a:latin typeface="Arial"/>
                <a:cs typeface="Arial"/>
              </a:rPr>
              <a:t> </a:t>
            </a:r>
            <a:r>
              <a:rPr sz="900" dirty="0">
                <a:latin typeface="Arial"/>
                <a:cs typeface="Arial"/>
              </a:rPr>
              <a:t>Và</a:t>
            </a:r>
            <a:r>
              <a:rPr sz="900" spc="-30" dirty="0">
                <a:latin typeface="Arial"/>
                <a:cs typeface="Arial"/>
              </a:rPr>
              <a:t> </a:t>
            </a:r>
            <a:r>
              <a:rPr sz="900" dirty="0">
                <a:latin typeface="Arial"/>
                <a:cs typeface="Arial"/>
              </a:rPr>
              <a:t>làm mát</a:t>
            </a:r>
            <a:r>
              <a:rPr sz="900" spc="-35" dirty="0">
                <a:latin typeface="Arial"/>
                <a:cs typeface="Arial"/>
              </a:rPr>
              <a:t> </a:t>
            </a:r>
            <a:r>
              <a:rPr sz="900" dirty="0">
                <a:latin typeface="Arial"/>
                <a:cs typeface="Arial"/>
              </a:rPr>
              <a:t>hệ thống.</a:t>
            </a:r>
            <a:r>
              <a:rPr sz="900" spc="25" dirty="0">
                <a:latin typeface="Arial"/>
                <a:cs typeface="Arial"/>
              </a:rPr>
              <a:t> </a:t>
            </a:r>
            <a:r>
              <a:rPr sz="900" spc="-10" dirty="0">
                <a:latin typeface="Arial"/>
                <a:cs typeface="Arial"/>
              </a:rPr>
              <a:t>Khách </a:t>
            </a:r>
            <a:r>
              <a:rPr sz="900" dirty="0">
                <a:latin typeface="Arial"/>
                <a:cs typeface="Arial"/>
              </a:rPr>
              <a:t>hàng thường</a:t>
            </a:r>
            <a:r>
              <a:rPr sz="900" spc="-25" dirty="0">
                <a:latin typeface="Arial"/>
                <a:cs typeface="Arial"/>
              </a:rPr>
              <a:t> </a:t>
            </a:r>
            <a:r>
              <a:rPr sz="900" spc="-10" dirty="0">
                <a:latin typeface="Arial"/>
                <a:cs typeface="Arial"/>
              </a:rPr>
              <a:t>không bao giờ</a:t>
            </a:r>
            <a:r>
              <a:rPr sz="900" spc="-20" dirty="0">
                <a:latin typeface="Arial"/>
                <a:cs typeface="Arial"/>
              </a:rPr>
              <a:t> </a:t>
            </a:r>
            <a:r>
              <a:rPr sz="900" dirty="0">
                <a:latin typeface="Arial"/>
                <a:cs typeface="Arial"/>
              </a:rPr>
              <a:t>lấy</a:t>
            </a:r>
            <a:r>
              <a:rPr sz="900" spc="-20" dirty="0">
                <a:latin typeface="Arial"/>
                <a:cs typeface="Arial"/>
              </a:rPr>
              <a:t> </a:t>
            </a:r>
            <a:r>
              <a:rPr sz="900" dirty="0">
                <a:latin typeface="Arial"/>
                <a:cs typeface="Arial"/>
              </a:rPr>
              <a:t>ĐẾN</a:t>
            </a:r>
            <a:r>
              <a:rPr sz="900" spc="-20" dirty="0">
                <a:latin typeface="Arial"/>
                <a:cs typeface="Arial"/>
              </a:rPr>
              <a:t> </a:t>
            </a:r>
            <a:r>
              <a:rPr sz="900" dirty="0">
                <a:latin typeface="Arial"/>
                <a:cs typeface="Arial"/>
              </a:rPr>
              <a:t>nhìn thấy</a:t>
            </a:r>
            <a:r>
              <a:rPr sz="900" spc="-20" dirty="0">
                <a:latin typeface="Arial"/>
                <a:cs typeface="Arial"/>
              </a:rPr>
              <a:t> </a:t>
            </a:r>
            <a:r>
              <a:rPr sz="900" spc="-10" dirty="0">
                <a:latin typeface="Arial"/>
                <a:cs typeface="Arial"/>
              </a:rPr>
              <a:t>những cái này.</a:t>
            </a:r>
            <a:endParaRPr sz="900">
              <a:latin typeface="Arial"/>
              <a:cs typeface="Arial"/>
            </a:endParaRPr>
          </a:p>
          <a:p>
            <a:pPr marL="278130" marR="244475" indent="-120650">
              <a:lnSpc>
                <a:spcPct val="111600"/>
              </a:lnSpc>
              <a:spcBef>
                <a:spcPts val="400"/>
              </a:spcBef>
              <a:buClr>
                <a:srgbClr val="3333B2"/>
              </a:buClr>
              <a:buFont typeface="Apple Symbols"/>
              <a:buChar char="•"/>
              <a:tabLst>
                <a:tab pos="278765" algn="l"/>
              </a:tabLst>
            </a:pPr>
            <a:r>
              <a:rPr sz="900" dirty="0">
                <a:solidFill>
                  <a:srgbClr val="C80000"/>
                </a:solidFill>
                <a:latin typeface="Arial"/>
                <a:cs typeface="Arial"/>
              </a:rPr>
              <a:t>Cơ sở hạ tầng </a:t>
            </a:r>
            <a:r>
              <a:rPr sz="900" dirty="0">
                <a:latin typeface="Arial"/>
                <a:cs typeface="Arial"/>
              </a:rPr>
              <a:t>:</a:t>
            </a:r>
            <a:r>
              <a:rPr sz="900" spc="20" dirty="0">
                <a:latin typeface="Arial"/>
                <a:cs typeface="Arial"/>
              </a:rPr>
              <a:t> </a:t>
            </a:r>
            <a:r>
              <a:rPr sz="900" spc="-10" dirty="0">
                <a:latin typeface="Arial"/>
                <a:cs typeface="Arial"/>
              </a:rPr>
              <a:t>Triển khai</a:t>
            </a:r>
            <a:r>
              <a:rPr sz="900" spc="-30" dirty="0">
                <a:latin typeface="Arial"/>
                <a:cs typeface="Arial"/>
              </a:rPr>
              <a:t> </a:t>
            </a:r>
            <a:r>
              <a:rPr sz="900" dirty="0">
                <a:latin typeface="Arial"/>
                <a:cs typeface="Arial"/>
              </a:rPr>
              <a:t>ảo hóa</a:t>
            </a:r>
            <a:r>
              <a:rPr sz="900" spc="-30" dirty="0">
                <a:latin typeface="Arial"/>
                <a:cs typeface="Arial"/>
              </a:rPr>
              <a:t> </a:t>
            </a:r>
            <a:r>
              <a:rPr sz="900" dirty="0">
                <a:latin typeface="Arial"/>
                <a:cs typeface="Arial"/>
              </a:rPr>
              <a:t>kỹ thuật.</a:t>
            </a:r>
            <a:r>
              <a:rPr sz="900" spc="25" dirty="0">
                <a:latin typeface="Arial"/>
                <a:cs typeface="Arial"/>
              </a:rPr>
              <a:t> </a:t>
            </a:r>
            <a:r>
              <a:rPr sz="900" spc="-10" dirty="0">
                <a:latin typeface="Arial"/>
                <a:cs typeface="Arial"/>
              </a:rPr>
              <a:t>Tiến hóa</a:t>
            </a:r>
            <a:r>
              <a:rPr sz="900" spc="-30" dirty="0">
                <a:latin typeface="Arial"/>
                <a:cs typeface="Arial"/>
              </a:rPr>
              <a:t> </a:t>
            </a:r>
            <a:r>
              <a:rPr sz="900" spc="-10" dirty="0">
                <a:latin typeface="Arial"/>
                <a:cs typeface="Arial"/>
              </a:rPr>
              <a:t>xung quanh </a:t>
            </a:r>
            <a:r>
              <a:rPr sz="900" dirty="0">
                <a:latin typeface="Arial"/>
                <a:cs typeface="Arial"/>
              </a:rPr>
              <a:t>việc phân bổ</a:t>
            </a:r>
            <a:r>
              <a:rPr sz="900" spc="-20" dirty="0">
                <a:latin typeface="Arial"/>
                <a:cs typeface="Arial"/>
              </a:rPr>
              <a:t> </a:t>
            </a:r>
            <a:r>
              <a:rPr sz="900" dirty="0">
                <a:latin typeface="Arial"/>
                <a:cs typeface="Arial"/>
              </a:rPr>
              <a:t>Và</a:t>
            </a:r>
            <a:r>
              <a:rPr sz="900" spc="-20" dirty="0">
                <a:latin typeface="Arial"/>
                <a:cs typeface="Arial"/>
              </a:rPr>
              <a:t> </a:t>
            </a:r>
            <a:r>
              <a:rPr sz="900" dirty="0">
                <a:latin typeface="Arial"/>
                <a:cs typeface="Arial"/>
              </a:rPr>
              <a:t>quản lý</a:t>
            </a:r>
            <a:r>
              <a:rPr sz="900" spc="-20" dirty="0">
                <a:latin typeface="Arial"/>
                <a:cs typeface="Arial"/>
              </a:rPr>
              <a:t> </a:t>
            </a:r>
            <a:r>
              <a:rPr sz="900" dirty="0">
                <a:latin typeface="Arial"/>
                <a:cs typeface="Arial"/>
              </a:rPr>
              <a:t>ảo</a:t>
            </a:r>
            <a:r>
              <a:rPr sz="900" spc="-20" dirty="0">
                <a:latin typeface="Arial"/>
                <a:cs typeface="Arial"/>
              </a:rPr>
              <a:t> </a:t>
            </a:r>
            <a:r>
              <a:rPr sz="900" dirty="0">
                <a:latin typeface="Arial"/>
                <a:cs typeface="Arial"/>
              </a:rPr>
              <a:t>kho</a:t>
            </a:r>
            <a:r>
              <a:rPr sz="900" spc="-20" dirty="0">
                <a:latin typeface="Arial"/>
                <a:cs typeface="Arial"/>
              </a:rPr>
              <a:t> </a:t>
            </a:r>
            <a:r>
              <a:rPr sz="900" spc="-10" dirty="0">
                <a:latin typeface="Arial"/>
                <a:cs typeface="Arial"/>
              </a:rPr>
              <a:t>thiết bị</a:t>
            </a:r>
            <a:r>
              <a:rPr sz="900" spc="-20" dirty="0">
                <a:latin typeface="Arial"/>
                <a:cs typeface="Arial"/>
              </a:rPr>
              <a:t> </a:t>
            </a:r>
            <a:r>
              <a:rPr sz="900" dirty="0">
                <a:latin typeface="Arial"/>
                <a:cs typeface="Arial"/>
              </a:rPr>
              <a:t>Và</a:t>
            </a:r>
            <a:r>
              <a:rPr sz="900" spc="-20" dirty="0">
                <a:latin typeface="Arial"/>
                <a:cs typeface="Arial"/>
              </a:rPr>
              <a:t> </a:t>
            </a:r>
            <a:r>
              <a:rPr sz="900" dirty="0">
                <a:latin typeface="Arial"/>
                <a:cs typeface="Arial"/>
              </a:rPr>
              <a:t>ảo</a:t>
            </a:r>
            <a:r>
              <a:rPr sz="900" spc="-20" dirty="0">
                <a:latin typeface="Arial"/>
                <a:cs typeface="Arial"/>
              </a:rPr>
              <a:t> </a:t>
            </a:r>
            <a:r>
              <a:rPr sz="900" spc="-10" dirty="0">
                <a:latin typeface="Arial"/>
                <a:cs typeface="Arial"/>
              </a:rPr>
              <a:t>máy chủ.</a:t>
            </a:r>
            <a:endParaRPr sz="900">
              <a:latin typeface="Arial"/>
              <a:cs typeface="Arial"/>
            </a:endParaRPr>
          </a:p>
          <a:p>
            <a:pPr marL="278130" marR="53975" indent="-120650">
              <a:lnSpc>
                <a:spcPct val="111600"/>
              </a:lnSpc>
              <a:spcBef>
                <a:spcPts val="395"/>
              </a:spcBef>
              <a:buClr>
                <a:srgbClr val="3333B2"/>
              </a:buClr>
              <a:buFont typeface="Apple Symbols"/>
              <a:buChar char="•"/>
              <a:tabLst>
                <a:tab pos="278765" algn="l"/>
              </a:tabLst>
            </a:pPr>
            <a:r>
              <a:rPr sz="900" dirty="0">
                <a:solidFill>
                  <a:srgbClr val="C80000"/>
                </a:solidFill>
                <a:latin typeface="Arial"/>
                <a:cs typeface="Arial"/>
              </a:rPr>
              <a:t>Nền tảng </a:t>
            </a:r>
            <a:r>
              <a:rPr sz="900" dirty="0">
                <a:latin typeface="Arial"/>
                <a:cs typeface="Arial"/>
              </a:rPr>
              <a:t>:</a:t>
            </a:r>
            <a:r>
              <a:rPr sz="900" spc="35" dirty="0">
                <a:latin typeface="Arial"/>
                <a:cs typeface="Arial"/>
              </a:rPr>
              <a:t> </a:t>
            </a:r>
            <a:r>
              <a:rPr sz="900" dirty="0">
                <a:latin typeface="Arial"/>
                <a:cs typeface="Arial"/>
              </a:rPr>
              <a:t>Cung cấp</a:t>
            </a:r>
            <a:r>
              <a:rPr sz="900" spc="-20" dirty="0">
                <a:latin typeface="Arial"/>
                <a:cs typeface="Arial"/>
              </a:rPr>
              <a:t> </a:t>
            </a:r>
            <a:r>
              <a:rPr sz="900" spc="-10" dirty="0">
                <a:latin typeface="Arial"/>
                <a:cs typeface="Arial"/>
              </a:rPr>
              <a:t>cấp độ cao hơn</a:t>
            </a:r>
            <a:r>
              <a:rPr sz="900" spc="-20" dirty="0">
                <a:latin typeface="Arial"/>
                <a:cs typeface="Arial"/>
              </a:rPr>
              <a:t> </a:t>
            </a:r>
            <a:r>
              <a:rPr sz="900" spc="-10" dirty="0">
                <a:latin typeface="Arial"/>
                <a:cs typeface="Arial"/>
              </a:rPr>
              <a:t>sự trừu tượng</a:t>
            </a:r>
            <a:r>
              <a:rPr sz="900" spc="-25" dirty="0">
                <a:latin typeface="Arial"/>
                <a:cs typeface="Arial"/>
              </a:rPr>
              <a:t> </a:t>
            </a:r>
            <a:r>
              <a:rPr sz="900" dirty="0">
                <a:latin typeface="Arial"/>
                <a:cs typeface="Arial"/>
              </a:rPr>
              <a:t>vì</a:t>
            </a:r>
            <a:r>
              <a:rPr sz="900" spc="-20" dirty="0">
                <a:latin typeface="Arial"/>
                <a:cs typeface="Arial"/>
              </a:rPr>
              <a:t> </a:t>
            </a:r>
            <a:r>
              <a:rPr sz="900" dirty="0">
                <a:latin typeface="Arial"/>
                <a:cs typeface="Arial"/>
              </a:rPr>
              <a:t>kho</a:t>
            </a:r>
            <a:r>
              <a:rPr sz="900" spc="-20" dirty="0">
                <a:latin typeface="Arial"/>
                <a:cs typeface="Arial"/>
              </a:rPr>
              <a:t> </a:t>
            </a:r>
            <a:r>
              <a:rPr sz="900" dirty="0">
                <a:latin typeface="Arial"/>
                <a:cs typeface="Arial"/>
              </a:rPr>
              <a:t>và </a:t>
            </a:r>
            <a:r>
              <a:rPr sz="900" spc="-20" dirty="0">
                <a:latin typeface="Arial"/>
                <a:cs typeface="Arial"/>
              </a:rPr>
              <a:t>như vậy. </a:t>
            </a:r>
            <a:r>
              <a:rPr sz="900" dirty="0">
                <a:latin typeface="Arial"/>
                <a:cs typeface="Arial"/>
              </a:rPr>
              <a:t>Ví dụ:</a:t>
            </a:r>
            <a:r>
              <a:rPr sz="900" spc="15" dirty="0">
                <a:latin typeface="Arial"/>
                <a:cs typeface="Arial"/>
              </a:rPr>
              <a:t> </a:t>
            </a:r>
            <a:r>
              <a:rPr sz="900" dirty="0">
                <a:latin typeface="Arial"/>
                <a:cs typeface="Arial"/>
              </a:rPr>
              <a:t>Amazon</a:t>
            </a:r>
            <a:r>
              <a:rPr sz="900" spc="-35" dirty="0">
                <a:latin typeface="Arial"/>
                <a:cs typeface="Arial"/>
              </a:rPr>
              <a:t> </a:t>
            </a:r>
            <a:r>
              <a:rPr sz="900" dirty="0">
                <a:latin typeface="Arial"/>
                <a:cs typeface="Arial"/>
              </a:rPr>
              <a:t>S3</a:t>
            </a:r>
            <a:r>
              <a:rPr sz="900" spc="-35" dirty="0">
                <a:latin typeface="Arial"/>
                <a:cs typeface="Arial"/>
              </a:rPr>
              <a:t> </a:t>
            </a:r>
            <a:r>
              <a:rPr sz="900" dirty="0">
                <a:latin typeface="Arial"/>
                <a:cs typeface="Arial"/>
              </a:rPr>
              <a:t>kho</a:t>
            </a:r>
            <a:r>
              <a:rPr sz="900" spc="-35" dirty="0">
                <a:latin typeface="Arial"/>
                <a:cs typeface="Arial"/>
              </a:rPr>
              <a:t> </a:t>
            </a:r>
            <a:r>
              <a:rPr sz="900" dirty="0">
                <a:latin typeface="Arial"/>
                <a:cs typeface="Arial"/>
              </a:rPr>
              <a:t>hệ thống</a:t>
            </a:r>
            <a:r>
              <a:rPr sz="900" spc="-35" dirty="0">
                <a:latin typeface="Arial"/>
                <a:cs typeface="Arial"/>
              </a:rPr>
              <a:t> </a:t>
            </a:r>
            <a:r>
              <a:rPr sz="900" dirty="0">
                <a:latin typeface="Arial"/>
                <a:cs typeface="Arial"/>
              </a:rPr>
              <a:t>cung cấp</a:t>
            </a:r>
            <a:r>
              <a:rPr sz="900" spc="-35" dirty="0">
                <a:latin typeface="Arial"/>
                <a:cs typeface="Arial"/>
              </a:rPr>
              <a:t> </a:t>
            </a:r>
            <a:r>
              <a:rPr sz="900" dirty="0">
                <a:latin typeface="Arial"/>
                <a:cs typeface="Arial"/>
              </a:rPr>
              <a:t>MỘT</a:t>
            </a:r>
            <a:r>
              <a:rPr sz="900" spc="-35" dirty="0">
                <a:latin typeface="Arial"/>
                <a:cs typeface="Arial"/>
              </a:rPr>
              <a:t> </a:t>
            </a:r>
            <a:r>
              <a:rPr sz="900" dirty="0">
                <a:latin typeface="Arial"/>
                <a:cs typeface="Arial"/>
              </a:rPr>
              <a:t>Giao diện lập trình ứng dụng (API)</a:t>
            </a:r>
            <a:r>
              <a:rPr sz="900" spc="-35" dirty="0">
                <a:latin typeface="Arial"/>
                <a:cs typeface="Arial"/>
              </a:rPr>
              <a:t> </a:t>
            </a:r>
            <a:r>
              <a:rPr sz="900" dirty="0">
                <a:latin typeface="Arial"/>
                <a:cs typeface="Arial"/>
              </a:rPr>
              <a:t>vì</a:t>
            </a:r>
            <a:r>
              <a:rPr sz="900" spc="-40" dirty="0">
                <a:latin typeface="Arial"/>
                <a:cs typeface="Arial"/>
              </a:rPr>
              <a:t> </a:t>
            </a:r>
            <a:r>
              <a:rPr sz="900" dirty="0">
                <a:latin typeface="Arial"/>
                <a:cs typeface="Arial"/>
              </a:rPr>
              <a:t>(tại địa phương</a:t>
            </a:r>
            <a:r>
              <a:rPr sz="900" spc="-35" dirty="0">
                <a:latin typeface="Arial"/>
                <a:cs typeface="Arial"/>
              </a:rPr>
              <a:t> </a:t>
            </a:r>
            <a:r>
              <a:rPr sz="900" spc="-10" dirty="0">
                <a:latin typeface="Arial"/>
                <a:cs typeface="Arial"/>
              </a:rPr>
              <a:t>đã tạo) </a:t>
            </a:r>
            <a:r>
              <a:rPr sz="900" dirty="0">
                <a:latin typeface="Arial"/>
                <a:cs typeface="Arial"/>
              </a:rPr>
              <a:t>các tập tin</a:t>
            </a:r>
            <a:r>
              <a:rPr sz="900" spc="-25" dirty="0">
                <a:latin typeface="Arial"/>
                <a:cs typeface="Arial"/>
              </a:rPr>
              <a:t> </a:t>
            </a:r>
            <a:r>
              <a:rPr sz="900" dirty="0">
                <a:latin typeface="Arial"/>
                <a:cs typeface="Arial"/>
              </a:rPr>
              <a:t>ĐẾN</a:t>
            </a:r>
            <a:r>
              <a:rPr sz="900" spc="-25" dirty="0">
                <a:latin typeface="Arial"/>
                <a:cs typeface="Arial"/>
              </a:rPr>
              <a:t> </a:t>
            </a:r>
            <a:r>
              <a:rPr sz="900" dirty="0">
                <a:latin typeface="Arial"/>
                <a:cs typeface="Arial"/>
              </a:rPr>
              <a:t>là</a:t>
            </a:r>
            <a:r>
              <a:rPr sz="900" spc="-20" dirty="0">
                <a:latin typeface="Arial"/>
                <a:cs typeface="Arial"/>
              </a:rPr>
              <a:t> </a:t>
            </a:r>
            <a:r>
              <a:rPr sz="900" dirty="0">
                <a:latin typeface="Arial"/>
                <a:cs typeface="Arial"/>
              </a:rPr>
              <a:t>được tổ chức</a:t>
            </a:r>
            <a:r>
              <a:rPr sz="900" spc="-25" dirty="0">
                <a:latin typeface="Arial"/>
                <a:cs typeface="Arial"/>
              </a:rPr>
              <a:t> </a:t>
            </a:r>
            <a:r>
              <a:rPr sz="900" dirty="0">
                <a:latin typeface="Arial"/>
                <a:cs typeface="Arial"/>
              </a:rPr>
              <a:t>Và</a:t>
            </a:r>
            <a:r>
              <a:rPr sz="900" spc="-20" dirty="0">
                <a:latin typeface="Arial"/>
                <a:cs typeface="Arial"/>
              </a:rPr>
              <a:t> </a:t>
            </a:r>
            <a:r>
              <a:rPr sz="900" dirty="0">
                <a:latin typeface="Arial"/>
                <a:cs typeface="Arial"/>
              </a:rPr>
              <a:t>được lưu trữ</a:t>
            </a:r>
            <a:r>
              <a:rPr sz="900" spc="-25" dirty="0">
                <a:latin typeface="Arial"/>
                <a:cs typeface="Arial"/>
              </a:rPr>
              <a:t> </a:t>
            </a:r>
            <a:r>
              <a:rPr sz="900" dirty="0">
                <a:latin typeface="Arial"/>
                <a:cs typeface="Arial"/>
              </a:rPr>
              <a:t>TRONG</a:t>
            </a:r>
            <a:r>
              <a:rPr sz="900" spc="-20" dirty="0">
                <a:latin typeface="Arial"/>
                <a:cs typeface="Arial"/>
              </a:rPr>
              <a:t> </a:t>
            </a:r>
            <a:r>
              <a:rPr sz="900" spc="-10" dirty="0">
                <a:latin typeface="Arial"/>
                <a:cs typeface="Arial"/>
              </a:rPr>
              <a:t>cái </a:t>
            </a:r>
            <a:r>
              <a:rPr sz="900" dirty="0">
                <a:latin typeface="Arial"/>
                <a:cs typeface="Arial"/>
              </a:rPr>
              <a:t>gọi là</a:t>
            </a:r>
            <a:r>
              <a:rPr sz="900" spc="-25" dirty="0">
                <a:latin typeface="Arial"/>
                <a:cs typeface="Arial"/>
              </a:rPr>
              <a:t> </a:t>
            </a:r>
            <a:r>
              <a:rPr sz="900" spc="-10" dirty="0">
                <a:solidFill>
                  <a:srgbClr val="3333B2"/>
                </a:solidFill>
                <a:latin typeface="Arial"/>
                <a:cs typeface="Arial"/>
              </a:rPr>
              <a:t>xô </a:t>
            </a:r>
            <a:r>
              <a:rPr sz="900" spc="-10" dirty="0">
                <a:latin typeface="Arial"/>
                <a:cs typeface="Arial"/>
              </a:rPr>
              <a:t>.</a:t>
            </a:r>
            <a:endParaRPr sz="900">
              <a:latin typeface="Arial"/>
              <a:cs typeface="Arial"/>
            </a:endParaRPr>
          </a:p>
          <a:p>
            <a:pPr marL="278130" marR="17780" indent="-120650">
              <a:lnSpc>
                <a:spcPct val="111600"/>
              </a:lnSpc>
              <a:spcBef>
                <a:spcPts val="400"/>
              </a:spcBef>
              <a:buClr>
                <a:srgbClr val="3333B2"/>
              </a:buClr>
              <a:buFont typeface="Apple Symbols"/>
              <a:buChar char="•"/>
              <a:tabLst>
                <a:tab pos="278765" algn="l"/>
              </a:tabLst>
            </a:pPr>
            <a:r>
              <a:rPr sz="900" dirty="0">
                <a:solidFill>
                  <a:srgbClr val="C80000"/>
                </a:solidFill>
                <a:latin typeface="Arial"/>
                <a:cs typeface="Arial"/>
              </a:rPr>
              <a:t>Ứng dụng </a:t>
            </a:r>
            <a:r>
              <a:rPr sz="900" dirty="0">
                <a:latin typeface="Arial"/>
                <a:cs typeface="Arial"/>
              </a:rPr>
              <a:t>:</a:t>
            </a:r>
            <a:r>
              <a:rPr sz="900" spc="35" dirty="0">
                <a:latin typeface="Arial"/>
                <a:cs typeface="Arial"/>
              </a:rPr>
              <a:t> </a:t>
            </a:r>
            <a:r>
              <a:rPr sz="900" dirty="0">
                <a:latin typeface="Arial"/>
                <a:cs typeface="Arial"/>
              </a:rPr>
              <a:t>Thật sự</a:t>
            </a:r>
            <a:r>
              <a:rPr sz="900" spc="-20" dirty="0">
                <a:latin typeface="Arial"/>
                <a:cs typeface="Arial"/>
              </a:rPr>
              <a:t> </a:t>
            </a:r>
            <a:r>
              <a:rPr sz="900" spc="-10" dirty="0">
                <a:latin typeface="Arial"/>
                <a:cs typeface="Arial"/>
              </a:rPr>
              <a:t>ứng dụng,</a:t>
            </a:r>
            <a:r>
              <a:rPr sz="900" spc="-25" dirty="0">
                <a:latin typeface="Arial"/>
                <a:cs typeface="Arial"/>
              </a:rPr>
              <a:t> </a:t>
            </a:r>
            <a:r>
              <a:rPr sz="900" dirty="0">
                <a:latin typeface="Arial"/>
                <a:cs typeface="Arial"/>
              </a:rPr>
              <a:t>như là</a:t>
            </a:r>
            <a:r>
              <a:rPr sz="900" spc="-20" dirty="0">
                <a:latin typeface="Arial"/>
                <a:cs typeface="Arial"/>
              </a:rPr>
              <a:t> </a:t>
            </a:r>
            <a:r>
              <a:rPr sz="900" dirty="0">
                <a:latin typeface="Arial"/>
                <a:cs typeface="Arial"/>
              </a:rPr>
              <a:t>BẰNG</a:t>
            </a:r>
            <a:r>
              <a:rPr sz="900" spc="-20" dirty="0">
                <a:latin typeface="Arial"/>
                <a:cs typeface="Arial"/>
              </a:rPr>
              <a:t> </a:t>
            </a:r>
            <a:r>
              <a:rPr sz="900" dirty="0">
                <a:latin typeface="Arial"/>
                <a:cs typeface="Arial"/>
              </a:rPr>
              <a:t>văn phòng</a:t>
            </a:r>
            <a:r>
              <a:rPr sz="900" spc="-20" dirty="0">
                <a:latin typeface="Arial"/>
                <a:cs typeface="Arial"/>
              </a:rPr>
              <a:t> </a:t>
            </a:r>
            <a:r>
              <a:rPr sz="900" dirty="0">
                <a:latin typeface="Arial"/>
                <a:cs typeface="Arial"/>
              </a:rPr>
              <a:t>dãy phòng</a:t>
            </a:r>
            <a:r>
              <a:rPr sz="900" spc="-20" dirty="0">
                <a:latin typeface="Arial"/>
                <a:cs typeface="Arial"/>
              </a:rPr>
              <a:t> </a:t>
            </a:r>
            <a:r>
              <a:rPr sz="900" dirty="0">
                <a:latin typeface="Arial"/>
                <a:cs typeface="Arial"/>
              </a:rPr>
              <a:t>(chữ</a:t>
            </a:r>
            <a:r>
              <a:rPr sz="900" spc="-20" dirty="0">
                <a:latin typeface="Arial"/>
                <a:cs typeface="Arial"/>
              </a:rPr>
              <a:t> </a:t>
            </a:r>
            <a:r>
              <a:rPr sz="900" spc="-10" dirty="0">
                <a:latin typeface="Arial"/>
                <a:cs typeface="Arial"/>
              </a:rPr>
              <a:t>bộ xử lý, </a:t>
            </a:r>
            <a:r>
              <a:rPr sz="900" dirty="0">
                <a:latin typeface="Arial"/>
                <a:cs typeface="Arial"/>
              </a:rPr>
              <a:t>bảng tính</a:t>
            </a:r>
            <a:r>
              <a:rPr sz="900" spc="-20" dirty="0">
                <a:latin typeface="Arial"/>
                <a:cs typeface="Arial"/>
              </a:rPr>
              <a:t> </a:t>
            </a:r>
            <a:r>
              <a:rPr sz="900" spc="-10" dirty="0">
                <a:latin typeface="Arial"/>
                <a:cs typeface="Arial"/>
              </a:rPr>
              <a:t>ứng dụng,</a:t>
            </a:r>
            <a:r>
              <a:rPr sz="900" spc="-15" dirty="0">
                <a:latin typeface="Arial"/>
                <a:cs typeface="Arial"/>
              </a:rPr>
              <a:t> </a:t>
            </a:r>
            <a:r>
              <a:rPr sz="900" dirty="0">
                <a:latin typeface="Arial"/>
                <a:cs typeface="Arial"/>
              </a:rPr>
              <a:t>bài thuyết trình</a:t>
            </a:r>
            <a:r>
              <a:rPr sz="900" spc="-20" dirty="0">
                <a:latin typeface="Arial"/>
                <a:cs typeface="Arial"/>
              </a:rPr>
              <a:t> </a:t>
            </a:r>
            <a:r>
              <a:rPr sz="900" dirty="0">
                <a:latin typeface="Arial"/>
                <a:cs typeface="Arial"/>
              </a:rPr>
              <a:t>ứng dụng).</a:t>
            </a:r>
            <a:r>
              <a:rPr sz="900" spc="40" dirty="0">
                <a:latin typeface="Arial"/>
                <a:cs typeface="Arial"/>
              </a:rPr>
              <a:t> </a:t>
            </a:r>
            <a:r>
              <a:rPr sz="900" spc="-10" dirty="0">
                <a:latin typeface="Arial"/>
                <a:cs typeface="Arial"/>
              </a:rPr>
              <a:t>Có thể so sánh</a:t>
            </a:r>
            <a:r>
              <a:rPr sz="900" spc="-15" dirty="0">
                <a:latin typeface="Arial"/>
                <a:cs typeface="Arial"/>
              </a:rPr>
              <a:t> </a:t>
            </a:r>
            <a:r>
              <a:rPr sz="900" dirty="0">
                <a:latin typeface="Arial"/>
                <a:cs typeface="Arial"/>
              </a:rPr>
              <a:t>ĐẾN</a:t>
            </a:r>
            <a:r>
              <a:rPr sz="900" spc="-15" dirty="0">
                <a:latin typeface="Arial"/>
                <a:cs typeface="Arial"/>
              </a:rPr>
              <a:t> </a:t>
            </a:r>
            <a:r>
              <a:rPr sz="900" spc="-25" dirty="0">
                <a:latin typeface="Arial"/>
                <a:cs typeface="Arial"/>
              </a:rPr>
              <a:t>bộ </a:t>
            </a:r>
            <a:r>
              <a:rPr sz="900" dirty="0">
                <a:latin typeface="Arial"/>
                <a:cs typeface="Arial"/>
              </a:rPr>
              <a:t>đồ</a:t>
            </a:r>
            <a:r>
              <a:rPr sz="900" spc="-25" dirty="0">
                <a:latin typeface="Arial"/>
                <a:cs typeface="Arial"/>
              </a:rPr>
              <a:t> </a:t>
            </a:r>
            <a:r>
              <a:rPr sz="900" dirty="0">
                <a:latin typeface="Arial"/>
                <a:cs typeface="Arial"/>
              </a:rPr>
              <a:t>của</a:t>
            </a:r>
            <a:r>
              <a:rPr sz="900" spc="-25" dirty="0">
                <a:latin typeface="Arial"/>
                <a:cs typeface="Arial"/>
              </a:rPr>
              <a:t> </a:t>
            </a:r>
            <a:r>
              <a:rPr sz="900" dirty="0">
                <a:latin typeface="Arial"/>
                <a:cs typeface="Arial"/>
              </a:rPr>
              <a:t>ứng dụng</a:t>
            </a:r>
            <a:r>
              <a:rPr sz="900" spc="-25" dirty="0">
                <a:latin typeface="Arial"/>
                <a:cs typeface="Arial"/>
              </a:rPr>
              <a:t> </a:t>
            </a:r>
            <a:r>
              <a:rPr sz="900" dirty="0">
                <a:latin typeface="Arial"/>
                <a:cs typeface="Arial"/>
              </a:rPr>
              <a:t>đã vận chuyển</a:t>
            </a:r>
            <a:r>
              <a:rPr sz="900" spc="-20" dirty="0">
                <a:latin typeface="Arial"/>
                <a:cs typeface="Arial"/>
              </a:rPr>
              <a:t> </a:t>
            </a:r>
            <a:r>
              <a:rPr sz="900" dirty="0">
                <a:latin typeface="Arial"/>
                <a:cs typeface="Arial"/>
              </a:rPr>
              <a:t>với</a:t>
            </a:r>
            <a:r>
              <a:rPr sz="900" spc="-25" dirty="0">
                <a:latin typeface="Arial"/>
                <a:cs typeface="Arial"/>
              </a:rPr>
              <a:t> </a:t>
            </a:r>
            <a:r>
              <a:rPr sz="900" spc="-10" dirty="0">
                <a:latin typeface="Arial"/>
                <a:cs typeface="Arial"/>
              </a:rPr>
              <a:t>Hệ điều hành.</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5003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Đám mây</a:t>
            </a:r>
            <a:r>
              <a:rPr sz="500" spc="-20" dirty="0">
                <a:latin typeface="Arial"/>
                <a:cs typeface="Arial"/>
                <a:hlinkClick r:id="rId3" action="ppaction://hlinksldjump"/>
              </a:rPr>
              <a:t> </a:t>
            </a:r>
            <a:r>
              <a:rPr sz="500" spc="-10" dirty="0">
                <a:latin typeface="Arial"/>
                <a:cs typeface="Arial"/>
                <a:hlinkClick r:id="rId3" action="ppaction://hlinksldjump"/>
              </a:rPr>
              <a:t>tính toán</a:t>
            </a:r>
            <a:endParaRPr sz="500">
              <a:latin typeface="Arial"/>
              <a:cs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06495"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lai</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Máy chủ </a:t>
            </a:r>
            <a:r>
              <a:rPr spc="-10" dirty="0"/>
              <a:t>Edge</a:t>
            </a:r>
            <a:r>
              <a:rPr spc="-20" dirty="0"/>
              <a:t> </a:t>
            </a:r>
            <a:r>
              <a:rPr spc="-10" dirty="0"/>
              <a:t>ngành kiến trúc</a:t>
            </a:r>
          </a:p>
        </p:txBody>
      </p:sp>
      <p:sp>
        <p:nvSpPr>
          <p:cNvPr id="4" name="object 4"/>
          <p:cNvSpPr txBox="1"/>
          <p:nvPr/>
        </p:nvSpPr>
        <p:spPr>
          <a:xfrm>
            <a:off x="347294" y="499476"/>
            <a:ext cx="3912870" cy="496570"/>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Nước hoa</a:t>
            </a:r>
            <a:endParaRPr sz="1000">
              <a:latin typeface="Arial"/>
              <a:cs typeface="Arial"/>
            </a:endParaRPr>
          </a:p>
          <a:p>
            <a:pPr marL="12700" marR="5080">
              <a:lnSpc>
                <a:spcPts val="1210"/>
              </a:lnSpc>
              <a:spcBef>
                <a:spcPts val="35"/>
              </a:spcBef>
            </a:pPr>
            <a:r>
              <a:rPr sz="900" spc="-10" dirty="0">
                <a:latin typeface="Arial"/>
                <a:cs typeface="Arial"/>
              </a:rPr>
              <a:t>Hệ thống</a:t>
            </a:r>
            <a:r>
              <a:rPr sz="900" spc="-35" dirty="0">
                <a:latin typeface="Arial"/>
                <a:cs typeface="Arial"/>
              </a:rPr>
              <a:t> </a:t>
            </a:r>
            <a:r>
              <a:rPr sz="900" spc="-10" dirty="0">
                <a:latin typeface="Arial"/>
                <a:cs typeface="Arial"/>
              </a:rPr>
              <a:t>đã triển khai</a:t>
            </a:r>
            <a:r>
              <a:rPr sz="900" spc="-30" dirty="0">
                <a:latin typeface="Arial"/>
                <a:cs typeface="Arial"/>
              </a:rPr>
              <a:t> </a:t>
            </a:r>
            <a:r>
              <a:rPr sz="900" dirty="0">
                <a:latin typeface="Arial"/>
                <a:cs typeface="Arial"/>
              </a:rPr>
              <a:t>TRÊN</a:t>
            </a:r>
            <a:r>
              <a:rPr sz="900" spc="-30" dirty="0">
                <a:latin typeface="Arial"/>
                <a:cs typeface="Arial"/>
              </a:rPr>
              <a:t> </a:t>
            </a:r>
            <a:r>
              <a:rPr sz="900" dirty="0">
                <a:latin typeface="Arial"/>
                <a:cs typeface="Arial"/>
              </a:rPr>
              <a:t>cái</a:t>
            </a:r>
            <a:r>
              <a:rPr sz="900" spc="-30" dirty="0">
                <a:latin typeface="Arial"/>
                <a:cs typeface="Arial"/>
              </a:rPr>
              <a:t> </a:t>
            </a:r>
            <a:r>
              <a:rPr sz="900" dirty="0">
                <a:latin typeface="Arial"/>
                <a:cs typeface="Arial"/>
              </a:rPr>
              <a:t>internet</a:t>
            </a:r>
            <a:r>
              <a:rPr sz="900" spc="-35" dirty="0">
                <a:latin typeface="Arial"/>
                <a:cs typeface="Arial"/>
              </a:rPr>
              <a:t> </a:t>
            </a:r>
            <a:r>
              <a:rPr sz="900" dirty="0">
                <a:latin typeface="Arial"/>
                <a:cs typeface="Arial"/>
              </a:rPr>
              <a:t>Ở đâu</a:t>
            </a:r>
            <a:r>
              <a:rPr sz="900" spc="-30" dirty="0">
                <a:latin typeface="Arial"/>
                <a:cs typeface="Arial"/>
              </a:rPr>
              <a:t> </a:t>
            </a:r>
            <a:r>
              <a:rPr sz="900" spc="-10" dirty="0">
                <a:latin typeface="Arial"/>
                <a:cs typeface="Arial"/>
              </a:rPr>
              <a:t>máy chủ</a:t>
            </a:r>
            <a:r>
              <a:rPr sz="900" spc="-30" dirty="0">
                <a:latin typeface="Arial"/>
                <a:cs typeface="Arial"/>
              </a:rPr>
              <a:t> </a:t>
            </a:r>
            <a:r>
              <a:rPr sz="900" dirty="0">
                <a:latin typeface="Arial"/>
                <a:cs typeface="Arial"/>
              </a:rPr>
              <a:t>là</a:t>
            </a:r>
            <a:r>
              <a:rPr sz="900" spc="-30" dirty="0">
                <a:latin typeface="Arial"/>
                <a:cs typeface="Arial"/>
              </a:rPr>
              <a:t> </a:t>
            </a:r>
            <a:r>
              <a:rPr sz="900" dirty="0">
                <a:latin typeface="Arial"/>
                <a:cs typeface="Arial"/>
              </a:rPr>
              <a:t>được đặt</a:t>
            </a:r>
            <a:r>
              <a:rPr sz="900" spc="-35" dirty="0">
                <a:latin typeface="Arial"/>
                <a:cs typeface="Arial"/>
              </a:rPr>
              <a:t> </a:t>
            </a:r>
            <a:r>
              <a:rPr sz="900" dirty="0">
                <a:solidFill>
                  <a:srgbClr val="3333B2"/>
                </a:solidFill>
                <a:latin typeface="Arial"/>
                <a:cs typeface="Arial"/>
              </a:rPr>
              <a:t>Tại</a:t>
            </a:r>
            <a:r>
              <a:rPr sz="900" spc="-30" dirty="0">
                <a:solidFill>
                  <a:srgbClr val="3333B2"/>
                </a:solidFill>
                <a:latin typeface="Arial"/>
                <a:cs typeface="Arial"/>
              </a:rPr>
              <a:t> </a:t>
            </a:r>
            <a:r>
              <a:rPr sz="900" dirty="0">
                <a:solidFill>
                  <a:srgbClr val="3333B2"/>
                </a:solidFill>
                <a:latin typeface="Arial"/>
                <a:cs typeface="Arial"/>
              </a:rPr>
              <a:t>cái</a:t>
            </a:r>
            <a:r>
              <a:rPr sz="900" spc="-30" dirty="0">
                <a:solidFill>
                  <a:srgbClr val="3333B2"/>
                </a:solidFill>
                <a:latin typeface="Arial"/>
                <a:cs typeface="Arial"/>
              </a:rPr>
              <a:t> </a:t>
            </a:r>
            <a:r>
              <a:rPr sz="900" dirty="0">
                <a:solidFill>
                  <a:srgbClr val="3333B2"/>
                </a:solidFill>
                <a:latin typeface="Arial"/>
                <a:cs typeface="Arial"/>
              </a:rPr>
              <a:t>bờ rìa</a:t>
            </a:r>
            <a:r>
              <a:rPr sz="900" spc="-30" dirty="0">
                <a:solidFill>
                  <a:srgbClr val="3333B2"/>
                </a:solidFill>
                <a:latin typeface="Arial"/>
                <a:cs typeface="Arial"/>
              </a:rPr>
              <a:t> </a:t>
            </a:r>
            <a:r>
              <a:rPr sz="900" dirty="0">
                <a:latin typeface="Arial"/>
                <a:cs typeface="Arial"/>
              </a:rPr>
              <a:t>của</a:t>
            </a:r>
            <a:r>
              <a:rPr sz="900" spc="-35" dirty="0">
                <a:latin typeface="Arial"/>
                <a:cs typeface="Arial"/>
              </a:rPr>
              <a:t> </a:t>
            </a:r>
            <a:r>
              <a:rPr sz="900" spc="-25" dirty="0">
                <a:latin typeface="Arial"/>
                <a:cs typeface="Arial"/>
              </a:rPr>
              <a:t>mạng </a:t>
            </a:r>
            <a:r>
              <a:rPr sz="900" dirty="0">
                <a:latin typeface="Arial"/>
                <a:cs typeface="Arial"/>
              </a:rPr>
              <a:t>lưới:</a:t>
            </a:r>
            <a:r>
              <a:rPr sz="900" spc="25" dirty="0">
                <a:latin typeface="Arial"/>
                <a:cs typeface="Arial"/>
              </a:rPr>
              <a:t> </a:t>
            </a:r>
            <a:r>
              <a:rPr sz="900" dirty="0">
                <a:latin typeface="Arial"/>
                <a:cs typeface="Arial"/>
              </a:rPr>
              <a:t>cái</a:t>
            </a:r>
            <a:r>
              <a:rPr sz="900" spc="-25" dirty="0">
                <a:latin typeface="Arial"/>
                <a:cs typeface="Arial"/>
              </a:rPr>
              <a:t> </a:t>
            </a:r>
            <a:r>
              <a:rPr sz="900" dirty="0">
                <a:latin typeface="Arial"/>
                <a:cs typeface="Arial"/>
              </a:rPr>
              <a:t>ranh giới</a:t>
            </a:r>
            <a:r>
              <a:rPr sz="900" spc="-25" dirty="0">
                <a:latin typeface="Arial"/>
                <a:cs typeface="Arial"/>
              </a:rPr>
              <a:t> </a:t>
            </a:r>
            <a:r>
              <a:rPr sz="900" dirty="0">
                <a:latin typeface="Arial"/>
                <a:cs typeface="Arial"/>
              </a:rPr>
              <a:t>giữa</a:t>
            </a:r>
            <a:r>
              <a:rPr sz="900" spc="-25" dirty="0">
                <a:latin typeface="Arial"/>
                <a:cs typeface="Arial"/>
              </a:rPr>
              <a:t> </a:t>
            </a:r>
            <a:r>
              <a:rPr sz="900" dirty="0">
                <a:latin typeface="Arial"/>
                <a:cs typeface="Arial"/>
              </a:rPr>
              <a:t>doanh nghiệp</a:t>
            </a:r>
            <a:r>
              <a:rPr sz="900" spc="-30" dirty="0">
                <a:latin typeface="Arial"/>
                <a:cs typeface="Arial"/>
              </a:rPr>
              <a:t> </a:t>
            </a:r>
            <a:r>
              <a:rPr sz="900" dirty="0">
                <a:latin typeface="Arial"/>
                <a:cs typeface="Arial"/>
              </a:rPr>
              <a:t>mạng lưới</a:t>
            </a:r>
            <a:r>
              <a:rPr sz="900" spc="-25" dirty="0">
                <a:latin typeface="Arial"/>
                <a:cs typeface="Arial"/>
              </a:rPr>
              <a:t> </a:t>
            </a:r>
            <a:r>
              <a:rPr sz="900" dirty="0">
                <a:latin typeface="Arial"/>
                <a:cs typeface="Arial"/>
              </a:rPr>
              <a:t>Và</a:t>
            </a:r>
            <a:r>
              <a:rPr sz="900" spc="-25" dirty="0">
                <a:latin typeface="Arial"/>
                <a:cs typeface="Arial"/>
              </a:rPr>
              <a:t> </a:t>
            </a:r>
            <a:r>
              <a:rPr sz="900" dirty="0">
                <a:latin typeface="Arial"/>
                <a:cs typeface="Arial"/>
              </a:rPr>
              <a:t>cái</a:t>
            </a:r>
            <a:r>
              <a:rPr sz="900" spc="-25" dirty="0">
                <a:latin typeface="Arial"/>
                <a:cs typeface="Arial"/>
              </a:rPr>
              <a:t> </a:t>
            </a:r>
            <a:r>
              <a:rPr sz="900" dirty="0">
                <a:latin typeface="Arial"/>
                <a:cs typeface="Arial"/>
              </a:rPr>
              <a:t>thật sự</a:t>
            </a:r>
            <a:r>
              <a:rPr sz="900" spc="-30" dirty="0">
                <a:latin typeface="Arial"/>
                <a:cs typeface="Arial"/>
              </a:rPr>
              <a:t> </a:t>
            </a:r>
            <a:r>
              <a:rPr sz="900" spc="-10" dirty="0">
                <a:latin typeface="Arial"/>
                <a:cs typeface="Arial"/>
              </a:rPr>
              <a:t>Internet.</a:t>
            </a:r>
            <a:endParaRPr sz="900">
              <a:latin typeface="Arial"/>
              <a:cs typeface="Arial"/>
            </a:endParaRPr>
          </a:p>
        </p:txBody>
      </p:sp>
      <p:pic>
        <p:nvPicPr>
          <p:cNvPr id="5" name="object 5"/>
          <p:cNvPicPr/>
          <p:nvPr/>
        </p:nvPicPr>
        <p:blipFill>
          <a:blip r:embed="rId4" cstate="print"/>
          <a:stretch>
            <a:fillRect/>
          </a:stretch>
        </p:blipFill>
        <p:spPr>
          <a:xfrm>
            <a:off x="585050" y="1098341"/>
            <a:ext cx="3438052" cy="1683047"/>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8134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Đám mây </a:t>
            </a:r>
            <a:r>
              <a:rPr sz="500" spc="-10" dirty="0">
                <a:latin typeface="Arial"/>
                <a:cs typeface="Arial"/>
                <a:hlinkClick r:id="rId5" action="ppaction://hlinksldjump"/>
              </a:rPr>
              <a:t>rìa</a:t>
            </a:r>
            <a:r>
              <a:rPr sz="500" spc="5" dirty="0">
                <a:latin typeface="Arial"/>
                <a:cs typeface="Arial"/>
                <a:hlinkClick r:id="rId5" action="ppaction://hlinksldjump"/>
              </a:rPr>
              <a:t> </a:t>
            </a:r>
            <a:r>
              <a:rPr sz="500" spc="-10" dirty="0">
                <a:latin typeface="Arial"/>
                <a:cs typeface="Arial"/>
                <a:hlinkClick r:id="rId5" action="ppaction://hlinksldjump"/>
              </a:rPr>
              <a:t>ngành kiến trúc</a:t>
            </a:r>
            <a:endParaRPr sz="500">
              <a:latin typeface="Arial"/>
              <a:cs typeface="Arial"/>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06495"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lai</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Lý do</a:t>
            </a:r>
            <a:r>
              <a:rPr spc="-50" dirty="0"/>
              <a:t> </a:t>
            </a:r>
            <a:r>
              <a:rPr dirty="0"/>
              <a:t>vì</a:t>
            </a:r>
            <a:r>
              <a:rPr spc="-45" dirty="0"/>
              <a:t> </a:t>
            </a:r>
            <a:r>
              <a:rPr dirty="0"/>
              <a:t>có</a:t>
            </a:r>
            <a:r>
              <a:rPr spc="-45" dirty="0"/>
              <a:t> </a:t>
            </a:r>
            <a:r>
              <a:rPr dirty="0"/>
              <a:t>MỘT</a:t>
            </a:r>
            <a:r>
              <a:rPr spc="-45" dirty="0"/>
              <a:t> </a:t>
            </a:r>
            <a:r>
              <a:rPr dirty="0"/>
              <a:t>bờ rìa</a:t>
            </a:r>
            <a:r>
              <a:rPr spc="-45" dirty="0"/>
              <a:t> </a:t>
            </a:r>
            <a:r>
              <a:rPr spc="-10" dirty="0"/>
              <a:t>cơ sở hạ tầng</a:t>
            </a:r>
          </a:p>
        </p:txBody>
      </p:sp>
      <p:sp>
        <p:nvSpPr>
          <p:cNvPr id="4" name="object 4"/>
          <p:cNvSpPr txBox="1"/>
          <p:nvPr/>
        </p:nvSpPr>
        <p:spPr>
          <a:xfrm>
            <a:off x="334594" y="514774"/>
            <a:ext cx="3961129" cy="1883410"/>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Thông thường</a:t>
            </a:r>
            <a:r>
              <a:rPr sz="1000" spc="-20" dirty="0">
                <a:solidFill>
                  <a:srgbClr val="3333B2"/>
                </a:solidFill>
                <a:latin typeface="Arial"/>
                <a:cs typeface="Arial"/>
              </a:rPr>
              <a:t> </a:t>
            </a:r>
            <a:r>
              <a:rPr sz="1000" dirty="0">
                <a:solidFill>
                  <a:srgbClr val="3333B2"/>
                </a:solidFill>
                <a:latin typeface="Arial"/>
                <a:cs typeface="Arial"/>
              </a:rPr>
              <a:t>(Và</a:t>
            </a:r>
            <a:r>
              <a:rPr sz="1000" spc="-15" dirty="0">
                <a:solidFill>
                  <a:srgbClr val="3333B2"/>
                </a:solidFill>
                <a:latin typeface="Arial"/>
                <a:cs typeface="Arial"/>
              </a:rPr>
              <a:t> </a:t>
            </a:r>
            <a:r>
              <a:rPr sz="1000" dirty="0">
                <a:solidFill>
                  <a:srgbClr val="3333B2"/>
                </a:solidFill>
                <a:latin typeface="Arial"/>
                <a:cs typeface="Arial"/>
              </a:rPr>
              <a:t>thường</a:t>
            </a:r>
            <a:r>
              <a:rPr sz="1000" spc="-20" dirty="0">
                <a:solidFill>
                  <a:srgbClr val="3333B2"/>
                </a:solidFill>
                <a:latin typeface="Arial"/>
                <a:cs typeface="Arial"/>
              </a:rPr>
              <a:t> </a:t>
            </a:r>
            <a:r>
              <a:rPr sz="1000" spc="-10" dirty="0">
                <a:solidFill>
                  <a:srgbClr val="3333B2"/>
                </a:solidFill>
                <a:latin typeface="Arial"/>
                <a:cs typeface="Arial"/>
              </a:rPr>
              <a:t>hiểu lầm)</a:t>
            </a:r>
            <a:r>
              <a:rPr sz="1000" spc="-15" dirty="0">
                <a:solidFill>
                  <a:srgbClr val="3333B2"/>
                </a:solidFill>
                <a:latin typeface="Arial"/>
                <a:cs typeface="Arial"/>
              </a:rPr>
              <a:t> </a:t>
            </a:r>
            <a:r>
              <a:rPr sz="1000" spc="-10" dirty="0">
                <a:solidFill>
                  <a:srgbClr val="3333B2"/>
                </a:solidFill>
                <a:latin typeface="Arial"/>
                <a:cs typeface="Arial"/>
              </a:rPr>
              <a:t>những lý lẽ</a:t>
            </a:r>
            <a:endParaRPr sz="1000">
              <a:latin typeface="Arial"/>
              <a:cs typeface="Arial"/>
            </a:endParaRPr>
          </a:p>
          <a:p>
            <a:pPr marL="278130" marR="39370" indent="-120650">
              <a:lnSpc>
                <a:spcPct val="111600"/>
              </a:lnSpc>
              <a:spcBef>
                <a:spcPts val="580"/>
              </a:spcBef>
              <a:buFont typeface="Apple Symbols"/>
              <a:buChar char="•"/>
              <a:tabLst>
                <a:tab pos="278765" algn="l"/>
              </a:tabLst>
            </a:pPr>
            <a:r>
              <a:rPr sz="900" dirty="0">
                <a:solidFill>
                  <a:srgbClr val="3333B2"/>
                </a:solidFill>
                <a:latin typeface="Arial"/>
                <a:cs typeface="Arial"/>
              </a:rPr>
              <a:t>Độ trễ</a:t>
            </a:r>
            <a:r>
              <a:rPr sz="900" spc="-25" dirty="0">
                <a:solidFill>
                  <a:srgbClr val="3333B2"/>
                </a:solidFill>
                <a:latin typeface="Arial"/>
                <a:cs typeface="Arial"/>
              </a:rPr>
              <a:t> </a:t>
            </a:r>
            <a:r>
              <a:rPr sz="900" dirty="0">
                <a:solidFill>
                  <a:srgbClr val="3333B2"/>
                </a:solidFill>
                <a:latin typeface="Arial"/>
                <a:cs typeface="Arial"/>
              </a:rPr>
              <a:t>Và</a:t>
            </a:r>
            <a:r>
              <a:rPr sz="900" spc="-25" dirty="0">
                <a:solidFill>
                  <a:srgbClr val="3333B2"/>
                </a:solidFill>
                <a:latin typeface="Arial"/>
                <a:cs typeface="Arial"/>
              </a:rPr>
              <a:t> </a:t>
            </a:r>
            <a:r>
              <a:rPr sz="900" dirty="0">
                <a:solidFill>
                  <a:srgbClr val="3333B2"/>
                </a:solidFill>
                <a:latin typeface="Arial"/>
                <a:cs typeface="Arial"/>
              </a:rPr>
              <a:t>băng thông </a:t>
            </a:r>
            <a:r>
              <a:rPr sz="900" dirty="0">
                <a:latin typeface="Arial"/>
                <a:cs typeface="Arial"/>
              </a:rPr>
              <a:t>:</a:t>
            </a:r>
            <a:r>
              <a:rPr sz="900" spc="35" dirty="0">
                <a:latin typeface="Arial"/>
                <a:cs typeface="Arial"/>
              </a:rPr>
              <a:t> </a:t>
            </a:r>
            <a:r>
              <a:rPr sz="900" dirty="0">
                <a:latin typeface="Arial"/>
                <a:cs typeface="Arial"/>
              </a:rPr>
              <a:t>Đặc biệt</a:t>
            </a:r>
            <a:r>
              <a:rPr sz="900" spc="-25" dirty="0">
                <a:latin typeface="Arial"/>
                <a:cs typeface="Arial"/>
              </a:rPr>
              <a:t> </a:t>
            </a:r>
            <a:r>
              <a:rPr sz="900" dirty="0">
                <a:latin typeface="Arial"/>
                <a:cs typeface="Arial"/>
              </a:rPr>
              <a:t>quan trọng</a:t>
            </a:r>
            <a:r>
              <a:rPr sz="900" spc="-25" dirty="0">
                <a:latin typeface="Arial"/>
                <a:cs typeface="Arial"/>
              </a:rPr>
              <a:t> </a:t>
            </a:r>
            <a:r>
              <a:rPr sz="900" dirty="0">
                <a:latin typeface="Arial"/>
                <a:cs typeface="Arial"/>
              </a:rPr>
              <a:t>vì</a:t>
            </a:r>
            <a:r>
              <a:rPr sz="900" spc="-25" dirty="0">
                <a:latin typeface="Arial"/>
                <a:cs typeface="Arial"/>
              </a:rPr>
              <a:t> </a:t>
            </a:r>
            <a:r>
              <a:rPr sz="900" dirty="0">
                <a:latin typeface="Arial"/>
                <a:cs typeface="Arial"/>
              </a:rPr>
              <a:t>chắc chắn</a:t>
            </a:r>
            <a:r>
              <a:rPr sz="900" spc="-20" dirty="0">
                <a:latin typeface="Arial"/>
                <a:cs typeface="Arial"/>
              </a:rPr>
              <a:t> ứng dụng thời gian </a:t>
            </a:r>
            <a:r>
              <a:rPr sz="900" spc="-10" dirty="0">
                <a:latin typeface="Arial"/>
                <a:cs typeface="Arial"/>
              </a:rPr>
              <a:t>thực , </a:t>
            </a:r>
            <a:r>
              <a:rPr sz="900" dirty="0">
                <a:latin typeface="Arial"/>
                <a:cs typeface="Arial"/>
              </a:rPr>
              <a:t>chẳng hạn như</a:t>
            </a:r>
            <a:r>
              <a:rPr sz="900" spc="-10" dirty="0">
                <a:latin typeface="Arial"/>
                <a:cs typeface="Arial"/>
              </a:rPr>
              <a:t> </a:t>
            </a:r>
            <a:r>
              <a:rPr sz="900" dirty="0">
                <a:latin typeface="Arial"/>
                <a:cs typeface="Arial"/>
              </a:rPr>
              <a:t>như các ứng dụng thực tế </a:t>
            </a:r>
            <a:r>
              <a:rPr sz="900" spc="-10" dirty="0">
                <a:latin typeface="Arial"/>
                <a:cs typeface="Arial"/>
              </a:rPr>
              <a:t>tăng cường/ảo .</a:t>
            </a:r>
            <a:r>
              <a:rPr sz="900" spc="50" dirty="0">
                <a:latin typeface="Arial"/>
                <a:cs typeface="Arial"/>
              </a:rPr>
              <a:t> </a:t>
            </a:r>
            <a:r>
              <a:rPr sz="900" spc="-10" dirty="0">
                <a:latin typeface="Arial"/>
                <a:cs typeface="Arial"/>
              </a:rPr>
              <a:t>Nhiều người </a:t>
            </a:r>
            <a:r>
              <a:rPr sz="900" dirty="0">
                <a:latin typeface="Arial"/>
                <a:cs typeface="Arial"/>
              </a:rPr>
              <a:t>đánh giá thấp</a:t>
            </a:r>
            <a:r>
              <a:rPr sz="900" spc="-30" dirty="0">
                <a:latin typeface="Arial"/>
                <a:cs typeface="Arial"/>
              </a:rPr>
              <a:t> </a:t>
            </a:r>
            <a:r>
              <a:rPr sz="900" dirty="0">
                <a:latin typeface="Arial"/>
                <a:cs typeface="Arial"/>
              </a:rPr>
              <a:t>cái</a:t>
            </a:r>
            <a:r>
              <a:rPr sz="900" spc="-30" dirty="0">
                <a:latin typeface="Arial"/>
                <a:cs typeface="Arial"/>
              </a:rPr>
              <a:t> </a:t>
            </a:r>
            <a:r>
              <a:rPr sz="900" dirty="0">
                <a:latin typeface="Arial"/>
                <a:cs typeface="Arial"/>
              </a:rPr>
              <a:t>độ trễ</a:t>
            </a:r>
            <a:r>
              <a:rPr sz="900" spc="-30" dirty="0">
                <a:latin typeface="Arial"/>
                <a:cs typeface="Arial"/>
              </a:rPr>
              <a:t> </a:t>
            </a:r>
            <a:r>
              <a:rPr sz="900" dirty="0">
                <a:latin typeface="Arial"/>
                <a:cs typeface="Arial"/>
              </a:rPr>
              <a:t>Và</a:t>
            </a:r>
            <a:r>
              <a:rPr sz="900" spc="-30" dirty="0">
                <a:latin typeface="Arial"/>
                <a:cs typeface="Arial"/>
              </a:rPr>
              <a:t> </a:t>
            </a:r>
            <a:r>
              <a:rPr sz="900" dirty="0">
                <a:latin typeface="Arial"/>
                <a:cs typeface="Arial"/>
              </a:rPr>
              <a:t>băng thông</a:t>
            </a:r>
            <a:r>
              <a:rPr sz="900" spc="-30" dirty="0">
                <a:latin typeface="Arial"/>
                <a:cs typeface="Arial"/>
              </a:rPr>
              <a:t> </a:t>
            </a:r>
            <a:r>
              <a:rPr sz="900" dirty="0">
                <a:latin typeface="Arial"/>
                <a:cs typeface="Arial"/>
              </a:rPr>
              <a:t>ĐẾN</a:t>
            </a:r>
            <a:r>
              <a:rPr sz="900" spc="-30" dirty="0">
                <a:latin typeface="Arial"/>
                <a:cs typeface="Arial"/>
              </a:rPr>
              <a:t> </a:t>
            </a:r>
            <a:r>
              <a:rPr sz="900" dirty="0">
                <a:latin typeface="Arial"/>
                <a:cs typeface="Arial"/>
              </a:rPr>
              <a:t>cái</a:t>
            </a:r>
            <a:r>
              <a:rPr sz="900" spc="-30" dirty="0">
                <a:latin typeface="Arial"/>
                <a:cs typeface="Arial"/>
              </a:rPr>
              <a:t> </a:t>
            </a:r>
            <a:r>
              <a:rPr sz="900" spc="-10" dirty="0">
                <a:latin typeface="Arial"/>
                <a:cs typeface="Arial"/>
              </a:rPr>
              <a:t>đám mây.</a:t>
            </a:r>
            <a:endParaRPr sz="900">
              <a:latin typeface="Arial"/>
              <a:cs typeface="Arial"/>
            </a:endParaRPr>
          </a:p>
          <a:p>
            <a:pPr marL="274320" marR="24130" indent="-116205">
              <a:lnSpc>
                <a:spcPct val="111600"/>
              </a:lnSpc>
              <a:spcBef>
                <a:spcPts val="400"/>
              </a:spcBef>
              <a:buFont typeface="Apple Symbols"/>
              <a:buChar char="•"/>
              <a:tabLst>
                <a:tab pos="278765" algn="l"/>
              </a:tabLst>
            </a:pPr>
            <a:r>
              <a:rPr sz="900" dirty="0">
                <a:solidFill>
                  <a:srgbClr val="3333B2"/>
                </a:solidFill>
                <a:latin typeface="Arial"/>
                <a:cs typeface="Arial"/>
              </a:rPr>
              <a:t>Độ tin cậy </a:t>
            </a:r>
            <a:r>
              <a:rPr sz="900" dirty="0">
                <a:latin typeface="Arial"/>
                <a:cs typeface="Arial"/>
              </a:rPr>
              <a:t>:</a:t>
            </a:r>
            <a:r>
              <a:rPr sz="900" spc="20" dirty="0">
                <a:latin typeface="Arial"/>
                <a:cs typeface="Arial"/>
              </a:rPr>
              <a:t> </a:t>
            </a:r>
            <a:r>
              <a:rPr sz="900" dirty="0">
                <a:latin typeface="Arial"/>
                <a:cs typeface="Arial"/>
              </a:rPr>
              <a:t>Các</a:t>
            </a:r>
            <a:r>
              <a:rPr sz="900" spc="-25" dirty="0">
                <a:latin typeface="Arial"/>
                <a:cs typeface="Arial"/>
              </a:rPr>
              <a:t> </a:t>
            </a:r>
            <a:r>
              <a:rPr sz="900" spc="-10" dirty="0">
                <a:latin typeface="Arial"/>
                <a:cs typeface="Arial"/>
              </a:rPr>
              <a:t>sự liên quan</a:t>
            </a:r>
            <a:r>
              <a:rPr sz="900" spc="-30" dirty="0">
                <a:latin typeface="Arial"/>
                <a:cs typeface="Arial"/>
              </a:rPr>
              <a:t> </a:t>
            </a:r>
            <a:r>
              <a:rPr sz="900" dirty="0">
                <a:latin typeface="Arial"/>
                <a:cs typeface="Arial"/>
              </a:rPr>
              <a:t>ĐẾN</a:t>
            </a:r>
            <a:r>
              <a:rPr sz="900" spc="-30" dirty="0">
                <a:latin typeface="Arial"/>
                <a:cs typeface="Arial"/>
              </a:rPr>
              <a:t> </a:t>
            </a:r>
            <a:r>
              <a:rPr sz="900" dirty="0">
                <a:latin typeface="Arial"/>
                <a:cs typeface="Arial"/>
              </a:rPr>
              <a:t>cái</a:t>
            </a:r>
            <a:r>
              <a:rPr sz="900" spc="-30" dirty="0">
                <a:latin typeface="Arial"/>
                <a:cs typeface="Arial"/>
              </a:rPr>
              <a:t> </a:t>
            </a:r>
            <a:r>
              <a:rPr sz="900" dirty="0">
                <a:latin typeface="Arial"/>
                <a:cs typeface="Arial"/>
              </a:rPr>
              <a:t>đám mây</a:t>
            </a:r>
            <a:r>
              <a:rPr sz="900" spc="-30" dirty="0">
                <a:latin typeface="Arial"/>
                <a:cs typeface="Arial"/>
              </a:rPr>
              <a:t> </a:t>
            </a:r>
            <a:r>
              <a:rPr sz="900" dirty="0">
                <a:latin typeface="Arial"/>
                <a:cs typeface="Arial"/>
              </a:rPr>
              <a:t>là</a:t>
            </a:r>
            <a:r>
              <a:rPr sz="900" spc="-30" dirty="0">
                <a:latin typeface="Arial"/>
                <a:cs typeface="Arial"/>
              </a:rPr>
              <a:t> </a:t>
            </a:r>
            <a:r>
              <a:rPr sz="900" dirty="0">
                <a:latin typeface="Arial"/>
                <a:cs typeface="Arial"/>
              </a:rPr>
              <a:t>thường</a:t>
            </a:r>
            <a:r>
              <a:rPr sz="900" spc="-30" dirty="0">
                <a:latin typeface="Arial"/>
                <a:cs typeface="Arial"/>
              </a:rPr>
              <a:t> </a:t>
            </a:r>
            <a:r>
              <a:rPr sz="900" spc="-10" dirty="0">
                <a:latin typeface="Arial"/>
                <a:cs typeface="Arial"/>
              </a:rPr>
              <a:t>được cho là</a:t>
            </a:r>
            <a:r>
              <a:rPr sz="900" spc="-30" dirty="0">
                <a:latin typeface="Arial"/>
                <a:cs typeface="Arial"/>
              </a:rPr>
              <a:t> </a:t>
            </a:r>
            <a:r>
              <a:rPr sz="900" dirty="0">
                <a:latin typeface="Arial"/>
                <a:cs typeface="Arial"/>
              </a:rPr>
              <a:t>ĐẾN</a:t>
            </a:r>
            <a:r>
              <a:rPr sz="900" spc="-25" dirty="0">
                <a:latin typeface="Arial"/>
                <a:cs typeface="Arial"/>
              </a:rPr>
              <a:t> </a:t>
            </a:r>
            <a:r>
              <a:rPr sz="900" dirty="0">
                <a:latin typeface="Arial"/>
                <a:cs typeface="Arial"/>
              </a:rPr>
              <a:t>là</a:t>
            </a:r>
            <a:r>
              <a:rPr sz="900" spc="-30" dirty="0">
                <a:latin typeface="Arial"/>
                <a:cs typeface="Arial"/>
              </a:rPr>
              <a:t> </a:t>
            </a:r>
            <a:r>
              <a:rPr sz="900" spc="-10" dirty="0">
                <a:latin typeface="Arial"/>
                <a:cs typeface="Arial"/>
              </a:rPr>
              <a:t>không đáng tin cậy, </a:t>
            </a:r>
            <a:r>
              <a:rPr sz="900" dirty="0">
                <a:latin typeface="Arial"/>
                <a:cs typeface="Arial"/>
              </a:rPr>
              <a:t>mà</a:t>
            </a:r>
            <a:r>
              <a:rPr sz="900" spc="-35" dirty="0">
                <a:latin typeface="Arial"/>
                <a:cs typeface="Arial"/>
              </a:rPr>
              <a:t> </a:t>
            </a:r>
            <a:r>
              <a:rPr sz="900" dirty="0">
                <a:latin typeface="Arial"/>
                <a:cs typeface="Arial"/>
              </a:rPr>
              <a:t>là</a:t>
            </a:r>
            <a:r>
              <a:rPr sz="900" spc="-30" dirty="0">
                <a:latin typeface="Arial"/>
                <a:cs typeface="Arial"/>
              </a:rPr>
              <a:t> </a:t>
            </a:r>
            <a:r>
              <a:rPr sz="900" dirty="0">
                <a:latin typeface="Arial"/>
                <a:cs typeface="Arial"/>
              </a:rPr>
              <a:t>thường</a:t>
            </a:r>
            <a:r>
              <a:rPr sz="900" spc="-30" dirty="0">
                <a:latin typeface="Arial"/>
                <a:cs typeface="Arial"/>
              </a:rPr>
              <a:t> </a:t>
            </a:r>
            <a:r>
              <a:rPr sz="900" dirty="0">
                <a:latin typeface="Arial"/>
                <a:cs typeface="Arial"/>
              </a:rPr>
              <a:t>Một</a:t>
            </a:r>
            <a:r>
              <a:rPr sz="900" spc="-30" dirty="0">
                <a:latin typeface="Arial"/>
                <a:cs typeface="Arial"/>
              </a:rPr>
              <a:t> </a:t>
            </a:r>
            <a:r>
              <a:rPr sz="900" dirty="0">
                <a:latin typeface="Arial"/>
                <a:cs typeface="Arial"/>
              </a:rPr>
              <a:t>SAI</a:t>
            </a:r>
            <a:r>
              <a:rPr sz="900" spc="-30" dirty="0">
                <a:latin typeface="Arial"/>
                <a:cs typeface="Arial"/>
              </a:rPr>
              <a:t> </a:t>
            </a:r>
            <a:r>
              <a:rPr sz="900" dirty="0">
                <a:latin typeface="Arial"/>
                <a:cs typeface="Arial"/>
              </a:rPr>
              <a:t>giả định.</a:t>
            </a:r>
            <a:r>
              <a:rPr sz="900" spc="25" dirty="0">
                <a:latin typeface="Arial"/>
                <a:cs typeface="Arial"/>
              </a:rPr>
              <a:t> </a:t>
            </a:r>
            <a:r>
              <a:rPr sz="900" dirty="0">
                <a:latin typeface="Arial"/>
                <a:cs typeface="Arial"/>
              </a:rPr>
              <a:t>Ở đó</a:t>
            </a:r>
            <a:r>
              <a:rPr sz="900" spc="-30" dirty="0">
                <a:latin typeface="Arial"/>
                <a:cs typeface="Arial"/>
              </a:rPr>
              <a:t> </a:t>
            </a:r>
            <a:r>
              <a:rPr sz="900" dirty="0">
                <a:latin typeface="Arial"/>
                <a:cs typeface="Arial"/>
              </a:rPr>
              <a:t>có thể</a:t>
            </a:r>
            <a:r>
              <a:rPr sz="900" spc="-30" dirty="0">
                <a:latin typeface="Arial"/>
                <a:cs typeface="Arial"/>
              </a:rPr>
              <a:t> </a:t>
            </a:r>
            <a:r>
              <a:rPr sz="900" dirty="0">
                <a:latin typeface="Arial"/>
                <a:cs typeface="Arial"/>
              </a:rPr>
              <a:t>là</a:t>
            </a:r>
            <a:r>
              <a:rPr sz="900" spc="-35" dirty="0">
                <a:latin typeface="Arial"/>
                <a:cs typeface="Arial"/>
              </a:rPr>
              <a:t> </a:t>
            </a:r>
            <a:r>
              <a:rPr sz="900" dirty="0">
                <a:latin typeface="Arial"/>
                <a:cs typeface="Arial"/>
              </a:rPr>
              <a:t>phê bình</a:t>
            </a:r>
            <a:r>
              <a:rPr sz="900" spc="-30" dirty="0">
                <a:latin typeface="Arial"/>
                <a:cs typeface="Arial"/>
              </a:rPr>
              <a:t> </a:t>
            </a:r>
            <a:r>
              <a:rPr sz="900" dirty="0">
                <a:latin typeface="Arial"/>
                <a:cs typeface="Arial"/>
              </a:rPr>
              <a:t>tình huống</a:t>
            </a:r>
            <a:r>
              <a:rPr sz="900" spc="-30" dirty="0">
                <a:latin typeface="Arial"/>
                <a:cs typeface="Arial"/>
              </a:rPr>
              <a:t> </a:t>
            </a:r>
            <a:r>
              <a:rPr sz="900" spc="-25" dirty="0">
                <a:latin typeface="Arial"/>
                <a:cs typeface="Arial"/>
              </a:rPr>
              <a:t>trong </a:t>
            </a:r>
            <a:r>
              <a:rPr sz="900" dirty="0">
                <a:latin typeface="Arial"/>
                <a:cs typeface="Arial"/>
              </a:rPr>
              <a:t>đó</a:t>
            </a:r>
            <a:r>
              <a:rPr sz="900" spc="-30" dirty="0">
                <a:latin typeface="Arial"/>
                <a:cs typeface="Arial"/>
              </a:rPr>
              <a:t> </a:t>
            </a:r>
            <a:r>
              <a:rPr sz="900" spc="-10" dirty="0">
                <a:latin typeface="Arial"/>
                <a:cs typeface="Arial"/>
              </a:rPr>
              <a:t>vô cùng</a:t>
            </a:r>
            <a:r>
              <a:rPr sz="900" spc="-25" dirty="0">
                <a:latin typeface="Arial"/>
                <a:cs typeface="Arial"/>
              </a:rPr>
              <a:t> </a:t>
            </a:r>
            <a:r>
              <a:rPr sz="900" dirty="0">
                <a:latin typeface="Arial"/>
                <a:cs typeface="Arial"/>
              </a:rPr>
              <a:t>cao</a:t>
            </a:r>
            <a:r>
              <a:rPr sz="900" spc="-30" dirty="0">
                <a:latin typeface="Arial"/>
                <a:cs typeface="Arial"/>
              </a:rPr>
              <a:t> </a:t>
            </a:r>
            <a:r>
              <a:rPr sz="900" dirty="0">
                <a:latin typeface="Arial"/>
                <a:cs typeface="Arial"/>
              </a:rPr>
              <a:t>kết nối</a:t>
            </a:r>
            <a:r>
              <a:rPr sz="900" spc="-25" dirty="0">
                <a:latin typeface="Arial"/>
                <a:cs typeface="Arial"/>
              </a:rPr>
              <a:t> </a:t>
            </a:r>
            <a:r>
              <a:rPr sz="900" dirty="0">
                <a:latin typeface="Arial"/>
                <a:cs typeface="Arial"/>
              </a:rPr>
              <a:t>đảm bảo</a:t>
            </a:r>
            <a:r>
              <a:rPr sz="900" spc="-30" dirty="0">
                <a:latin typeface="Arial"/>
                <a:cs typeface="Arial"/>
              </a:rPr>
              <a:t> </a:t>
            </a:r>
            <a:r>
              <a:rPr sz="900" dirty="0">
                <a:latin typeface="Arial"/>
                <a:cs typeface="Arial"/>
              </a:rPr>
              <a:t>là</a:t>
            </a:r>
            <a:r>
              <a:rPr sz="900" spc="-25" dirty="0">
                <a:latin typeface="Arial"/>
                <a:cs typeface="Arial"/>
              </a:rPr>
              <a:t> </a:t>
            </a:r>
            <a:r>
              <a:rPr sz="900" spc="-10" dirty="0">
                <a:latin typeface="Arial"/>
                <a:cs typeface="Arial"/>
              </a:rPr>
              <a:t>cần thiết.</a:t>
            </a:r>
            <a:endParaRPr sz="900">
              <a:latin typeface="Arial"/>
              <a:cs typeface="Arial"/>
            </a:endParaRPr>
          </a:p>
          <a:p>
            <a:pPr marL="278130" marR="17780" indent="-120650">
              <a:lnSpc>
                <a:spcPct val="111600"/>
              </a:lnSpc>
              <a:spcBef>
                <a:spcPts val="400"/>
              </a:spcBef>
              <a:buFont typeface="Apple Symbols"/>
              <a:buChar char="•"/>
              <a:tabLst>
                <a:tab pos="278765" algn="l"/>
              </a:tabLst>
            </a:pPr>
            <a:r>
              <a:rPr sz="900" dirty="0">
                <a:solidFill>
                  <a:srgbClr val="3333B2"/>
                </a:solidFill>
                <a:latin typeface="Arial"/>
                <a:cs typeface="Arial"/>
              </a:rPr>
              <a:t>Bảo vệ</a:t>
            </a:r>
            <a:r>
              <a:rPr sz="900" spc="-30" dirty="0">
                <a:solidFill>
                  <a:srgbClr val="3333B2"/>
                </a:solidFill>
                <a:latin typeface="Arial"/>
                <a:cs typeface="Arial"/>
              </a:rPr>
              <a:t> </a:t>
            </a:r>
            <a:r>
              <a:rPr sz="900" dirty="0">
                <a:solidFill>
                  <a:srgbClr val="3333B2"/>
                </a:solidFill>
                <a:latin typeface="Arial"/>
                <a:cs typeface="Arial"/>
              </a:rPr>
              <a:t>Và</a:t>
            </a:r>
            <a:r>
              <a:rPr sz="900" spc="-30" dirty="0">
                <a:solidFill>
                  <a:srgbClr val="3333B2"/>
                </a:solidFill>
                <a:latin typeface="Arial"/>
                <a:cs typeface="Arial"/>
              </a:rPr>
              <a:t> </a:t>
            </a:r>
            <a:r>
              <a:rPr sz="900" dirty="0">
                <a:solidFill>
                  <a:srgbClr val="3333B2"/>
                </a:solidFill>
                <a:latin typeface="Arial"/>
                <a:cs typeface="Arial"/>
              </a:rPr>
              <a:t>sự riêng tư </a:t>
            </a:r>
            <a:r>
              <a:rPr sz="900" dirty="0">
                <a:latin typeface="Arial"/>
                <a:cs typeface="Arial"/>
              </a:rPr>
              <a:t>:</a:t>
            </a:r>
            <a:r>
              <a:rPr sz="900" spc="30" dirty="0">
                <a:latin typeface="Arial"/>
                <a:cs typeface="Arial"/>
              </a:rPr>
              <a:t> </a:t>
            </a:r>
            <a:r>
              <a:rPr sz="900" dirty="0">
                <a:latin typeface="Arial"/>
                <a:cs typeface="Arial"/>
              </a:rPr>
              <a:t>Các</a:t>
            </a:r>
            <a:r>
              <a:rPr sz="900" spc="-30" dirty="0">
                <a:latin typeface="Arial"/>
                <a:cs typeface="Arial"/>
              </a:rPr>
              <a:t> </a:t>
            </a:r>
            <a:r>
              <a:rPr sz="900" dirty="0">
                <a:latin typeface="Arial"/>
                <a:cs typeface="Arial"/>
              </a:rPr>
              <a:t>ngầm hiểu</a:t>
            </a:r>
            <a:r>
              <a:rPr sz="900" spc="-30" dirty="0">
                <a:latin typeface="Arial"/>
                <a:cs typeface="Arial"/>
              </a:rPr>
              <a:t> </a:t>
            </a:r>
            <a:r>
              <a:rPr sz="900" dirty="0">
                <a:latin typeface="Arial"/>
                <a:cs typeface="Arial"/>
              </a:rPr>
              <a:t>giả định</a:t>
            </a:r>
            <a:r>
              <a:rPr sz="900" spc="-25" dirty="0">
                <a:latin typeface="Arial"/>
                <a:cs typeface="Arial"/>
              </a:rPr>
              <a:t> </a:t>
            </a:r>
            <a:r>
              <a:rPr sz="900" dirty="0">
                <a:latin typeface="Arial"/>
                <a:cs typeface="Arial"/>
              </a:rPr>
              <a:t>là</a:t>
            </a:r>
            <a:r>
              <a:rPr sz="900" spc="-30" dirty="0">
                <a:latin typeface="Arial"/>
                <a:cs typeface="Arial"/>
              </a:rPr>
              <a:t> </a:t>
            </a:r>
            <a:r>
              <a:rPr sz="900" dirty="0">
                <a:latin typeface="Arial"/>
                <a:cs typeface="Arial"/>
              </a:rPr>
              <a:t>thường</a:t>
            </a:r>
            <a:r>
              <a:rPr sz="900" spc="-25" dirty="0">
                <a:latin typeface="Arial"/>
                <a:cs typeface="Arial"/>
              </a:rPr>
              <a:t> </a:t>
            </a:r>
            <a:r>
              <a:rPr sz="900" dirty="0">
                <a:latin typeface="Arial"/>
                <a:cs typeface="Arial"/>
              </a:rPr>
              <a:t>cái đó</a:t>
            </a:r>
            <a:r>
              <a:rPr sz="900" spc="-30" dirty="0">
                <a:latin typeface="Arial"/>
                <a:cs typeface="Arial"/>
              </a:rPr>
              <a:t> </a:t>
            </a:r>
            <a:r>
              <a:rPr sz="900" dirty="0">
                <a:latin typeface="Arial"/>
                <a:cs typeface="Arial"/>
              </a:rPr>
              <a:t>khi</a:t>
            </a:r>
            <a:r>
              <a:rPr sz="900" spc="-30" dirty="0">
                <a:latin typeface="Arial"/>
                <a:cs typeface="Arial"/>
              </a:rPr>
              <a:t> </a:t>
            </a:r>
            <a:r>
              <a:rPr sz="900" spc="-10" dirty="0">
                <a:latin typeface="Arial"/>
                <a:cs typeface="Arial"/>
              </a:rPr>
              <a:t>tài sản </a:t>
            </a:r>
            <a:r>
              <a:rPr sz="900" dirty="0">
                <a:latin typeface="Arial"/>
                <a:cs typeface="Arial"/>
              </a:rPr>
              <a:t>là</a:t>
            </a:r>
            <a:r>
              <a:rPr sz="900" spc="-30" dirty="0">
                <a:latin typeface="Arial"/>
                <a:cs typeface="Arial"/>
              </a:rPr>
              <a:t> </a:t>
            </a:r>
            <a:r>
              <a:rPr sz="900" spc="-20" dirty="0">
                <a:latin typeface="Arial"/>
                <a:cs typeface="Arial"/>
              </a:rPr>
              <a:t>gần đó,</a:t>
            </a:r>
            <a:r>
              <a:rPr sz="900" spc="-30" dirty="0">
                <a:latin typeface="Arial"/>
                <a:cs typeface="Arial"/>
              </a:rPr>
              <a:t> </a:t>
            </a:r>
            <a:r>
              <a:rPr sz="900" dirty="0">
                <a:latin typeface="Arial"/>
                <a:cs typeface="Arial"/>
              </a:rPr>
              <a:t>họ</a:t>
            </a:r>
            <a:r>
              <a:rPr sz="900" spc="-25" dirty="0">
                <a:latin typeface="Arial"/>
                <a:cs typeface="Arial"/>
              </a:rPr>
              <a:t> </a:t>
            </a:r>
            <a:r>
              <a:rPr sz="900" dirty="0">
                <a:latin typeface="Arial"/>
                <a:cs typeface="Arial"/>
              </a:rPr>
              <a:t>Có thể</a:t>
            </a:r>
            <a:r>
              <a:rPr sz="900" spc="-30" dirty="0">
                <a:latin typeface="Arial"/>
                <a:cs typeface="Arial"/>
              </a:rPr>
              <a:t> </a:t>
            </a:r>
            <a:r>
              <a:rPr sz="900" dirty="0">
                <a:latin typeface="Arial"/>
                <a:cs typeface="Arial"/>
              </a:rPr>
              <a:t>là</a:t>
            </a:r>
            <a:r>
              <a:rPr sz="900" spc="-25" dirty="0">
                <a:latin typeface="Arial"/>
                <a:cs typeface="Arial"/>
              </a:rPr>
              <a:t> </a:t>
            </a:r>
            <a:r>
              <a:rPr sz="900" dirty="0">
                <a:latin typeface="Arial"/>
                <a:cs typeface="Arial"/>
              </a:rPr>
              <a:t>làm ra</a:t>
            </a:r>
            <a:r>
              <a:rPr sz="900" spc="-30" dirty="0">
                <a:latin typeface="Arial"/>
                <a:cs typeface="Arial"/>
              </a:rPr>
              <a:t> </a:t>
            </a:r>
            <a:r>
              <a:rPr sz="900" dirty="0">
                <a:latin typeface="Arial"/>
                <a:cs typeface="Arial"/>
              </a:rPr>
              <a:t>tốt hơn</a:t>
            </a:r>
            <a:r>
              <a:rPr sz="900" spc="-30" dirty="0">
                <a:latin typeface="Arial"/>
                <a:cs typeface="Arial"/>
              </a:rPr>
              <a:t> </a:t>
            </a:r>
            <a:r>
              <a:rPr sz="900" dirty="0">
                <a:latin typeface="Arial"/>
                <a:cs typeface="Arial"/>
              </a:rPr>
              <a:t>được bảo vệ.</a:t>
            </a:r>
            <a:r>
              <a:rPr sz="900" spc="30" dirty="0">
                <a:latin typeface="Arial"/>
                <a:cs typeface="Arial"/>
              </a:rPr>
              <a:t> </a:t>
            </a:r>
            <a:r>
              <a:rPr sz="900" dirty="0">
                <a:latin typeface="Arial"/>
                <a:cs typeface="Arial"/>
              </a:rPr>
              <a:t>Luyện tập</a:t>
            </a:r>
            <a:r>
              <a:rPr sz="900" spc="-30" dirty="0">
                <a:latin typeface="Arial"/>
                <a:cs typeface="Arial"/>
              </a:rPr>
              <a:t> </a:t>
            </a:r>
            <a:r>
              <a:rPr sz="900" dirty="0">
                <a:latin typeface="Arial"/>
                <a:cs typeface="Arial"/>
              </a:rPr>
              <a:t>chương trình</a:t>
            </a:r>
            <a:r>
              <a:rPr sz="900" spc="-30" dirty="0">
                <a:latin typeface="Arial"/>
                <a:cs typeface="Arial"/>
              </a:rPr>
              <a:t> </a:t>
            </a:r>
            <a:r>
              <a:rPr sz="900" dirty="0">
                <a:latin typeface="Arial"/>
                <a:cs typeface="Arial"/>
              </a:rPr>
              <a:t>cái đó</a:t>
            </a:r>
            <a:r>
              <a:rPr sz="900" spc="-25" dirty="0">
                <a:latin typeface="Arial"/>
                <a:cs typeface="Arial"/>
              </a:rPr>
              <a:t> </a:t>
            </a:r>
            <a:r>
              <a:rPr sz="900" dirty="0">
                <a:latin typeface="Arial"/>
                <a:cs typeface="Arial"/>
              </a:rPr>
              <a:t>giả định </a:t>
            </a:r>
            <a:r>
              <a:rPr sz="900" spc="-20" dirty="0">
                <a:latin typeface="Arial"/>
                <a:cs typeface="Arial"/>
              </a:rPr>
              <a:t>này</a:t>
            </a:r>
            <a:r>
              <a:rPr sz="900" spc="-40" dirty="0">
                <a:latin typeface="Arial"/>
                <a:cs typeface="Arial"/>
              </a:rPr>
              <a:t> </a:t>
            </a:r>
            <a:r>
              <a:rPr sz="900" dirty="0">
                <a:latin typeface="Arial"/>
                <a:cs typeface="Arial"/>
              </a:rPr>
              <a:t>là</a:t>
            </a:r>
            <a:r>
              <a:rPr sz="900" spc="-40" dirty="0">
                <a:latin typeface="Arial"/>
                <a:cs typeface="Arial"/>
              </a:rPr>
              <a:t> </a:t>
            </a:r>
            <a:r>
              <a:rPr sz="900" dirty="0">
                <a:latin typeface="Arial"/>
                <a:cs typeface="Arial"/>
              </a:rPr>
              <a:t>nói chung là</a:t>
            </a:r>
            <a:r>
              <a:rPr sz="900" spc="-35" dirty="0">
                <a:latin typeface="Arial"/>
                <a:cs typeface="Arial"/>
              </a:rPr>
              <a:t> </a:t>
            </a:r>
            <a:r>
              <a:rPr sz="900" dirty="0">
                <a:latin typeface="Arial"/>
                <a:cs typeface="Arial"/>
              </a:rPr>
              <a:t>SAI.</a:t>
            </a:r>
            <a:r>
              <a:rPr sz="900" spc="15" dirty="0">
                <a:latin typeface="Arial"/>
                <a:cs typeface="Arial"/>
              </a:rPr>
              <a:t> </a:t>
            </a:r>
            <a:r>
              <a:rPr sz="900" spc="-20" dirty="0">
                <a:latin typeface="Arial"/>
                <a:cs typeface="Arial"/>
              </a:rPr>
              <a:t>Tuy nhiên,</a:t>
            </a:r>
            <a:r>
              <a:rPr sz="900" spc="-40" dirty="0">
                <a:latin typeface="Arial"/>
                <a:cs typeface="Arial"/>
              </a:rPr>
              <a:t> </a:t>
            </a:r>
            <a:r>
              <a:rPr sz="900" dirty="0">
                <a:latin typeface="Arial"/>
                <a:cs typeface="Arial"/>
              </a:rPr>
              <a:t>một cách an toàn</a:t>
            </a:r>
            <a:r>
              <a:rPr sz="900" spc="-35" dirty="0">
                <a:latin typeface="Arial"/>
                <a:cs typeface="Arial"/>
              </a:rPr>
              <a:t> </a:t>
            </a:r>
            <a:r>
              <a:rPr sz="900" dirty="0">
                <a:latin typeface="Arial"/>
                <a:cs typeface="Arial"/>
              </a:rPr>
              <a:t>xử lý</a:t>
            </a:r>
            <a:r>
              <a:rPr sz="900" spc="-40" dirty="0">
                <a:latin typeface="Arial"/>
                <a:cs typeface="Arial"/>
              </a:rPr>
              <a:t> </a:t>
            </a:r>
            <a:r>
              <a:rPr sz="900" dirty="0">
                <a:latin typeface="Arial"/>
                <a:cs typeface="Arial"/>
              </a:rPr>
              <a:t>hoạt động </a:t>
            </a:r>
            <a:r>
              <a:rPr sz="900" spc="-20" dirty="0">
                <a:latin typeface="Arial"/>
                <a:cs typeface="Arial"/>
              </a:rPr>
              <a:t>dữ liệu</a:t>
            </a:r>
            <a:r>
              <a:rPr sz="900" spc="-35" dirty="0">
                <a:latin typeface="Arial"/>
                <a:cs typeface="Arial"/>
              </a:rPr>
              <a:t> </a:t>
            </a:r>
            <a:r>
              <a:rPr sz="900" dirty="0">
                <a:latin typeface="Arial"/>
                <a:cs typeface="Arial"/>
              </a:rPr>
              <a:t>TRONG</a:t>
            </a:r>
            <a:r>
              <a:rPr sz="900" spc="-30" dirty="0">
                <a:latin typeface="Arial"/>
                <a:cs typeface="Arial"/>
              </a:rPr>
              <a:t> </a:t>
            </a:r>
            <a:r>
              <a:rPr sz="900" dirty="0">
                <a:latin typeface="Arial"/>
                <a:cs typeface="Arial"/>
              </a:rPr>
              <a:t>cái</a:t>
            </a:r>
            <a:r>
              <a:rPr sz="900" spc="-35" dirty="0">
                <a:latin typeface="Arial"/>
                <a:cs typeface="Arial"/>
              </a:rPr>
              <a:t> </a:t>
            </a:r>
            <a:r>
              <a:rPr sz="900" dirty="0">
                <a:latin typeface="Arial"/>
                <a:cs typeface="Arial"/>
              </a:rPr>
              <a:t>đám mây</a:t>
            </a:r>
            <a:r>
              <a:rPr sz="900" spc="-30" dirty="0">
                <a:latin typeface="Arial"/>
                <a:cs typeface="Arial"/>
              </a:rPr>
              <a:t> </a:t>
            </a:r>
            <a:r>
              <a:rPr sz="900" dirty="0">
                <a:latin typeface="Arial"/>
                <a:cs typeface="Arial"/>
              </a:rPr>
              <a:t>có thể</a:t>
            </a:r>
            <a:r>
              <a:rPr sz="900" spc="-30" dirty="0">
                <a:latin typeface="Arial"/>
                <a:cs typeface="Arial"/>
              </a:rPr>
              <a:t> </a:t>
            </a:r>
            <a:r>
              <a:rPr sz="900" dirty="0">
                <a:latin typeface="Arial"/>
                <a:cs typeface="Arial"/>
              </a:rPr>
              <a:t>là</a:t>
            </a:r>
            <a:r>
              <a:rPr sz="900" spc="-35" dirty="0">
                <a:latin typeface="Arial"/>
                <a:cs typeface="Arial"/>
              </a:rPr>
              <a:t> </a:t>
            </a:r>
            <a:r>
              <a:rPr sz="900" dirty="0">
                <a:latin typeface="Arial"/>
                <a:cs typeface="Arial"/>
              </a:rPr>
              <a:t>khó khăn hơn</a:t>
            </a:r>
            <a:r>
              <a:rPr sz="900" spc="-30" dirty="0">
                <a:latin typeface="Arial"/>
                <a:cs typeface="Arial"/>
              </a:rPr>
              <a:t> </a:t>
            </a:r>
            <a:r>
              <a:rPr sz="900" dirty="0">
                <a:latin typeface="Arial"/>
                <a:cs typeface="Arial"/>
              </a:rPr>
              <a:t>hơn</a:t>
            </a:r>
            <a:r>
              <a:rPr sz="900" spc="-35" dirty="0">
                <a:latin typeface="Arial"/>
                <a:cs typeface="Arial"/>
              </a:rPr>
              <a:t> </a:t>
            </a:r>
            <a:r>
              <a:rPr sz="900" dirty="0">
                <a:latin typeface="Arial"/>
                <a:cs typeface="Arial"/>
              </a:rPr>
              <a:t>ở trong</a:t>
            </a:r>
            <a:r>
              <a:rPr sz="900" spc="-30" dirty="0">
                <a:latin typeface="Arial"/>
                <a:cs typeface="Arial"/>
              </a:rPr>
              <a:t> </a:t>
            </a:r>
            <a:r>
              <a:rPr sz="900" dirty="0">
                <a:latin typeface="Arial"/>
                <a:cs typeface="Arial"/>
              </a:rPr>
              <a:t>của bạn</a:t>
            </a:r>
            <a:r>
              <a:rPr sz="900" spc="-30" dirty="0">
                <a:latin typeface="Arial"/>
                <a:cs typeface="Arial"/>
              </a:rPr>
              <a:t> </a:t>
            </a:r>
            <a:r>
              <a:rPr sz="900" dirty="0">
                <a:latin typeface="Arial"/>
                <a:cs typeface="Arial"/>
              </a:rPr>
              <a:t>sở hữu</a:t>
            </a:r>
            <a:r>
              <a:rPr sz="900" spc="-35" dirty="0">
                <a:latin typeface="Arial"/>
                <a:cs typeface="Arial"/>
              </a:rPr>
              <a:t> </a:t>
            </a:r>
            <a:r>
              <a:rPr sz="900" spc="-10" dirty="0">
                <a:latin typeface="Arial"/>
                <a:cs typeface="Arial"/>
              </a:rPr>
              <a:t>tổ chức.</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134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Đám mây </a:t>
            </a:r>
            <a:r>
              <a:rPr sz="500" spc="-10" dirty="0">
                <a:latin typeface="Arial"/>
                <a:cs typeface="Arial"/>
                <a:hlinkClick r:id="rId4" action="ppaction://hlinksldjump"/>
              </a:rPr>
              <a:t>rìa</a:t>
            </a:r>
            <a:r>
              <a:rPr sz="500" spc="5" dirty="0">
                <a:latin typeface="Arial"/>
                <a:cs typeface="Arial"/>
                <a:hlinkClick r:id="rId4" action="ppaction://hlinksldjump"/>
              </a:rPr>
              <a:t> </a:t>
            </a:r>
            <a:r>
              <a:rPr sz="500" spc="-10" dirty="0">
                <a:latin typeface="Arial"/>
                <a:cs typeface="Arial"/>
                <a:hlinkClick r:id="rId4" action="ppaction://hlinksldjump"/>
              </a:rPr>
              <a:t>ngành kiến trúc</a:t>
            </a:r>
            <a:endParaRPr sz="500">
              <a:latin typeface="Arial"/>
              <a:cs typeface="Arial"/>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06495" algn="l"/>
              </a:tabLst>
            </a:pPr>
            <a:r>
              <a:rPr sz="500" spc="-10" dirty="0">
                <a:latin typeface="Arial"/>
                <a:cs typeface="Arial"/>
                <a:hlinkClick r:id="rId2" action="ppaction://hlinksldjump"/>
              </a:rPr>
              <a:t>Kiến trúc</a:t>
            </a:r>
            <a:r>
              <a:rPr sz="500" dirty="0">
                <a:latin typeface="Arial"/>
                <a:cs typeface="Arial"/>
              </a:rPr>
              <a:t> </a:t>
            </a:r>
            <a:r>
              <a:rPr sz="500" dirty="0">
                <a:solidFill>
                  <a:srgbClr val="FFFFFF"/>
                </a:solidFill>
                <a:latin typeface="Arial"/>
                <a:cs typeface="Arial"/>
                <a:hlinkClick r:id="rId3" action="ppaction://hlinksldjump"/>
              </a:rPr>
              <a:t>lai</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Bờ rìa</a:t>
            </a:r>
            <a:r>
              <a:rPr spc="-35" dirty="0"/>
              <a:t> </a:t>
            </a:r>
            <a:r>
              <a:rPr spc="-10" dirty="0"/>
              <a:t>sự phối hợp</a:t>
            </a:r>
          </a:p>
        </p:txBody>
      </p:sp>
      <p:sp>
        <p:nvSpPr>
          <p:cNvPr id="4" name="object 4"/>
          <p:cNvSpPr txBox="1"/>
          <p:nvPr/>
        </p:nvSpPr>
        <p:spPr>
          <a:xfrm>
            <a:off x="321894" y="514774"/>
            <a:ext cx="3964304" cy="2010410"/>
          </a:xfrm>
          <a:prstGeom prst="rect">
            <a:avLst/>
          </a:prstGeom>
        </p:spPr>
        <p:txBody>
          <a:bodyPr vert="horz" wrap="square" lIns="0" tIns="12065" rIns="0" bIns="0" rtlCol="0">
            <a:spAutoFit/>
          </a:bodyPr>
          <a:lstStyle/>
          <a:p>
            <a:pPr marL="38100">
              <a:lnSpc>
                <a:spcPct val="100000"/>
              </a:lnSpc>
              <a:spcBef>
                <a:spcPts val="95"/>
              </a:spcBef>
            </a:pPr>
            <a:r>
              <a:rPr sz="1000" dirty="0">
                <a:solidFill>
                  <a:srgbClr val="3333B2"/>
                </a:solidFill>
                <a:latin typeface="Arial"/>
                <a:cs typeface="Arial"/>
              </a:rPr>
              <a:t>Quản lý</a:t>
            </a:r>
            <a:r>
              <a:rPr sz="1000" spc="-30" dirty="0">
                <a:solidFill>
                  <a:srgbClr val="3333B2"/>
                </a:solidFill>
                <a:latin typeface="Arial"/>
                <a:cs typeface="Arial"/>
              </a:rPr>
              <a:t> </a:t>
            </a:r>
            <a:r>
              <a:rPr sz="1000" dirty="0">
                <a:solidFill>
                  <a:srgbClr val="3333B2"/>
                </a:solidFill>
                <a:latin typeface="Arial"/>
                <a:cs typeface="Arial"/>
              </a:rPr>
              <a:t>tài nguyên</a:t>
            </a:r>
            <a:r>
              <a:rPr sz="1000" spc="-30" dirty="0">
                <a:solidFill>
                  <a:srgbClr val="3333B2"/>
                </a:solidFill>
                <a:latin typeface="Arial"/>
                <a:cs typeface="Arial"/>
              </a:rPr>
              <a:t> </a:t>
            </a:r>
            <a:r>
              <a:rPr sz="1000" dirty="0">
                <a:solidFill>
                  <a:srgbClr val="3333B2"/>
                </a:solidFill>
                <a:latin typeface="Arial"/>
                <a:cs typeface="Arial"/>
              </a:rPr>
              <a:t>Tại</a:t>
            </a:r>
            <a:r>
              <a:rPr sz="1000" spc="-30" dirty="0">
                <a:solidFill>
                  <a:srgbClr val="3333B2"/>
                </a:solidFill>
                <a:latin typeface="Arial"/>
                <a:cs typeface="Arial"/>
              </a:rPr>
              <a:t> </a:t>
            </a:r>
            <a:r>
              <a:rPr sz="1000" dirty="0">
                <a:solidFill>
                  <a:srgbClr val="3333B2"/>
                </a:solidFill>
                <a:latin typeface="Arial"/>
                <a:cs typeface="Arial"/>
              </a:rPr>
              <a:t>cái</a:t>
            </a:r>
            <a:r>
              <a:rPr sz="1000" spc="-30" dirty="0">
                <a:solidFill>
                  <a:srgbClr val="3333B2"/>
                </a:solidFill>
                <a:latin typeface="Arial"/>
                <a:cs typeface="Arial"/>
              </a:rPr>
              <a:t> </a:t>
            </a:r>
            <a:r>
              <a:rPr sz="1000" dirty="0">
                <a:solidFill>
                  <a:srgbClr val="3333B2"/>
                </a:solidFill>
                <a:latin typeface="Arial"/>
                <a:cs typeface="Arial"/>
              </a:rPr>
              <a:t>bờ rìa</a:t>
            </a:r>
            <a:r>
              <a:rPr sz="1000" spc="-30" dirty="0">
                <a:solidFill>
                  <a:srgbClr val="3333B2"/>
                </a:solidFill>
                <a:latin typeface="Arial"/>
                <a:cs typeface="Arial"/>
              </a:rPr>
              <a:t> </a:t>
            </a:r>
            <a:r>
              <a:rPr sz="1000" dirty="0">
                <a:solidFill>
                  <a:srgbClr val="3333B2"/>
                </a:solidFill>
                <a:latin typeface="Arial"/>
                <a:cs typeface="Arial"/>
              </a:rPr>
              <a:t>có thể</a:t>
            </a:r>
            <a:r>
              <a:rPr sz="1000" spc="-30" dirty="0">
                <a:solidFill>
                  <a:srgbClr val="3333B2"/>
                </a:solidFill>
                <a:latin typeface="Arial"/>
                <a:cs typeface="Arial"/>
              </a:rPr>
              <a:t> </a:t>
            </a:r>
            <a:r>
              <a:rPr sz="1000" dirty="0">
                <a:solidFill>
                  <a:srgbClr val="3333B2"/>
                </a:solidFill>
                <a:latin typeface="Arial"/>
                <a:cs typeface="Arial"/>
              </a:rPr>
              <a:t>là</a:t>
            </a:r>
            <a:r>
              <a:rPr sz="1000" spc="-30" dirty="0">
                <a:solidFill>
                  <a:srgbClr val="3333B2"/>
                </a:solidFill>
                <a:latin typeface="Arial"/>
                <a:cs typeface="Arial"/>
              </a:rPr>
              <a:t> </a:t>
            </a:r>
            <a:r>
              <a:rPr sz="1000" dirty="0">
                <a:solidFill>
                  <a:srgbClr val="3333B2"/>
                </a:solidFill>
                <a:latin typeface="Arial"/>
                <a:cs typeface="Arial"/>
              </a:rPr>
              <a:t>khó khăn hơn</a:t>
            </a:r>
            <a:r>
              <a:rPr sz="1000" spc="-30" dirty="0">
                <a:solidFill>
                  <a:srgbClr val="3333B2"/>
                </a:solidFill>
                <a:latin typeface="Arial"/>
                <a:cs typeface="Arial"/>
              </a:rPr>
              <a:t> </a:t>
            </a:r>
            <a:r>
              <a:rPr sz="1000" dirty="0">
                <a:solidFill>
                  <a:srgbClr val="3333B2"/>
                </a:solidFill>
                <a:latin typeface="Arial"/>
                <a:cs typeface="Arial"/>
              </a:rPr>
              <a:t>hơn</a:t>
            </a:r>
            <a:r>
              <a:rPr sz="1000" spc="-30" dirty="0">
                <a:solidFill>
                  <a:srgbClr val="3333B2"/>
                </a:solidFill>
                <a:latin typeface="Arial"/>
                <a:cs typeface="Arial"/>
              </a:rPr>
              <a:t> </a:t>
            </a:r>
            <a:r>
              <a:rPr sz="1000" dirty="0">
                <a:solidFill>
                  <a:srgbClr val="3333B2"/>
                </a:solidFill>
                <a:latin typeface="Arial"/>
                <a:cs typeface="Arial"/>
              </a:rPr>
              <a:t>TRONG</a:t>
            </a:r>
            <a:r>
              <a:rPr sz="1000" spc="-30" dirty="0">
                <a:solidFill>
                  <a:srgbClr val="3333B2"/>
                </a:solidFill>
                <a:latin typeface="Arial"/>
                <a:cs typeface="Arial"/>
              </a:rPr>
              <a:t> </a:t>
            </a:r>
            <a:r>
              <a:rPr sz="1000" dirty="0">
                <a:solidFill>
                  <a:srgbClr val="3333B2"/>
                </a:solidFill>
                <a:latin typeface="Arial"/>
                <a:cs typeface="Arial"/>
              </a:rPr>
              <a:t>cái</a:t>
            </a:r>
            <a:r>
              <a:rPr sz="1000" spc="-30" dirty="0">
                <a:solidFill>
                  <a:srgbClr val="3333B2"/>
                </a:solidFill>
                <a:latin typeface="Arial"/>
                <a:cs typeface="Arial"/>
              </a:rPr>
              <a:t> </a:t>
            </a:r>
            <a:r>
              <a:rPr sz="1000" spc="-10" dirty="0">
                <a:solidFill>
                  <a:srgbClr val="3333B2"/>
                </a:solidFill>
                <a:latin typeface="Arial"/>
                <a:cs typeface="Arial"/>
              </a:rPr>
              <a:t>đám mây</a:t>
            </a:r>
            <a:endParaRPr sz="1000">
              <a:latin typeface="Arial"/>
              <a:cs typeface="Arial"/>
            </a:endParaRPr>
          </a:p>
          <a:p>
            <a:pPr marL="290830" marR="436880" indent="-120650">
              <a:lnSpc>
                <a:spcPct val="111600"/>
              </a:lnSpc>
              <a:spcBef>
                <a:spcPts val="580"/>
              </a:spcBef>
              <a:buClr>
                <a:srgbClr val="3333B2"/>
              </a:buClr>
              <a:buFont typeface="Apple Symbols"/>
              <a:buChar char="•"/>
              <a:tabLst>
                <a:tab pos="291465" algn="l"/>
              </a:tabLst>
            </a:pPr>
            <a:r>
              <a:rPr sz="900" dirty="0">
                <a:solidFill>
                  <a:srgbClr val="C80000"/>
                </a:solidFill>
                <a:latin typeface="Arial"/>
                <a:cs typeface="Arial"/>
              </a:rPr>
              <a:t>Tài nguyên</a:t>
            </a:r>
            <a:r>
              <a:rPr sz="900" spc="-25" dirty="0">
                <a:solidFill>
                  <a:srgbClr val="C80000"/>
                </a:solidFill>
                <a:latin typeface="Arial"/>
                <a:cs typeface="Arial"/>
              </a:rPr>
              <a:t> </a:t>
            </a:r>
            <a:r>
              <a:rPr sz="900" dirty="0">
                <a:solidFill>
                  <a:srgbClr val="C80000"/>
                </a:solidFill>
                <a:latin typeface="Arial"/>
                <a:cs typeface="Arial"/>
              </a:rPr>
              <a:t>phân bổ </a:t>
            </a:r>
            <a:r>
              <a:rPr sz="900" dirty="0">
                <a:latin typeface="Arial"/>
                <a:cs typeface="Arial"/>
              </a:rPr>
              <a:t>:</a:t>
            </a:r>
            <a:r>
              <a:rPr sz="900" spc="30" dirty="0">
                <a:latin typeface="Arial"/>
                <a:cs typeface="Arial"/>
              </a:rPr>
              <a:t> </a:t>
            </a:r>
            <a:r>
              <a:rPr sz="900" dirty="0">
                <a:latin typeface="Arial"/>
                <a:cs typeface="Arial"/>
              </a:rPr>
              <a:t>chúng tôi</a:t>
            </a:r>
            <a:r>
              <a:rPr sz="900" spc="-20" dirty="0">
                <a:latin typeface="Arial"/>
                <a:cs typeface="Arial"/>
              </a:rPr>
              <a:t> </a:t>
            </a:r>
            <a:r>
              <a:rPr sz="900" dirty="0">
                <a:latin typeface="Arial"/>
                <a:cs typeface="Arial"/>
              </a:rPr>
              <a:t>nhu cầu</a:t>
            </a:r>
            <a:r>
              <a:rPr sz="900" spc="-25" dirty="0">
                <a:latin typeface="Arial"/>
                <a:cs typeface="Arial"/>
              </a:rPr>
              <a:t> </a:t>
            </a:r>
            <a:r>
              <a:rPr sz="900" dirty="0">
                <a:latin typeface="Arial"/>
                <a:cs typeface="Arial"/>
              </a:rPr>
              <a:t>ĐẾN</a:t>
            </a:r>
            <a:r>
              <a:rPr sz="900" spc="-20" dirty="0">
                <a:latin typeface="Arial"/>
                <a:cs typeface="Arial"/>
              </a:rPr>
              <a:t> </a:t>
            </a:r>
            <a:r>
              <a:rPr sz="900" dirty="0">
                <a:latin typeface="Arial"/>
                <a:cs typeface="Arial"/>
              </a:rPr>
              <a:t>bảo đảm</a:t>
            </a:r>
            <a:r>
              <a:rPr sz="900" spc="-25" dirty="0">
                <a:latin typeface="Arial"/>
                <a:cs typeface="Arial"/>
              </a:rPr>
              <a:t> </a:t>
            </a:r>
            <a:r>
              <a:rPr sz="900" dirty="0">
                <a:latin typeface="Arial"/>
                <a:cs typeface="Arial"/>
              </a:rPr>
              <a:t>cái</a:t>
            </a:r>
            <a:r>
              <a:rPr sz="900" spc="-20" dirty="0">
                <a:latin typeface="Arial"/>
                <a:cs typeface="Arial"/>
              </a:rPr>
              <a:t> </a:t>
            </a:r>
            <a:r>
              <a:rPr sz="900" spc="-10" dirty="0">
                <a:latin typeface="Arial"/>
                <a:cs typeface="Arial"/>
              </a:rPr>
              <a:t>sự sẵn có</a:t>
            </a:r>
            <a:r>
              <a:rPr sz="900" spc="-25" dirty="0">
                <a:latin typeface="Arial"/>
                <a:cs typeface="Arial"/>
              </a:rPr>
              <a:t> </a:t>
            </a:r>
            <a:r>
              <a:rPr sz="900" dirty="0">
                <a:latin typeface="Arial"/>
                <a:cs typeface="Arial"/>
              </a:rPr>
              <a:t>của </a:t>
            </a:r>
            <a:r>
              <a:rPr sz="900" spc="-25" dirty="0">
                <a:latin typeface="Arial"/>
                <a:cs typeface="Arial"/>
              </a:rPr>
              <a:t>các </a:t>
            </a:r>
            <a:r>
              <a:rPr sz="900" dirty="0">
                <a:latin typeface="Arial"/>
                <a:cs typeface="Arial"/>
              </a:rPr>
              <a:t>nguồn tài nguyên</a:t>
            </a:r>
            <a:r>
              <a:rPr sz="900" spc="-35" dirty="0">
                <a:latin typeface="Arial"/>
                <a:cs typeface="Arial"/>
              </a:rPr>
              <a:t> </a:t>
            </a:r>
            <a:r>
              <a:rPr sz="900" dirty="0">
                <a:latin typeface="Arial"/>
                <a:cs typeface="Arial"/>
              </a:rPr>
              <a:t>yêu cầu</a:t>
            </a:r>
            <a:r>
              <a:rPr sz="900" spc="-30" dirty="0">
                <a:latin typeface="Arial"/>
                <a:cs typeface="Arial"/>
              </a:rPr>
              <a:t> </a:t>
            </a:r>
            <a:r>
              <a:rPr sz="900" dirty="0">
                <a:latin typeface="Arial"/>
                <a:cs typeface="Arial"/>
              </a:rPr>
              <a:t>ĐẾN</a:t>
            </a:r>
            <a:r>
              <a:rPr sz="900" spc="-30" dirty="0">
                <a:latin typeface="Arial"/>
                <a:cs typeface="Arial"/>
              </a:rPr>
              <a:t> </a:t>
            </a:r>
            <a:r>
              <a:rPr sz="900" dirty="0">
                <a:latin typeface="Arial"/>
                <a:cs typeface="Arial"/>
              </a:rPr>
              <a:t>trình diễn</a:t>
            </a:r>
            <a:r>
              <a:rPr sz="900" spc="-30" dirty="0">
                <a:latin typeface="Arial"/>
                <a:cs typeface="Arial"/>
              </a:rPr>
              <a:t> </a:t>
            </a:r>
            <a:r>
              <a:rPr sz="900" dirty="0">
                <a:latin typeface="Arial"/>
                <a:cs typeface="Arial"/>
              </a:rPr>
              <a:t>Một</a:t>
            </a:r>
            <a:r>
              <a:rPr sz="900" spc="-30" dirty="0">
                <a:latin typeface="Arial"/>
                <a:cs typeface="Arial"/>
              </a:rPr>
              <a:t> </a:t>
            </a:r>
            <a:r>
              <a:rPr sz="900" spc="-10" dirty="0">
                <a:latin typeface="Arial"/>
                <a:cs typeface="Arial"/>
              </a:rPr>
              <a:t>dịch vụ.</a:t>
            </a:r>
            <a:endParaRPr sz="900">
              <a:latin typeface="Arial"/>
              <a:cs typeface="Arial"/>
            </a:endParaRPr>
          </a:p>
          <a:p>
            <a:pPr marL="290830" marR="338455" indent="-120650">
              <a:lnSpc>
                <a:spcPct val="111600"/>
              </a:lnSpc>
              <a:spcBef>
                <a:spcPts val="300"/>
              </a:spcBef>
              <a:buClr>
                <a:srgbClr val="3333B2"/>
              </a:buClr>
              <a:buFont typeface="Apple Symbols"/>
              <a:buChar char="•"/>
              <a:tabLst>
                <a:tab pos="291465" algn="l"/>
              </a:tabLst>
            </a:pPr>
            <a:r>
              <a:rPr sz="900" dirty="0">
                <a:solidFill>
                  <a:srgbClr val="C80000"/>
                </a:solidFill>
                <a:latin typeface="Arial"/>
                <a:cs typeface="Arial"/>
              </a:rPr>
              <a:t>Dịch vụ</a:t>
            </a:r>
            <a:r>
              <a:rPr sz="900" spc="-25" dirty="0">
                <a:solidFill>
                  <a:srgbClr val="C80000"/>
                </a:solidFill>
                <a:latin typeface="Arial"/>
                <a:cs typeface="Arial"/>
              </a:rPr>
              <a:t> </a:t>
            </a:r>
            <a:r>
              <a:rPr sz="900" dirty="0">
                <a:solidFill>
                  <a:srgbClr val="C80000"/>
                </a:solidFill>
                <a:latin typeface="Arial"/>
                <a:cs typeface="Arial"/>
              </a:rPr>
              <a:t>vị trí </a:t>
            </a:r>
            <a:r>
              <a:rPr sz="900" dirty="0">
                <a:latin typeface="Arial"/>
                <a:cs typeface="Arial"/>
              </a:rPr>
              <a:t>:</a:t>
            </a:r>
            <a:r>
              <a:rPr sz="900" spc="30" dirty="0">
                <a:latin typeface="Arial"/>
                <a:cs typeface="Arial"/>
              </a:rPr>
              <a:t> </a:t>
            </a:r>
            <a:r>
              <a:rPr sz="900" dirty="0">
                <a:latin typeface="Arial"/>
                <a:cs typeface="Arial"/>
              </a:rPr>
              <a:t>chúng tôi</a:t>
            </a:r>
            <a:r>
              <a:rPr sz="900" spc="-25" dirty="0">
                <a:latin typeface="Arial"/>
                <a:cs typeface="Arial"/>
              </a:rPr>
              <a:t> </a:t>
            </a:r>
            <a:r>
              <a:rPr sz="900" dirty="0">
                <a:latin typeface="Arial"/>
                <a:cs typeface="Arial"/>
              </a:rPr>
              <a:t>nhu cầu</a:t>
            </a:r>
            <a:r>
              <a:rPr sz="900" spc="-25" dirty="0">
                <a:latin typeface="Arial"/>
                <a:cs typeface="Arial"/>
              </a:rPr>
              <a:t> </a:t>
            </a:r>
            <a:r>
              <a:rPr sz="900" dirty="0">
                <a:latin typeface="Arial"/>
                <a:cs typeface="Arial"/>
              </a:rPr>
              <a:t>ĐẾN</a:t>
            </a:r>
            <a:r>
              <a:rPr sz="900" spc="-25" dirty="0">
                <a:latin typeface="Arial"/>
                <a:cs typeface="Arial"/>
              </a:rPr>
              <a:t> </a:t>
            </a:r>
            <a:r>
              <a:rPr sz="900" dirty="0">
                <a:latin typeface="Arial"/>
                <a:cs typeface="Arial"/>
              </a:rPr>
              <a:t>quyết định</a:t>
            </a:r>
            <a:r>
              <a:rPr sz="900" spc="-20" dirty="0">
                <a:latin typeface="Arial"/>
                <a:cs typeface="Arial"/>
              </a:rPr>
              <a:t> </a:t>
            </a:r>
            <a:r>
              <a:rPr sz="900" dirty="0">
                <a:solidFill>
                  <a:srgbClr val="3333B2"/>
                </a:solidFill>
                <a:latin typeface="Arial"/>
                <a:cs typeface="Arial"/>
              </a:rPr>
              <a:t>khi</a:t>
            </a:r>
            <a:r>
              <a:rPr sz="900" spc="-25" dirty="0">
                <a:solidFill>
                  <a:srgbClr val="3333B2"/>
                </a:solidFill>
                <a:latin typeface="Arial"/>
                <a:cs typeface="Arial"/>
              </a:rPr>
              <a:t> </a:t>
            </a:r>
            <a:r>
              <a:rPr sz="900" dirty="0">
                <a:latin typeface="Arial"/>
                <a:cs typeface="Arial"/>
              </a:rPr>
              <a:t>Và</a:t>
            </a:r>
            <a:r>
              <a:rPr sz="900" spc="-25" dirty="0">
                <a:latin typeface="Arial"/>
                <a:cs typeface="Arial"/>
              </a:rPr>
              <a:t> </a:t>
            </a:r>
            <a:r>
              <a:rPr sz="900" dirty="0">
                <a:solidFill>
                  <a:srgbClr val="3333B2"/>
                </a:solidFill>
                <a:latin typeface="Arial"/>
                <a:cs typeface="Arial"/>
              </a:rPr>
              <a:t>Ở đâu</a:t>
            </a:r>
            <a:r>
              <a:rPr sz="900" spc="-25" dirty="0">
                <a:solidFill>
                  <a:srgbClr val="3333B2"/>
                </a:solidFill>
                <a:latin typeface="Arial"/>
                <a:cs typeface="Arial"/>
              </a:rPr>
              <a:t> </a:t>
            </a:r>
            <a:r>
              <a:rPr sz="900" dirty="0">
                <a:latin typeface="Arial"/>
                <a:cs typeface="Arial"/>
              </a:rPr>
              <a:t>ĐẾN</a:t>
            </a:r>
            <a:r>
              <a:rPr sz="900" spc="-25" dirty="0">
                <a:latin typeface="Arial"/>
                <a:cs typeface="Arial"/>
              </a:rPr>
              <a:t> </a:t>
            </a:r>
            <a:r>
              <a:rPr sz="900" dirty="0">
                <a:latin typeface="Arial"/>
                <a:cs typeface="Arial"/>
              </a:rPr>
              <a:t>địa điểm</a:t>
            </a:r>
            <a:r>
              <a:rPr sz="900" spc="-20" dirty="0">
                <a:latin typeface="Arial"/>
                <a:cs typeface="Arial"/>
              </a:rPr>
              <a:t> </a:t>
            </a:r>
            <a:r>
              <a:rPr sz="900" spc="-50" dirty="0">
                <a:latin typeface="Arial"/>
                <a:cs typeface="Arial"/>
              </a:rPr>
              <a:t>một </a:t>
            </a:r>
            <a:r>
              <a:rPr sz="900" dirty="0">
                <a:latin typeface="Arial"/>
                <a:cs typeface="Arial"/>
              </a:rPr>
              <a:t>dịch vụ.</a:t>
            </a:r>
            <a:r>
              <a:rPr sz="900" spc="25" dirty="0">
                <a:latin typeface="Arial"/>
                <a:cs typeface="Arial"/>
              </a:rPr>
              <a:t> </a:t>
            </a:r>
            <a:r>
              <a:rPr sz="900" dirty="0">
                <a:latin typeface="Arial"/>
                <a:cs typeface="Arial"/>
              </a:rPr>
              <a:t>Cái này</a:t>
            </a:r>
            <a:r>
              <a:rPr sz="900" spc="-30" dirty="0">
                <a:latin typeface="Arial"/>
                <a:cs typeface="Arial"/>
              </a:rPr>
              <a:t> </a:t>
            </a:r>
            <a:r>
              <a:rPr sz="900" dirty="0">
                <a:latin typeface="Arial"/>
                <a:cs typeface="Arial"/>
              </a:rPr>
              <a:t>là</a:t>
            </a:r>
            <a:r>
              <a:rPr sz="900" spc="-25" dirty="0">
                <a:latin typeface="Arial"/>
                <a:cs typeface="Arial"/>
              </a:rPr>
              <a:t> </a:t>
            </a:r>
            <a:r>
              <a:rPr sz="900" dirty="0">
                <a:latin typeface="Arial"/>
                <a:cs typeface="Arial"/>
              </a:rPr>
              <a:t>đáng chú ý</a:t>
            </a:r>
            <a:r>
              <a:rPr sz="900" spc="-30" dirty="0">
                <a:latin typeface="Arial"/>
                <a:cs typeface="Arial"/>
              </a:rPr>
              <a:t> </a:t>
            </a:r>
            <a:r>
              <a:rPr sz="900" spc="-10" dirty="0">
                <a:latin typeface="Arial"/>
                <a:cs typeface="Arial"/>
              </a:rPr>
              <a:t>liên quan</a:t>
            </a:r>
            <a:r>
              <a:rPr sz="900" spc="-30" dirty="0">
                <a:latin typeface="Arial"/>
                <a:cs typeface="Arial"/>
              </a:rPr>
              <a:t> </a:t>
            </a:r>
            <a:r>
              <a:rPr sz="900" dirty="0">
                <a:latin typeface="Arial"/>
                <a:cs typeface="Arial"/>
              </a:rPr>
              <a:t>vì</a:t>
            </a:r>
            <a:r>
              <a:rPr sz="900" spc="-25" dirty="0">
                <a:latin typeface="Arial"/>
                <a:cs typeface="Arial"/>
              </a:rPr>
              <a:t> </a:t>
            </a:r>
            <a:r>
              <a:rPr sz="900" dirty="0">
                <a:latin typeface="Arial"/>
                <a:cs typeface="Arial"/>
              </a:rPr>
              <a:t>di động</a:t>
            </a:r>
            <a:r>
              <a:rPr sz="900" spc="-30" dirty="0">
                <a:latin typeface="Arial"/>
                <a:cs typeface="Arial"/>
              </a:rPr>
              <a:t> </a:t>
            </a:r>
            <a:r>
              <a:rPr sz="900" spc="-10" dirty="0">
                <a:latin typeface="Arial"/>
                <a:cs typeface="Arial"/>
              </a:rPr>
              <a:t>ứng dụng.</a:t>
            </a:r>
            <a:endParaRPr sz="900">
              <a:latin typeface="Arial"/>
              <a:cs typeface="Arial"/>
            </a:endParaRPr>
          </a:p>
          <a:p>
            <a:pPr marL="290830" marR="30480" indent="-120650">
              <a:lnSpc>
                <a:spcPct val="111600"/>
              </a:lnSpc>
              <a:spcBef>
                <a:spcPts val="300"/>
              </a:spcBef>
              <a:buClr>
                <a:srgbClr val="3333B2"/>
              </a:buClr>
              <a:buFont typeface="Apple Symbols"/>
              <a:buChar char="•"/>
              <a:tabLst>
                <a:tab pos="291465" algn="l"/>
              </a:tabLst>
            </a:pPr>
            <a:r>
              <a:rPr sz="900" dirty="0">
                <a:solidFill>
                  <a:srgbClr val="C80000"/>
                </a:solidFill>
                <a:latin typeface="Arial"/>
                <a:cs typeface="Arial"/>
              </a:rPr>
              <a:t>Bờ rìa</a:t>
            </a:r>
            <a:r>
              <a:rPr sz="900" spc="-35" dirty="0">
                <a:solidFill>
                  <a:srgbClr val="C80000"/>
                </a:solidFill>
                <a:latin typeface="Arial"/>
                <a:cs typeface="Arial"/>
              </a:rPr>
              <a:t> </a:t>
            </a:r>
            <a:r>
              <a:rPr sz="900" dirty="0">
                <a:solidFill>
                  <a:srgbClr val="C80000"/>
                </a:solidFill>
                <a:latin typeface="Arial"/>
                <a:cs typeface="Arial"/>
              </a:rPr>
              <a:t>lựa chọn </a:t>
            </a:r>
            <a:r>
              <a:rPr sz="900" dirty="0">
                <a:latin typeface="Arial"/>
                <a:cs typeface="Arial"/>
              </a:rPr>
              <a:t>:</a:t>
            </a:r>
            <a:r>
              <a:rPr sz="900" spc="25" dirty="0">
                <a:latin typeface="Arial"/>
                <a:cs typeface="Arial"/>
              </a:rPr>
              <a:t> </a:t>
            </a:r>
            <a:r>
              <a:rPr sz="900" dirty="0">
                <a:latin typeface="Arial"/>
                <a:cs typeface="Arial"/>
              </a:rPr>
              <a:t>chúng tôi</a:t>
            </a:r>
            <a:r>
              <a:rPr sz="900" spc="-30" dirty="0">
                <a:latin typeface="Arial"/>
                <a:cs typeface="Arial"/>
              </a:rPr>
              <a:t> </a:t>
            </a:r>
            <a:r>
              <a:rPr sz="900" dirty="0">
                <a:latin typeface="Arial"/>
                <a:cs typeface="Arial"/>
              </a:rPr>
              <a:t>nhu cầu</a:t>
            </a:r>
            <a:r>
              <a:rPr sz="900" spc="-30" dirty="0">
                <a:latin typeface="Arial"/>
                <a:cs typeface="Arial"/>
              </a:rPr>
              <a:t> </a:t>
            </a:r>
            <a:r>
              <a:rPr sz="900" dirty="0">
                <a:latin typeface="Arial"/>
                <a:cs typeface="Arial"/>
              </a:rPr>
              <a:t>ĐẾN</a:t>
            </a:r>
            <a:r>
              <a:rPr sz="900" spc="-30" dirty="0">
                <a:latin typeface="Arial"/>
                <a:cs typeface="Arial"/>
              </a:rPr>
              <a:t> </a:t>
            </a:r>
            <a:r>
              <a:rPr sz="900" dirty="0">
                <a:latin typeface="Arial"/>
                <a:cs typeface="Arial"/>
              </a:rPr>
              <a:t>quyết định</a:t>
            </a:r>
            <a:r>
              <a:rPr sz="900" spc="-30" dirty="0">
                <a:latin typeface="Arial"/>
                <a:cs typeface="Arial"/>
              </a:rPr>
              <a:t> </a:t>
            </a:r>
            <a:r>
              <a:rPr sz="900" dirty="0">
                <a:latin typeface="Arial"/>
                <a:cs typeface="Arial"/>
              </a:rPr>
              <a:t>cái mà</a:t>
            </a:r>
            <a:r>
              <a:rPr sz="900" spc="-30" dirty="0">
                <a:latin typeface="Arial"/>
                <a:cs typeface="Arial"/>
              </a:rPr>
              <a:t> </a:t>
            </a:r>
            <a:r>
              <a:rPr sz="900" dirty="0">
                <a:latin typeface="Arial"/>
                <a:cs typeface="Arial"/>
              </a:rPr>
              <a:t>bờ rìa</a:t>
            </a:r>
            <a:r>
              <a:rPr sz="900" spc="-30" dirty="0">
                <a:latin typeface="Arial"/>
                <a:cs typeface="Arial"/>
              </a:rPr>
              <a:t> </a:t>
            </a:r>
            <a:r>
              <a:rPr sz="900" dirty="0">
                <a:latin typeface="Arial"/>
                <a:cs typeface="Arial"/>
              </a:rPr>
              <a:t>cơ sở hạ tầng</a:t>
            </a:r>
            <a:r>
              <a:rPr sz="900" spc="-30" dirty="0">
                <a:latin typeface="Arial"/>
                <a:cs typeface="Arial"/>
              </a:rPr>
              <a:t> </a:t>
            </a:r>
            <a:r>
              <a:rPr sz="900" dirty="0">
                <a:latin typeface="Arial"/>
                <a:cs typeface="Arial"/>
              </a:rPr>
              <a:t>nên</a:t>
            </a:r>
            <a:r>
              <a:rPr sz="900" spc="-30" dirty="0">
                <a:latin typeface="Arial"/>
                <a:cs typeface="Arial"/>
              </a:rPr>
              <a:t> </a:t>
            </a:r>
            <a:r>
              <a:rPr sz="900" spc="-25" dirty="0">
                <a:latin typeface="Arial"/>
                <a:cs typeface="Arial"/>
              </a:rPr>
              <a:t>được </a:t>
            </a:r>
            <a:r>
              <a:rPr sz="900" spc="-10" dirty="0">
                <a:latin typeface="Arial"/>
                <a:cs typeface="Arial"/>
              </a:rPr>
              <a:t>sử dụng</a:t>
            </a:r>
            <a:r>
              <a:rPr sz="900" spc="-35" dirty="0">
                <a:latin typeface="Arial"/>
                <a:cs typeface="Arial"/>
              </a:rPr>
              <a:t> </a:t>
            </a:r>
            <a:r>
              <a:rPr sz="900" spc="-10" dirty="0">
                <a:latin typeface="Arial"/>
                <a:cs typeface="Arial"/>
              </a:rPr>
              <a:t>khi</a:t>
            </a:r>
            <a:r>
              <a:rPr sz="900" spc="-30" dirty="0">
                <a:latin typeface="Arial"/>
                <a:cs typeface="Arial"/>
              </a:rPr>
              <a:t> </a:t>
            </a:r>
            <a:r>
              <a:rPr sz="900" dirty="0">
                <a:latin typeface="Arial"/>
                <a:cs typeface="Arial"/>
              </a:rPr>
              <a:t>Một</a:t>
            </a:r>
            <a:r>
              <a:rPr sz="900" spc="-30" dirty="0">
                <a:latin typeface="Arial"/>
                <a:cs typeface="Arial"/>
              </a:rPr>
              <a:t> </a:t>
            </a:r>
            <a:r>
              <a:rPr sz="900" spc="-10" dirty="0">
                <a:latin typeface="Arial"/>
                <a:cs typeface="Arial"/>
              </a:rPr>
              <a:t>dịch vụ</a:t>
            </a:r>
            <a:r>
              <a:rPr sz="900" spc="-30" dirty="0">
                <a:latin typeface="Arial"/>
                <a:cs typeface="Arial"/>
              </a:rPr>
              <a:t> </a:t>
            </a:r>
            <a:r>
              <a:rPr sz="900" spc="-10" dirty="0">
                <a:latin typeface="Arial"/>
                <a:cs typeface="Arial"/>
              </a:rPr>
              <a:t>nhu cầu</a:t>
            </a:r>
            <a:r>
              <a:rPr sz="900" spc="-30" dirty="0">
                <a:latin typeface="Arial"/>
                <a:cs typeface="Arial"/>
              </a:rPr>
              <a:t> </a:t>
            </a:r>
            <a:r>
              <a:rPr sz="900" dirty="0">
                <a:latin typeface="Arial"/>
                <a:cs typeface="Arial"/>
              </a:rPr>
              <a:t>ĐẾN</a:t>
            </a:r>
            <a:r>
              <a:rPr sz="900" spc="-30" dirty="0">
                <a:latin typeface="Arial"/>
                <a:cs typeface="Arial"/>
              </a:rPr>
              <a:t> </a:t>
            </a:r>
            <a:r>
              <a:rPr sz="900" dirty="0">
                <a:latin typeface="Arial"/>
                <a:cs typeface="Arial"/>
              </a:rPr>
              <a:t>là</a:t>
            </a:r>
            <a:r>
              <a:rPr sz="900" spc="-30" dirty="0">
                <a:latin typeface="Arial"/>
                <a:cs typeface="Arial"/>
              </a:rPr>
              <a:t> </a:t>
            </a:r>
            <a:r>
              <a:rPr sz="900" spc="-10" dirty="0">
                <a:latin typeface="Arial"/>
                <a:cs typeface="Arial"/>
              </a:rPr>
              <a:t>ngỏ ý.</a:t>
            </a:r>
            <a:r>
              <a:rPr sz="900" spc="25" dirty="0">
                <a:latin typeface="Arial"/>
                <a:cs typeface="Arial"/>
              </a:rPr>
              <a:t> </a:t>
            </a:r>
            <a:r>
              <a:rPr sz="900" dirty="0">
                <a:latin typeface="Arial"/>
                <a:cs typeface="Arial"/>
              </a:rPr>
              <a:t>Các</a:t>
            </a:r>
            <a:r>
              <a:rPr sz="900" spc="-30" dirty="0">
                <a:latin typeface="Arial"/>
                <a:cs typeface="Arial"/>
              </a:rPr>
              <a:t> </a:t>
            </a:r>
            <a:r>
              <a:rPr sz="900" spc="-10" dirty="0">
                <a:latin typeface="Arial"/>
                <a:cs typeface="Arial"/>
              </a:rPr>
              <a:t>gần nhất</a:t>
            </a:r>
            <a:r>
              <a:rPr sz="900" spc="-30" dirty="0">
                <a:latin typeface="Arial"/>
                <a:cs typeface="Arial"/>
              </a:rPr>
              <a:t> </a:t>
            </a:r>
            <a:r>
              <a:rPr sz="900" dirty="0">
                <a:latin typeface="Arial"/>
                <a:cs typeface="Arial"/>
              </a:rPr>
              <a:t>một</a:t>
            </a:r>
            <a:r>
              <a:rPr sz="900" spc="-30" dirty="0">
                <a:latin typeface="Arial"/>
                <a:cs typeface="Arial"/>
              </a:rPr>
              <a:t> </a:t>
            </a:r>
            <a:r>
              <a:rPr sz="900" spc="-20" dirty="0">
                <a:latin typeface="Arial"/>
                <a:cs typeface="Arial"/>
              </a:rPr>
              <a:t>có thể</a:t>
            </a:r>
            <a:r>
              <a:rPr sz="900" spc="-30" dirty="0">
                <a:latin typeface="Arial"/>
                <a:cs typeface="Arial"/>
              </a:rPr>
              <a:t> </a:t>
            </a:r>
            <a:r>
              <a:rPr sz="900" dirty="0">
                <a:latin typeface="Arial"/>
                <a:cs typeface="Arial"/>
              </a:rPr>
              <a:t>không</a:t>
            </a:r>
            <a:r>
              <a:rPr sz="900" spc="-35" dirty="0">
                <a:latin typeface="Arial"/>
                <a:cs typeface="Arial"/>
              </a:rPr>
              <a:t> </a:t>
            </a:r>
            <a:r>
              <a:rPr sz="900" dirty="0">
                <a:latin typeface="Arial"/>
                <a:cs typeface="Arial"/>
              </a:rPr>
              <a:t>là</a:t>
            </a:r>
            <a:r>
              <a:rPr sz="900" spc="-30" dirty="0">
                <a:latin typeface="Arial"/>
                <a:cs typeface="Arial"/>
              </a:rPr>
              <a:t> </a:t>
            </a:r>
            <a:r>
              <a:rPr sz="900" spc="-25" dirty="0">
                <a:latin typeface="Arial"/>
                <a:cs typeface="Arial"/>
              </a:rPr>
              <a:t>tốt </a:t>
            </a:r>
            <a:r>
              <a:rPr sz="900" dirty="0">
                <a:latin typeface="Arial"/>
                <a:cs typeface="Arial"/>
              </a:rPr>
              <a:t>nhất</a:t>
            </a:r>
            <a:r>
              <a:rPr sz="900" spc="-25" dirty="0">
                <a:latin typeface="Arial"/>
                <a:cs typeface="Arial"/>
              </a:rPr>
              <a:t> </a:t>
            </a:r>
            <a:r>
              <a:rPr sz="900" spc="-20" dirty="0">
                <a:latin typeface="Arial"/>
                <a:cs typeface="Arial"/>
              </a:rPr>
              <a:t>một.</a:t>
            </a:r>
            <a:endParaRPr sz="900">
              <a:latin typeface="Arial"/>
              <a:cs typeface="Arial"/>
            </a:endParaRPr>
          </a:p>
          <a:p>
            <a:pPr>
              <a:lnSpc>
                <a:spcPct val="100000"/>
              </a:lnSpc>
              <a:spcBef>
                <a:spcPts val="20"/>
              </a:spcBef>
            </a:pPr>
            <a:endParaRPr sz="1050">
              <a:latin typeface="Arial"/>
              <a:cs typeface="Arial"/>
            </a:endParaRPr>
          </a:p>
          <a:p>
            <a:pPr marL="38100">
              <a:lnSpc>
                <a:spcPct val="100000"/>
              </a:lnSpc>
            </a:pPr>
            <a:r>
              <a:rPr sz="1000" spc="-10" dirty="0">
                <a:solidFill>
                  <a:srgbClr val="C80000"/>
                </a:solidFill>
                <a:latin typeface="Arial"/>
                <a:cs typeface="Arial"/>
              </a:rPr>
              <a:t>Quan sát</a:t>
            </a:r>
            <a:endParaRPr sz="1000">
              <a:latin typeface="Arial"/>
              <a:cs typeface="Arial"/>
            </a:endParaRPr>
          </a:p>
          <a:p>
            <a:pPr marL="33655" marR="324485">
              <a:lnSpc>
                <a:spcPts val="1210"/>
              </a:lnSpc>
              <a:spcBef>
                <a:spcPts val="35"/>
              </a:spcBef>
            </a:pPr>
            <a:r>
              <a:rPr sz="900" dirty="0">
                <a:latin typeface="Arial"/>
                <a:cs typeface="Arial"/>
              </a:rPr>
              <a:t>Ở đó</a:t>
            </a:r>
            <a:r>
              <a:rPr sz="900" spc="-30" dirty="0">
                <a:latin typeface="Arial"/>
                <a:cs typeface="Arial"/>
              </a:rPr>
              <a:t> </a:t>
            </a:r>
            <a:r>
              <a:rPr sz="900" dirty="0">
                <a:latin typeface="Arial"/>
                <a:cs typeface="Arial"/>
              </a:rPr>
              <a:t>là</a:t>
            </a:r>
            <a:r>
              <a:rPr sz="900" spc="-25" dirty="0">
                <a:latin typeface="Arial"/>
                <a:cs typeface="Arial"/>
              </a:rPr>
              <a:t> </a:t>
            </a:r>
            <a:r>
              <a:rPr sz="900" dirty="0">
                <a:latin typeface="Arial"/>
                <a:cs typeface="Arial"/>
              </a:rPr>
              <a:t>vẫn</a:t>
            </a:r>
            <a:r>
              <a:rPr sz="900" spc="-30" dirty="0">
                <a:latin typeface="Arial"/>
                <a:cs typeface="Arial"/>
              </a:rPr>
              <a:t> </a:t>
            </a:r>
            <a:r>
              <a:rPr sz="900" dirty="0">
                <a:latin typeface="Arial"/>
                <a:cs typeface="Arial"/>
              </a:rPr>
              <a:t>Một</a:t>
            </a:r>
            <a:r>
              <a:rPr sz="900" spc="-25" dirty="0">
                <a:latin typeface="Arial"/>
                <a:cs typeface="Arial"/>
              </a:rPr>
              <a:t> </a:t>
            </a:r>
            <a:r>
              <a:rPr sz="900" dirty="0">
                <a:latin typeface="Arial"/>
                <a:cs typeface="Arial"/>
              </a:rPr>
              <a:t>nhiều</a:t>
            </a:r>
            <a:r>
              <a:rPr sz="900" spc="-25" dirty="0">
                <a:latin typeface="Arial"/>
                <a:cs typeface="Arial"/>
              </a:rPr>
              <a:t> </a:t>
            </a:r>
            <a:r>
              <a:rPr sz="900" dirty="0">
                <a:latin typeface="Arial"/>
                <a:cs typeface="Arial"/>
              </a:rPr>
              <a:t>của</a:t>
            </a:r>
            <a:r>
              <a:rPr sz="900" spc="-30" dirty="0">
                <a:latin typeface="Arial"/>
                <a:cs typeface="Arial"/>
              </a:rPr>
              <a:t> </a:t>
            </a:r>
            <a:r>
              <a:rPr sz="900" dirty="0">
                <a:latin typeface="Arial"/>
                <a:cs typeface="Arial"/>
              </a:rPr>
              <a:t>tiếng vo ve</a:t>
            </a:r>
            <a:r>
              <a:rPr sz="900" spc="-25" dirty="0">
                <a:latin typeface="Arial"/>
                <a:cs typeface="Arial"/>
              </a:rPr>
              <a:t> </a:t>
            </a:r>
            <a:r>
              <a:rPr sz="900" dirty="0">
                <a:latin typeface="Arial"/>
                <a:cs typeface="Arial"/>
              </a:rPr>
              <a:t>Về</a:t>
            </a:r>
            <a:r>
              <a:rPr sz="900" spc="-30" dirty="0">
                <a:latin typeface="Arial"/>
                <a:cs typeface="Arial"/>
              </a:rPr>
              <a:t> </a:t>
            </a:r>
            <a:r>
              <a:rPr sz="900" dirty="0">
                <a:latin typeface="Arial"/>
                <a:cs typeface="Arial"/>
              </a:rPr>
              <a:t>bờ rìa</a:t>
            </a:r>
            <a:r>
              <a:rPr sz="900" spc="-25" dirty="0">
                <a:latin typeface="Arial"/>
                <a:cs typeface="Arial"/>
              </a:rPr>
              <a:t> </a:t>
            </a:r>
            <a:r>
              <a:rPr sz="900" dirty="0">
                <a:latin typeface="Arial"/>
                <a:cs typeface="Arial"/>
              </a:rPr>
              <a:t>cơ sở hạ tầng</a:t>
            </a:r>
            <a:r>
              <a:rPr sz="900" spc="-25" dirty="0">
                <a:latin typeface="Arial"/>
                <a:cs typeface="Arial"/>
              </a:rPr>
              <a:t> </a:t>
            </a:r>
            <a:r>
              <a:rPr sz="900" dirty="0">
                <a:latin typeface="Arial"/>
                <a:cs typeface="Arial"/>
              </a:rPr>
              <a:t>Và</a:t>
            </a:r>
            <a:r>
              <a:rPr sz="900" spc="-30" dirty="0">
                <a:latin typeface="Arial"/>
                <a:cs typeface="Arial"/>
              </a:rPr>
              <a:t> </a:t>
            </a:r>
            <a:r>
              <a:rPr sz="900" dirty="0">
                <a:latin typeface="Arial"/>
                <a:cs typeface="Arial"/>
              </a:rPr>
              <a:t>tính toán, </a:t>
            </a:r>
            <a:r>
              <a:rPr sz="900" spc="-25" dirty="0">
                <a:latin typeface="Arial"/>
                <a:cs typeface="Arial"/>
              </a:rPr>
              <a:t>nhưng </a:t>
            </a:r>
            <a:r>
              <a:rPr sz="900" dirty="0">
                <a:latin typeface="Arial"/>
                <a:cs typeface="Arial"/>
              </a:rPr>
              <a:t>liệu</a:t>
            </a:r>
            <a:r>
              <a:rPr sz="900" spc="-30" dirty="0">
                <a:latin typeface="Arial"/>
                <a:cs typeface="Arial"/>
              </a:rPr>
              <a:t> </a:t>
            </a:r>
            <a:r>
              <a:rPr sz="900" dirty="0">
                <a:latin typeface="Arial"/>
                <a:cs typeface="Arial"/>
              </a:rPr>
              <a:t>tất cả</a:t>
            </a:r>
            <a:r>
              <a:rPr sz="900" spc="-30" dirty="0">
                <a:latin typeface="Arial"/>
                <a:cs typeface="Arial"/>
              </a:rPr>
              <a:t> </a:t>
            </a:r>
            <a:r>
              <a:rPr sz="900" dirty="0">
                <a:latin typeface="Arial"/>
                <a:cs typeface="Arial"/>
              </a:rPr>
              <a:t>cái đó</a:t>
            </a:r>
            <a:r>
              <a:rPr sz="900" spc="-30" dirty="0">
                <a:latin typeface="Arial"/>
                <a:cs typeface="Arial"/>
              </a:rPr>
              <a:t> </a:t>
            </a:r>
            <a:r>
              <a:rPr sz="900" dirty="0">
                <a:latin typeface="Arial"/>
                <a:cs typeface="Arial"/>
              </a:rPr>
              <a:t>tiếng vo ve</a:t>
            </a:r>
            <a:r>
              <a:rPr sz="900" spc="-30" dirty="0">
                <a:latin typeface="Arial"/>
                <a:cs typeface="Arial"/>
              </a:rPr>
              <a:t> </a:t>
            </a:r>
            <a:r>
              <a:rPr sz="900" dirty="0">
                <a:latin typeface="Arial"/>
                <a:cs typeface="Arial"/>
              </a:rPr>
              <a:t>làm cho</a:t>
            </a:r>
            <a:r>
              <a:rPr sz="900" spc="-30" dirty="0">
                <a:latin typeface="Arial"/>
                <a:cs typeface="Arial"/>
              </a:rPr>
              <a:t> </a:t>
            </a:r>
            <a:r>
              <a:rPr sz="900" dirty="0">
                <a:latin typeface="Arial"/>
                <a:cs typeface="Arial"/>
              </a:rPr>
              <a:t>bất kì</a:t>
            </a:r>
            <a:r>
              <a:rPr sz="900" spc="-30" dirty="0">
                <a:latin typeface="Arial"/>
                <a:cs typeface="Arial"/>
              </a:rPr>
              <a:t> </a:t>
            </a:r>
            <a:r>
              <a:rPr sz="900" dirty="0">
                <a:latin typeface="Arial"/>
                <a:cs typeface="Arial"/>
              </a:rPr>
              <a:t>giác quan</a:t>
            </a:r>
            <a:r>
              <a:rPr sz="900" spc="-30" dirty="0">
                <a:latin typeface="Arial"/>
                <a:cs typeface="Arial"/>
              </a:rPr>
              <a:t> </a:t>
            </a:r>
            <a:r>
              <a:rPr sz="900" dirty="0">
                <a:latin typeface="Arial"/>
                <a:cs typeface="Arial"/>
              </a:rPr>
              <a:t>còn lại</a:t>
            </a:r>
            <a:r>
              <a:rPr sz="900" spc="-30" dirty="0">
                <a:latin typeface="Arial"/>
                <a:cs typeface="Arial"/>
              </a:rPr>
              <a:t> </a:t>
            </a:r>
            <a:r>
              <a:rPr sz="900" dirty="0">
                <a:latin typeface="Arial"/>
                <a:cs typeface="Arial"/>
              </a:rPr>
              <a:t>ĐẾN</a:t>
            </a:r>
            <a:r>
              <a:rPr sz="900" spc="-30" dirty="0">
                <a:latin typeface="Arial"/>
                <a:cs typeface="Arial"/>
              </a:rPr>
              <a:t> </a:t>
            </a:r>
            <a:r>
              <a:rPr sz="900" dirty="0">
                <a:latin typeface="Arial"/>
                <a:cs typeface="Arial"/>
              </a:rPr>
              <a:t>là</a:t>
            </a:r>
            <a:r>
              <a:rPr sz="900" spc="-25" dirty="0">
                <a:latin typeface="Arial"/>
                <a:cs typeface="Arial"/>
              </a:rPr>
              <a:t> </a:t>
            </a:r>
            <a:r>
              <a:rPr sz="900" spc="-10" dirty="0">
                <a:latin typeface="Arial"/>
                <a:cs typeface="Arial"/>
              </a:rPr>
              <a:t>đã xem.</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134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Đám mây </a:t>
            </a:r>
            <a:r>
              <a:rPr sz="500" spc="-10" dirty="0">
                <a:latin typeface="Arial"/>
                <a:cs typeface="Arial"/>
                <a:hlinkClick r:id="rId4" action="ppaction://hlinksldjump"/>
              </a:rPr>
              <a:t>rìa</a:t>
            </a:r>
            <a:r>
              <a:rPr sz="500" spc="5" dirty="0">
                <a:latin typeface="Arial"/>
                <a:cs typeface="Arial"/>
                <a:hlinkClick r:id="rId4" action="ppaction://hlinksldjump"/>
              </a:rPr>
              <a:t> </a:t>
            </a:r>
            <a:r>
              <a:rPr sz="500" spc="-10" dirty="0">
                <a:latin typeface="Arial"/>
                <a:cs typeface="Arial"/>
                <a:hlinkClick r:id="rId4" action="ppaction://hlinksldjump"/>
              </a:rPr>
              <a:t>ngành kiến trúc</a:t>
            </a:r>
            <a:endParaRPr sz="500">
              <a:latin typeface="Arial"/>
              <a:cs typeface="Arial"/>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lai</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95300" y="197711"/>
            <a:ext cx="2546350" cy="4692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Chuỗi khối</a:t>
            </a:r>
            <a:endParaRPr sz="1200">
              <a:latin typeface="Arial"/>
              <a:cs typeface="Arial"/>
            </a:endParaRPr>
          </a:p>
          <a:p>
            <a:pPr marL="264160">
              <a:lnSpc>
                <a:spcPct val="100000"/>
              </a:lnSpc>
              <a:spcBef>
                <a:spcPts val="855"/>
              </a:spcBef>
            </a:pPr>
            <a:r>
              <a:rPr sz="1000" dirty="0">
                <a:solidFill>
                  <a:srgbClr val="3333B2"/>
                </a:solidFill>
                <a:latin typeface="Arial"/>
                <a:cs typeface="Arial"/>
              </a:rPr>
              <a:t>Nguyên tắc</a:t>
            </a:r>
            <a:r>
              <a:rPr sz="1000" spc="-20" dirty="0">
                <a:solidFill>
                  <a:srgbClr val="3333B2"/>
                </a:solidFill>
                <a:latin typeface="Arial"/>
                <a:cs typeface="Arial"/>
              </a:rPr>
              <a:t> </a:t>
            </a:r>
            <a:r>
              <a:rPr sz="1000" dirty="0">
                <a:solidFill>
                  <a:srgbClr val="3333B2"/>
                </a:solidFill>
                <a:latin typeface="Arial"/>
                <a:cs typeface="Arial"/>
              </a:rPr>
              <a:t>đang làm việc</a:t>
            </a:r>
            <a:r>
              <a:rPr sz="1000" spc="-20" dirty="0">
                <a:solidFill>
                  <a:srgbClr val="3333B2"/>
                </a:solidFill>
                <a:latin typeface="Arial"/>
                <a:cs typeface="Arial"/>
              </a:rPr>
              <a:t> </a:t>
            </a:r>
            <a:r>
              <a:rPr sz="1000" dirty="0">
                <a:solidFill>
                  <a:srgbClr val="3333B2"/>
                </a:solidFill>
                <a:latin typeface="Arial"/>
                <a:cs typeface="Arial"/>
              </a:rPr>
              <a:t>của</a:t>
            </a:r>
            <a:r>
              <a:rPr sz="1000" spc="-15" dirty="0">
                <a:solidFill>
                  <a:srgbClr val="3333B2"/>
                </a:solidFill>
                <a:latin typeface="Arial"/>
                <a:cs typeface="Arial"/>
              </a:rPr>
              <a:t> </a:t>
            </a:r>
            <a:r>
              <a:rPr sz="1000" dirty="0">
                <a:solidFill>
                  <a:srgbClr val="3333B2"/>
                </a:solidFill>
                <a:latin typeface="Arial"/>
                <a:cs typeface="Arial"/>
              </a:rPr>
              <a:t>Một</a:t>
            </a:r>
            <a:r>
              <a:rPr sz="1000" spc="-20" dirty="0">
                <a:solidFill>
                  <a:srgbClr val="3333B2"/>
                </a:solidFill>
                <a:latin typeface="Arial"/>
                <a:cs typeface="Arial"/>
              </a:rPr>
              <a:t> </a:t>
            </a:r>
            <a:r>
              <a:rPr sz="1000" spc="-10" dirty="0">
                <a:solidFill>
                  <a:srgbClr val="3333B2"/>
                </a:solidFill>
                <a:latin typeface="Arial"/>
                <a:cs typeface="Arial"/>
              </a:rPr>
              <a:t>chuỗi khối</a:t>
            </a:r>
            <a:r>
              <a:rPr sz="1000" spc="-15" dirty="0">
                <a:solidFill>
                  <a:srgbClr val="3333B2"/>
                </a:solidFill>
                <a:latin typeface="Arial"/>
                <a:cs typeface="Arial"/>
              </a:rPr>
              <a:t> </a:t>
            </a:r>
            <a:r>
              <a:rPr sz="1000" spc="-10" dirty="0">
                <a:solidFill>
                  <a:srgbClr val="3333B2"/>
                </a:solidFill>
                <a:latin typeface="Arial"/>
                <a:cs typeface="Arial"/>
              </a:rPr>
              <a:t>hệ thống</a:t>
            </a:r>
            <a:endParaRPr sz="1000">
              <a:latin typeface="Arial"/>
              <a:cs typeface="Arial"/>
            </a:endParaRPr>
          </a:p>
        </p:txBody>
      </p:sp>
      <p:pic>
        <p:nvPicPr>
          <p:cNvPr id="6" name="object 6"/>
          <p:cNvPicPr/>
          <p:nvPr/>
        </p:nvPicPr>
        <p:blipFill>
          <a:blip r:embed="rId4" cstate="print"/>
          <a:stretch>
            <a:fillRect/>
          </a:stretch>
        </p:blipFill>
        <p:spPr>
          <a:xfrm>
            <a:off x="1015872" y="678636"/>
            <a:ext cx="2543330" cy="1749092"/>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7099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Chuỗi khối</a:t>
            </a:r>
            <a:r>
              <a:rPr sz="500" spc="60" dirty="0">
                <a:latin typeface="Arial"/>
                <a:cs typeface="Arial"/>
                <a:hlinkClick r:id="rId5" action="ppaction://hlinksldjump"/>
              </a:rPr>
              <a:t> </a:t>
            </a:r>
            <a:r>
              <a:rPr sz="500" spc="-10" dirty="0">
                <a:latin typeface="Arial"/>
                <a:cs typeface="Arial"/>
                <a:hlinkClick r:id="rId5" action="ppaction://hlinksldjump"/>
              </a:rPr>
              <a:t>kiến trúc</a:t>
            </a:r>
            <a:endParaRPr sz="500">
              <a:latin typeface="Arial"/>
              <a:cs typeface="Arial"/>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lai</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95300" y="197711"/>
            <a:ext cx="2546350" cy="4692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Chuỗi khối</a:t>
            </a:r>
            <a:endParaRPr sz="1200">
              <a:latin typeface="Arial"/>
              <a:cs typeface="Arial"/>
            </a:endParaRPr>
          </a:p>
          <a:p>
            <a:pPr marL="264160">
              <a:lnSpc>
                <a:spcPct val="100000"/>
              </a:lnSpc>
              <a:spcBef>
                <a:spcPts val="855"/>
              </a:spcBef>
            </a:pPr>
            <a:r>
              <a:rPr sz="1000" dirty="0">
                <a:solidFill>
                  <a:srgbClr val="3333B2"/>
                </a:solidFill>
                <a:latin typeface="Arial"/>
                <a:cs typeface="Arial"/>
              </a:rPr>
              <a:t>Nguyên tắc</a:t>
            </a:r>
            <a:r>
              <a:rPr sz="1000" spc="-20" dirty="0">
                <a:solidFill>
                  <a:srgbClr val="3333B2"/>
                </a:solidFill>
                <a:latin typeface="Arial"/>
                <a:cs typeface="Arial"/>
              </a:rPr>
              <a:t> </a:t>
            </a:r>
            <a:r>
              <a:rPr sz="1000" dirty="0">
                <a:solidFill>
                  <a:srgbClr val="3333B2"/>
                </a:solidFill>
                <a:latin typeface="Arial"/>
                <a:cs typeface="Arial"/>
              </a:rPr>
              <a:t>đang làm việc</a:t>
            </a:r>
            <a:r>
              <a:rPr sz="1000" spc="-20" dirty="0">
                <a:solidFill>
                  <a:srgbClr val="3333B2"/>
                </a:solidFill>
                <a:latin typeface="Arial"/>
                <a:cs typeface="Arial"/>
              </a:rPr>
              <a:t> </a:t>
            </a:r>
            <a:r>
              <a:rPr sz="1000" dirty="0">
                <a:solidFill>
                  <a:srgbClr val="3333B2"/>
                </a:solidFill>
                <a:latin typeface="Arial"/>
                <a:cs typeface="Arial"/>
              </a:rPr>
              <a:t>của</a:t>
            </a:r>
            <a:r>
              <a:rPr sz="1000" spc="-15" dirty="0">
                <a:solidFill>
                  <a:srgbClr val="3333B2"/>
                </a:solidFill>
                <a:latin typeface="Arial"/>
                <a:cs typeface="Arial"/>
              </a:rPr>
              <a:t> </a:t>
            </a:r>
            <a:r>
              <a:rPr sz="1000" dirty="0">
                <a:solidFill>
                  <a:srgbClr val="3333B2"/>
                </a:solidFill>
                <a:latin typeface="Arial"/>
                <a:cs typeface="Arial"/>
              </a:rPr>
              <a:t>Một</a:t>
            </a:r>
            <a:r>
              <a:rPr sz="1000" spc="-20" dirty="0">
                <a:solidFill>
                  <a:srgbClr val="3333B2"/>
                </a:solidFill>
                <a:latin typeface="Arial"/>
                <a:cs typeface="Arial"/>
              </a:rPr>
              <a:t> </a:t>
            </a:r>
            <a:r>
              <a:rPr sz="1000" spc="-10" dirty="0">
                <a:solidFill>
                  <a:srgbClr val="3333B2"/>
                </a:solidFill>
                <a:latin typeface="Arial"/>
                <a:cs typeface="Arial"/>
              </a:rPr>
              <a:t>chuỗi khối</a:t>
            </a:r>
            <a:r>
              <a:rPr sz="1000" spc="-15" dirty="0">
                <a:solidFill>
                  <a:srgbClr val="3333B2"/>
                </a:solidFill>
                <a:latin typeface="Arial"/>
                <a:cs typeface="Arial"/>
              </a:rPr>
              <a:t> </a:t>
            </a:r>
            <a:r>
              <a:rPr sz="1000" spc="-10" dirty="0">
                <a:solidFill>
                  <a:srgbClr val="3333B2"/>
                </a:solidFill>
                <a:latin typeface="Arial"/>
                <a:cs typeface="Arial"/>
              </a:rPr>
              <a:t>hệ thống</a:t>
            </a:r>
            <a:endParaRPr sz="1000">
              <a:latin typeface="Arial"/>
              <a:cs typeface="Arial"/>
            </a:endParaRPr>
          </a:p>
        </p:txBody>
      </p:sp>
      <p:pic>
        <p:nvPicPr>
          <p:cNvPr id="6" name="object 6"/>
          <p:cNvPicPr/>
          <p:nvPr/>
        </p:nvPicPr>
        <p:blipFill>
          <a:blip r:embed="rId4" cstate="print"/>
          <a:stretch>
            <a:fillRect/>
          </a:stretch>
        </p:blipFill>
        <p:spPr>
          <a:xfrm>
            <a:off x="1015872" y="678636"/>
            <a:ext cx="2543330" cy="1749092"/>
          </a:xfrm>
          <a:prstGeom prst="rect">
            <a:avLst/>
          </a:prstGeom>
        </p:spPr>
      </p:pic>
      <p:sp>
        <p:nvSpPr>
          <p:cNvPr id="7" name="object 7"/>
          <p:cNvSpPr txBox="1"/>
          <p:nvPr/>
        </p:nvSpPr>
        <p:spPr>
          <a:xfrm>
            <a:off x="321894" y="2458632"/>
            <a:ext cx="3566795" cy="832485"/>
          </a:xfrm>
          <a:prstGeom prst="rect">
            <a:avLst/>
          </a:prstGeom>
        </p:spPr>
        <p:txBody>
          <a:bodyPr vert="horz" wrap="square" lIns="0" tIns="83820" rIns="0" bIns="0" rtlCol="0">
            <a:spAutoFit/>
          </a:bodyPr>
          <a:lstStyle/>
          <a:p>
            <a:pPr marL="38100">
              <a:lnSpc>
                <a:spcPct val="100000"/>
              </a:lnSpc>
              <a:spcBef>
                <a:spcPts val="660"/>
              </a:spcBef>
            </a:pPr>
            <a:r>
              <a:rPr sz="1000" spc="-10" dirty="0">
                <a:solidFill>
                  <a:srgbClr val="3333B2"/>
                </a:solidFill>
                <a:latin typeface="Arial"/>
                <a:cs typeface="Arial"/>
              </a:rPr>
              <a:t>Quan sát</a:t>
            </a:r>
            <a:endParaRPr sz="1000">
              <a:latin typeface="Arial"/>
              <a:cs typeface="Arial"/>
            </a:endParaRPr>
          </a:p>
          <a:p>
            <a:pPr marL="290830" indent="-120650">
              <a:lnSpc>
                <a:spcPct val="100000"/>
              </a:lnSpc>
              <a:spcBef>
                <a:spcPts val="500"/>
              </a:spcBef>
              <a:buClr>
                <a:srgbClr val="3333B2"/>
              </a:buClr>
              <a:buFont typeface="Apple Symbols"/>
              <a:buChar char="•"/>
              <a:tabLst>
                <a:tab pos="291465" algn="l"/>
              </a:tabLst>
            </a:pPr>
            <a:r>
              <a:rPr sz="900" dirty="0">
                <a:latin typeface="Arial"/>
                <a:cs typeface="Arial"/>
              </a:rPr>
              <a:t>Khối</a:t>
            </a:r>
            <a:r>
              <a:rPr sz="900" spc="-25" dirty="0">
                <a:latin typeface="Arial"/>
                <a:cs typeface="Arial"/>
              </a:rPr>
              <a:t> </a:t>
            </a:r>
            <a:r>
              <a:rPr sz="900" dirty="0">
                <a:latin typeface="Arial"/>
                <a:cs typeface="Arial"/>
              </a:rPr>
              <a:t>là</a:t>
            </a:r>
            <a:r>
              <a:rPr sz="900" spc="-20" dirty="0">
                <a:latin typeface="Arial"/>
                <a:cs typeface="Arial"/>
              </a:rPr>
              <a:t> </a:t>
            </a:r>
            <a:r>
              <a:rPr sz="900" dirty="0">
                <a:latin typeface="Arial"/>
                <a:cs typeface="Arial"/>
              </a:rPr>
              <a:t>được tổ chức</a:t>
            </a:r>
            <a:r>
              <a:rPr sz="900" spc="-20" dirty="0">
                <a:latin typeface="Arial"/>
                <a:cs typeface="Arial"/>
              </a:rPr>
              <a:t> </a:t>
            </a:r>
            <a:r>
              <a:rPr sz="900" dirty="0">
                <a:latin typeface="Arial"/>
                <a:cs typeface="Arial"/>
              </a:rPr>
              <a:t>vào trong</a:t>
            </a:r>
            <a:r>
              <a:rPr sz="900" spc="-20" dirty="0">
                <a:latin typeface="Arial"/>
                <a:cs typeface="Arial"/>
              </a:rPr>
              <a:t> </a:t>
            </a:r>
            <a:r>
              <a:rPr sz="900" dirty="0">
                <a:latin typeface="Arial"/>
                <a:cs typeface="Arial"/>
              </a:rPr>
              <a:t>MỘT</a:t>
            </a:r>
            <a:r>
              <a:rPr sz="900" spc="-20" dirty="0">
                <a:latin typeface="Arial"/>
                <a:cs typeface="Arial"/>
              </a:rPr>
              <a:t> </a:t>
            </a:r>
            <a:r>
              <a:rPr sz="900" spc="-10" dirty="0">
                <a:latin typeface="Arial"/>
                <a:cs typeface="Arial"/>
              </a:rPr>
              <a:t>không thể làm giả</a:t>
            </a:r>
            <a:r>
              <a:rPr sz="900" spc="-20" dirty="0">
                <a:latin typeface="Arial"/>
                <a:cs typeface="Arial"/>
              </a:rPr>
              <a:t> </a:t>
            </a:r>
            <a:r>
              <a:rPr sz="900" dirty="0">
                <a:solidFill>
                  <a:srgbClr val="3333B2"/>
                </a:solidFill>
                <a:latin typeface="Arial"/>
                <a:cs typeface="Arial"/>
              </a:rPr>
              <a:t>chỉ </a:t>
            </a:r>
            <a:r>
              <a:rPr sz="900" spc="-10" dirty="0">
                <a:solidFill>
                  <a:srgbClr val="3333B2"/>
                </a:solidFill>
                <a:latin typeface="Arial"/>
                <a:cs typeface="Arial"/>
              </a:rPr>
              <a:t>thêm vào</a:t>
            </a:r>
            <a:r>
              <a:rPr sz="900" spc="-20" dirty="0">
                <a:solidFill>
                  <a:srgbClr val="3333B2"/>
                </a:solidFill>
                <a:latin typeface="Arial"/>
                <a:cs typeface="Arial"/>
              </a:rPr>
              <a:t> </a:t>
            </a:r>
            <a:r>
              <a:rPr sz="900" spc="-10" dirty="0">
                <a:latin typeface="Arial"/>
                <a:cs typeface="Arial"/>
              </a:rPr>
              <a:t>xích</a:t>
            </a:r>
            <a:endParaRPr sz="900">
              <a:latin typeface="Arial"/>
              <a:cs typeface="Arial"/>
            </a:endParaRPr>
          </a:p>
          <a:p>
            <a:pPr marL="290830" indent="-120650">
              <a:lnSpc>
                <a:spcPct val="100000"/>
              </a:lnSpc>
              <a:spcBef>
                <a:spcPts val="425"/>
              </a:spcBef>
              <a:buClr>
                <a:srgbClr val="3333B2"/>
              </a:buClr>
              <a:buFont typeface="Apple Symbols"/>
              <a:buChar char="•"/>
              <a:tabLst>
                <a:tab pos="291465" algn="l"/>
              </a:tabLst>
            </a:pPr>
            <a:r>
              <a:rPr sz="900" dirty="0">
                <a:latin typeface="Arial"/>
                <a:cs typeface="Arial"/>
              </a:rPr>
              <a:t>Mỗi </a:t>
            </a:r>
            <a:r>
              <a:rPr sz="900" spc="-10" dirty="0">
                <a:latin typeface="Arial"/>
                <a:cs typeface="Arial"/>
              </a:rPr>
              <a:t>khối</a:t>
            </a:r>
            <a:r>
              <a:rPr sz="900" spc="-5" dirty="0">
                <a:latin typeface="Arial"/>
                <a:cs typeface="Arial"/>
              </a:rPr>
              <a:t> </a:t>
            </a:r>
            <a:r>
              <a:rPr sz="900" dirty="0">
                <a:latin typeface="Arial"/>
                <a:cs typeface="Arial"/>
              </a:rPr>
              <a:t>TRONG</a:t>
            </a:r>
            <a:r>
              <a:rPr sz="900" spc="-5" dirty="0">
                <a:latin typeface="Arial"/>
                <a:cs typeface="Arial"/>
              </a:rPr>
              <a:t> </a:t>
            </a:r>
            <a:r>
              <a:rPr sz="900" dirty="0">
                <a:latin typeface="Arial"/>
                <a:cs typeface="Arial"/>
              </a:rPr>
              <a:t>cái</a:t>
            </a:r>
            <a:r>
              <a:rPr sz="900" spc="-5" dirty="0">
                <a:latin typeface="Arial"/>
                <a:cs typeface="Arial"/>
              </a:rPr>
              <a:t> </a:t>
            </a:r>
            <a:r>
              <a:rPr sz="900" spc="-10" dirty="0">
                <a:latin typeface="Arial"/>
                <a:cs typeface="Arial"/>
              </a:rPr>
              <a:t>chuỗi khối</a:t>
            </a:r>
            <a:r>
              <a:rPr sz="900" spc="-5" dirty="0">
                <a:latin typeface="Arial"/>
                <a:cs typeface="Arial"/>
              </a:rPr>
              <a:t> </a:t>
            </a:r>
            <a:r>
              <a:rPr sz="900" dirty="0">
                <a:latin typeface="Arial"/>
                <a:cs typeface="Arial"/>
              </a:rPr>
              <a:t>là</a:t>
            </a:r>
            <a:r>
              <a:rPr sz="900" spc="-5" dirty="0">
                <a:latin typeface="Arial"/>
                <a:cs typeface="Arial"/>
              </a:rPr>
              <a:t> </a:t>
            </a:r>
            <a:r>
              <a:rPr sz="900" spc="-10" dirty="0">
                <a:solidFill>
                  <a:srgbClr val="3333B2"/>
                </a:solidFill>
                <a:latin typeface="Arial"/>
                <a:cs typeface="Arial"/>
              </a:rPr>
              <a:t>không thể thay đổi</a:t>
            </a:r>
            <a:r>
              <a:rPr sz="900" spc="-5" dirty="0">
                <a:solidFill>
                  <a:srgbClr val="3333B2"/>
                </a:solidFill>
                <a:latin typeface="Arial"/>
                <a:cs typeface="Arial"/>
              </a:rPr>
              <a:t> </a:t>
            </a:r>
            <a:r>
              <a:rPr sz="900" spc="295" dirty="0">
                <a:latin typeface="Apple Symbols"/>
                <a:cs typeface="Apple Symbols"/>
              </a:rPr>
              <a:t>⇒</a:t>
            </a:r>
            <a:r>
              <a:rPr sz="900" spc="-60" dirty="0">
                <a:latin typeface="Apple Symbols"/>
                <a:cs typeface="Apple Symbols"/>
              </a:rPr>
              <a:t> </a:t>
            </a:r>
            <a:r>
              <a:rPr sz="900" spc="-10" dirty="0">
                <a:latin typeface="Arial"/>
                <a:cs typeface="Arial"/>
              </a:rPr>
              <a:t>to lớn</a:t>
            </a:r>
            <a:r>
              <a:rPr sz="900" spc="-5" dirty="0">
                <a:latin typeface="Arial"/>
                <a:cs typeface="Arial"/>
              </a:rPr>
              <a:t> </a:t>
            </a:r>
            <a:r>
              <a:rPr sz="900" spc="-10" dirty="0">
                <a:latin typeface="Arial"/>
                <a:cs typeface="Arial"/>
              </a:rPr>
              <a:t>sự sao chép</a:t>
            </a:r>
            <a:endParaRPr sz="900">
              <a:latin typeface="Arial"/>
              <a:cs typeface="Arial"/>
            </a:endParaRPr>
          </a:p>
          <a:p>
            <a:pPr marL="287020" indent="-116839">
              <a:lnSpc>
                <a:spcPct val="100000"/>
              </a:lnSpc>
              <a:spcBef>
                <a:spcPts val="425"/>
              </a:spcBef>
              <a:buClr>
                <a:srgbClr val="3333B2"/>
              </a:buClr>
              <a:buFont typeface="Apple Symbols"/>
              <a:buChar char="•"/>
              <a:tabLst>
                <a:tab pos="287655" algn="l"/>
              </a:tabLst>
            </a:pPr>
            <a:r>
              <a:rPr sz="900" dirty="0">
                <a:latin typeface="Arial"/>
                <a:cs typeface="Arial"/>
              </a:rPr>
              <a:t>Các</a:t>
            </a:r>
            <a:r>
              <a:rPr sz="900" spc="-25" dirty="0">
                <a:latin typeface="Arial"/>
                <a:cs typeface="Arial"/>
              </a:rPr>
              <a:t> </a:t>
            </a:r>
            <a:r>
              <a:rPr sz="900" dirty="0">
                <a:latin typeface="Arial"/>
                <a:cs typeface="Arial"/>
              </a:rPr>
              <a:t>thực tế</a:t>
            </a:r>
            <a:r>
              <a:rPr sz="900" spc="-20" dirty="0">
                <a:latin typeface="Arial"/>
                <a:cs typeface="Arial"/>
              </a:rPr>
              <a:t> </a:t>
            </a:r>
            <a:r>
              <a:rPr sz="900" dirty="0">
                <a:latin typeface="Arial"/>
                <a:cs typeface="Arial"/>
              </a:rPr>
              <a:t>trở ngại</a:t>
            </a:r>
            <a:r>
              <a:rPr sz="900" spc="-20" dirty="0">
                <a:latin typeface="Arial"/>
                <a:cs typeface="Arial"/>
              </a:rPr>
              <a:t> </a:t>
            </a:r>
            <a:r>
              <a:rPr sz="900" dirty="0">
                <a:latin typeface="Arial"/>
                <a:cs typeface="Arial"/>
              </a:rPr>
              <a:t>nói dối</a:t>
            </a:r>
            <a:r>
              <a:rPr sz="900" spc="-20" dirty="0">
                <a:latin typeface="Arial"/>
                <a:cs typeface="Arial"/>
              </a:rPr>
              <a:t> </a:t>
            </a:r>
            <a:r>
              <a:rPr sz="900" dirty="0">
                <a:latin typeface="Arial"/>
                <a:cs typeface="Arial"/>
              </a:rPr>
              <a:t>TRONG</a:t>
            </a:r>
            <a:r>
              <a:rPr sz="900" spc="-20" dirty="0">
                <a:latin typeface="Arial"/>
                <a:cs typeface="Arial"/>
              </a:rPr>
              <a:t> </a:t>
            </a:r>
            <a:r>
              <a:rPr sz="900" dirty="0">
                <a:latin typeface="Arial"/>
                <a:cs typeface="Arial"/>
              </a:rPr>
              <a:t>Ai</a:t>
            </a:r>
            <a:r>
              <a:rPr sz="900" spc="-20" dirty="0">
                <a:latin typeface="Arial"/>
                <a:cs typeface="Arial"/>
              </a:rPr>
              <a:t> </a:t>
            </a:r>
            <a:r>
              <a:rPr sz="900" dirty="0">
                <a:latin typeface="Arial"/>
                <a:cs typeface="Arial"/>
              </a:rPr>
              <a:t>là</a:t>
            </a:r>
            <a:r>
              <a:rPr sz="900" spc="-20" dirty="0">
                <a:latin typeface="Arial"/>
                <a:cs typeface="Arial"/>
              </a:rPr>
              <a:t> </a:t>
            </a:r>
            <a:r>
              <a:rPr sz="900" dirty="0">
                <a:latin typeface="Arial"/>
                <a:cs typeface="Arial"/>
              </a:rPr>
              <a:t>cho phép</a:t>
            </a:r>
            <a:r>
              <a:rPr sz="900" spc="-20" dirty="0">
                <a:latin typeface="Arial"/>
                <a:cs typeface="Arial"/>
              </a:rPr>
              <a:t> </a:t>
            </a:r>
            <a:r>
              <a:rPr sz="900" dirty="0">
                <a:latin typeface="Arial"/>
                <a:cs typeface="Arial"/>
              </a:rPr>
              <a:t>ĐẾN</a:t>
            </a:r>
            <a:r>
              <a:rPr sz="900" spc="-20" dirty="0">
                <a:latin typeface="Arial"/>
                <a:cs typeface="Arial"/>
              </a:rPr>
              <a:t> </a:t>
            </a:r>
            <a:r>
              <a:rPr sz="900" dirty="0">
                <a:latin typeface="Arial"/>
                <a:cs typeface="Arial"/>
              </a:rPr>
              <a:t>thêm vào</a:t>
            </a:r>
            <a:r>
              <a:rPr sz="900" spc="-20" dirty="0">
                <a:latin typeface="Arial"/>
                <a:cs typeface="Arial"/>
              </a:rPr>
              <a:t> </a:t>
            </a:r>
            <a:r>
              <a:rPr sz="900" dirty="0">
                <a:latin typeface="Arial"/>
                <a:cs typeface="Arial"/>
              </a:rPr>
              <a:t>Một</a:t>
            </a:r>
            <a:r>
              <a:rPr sz="900" spc="-20" dirty="0">
                <a:latin typeface="Arial"/>
                <a:cs typeface="Arial"/>
              </a:rPr>
              <a:t> </a:t>
            </a:r>
            <a:r>
              <a:rPr sz="900" spc="-10" dirty="0">
                <a:latin typeface="Arial"/>
                <a:cs typeface="Arial"/>
              </a:rPr>
              <a:t>khối</a:t>
            </a:r>
            <a:r>
              <a:rPr sz="900" spc="-20" dirty="0">
                <a:latin typeface="Arial"/>
                <a:cs typeface="Arial"/>
              </a:rPr>
              <a:t> </a:t>
            </a:r>
            <a:r>
              <a:rPr sz="900" dirty="0">
                <a:latin typeface="Arial"/>
                <a:cs typeface="Arial"/>
              </a:rPr>
              <a:t>ĐẾN</a:t>
            </a:r>
            <a:r>
              <a:rPr sz="900" spc="-20" dirty="0">
                <a:latin typeface="Arial"/>
                <a:cs typeface="Arial"/>
              </a:rPr>
              <a:t> </a:t>
            </a:r>
            <a:r>
              <a:rPr sz="900" dirty="0">
                <a:latin typeface="Arial"/>
                <a:cs typeface="Arial"/>
              </a:rPr>
              <a:t>Một</a:t>
            </a:r>
            <a:r>
              <a:rPr sz="900" spc="-25" dirty="0">
                <a:latin typeface="Arial"/>
                <a:cs typeface="Arial"/>
              </a:rPr>
              <a:t> </a:t>
            </a:r>
            <a:r>
              <a:rPr sz="900" spc="-10" dirty="0">
                <a:latin typeface="Arial"/>
                <a:cs typeface="Arial"/>
              </a:rPr>
              <a:t>xích</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7099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Chuỗi khối</a:t>
            </a:r>
            <a:r>
              <a:rPr sz="500" spc="60" dirty="0">
                <a:latin typeface="Arial"/>
                <a:cs typeface="Arial"/>
                <a:hlinkClick r:id="rId5" action="ppaction://hlinksldjump"/>
              </a:rPr>
              <a:t> </a:t>
            </a:r>
            <a:r>
              <a:rPr sz="500" spc="-10" dirty="0">
                <a:latin typeface="Arial"/>
                <a:cs typeface="Arial"/>
                <a:hlinkClick r:id="rId5" action="ppaction://hlinksldjump"/>
              </a:rPr>
              <a:t>kiến trúc</a:t>
            </a:r>
            <a:endParaRPr sz="500">
              <a:latin typeface="Arial"/>
              <a:cs typeface="Arial"/>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lai</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95300" y="197711"/>
            <a:ext cx="283083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Thêm vào</a:t>
            </a:r>
            <a:r>
              <a:rPr sz="1200" spc="-55" dirty="0">
                <a:solidFill>
                  <a:srgbClr val="3333B2"/>
                </a:solidFill>
                <a:latin typeface="Arial"/>
                <a:cs typeface="Arial"/>
              </a:rPr>
              <a:t> </a:t>
            </a:r>
            <a:r>
              <a:rPr sz="1200" dirty="0">
                <a:solidFill>
                  <a:srgbClr val="3333B2"/>
                </a:solidFill>
                <a:latin typeface="Arial"/>
                <a:cs typeface="Arial"/>
              </a:rPr>
              <a:t>Một</a:t>
            </a:r>
            <a:r>
              <a:rPr sz="1200" spc="-55" dirty="0">
                <a:solidFill>
                  <a:srgbClr val="3333B2"/>
                </a:solidFill>
                <a:latin typeface="Arial"/>
                <a:cs typeface="Arial"/>
              </a:rPr>
              <a:t> </a:t>
            </a:r>
            <a:r>
              <a:rPr sz="1200" dirty="0">
                <a:solidFill>
                  <a:srgbClr val="3333B2"/>
                </a:solidFill>
                <a:latin typeface="Arial"/>
                <a:cs typeface="Arial"/>
              </a:rPr>
              <a:t>khối:</a:t>
            </a:r>
            <a:r>
              <a:rPr sz="1200" spc="10" dirty="0">
                <a:solidFill>
                  <a:srgbClr val="3333B2"/>
                </a:solidFill>
                <a:latin typeface="Arial"/>
                <a:cs typeface="Arial"/>
              </a:rPr>
              <a:t> </a:t>
            </a:r>
            <a:r>
              <a:rPr sz="1200" dirty="0">
                <a:solidFill>
                  <a:srgbClr val="3333B2"/>
                </a:solidFill>
                <a:latin typeface="Arial"/>
                <a:cs typeface="Arial"/>
              </a:rPr>
              <a:t>phân phối</a:t>
            </a:r>
            <a:r>
              <a:rPr sz="1200" spc="-55" dirty="0">
                <a:solidFill>
                  <a:srgbClr val="3333B2"/>
                </a:solidFill>
                <a:latin typeface="Arial"/>
                <a:cs typeface="Arial"/>
              </a:rPr>
              <a:t> </a:t>
            </a:r>
            <a:r>
              <a:rPr sz="1200" spc="-10" dirty="0">
                <a:solidFill>
                  <a:srgbClr val="3333B2"/>
                </a:solidFill>
                <a:latin typeface="Arial"/>
                <a:cs typeface="Arial"/>
              </a:rPr>
              <a:t>sự đồng thuận</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Tập trung</a:t>
            </a:r>
            <a:r>
              <a:rPr sz="1000" spc="25" dirty="0">
                <a:solidFill>
                  <a:srgbClr val="3333B2"/>
                </a:solidFill>
                <a:latin typeface="Arial"/>
                <a:cs typeface="Arial"/>
              </a:rPr>
              <a:t> </a:t>
            </a:r>
            <a:r>
              <a:rPr sz="1000" spc="-10" dirty="0">
                <a:solidFill>
                  <a:srgbClr val="3333B2"/>
                </a:solidFill>
                <a:latin typeface="Arial"/>
                <a:cs typeface="Arial"/>
              </a:rPr>
              <a:t>giải pháp</a:t>
            </a:r>
            <a:endParaRPr sz="1000">
              <a:latin typeface="Arial"/>
              <a:cs typeface="Arial"/>
            </a:endParaRPr>
          </a:p>
        </p:txBody>
      </p:sp>
      <p:pic>
        <p:nvPicPr>
          <p:cNvPr id="6" name="object 6"/>
          <p:cNvPicPr/>
          <p:nvPr/>
        </p:nvPicPr>
        <p:blipFill>
          <a:blip r:embed="rId4" cstate="print"/>
          <a:stretch>
            <a:fillRect/>
          </a:stretch>
        </p:blipFill>
        <p:spPr>
          <a:xfrm>
            <a:off x="1231252" y="767685"/>
            <a:ext cx="2145483" cy="1126341"/>
          </a:xfrm>
          <a:prstGeom prst="rect">
            <a:avLst/>
          </a:prstGeom>
        </p:spPr>
      </p:pic>
      <p:sp>
        <p:nvSpPr>
          <p:cNvPr id="7" name="object 7"/>
          <p:cNvSpPr txBox="1"/>
          <p:nvPr/>
        </p:nvSpPr>
        <p:spPr>
          <a:xfrm>
            <a:off x="343547" y="2017863"/>
            <a:ext cx="3872865" cy="496570"/>
          </a:xfrm>
          <a:prstGeom prst="rect">
            <a:avLst/>
          </a:prstGeom>
        </p:spPr>
        <p:txBody>
          <a:bodyPr vert="horz" wrap="square" lIns="0" tIns="27305" rIns="0" bIns="0" rtlCol="0">
            <a:spAutoFit/>
          </a:bodyPr>
          <a:lstStyle/>
          <a:p>
            <a:pPr marL="15875">
              <a:lnSpc>
                <a:spcPct val="100000"/>
              </a:lnSpc>
              <a:spcBef>
                <a:spcPts val="215"/>
              </a:spcBef>
            </a:pPr>
            <a:r>
              <a:rPr sz="1000" spc="-10" dirty="0">
                <a:solidFill>
                  <a:srgbClr val="3333B2"/>
                </a:solidFill>
                <a:latin typeface="Arial"/>
                <a:cs typeface="Arial"/>
              </a:rPr>
              <a:t>Quan sát</a:t>
            </a:r>
            <a:endParaRPr sz="1000">
              <a:latin typeface="Arial"/>
              <a:cs typeface="Arial"/>
            </a:endParaRPr>
          </a:p>
          <a:p>
            <a:pPr marL="15875" marR="5080" indent="-3810">
              <a:lnSpc>
                <a:spcPts val="1210"/>
              </a:lnSpc>
              <a:spcBef>
                <a:spcPts val="35"/>
              </a:spcBef>
            </a:pPr>
            <a:r>
              <a:rPr sz="900" dirty="0">
                <a:latin typeface="Arial"/>
                <a:cs typeface="Arial"/>
              </a:rPr>
              <a:t>MỘT</a:t>
            </a:r>
            <a:r>
              <a:rPr sz="900" spc="-20" dirty="0">
                <a:latin typeface="Arial"/>
                <a:cs typeface="Arial"/>
              </a:rPr>
              <a:t> </a:t>
            </a:r>
            <a:r>
              <a:rPr sz="900" dirty="0">
                <a:latin typeface="Arial"/>
                <a:cs typeface="Arial"/>
              </a:rPr>
              <a:t>đơn</a:t>
            </a:r>
            <a:r>
              <a:rPr sz="900" spc="-20" dirty="0">
                <a:latin typeface="Arial"/>
                <a:cs typeface="Arial"/>
              </a:rPr>
              <a:t> </a:t>
            </a:r>
            <a:r>
              <a:rPr sz="900" dirty="0">
                <a:latin typeface="Arial"/>
                <a:cs typeface="Arial"/>
              </a:rPr>
              <a:t>thực thể</a:t>
            </a:r>
            <a:r>
              <a:rPr sz="900" spc="-20" dirty="0">
                <a:latin typeface="Arial"/>
                <a:cs typeface="Arial"/>
              </a:rPr>
              <a:t> </a:t>
            </a:r>
            <a:r>
              <a:rPr sz="900" dirty="0">
                <a:latin typeface="Arial"/>
                <a:cs typeface="Arial"/>
              </a:rPr>
              <a:t>quyết định</a:t>
            </a:r>
            <a:r>
              <a:rPr sz="900" spc="-20" dirty="0">
                <a:latin typeface="Arial"/>
                <a:cs typeface="Arial"/>
              </a:rPr>
              <a:t> </a:t>
            </a:r>
            <a:r>
              <a:rPr sz="900" dirty="0">
                <a:latin typeface="Arial"/>
                <a:cs typeface="Arial"/>
              </a:rPr>
              <a:t>TRÊN</a:t>
            </a:r>
            <a:r>
              <a:rPr sz="900" spc="-20" dirty="0">
                <a:latin typeface="Arial"/>
                <a:cs typeface="Arial"/>
              </a:rPr>
              <a:t> </a:t>
            </a:r>
            <a:r>
              <a:rPr sz="900" dirty="0">
                <a:latin typeface="Arial"/>
                <a:cs typeface="Arial"/>
              </a:rPr>
              <a:t>cái mà</a:t>
            </a:r>
            <a:r>
              <a:rPr sz="900" spc="-15" dirty="0">
                <a:latin typeface="Arial"/>
                <a:cs typeface="Arial"/>
              </a:rPr>
              <a:t> </a:t>
            </a:r>
            <a:r>
              <a:rPr sz="900" spc="-10" dirty="0">
                <a:latin typeface="Arial"/>
                <a:cs typeface="Arial"/>
              </a:rPr>
              <a:t>người xác thực</a:t>
            </a:r>
            <a:r>
              <a:rPr sz="900" spc="-20" dirty="0">
                <a:latin typeface="Arial"/>
                <a:cs typeface="Arial"/>
              </a:rPr>
              <a:t> </a:t>
            </a:r>
            <a:r>
              <a:rPr sz="900" dirty="0">
                <a:latin typeface="Arial"/>
                <a:cs typeface="Arial"/>
              </a:rPr>
              <a:t>Có thể</a:t>
            </a:r>
            <a:r>
              <a:rPr sz="900" spc="-20" dirty="0">
                <a:latin typeface="Arial"/>
                <a:cs typeface="Arial"/>
              </a:rPr>
              <a:t> </a:t>
            </a:r>
            <a:r>
              <a:rPr sz="900" dirty="0">
                <a:latin typeface="Arial"/>
                <a:cs typeface="Arial"/>
              </a:rPr>
              <a:t>đi</a:t>
            </a:r>
            <a:r>
              <a:rPr sz="900" spc="-20" dirty="0">
                <a:latin typeface="Arial"/>
                <a:cs typeface="Arial"/>
              </a:rPr>
              <a:t> </a:t>
            </a:r>
            <a:r>
              <a:rPr sz="900" dirty="0">
                <a:latin typeface="Arial"/>
                <a:cs typeface="Arial"/>
              </a:rPr>
              <a:t>phía trước</a:t>
            </a:r>
            <a:r>
              <a:rPr sz="900" spc="-20" dirty="0">
                <a:latin typeface="Arial"/>
                <a:cs typeface="Arial"/>
              </a:rPr>
              <a:t> </a:t>
            </a:r>
            <a:r>
              <a:rPr sz="900" dirty="0">
                <a:latin typeface="Arial"/>
                <a:cs typeface="Arial"/>
              </a:rPr>
              <a:t>Và</a:t>
            </a:r>
            <a:r>
              <a:rPr sz="900" spc="-20" dirty="0">
                <a:latin typeface="Arial"/>
                <a:cs typeface="Arial"/>
              </a:rPr>
              <a:t> </a:t>
            </a:r>
            <a:r>
              <a:rPr sz="900" dirty="0">
                <a:latin typeface="Arial"/>
                <a:cs typeface="Arial"/>
              </a:rPr>
              <a:t>thêm vào</a:t>
            </a:r>
            <a:r>
              <a:rPr sz="900" spc="-15" dirty="0">
                <a:latin typeface="Arial"/>
                <a:cs typeface="Arial"/>
              </a:rPr>
              <a:t> </a:t>
            </a:r>
            <a:r>
              <a:rPr sz="900" dirty="0">
                <a:latin typeface="Arial"/>
                <a:cs typeface="Arial"/>
              </a:rPr>
              <a:t>Một</a:t>
            </a:r>
            <a:r>
              <a:rPr sz="900" spc="-20" dirty="0">
                <a:latin typeface="Arial"/>
                <a:cs typeface="Arial"/>
              </a:rPr>
              <a:t> </a:t>
            </a:r>
            <a:r>
              <a:rPr sz="900" spc="-10" dirty="0">
                <a:latin typeface="Arial"/>
                <a:cs typeface="Arial"/>
              </a:rPr>
              <a:t>khối. </a:t>
            </a:r>
            <a:r>
              <a:rPr sz="900" dirty="0">
                <a:latin typeface="Arial"/>
                <a:cs typeface="Arial"/>
              </a:rPr>
              <a:t>Có</a:t>
            </a:r>
            <a:r>
              <a:rPr sz="900" spc="-25" dirty="0">
                <a:latin typeface="Arial"/>
                <a:cs typeface="Arial"/>
              </a:rPr>
              <a:t> </a:t>
            </a:r>
            <a:r>
              <a:rPr sz="900" dirty="0">
                <a:latin typeface="Arial"/>
                <a:cs typeface="Arial"/>
              </a:rPr>
              <a:t>không</a:t>
            </a:r>
            <a:r>
              <a:rPr sz="900" spc="-20" dirty="0">
                <a:latin typeface="Arial"/>
                <a:cs typeface="Arial"/>
              </a:rPr>
              <a:t> </a:t>
            </a:r>
            <a:r>
              <a:rPr sz="900" dirty="0">
                <a:latin typeface="Arial"/>
                <a:cs typeface="Arial"/>
              </a:rPr>
              <a:t>phù hợp</a:t>
            </a:r>
            <a:r>
              <a:rPr sz="900" spc="-20" dirty="0">
                <a:latin typeface="Arial"/>
                <a:cs typeface="Arial"/>
              </a:rPr>
              <a:t> </a:t>
            </a:r>
            <a:r>
              <a:rPr sz="900" dirty="0">
                <a:latin typeface="Arial"/>
                <a:cs typeface="Arial"/>
              </a:rPr>
              <a:t>cái</a:t>
            </a:r>
            <a:r>
              <a:rPr sz="900" spc="-20" dirty="0">
                <a:latin typeface="Arial"/>
                <a:cs typeface="Arial"/>
              </a:rPr>
              <a:t> </a:t>
            </a:r>
            <a:r>
              <a:rPr sz="900" dirty="0">
                <a:latin typeface="Arial"/>
                <a:cs typeface="Arial"/>
              </a:rPr>
              <a:t>thiết kế</a:t>
            </a:r>
            <a:r>
              <a:rPr sz="900" spc="-20" dirty="0">
                <a:latin typeface="Arial"/>
                <a:cs typeface="Arial"/>
              </a:rPr>
              <a:t> </a:t>
            </a:r>
            <a:r>
              <a:rPr sz="900" dirty="0">
                <a:latin typeface="Arial"/>
                <a:cs typeface="Arial"/>
              </a:rPr>
              <a:t>mục tiêu</a:t>
            </a:r>
            <a:r>
              <a:rPr sz="900" spc="-20" dirty="0">
                <a:latin typeface="Arial"/>
                <a:cs typeface="Arial"/>
              </a:rPr>
              <a:t> </a:t>
            </a:r>
            <a:r>
              <a:rPr sz="900" dirty="0">
                <a:latin typeface="Arial"/>
                <a:cs typeface="Arial"/>
              </a:rPr>
              <a:t>của</a:t>
            </a:r>
            <a:r>
              <a:rPr sz="900" spc="-20" dirty="0">
                <a:latin typeface="Arial"/>
                <a:cs typeface="Arial"/>
              </a:rPr>
              <a:t> </a:t>
            </a:r>
            <a:r>
              <a:rPr sz="900" spc="-10" dirty="0">
                <a:latin typeface="Arial"/>
                <a:cs typeface="Arial"/>
              </a:rPr>
              <a:t>chuỗi khối.</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7099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Chuỗi khối</a:t>
            </a:r>
            <a:r>
              <a:rPr sz="500" spc="60" dirty="0">
                <a:latin typeface="Arial"/>
                <a:cs typeface="Arial"/>
                <a:hlinkClick r:id="rId5" action="ppaction://hlinksldjump"/>
              </a:rPr>
              <a:t> </a:t>
            </a:r>
            <a:r>
              <a:rPr sz="500" spc="-10" dirty="0">
                <a:latin typeface="Arial"/>
                <a:cs typeface="Arial"/>
                <a:hlinkClick r:id="rId5" action="ppaction://hlinksldjump"/>
              </a:rPr>
              <a:t>kiến trúc</a:t>
            </a:r>
            <a:endParaRPr sz="500">
              <a:latin typeface="Arial"/>
              <a:cs typeface="Arial"/>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lai</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95300" y="197711"/>
            <a:ext cx="283083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Thêm vào</a:t>
            </a:r>
            <a:r>
              <a:rPr sz="1200" spc="-55" dirty="0">
                <a:solidFill>
                  <a:srgbClr val="3333B2"/>
                </a:solidFill>
                <a:latin typeface="Arial"/>
                <a:cs typeface="Arial"/>
              </a:rPr>
              <a:t> </a:t>
            </a:r>
            <a:r>
              <a:rPr sz="1200" dirty="0">
                <a:solidFill>
                  <a:srgbClr val="3333B2"/>
                </a:solidFill>
                <a:latin typeface="Arial"/>
                <a:cs typeface="Arial"/>
              </a:rPr>
              <a:t>Một</a:t>
            </a:r>
            <a:r>
              <a:rPr sz="1200" spc="-55" dirty="0">
                <a:solidFill>
                  <a:srgbClr val="3333B2"/>
                </a:solidFill>
                <a:latin typeface="Arial"/>
                <a:cs typeface="Arial"/>
              </a:rPr>
              <a:t> </a:t>
            </a:r>
            <a:r>
              <a:rPr sz="1200" dirty="0">
                <a:solidFill>
                  <a:srgbClr val="3333B2"/>
                </a:solidFill>
                <a:latin typeface="Arial"/>
                <a:cs typeface="Arial"/>
              </a:rPr>
              <a:t>khối:</a:t>
            </a:r>
            <a:r>
              <a:rPr sz="1200" spc="10" dirty="0">
                <a:solidFill>
                  <a:srgbClr val="3333B2"/>
                </a:solidFill>
                <a:latin typeface="Arial"/>
                <a:cs typeface="Arial"/>
              </a:rPr>
              <a:t> </a:t>
            </a:r>
            <a:r>
              <a:rPr sz="1200" dirty="0">
                <a:solidFill>
                  <a:srgbClr val="3333B2"/>
                </a:solidFill>
                <a:latin typeface="Arial"/>
                <a:cs typeface="Arial"/>
              </a:rPr>
              <a:t>phân phối</a:t>
            </a:r>
            <a:r>
              <a:rPr sz="1200" spc="-55" dirty="0">
                <a:solidFill>
                  <a:srgbClr val="3333B2"/>
                </a:solidFill>
                <a:latin typeface="Arial"/>
                <a:cs typeface="Arial"/>
              </a:rPr>
              <a:t> </a:t>
            </a:r>
            <a:r>
              <a:rPr sz="1200" spc="-10" dirty="0">
                <a:solidFill>
                  <a:srgbClr val="3333B2"/>
                </a:solidFill>
                <a:latin typeface="Arial"/>
                <a:cs typeface="Arial"/>
              </a:rPr>
              <a:t>sự đồng thuận</a:t>
            </a:r>
            <a:endParaRPr sz="1200">
              <a:latin typeface="Arial"/>
              <a:cs typeface="Arial"/>
            </a:endParaRPr>
          </a:p>
          <a:p>
            <a:pPr marL="264160">
              <a:lnSpc>
                <a:spcPct val="100000"/>
              </a:lnSpc>
              <a:spcBef>
                <a:spcPts val="1055"/>
              </a:spcBef>
            </a:pPr>
            <a:r>
              <a:rPr sz="1000" dirty="0">
                <a:solidFill>
                  <a:srgbClr val="3333B2"/>
                </a:solidFill>
                <a:latin typeface="Arial"/>
                <a:cs typeface="Arial"/>
              </a:rPr>
              <a:t>Phân phối</a:t>
            </a:r>
            <a:r>
              <a:rPr sz="1000" spc="-55" dirty="0">
                <a:solidFill>
                  <a:srgbClr val="3333B2"/>
                </a:solidFill>
                <a:latin typeface="Arial"/>
                <a:cs typeface="Arial"/>
              </a:rPr>
              <a:t> </a:t>
            </a:r>
            <a:r>
              <a:rPr sz="1000" dirty="0">
                <a:solidFill>
                  <a:srgbClr val="3333B2"/>
                </a:solidFill>
                <a:latin typeface="Arial"/>
                <a:cs typeface="Arial"/>
              </a:rPr>
              <a:t>giải pháp</a:t>
            </a:r>
            <a:r>
              <a:rPr sz="1000" spc="-50" dirty="0">
                <a:solidFill>
                  <a:srgbClr val="3333B2"/>
                </a:solidFill>
                <a:latin typeface="Arial"/>
                <a:cs typeface="Arial"/>
              </a:rPr>
              <a:t> </a:t>
            </a:r>
            <a:r>
              <a:rPr sz="1000" spc="-10" dirty="0">
                <a:solidFill>
                  <a:srgbClr val="3333B2"/>
                </a:solidFill>
                <a:latin typeface="Arial"/>
                <a:cs typeface="Arial"/>
              </a:rPr>
              <a:t>(được phép)</a:t>
            </a:r>
            <a:endParaRPr sz="1000">
              <a:latin typeface="Arial"/>
              <a:cs typeface="Arial"/>
            </a:endParaRPr>
          </a:p>
        </p:txBody>
      </p:sp>
      <p:pic>
        <p:nvPicPr>
          <p:cNvPr id="6" name="object 6"/>
          <p:cNvPicPr/>
          <p:nvPr/>
        </p:nvPicPr>
        <p:blipFill>
          <a:blip r:embed="rId4" cstate="print"/>
          <a:stretch>
            <a:fillRect/>
          </a:stretch>
        </p:blipFill>
        <p:spPr>
          <a:xfrm>
            <a:off x="1231252" y="791980"/>
            <a:ext cx="2145483" cy="1126341"/>
          </a:xfrm>
          <a:prstGeom prst="rect">
            <a:avLst/>
          </a:prstGeom>
        </p:spPr>
      </p:pic>
      <p:sp>
        <p:nvSpPr>
          <p:cNvPr id="7" name="object 7"/>
          <p:cNvSpPr txBox="1"/>
          <p:nvPr/>
        </p:nvSpPr>
        <p:spPr>
          <a:xfrm>
            <a:off x="321894" y="1985926"/>
            <a:ext cx="3963670" cy="1138555"/>
          </a:xfrm>
          <a:prstGeom prst="rect">
            <a:avLst/>
          </a:prstGeom>
        </p:spPr>
        <p:txBody>
          <a:bodyPr vert="horz" wrap="square" lIns="0" tIns="83820" rIns="0" bIns="0" rtlCol="0">
            <a:spAutoFit/>
          </a:bodyPr>
          <a:lstStyle/>
          <a:p>
            <a:pPr marL="38100">
              <a:lnSpc>
                <a:spcPct val="100000"/>
              </a:lnSpc>
              <a:spcBef>
                <a:spcPts val="660"/>
              </a:spcBef>
            </a:pPr>
            <a:r>
              <a:rPr sz="1000" spc="-10" dirty="0">
                <a:solidFill>
                  <a:srgbClr val="3333B2"/>
                </a:solidFill>
                <a:latin typeface="Arial"/>
                <a:cs typeface="Arial"/>
              </a:rPr>
              <a:t>Quan sát</a:t>
            </a:r>
            <a:endParaRPr sz="1000">
              <a:latin typeface="Arial"/>
              <a:cs typeface="Arial"/>
            </a:endParaRPr>
          </a:p>
          <a:p>
            <a:pPr marL="287020" marR="102235" indent="-116205">
              <a:lnSpc>
                <a:spcPct val="111600"/>
              </a:lnSpc>
              <a:spcBef>
                <a:spcPts val="375"/>
              </a:spcBef>
              <a:buClr>
                <a:srgbClr val="3333B2"/>
              </a:buClr>
              <a:buFont typeface="Apple Symbols"/>
              <a:buChar char="•"/>
              <a:tabLst>
                <a:tab pos="287655" algn="l"/>
              </a:tabLst>
            </a:pPr>
            <a:r>
              <a:rPr sz="900" dirty="0">
                <a:latin typeface="Arial"/>
                <a:cs typeface="Arial"/>
              </a:rPr>
              <a:t>MỘT</a:t>
            </a:r>
            <a:r>
              <a:rPr sz="900" spc="-25" dirty="0">
                <a:latin typeface="Arial"/>
                <a:cs typeface="Arial"/>
              </a:rPr>
              <a:t> </a:t>
            </a:r>
            <a:r>
              <a:rPr sz="900" dirty="0">
                <a:latin typeface="Arial"/>
                <a:cs typeface="Arial"/>
              </a:rPr>
              <a:t>đã chọn,</a:t>
            </a:r>
            <a:r>
              <a:rPr sz="900" spc="-25" dirty="0">
                <a:latin typeface="Arial"/>
                <a:cs typeface="Arial"/>
              </a:rPr>
              <a:t> </a:t>
            </a:r>
            <a:r>
              <a:rPr sz="900" spc="-10" dirty="0">
                <a:latin typeface="Arial"/>
                <a:cs typeface="Arial"/>
              </a:rPr>
              <a:t>tương đối</a:t>
            </a:r>
            <a:r>
              <a:rPr sz="900" spc="-20" dirty="0">
                <a:latin typeface="Arial"/>
                <a:cs typeface="Arial"/>
              </a:rPr>
              <a:t> </a:t>
            </a:r>
            <a:r>
              <a:rPr sz="900" dirty="0">
                <a:latin typeface="Arial"/>
                <a:cs typeface="Arial"/>
              </a:rPr>
              <a:t>bé nhỏ</a:t>
            </a:r>
            <a:r>
              <a:rPr sz="900" spc="-25" dirty="0">
                <a:latin typeface="Arial"/>
                <a:cs typeface="Arial"/>
              </a:rPr>
              <a:t> </a:t>
            </a:r>
            <a:r>
              <a:rPr sz="900" dirty="0">
                <a:latin typeface="Arial"/>
                <a:cs typeface="Arial"/>
              </a:rPr>
              <a:t>nhóm</a:t>
            </a:r>
            <a:r>
              <a:rPr sz="900" spc="-25" dirty="0">
                <a:latin typeface="Arial"/>
                <a:cs typeface="Arial"/>
              </a:rPr>
              <a:t> </a:t>
            </a:r>
            <a:r>
              <a:rPr sz="900" dirty="0">
                <a:latin typeface="Arial"/>
                <a:cs typeface="Arial"/>
              </a:rPr>
              <a:t>của</a:t>
            </a:r>
            <a:r>
              <a:rPr sz="900" spc="-20" dirty="0">
                <a:latin typeface="Arial"/>
                <a:cs typeface="Arial"/>
              </a:rPr>
              <a:t> </a:t>
            </a:r>
            <a:r>
              <a:rPr sz="900" dirty="0">
                <a:latin typeface="Arial"/>
                <a:cs typeface="Arial"/>
              </a:rPr>
              <a:t>máy chủ</a:t>
            </a:r>
            <a:r>
              <a:rPr sz="900" spc="-25" dirty="0">
                <a:latin typeface="Arial"/>
                <a:cs typeface="Arial"/>
              </a:rPr>
              <a:t> </a:t>
            </a:r>
            <a:r>
              <a:rPr sz="900" dirty="0">
                <a:latin typeface="Arial"/>
                <a:cs typeface="Arial"/>
              </a:rPr>
              <a:t>cùng nhau</a:t>
            </a:r>
            <a:r>
              <a:rPr sz="900" spc="-25" dirty="0">
                <a:latin typeface="Arial"/>
                <a:cs typeface="Arial"/>
              </a:rPr>
              <a:t> </a:t>
            </a:r>
            <a:r>
              <a:rPr sz="900" dirty="0">
                <a:latin typeface="Arial"/>
                <a:cs typeface="Arial"/>
              </a:rPr>
              <a:t>với tới</a:t>
            </a:r>
            <a:r>
              <a:rPr sz="900" spc="-20" dirty="0">
                <a:latin typeface="Arial"/>
                <a:cs typeface="Arial"/>
              </a:rPr>
              <a:t> </a:t>
            </a:r>
            <a:r>
              <a:rPr sz="900" dirty="0">
                <a:latin typeface="Arial"/>
                <a:cs typeface="Arial"/>
              </a:rPr>
              <a:t>sự đồng thuận </a:t>
            </a:r>
            <a:r>
              <a:rPr sz="900" spc="-25" dirty="0">
                <a:latin typeface="Arial"/>
                <a:cs typeface="Arial"/>
              </a:rPr>
              <a:t>về việc </a:t>
            </a:r>
            <a:r>
              <a:rPr sz="900" spc="-10" dirty="0">
                <a:latin typeface="Arial"/>
                <a:cs typeface="Arial"/>
              </a:rPr>
              <a:t>người xác thực </a:t>
            </a:r>
            <a:r>
              <a:rPr sz="900" dirty="0">
                <a:latin typeface="Arial"/>
                <a:cs typeface="Arial"/>
              </a:rPr>
              <a:t>nào có thể</a:t>
            </a:r>
            <a:r>
              <a:rPr sz="900" spc="-10" dirty="0">
                <a:latin typeface="Arial"/>
                <a:cs typeface="Arial"/>
              </a:rPr>
              <a:t> cứ tiếp tục </a:t>
            </a:r>
            <a:r>
              <a:rPr sz="900" dirty="0">
                <a:latin typeface="Arial"/>
                <a:cs typeface="Arial"/>
              </a:rPr>
              <a:t>đi </a:t>
            </a:r>
            <a:r>
              <a:rPr sz="900" spc="-10" dirty="0">
                <a:latin typeface="Arial"/>
                <a:cs typeface="Arial"/>
              </a:rPr>
              <a:t>.</a:t>
            </a:r>
            <a:endParaRPr sz="900">
              <a:latin typeface="Arial"/>
              <a:cs typeface="Arial"/>
            </a:endParaRPr>
          </a:p>
          <a:p>
            <a:pPr marL="290830" marR="30480" indent="-120650">
              <a:lnSpc>
                <a:spcPct val="111600"/>
              </a:lnSpc>
              <a:spcBef>
                <a:spcPts val="300"/>
              </a:spcBef>
              <a:buClr>
                <a:srgbClr val="3333B2"/>
              </a:buClr>
              <a:buFont typeface="Apple Symbols"/>
              <a:buChar char="•"/>
              <a:tabLst>
                <a:tab pos="291465" algn="l"/>
              </a:tabLst>
            </a:pPr>
            <a:r>
              <a:rPr sz="900" dirty="0">
                <a:latin typeface="Arial"/>
                <a:cs typeface="Arial"/>
              </a:rPr>
              <a:t>Không có</a:t>
            </a:r>
            <a:r>
              <a:rPr sz="900" spc="-25" dirty="0">
                <a:latin typeface="Arial"/>
                <a:cs typeface="Arial"/>
              </a:rPr>
              <a:t> </a:t>
            </a:r>
            <a:r>
              <a:rPr sz="900" dirty="0">
                <a:latin typeface="Arial"/>
                <a:cs typeface="Arial"/>
              </a:rPr>
              <a:t>của</a:t>
            </a:r>
            <a:r>
              <a:rPr sz="900" spc="-20" dirty="0">
                <a:latin typeface="Arial"/>
                <a:cs typeface="Arial"/>
              </a:rPr>
              <a:t> </a:t>
            </a:r>
            <a:r>
              <a:rPr sz="900" dirty="0">
                <a:latin typeface="Arial"/>
                <a:cs typeface="Arial"/>
              </a:rPr>
              <a:t>những cái này</a:t>
            </a:r>
            <a:r>
              <a:rPr sz="900" spc="-20" dirty="0">
                <a:latin typeface="Arial"/>
                <a:cs typeface="Arial"/>
              </a:rPr>
              <a:t> </a:t>
            </a:r>
            <a:r>
              <a:rPr sz="900" dirty="0">
                <a:latin typeface="Arial"/>
                <a:cs typeface="Arial"/>
              </a:rPr>
              <a:t>máy chủ</a:t>
            </a:r>
            <a:r>
              <a:rPr sz="900" spc="-20" dirty="0">
                <a:latin typeface="Arial"/>
                <a:cs typeface="Arial"/>
              </a:rPr>
              <a:t> </a:t>
            </a:r>
            <a:r>
              <a:rPr sz="900" dirty="0">
                <a:latin typeface="Arial"/>
                <a:cs typeface="Arial"/>
              </a:rPr>
              <a:t>nhu cầu</a:t>
            </a:r>
            <a:r>
              <a:rPr sz="900" spc="-25" dirty="0">
                <a:latin typeface="Arial"/>
                <a:cs typeface="Arial"/>
              </a:rPr>
              <a:t> </a:t>
            </a:r>
            <a:r>
              <a:rPr sz="900" dirty="0">
                <a:latin typeface="Arial"/>
                <a:cs typeface="Arial"/>
              </a:rPr>
              <a:t>ĐẾN</a:t>
            </a:r>
            <a:r>
              <a:rPr sz="900" spc="-20" dirty="0">
                <a:latin typeface="Arial"/>
                <a:cs typeface="Arial"/>
              </a:rPr>
              <a:t> </a:t>
            </a:r>
            <a:r>
              <a:rPr sz="900" dirty="0">
                <a:latin typeface="Arial"/>
                <a:cs typeface="Arial"/>
              </a:rPr>
              <a:t>là</a:t>
            </a:r>
            <a:r>
              <a:rPr sz="900" spc="-20" dirty="0">
                <a:latin typeface="Arial"/>
                <a:cs typeface="Arial"/>
              </a:rPr>
              <a:t> </a:t>
            </a:r>
            <a:r>
              <a:rPr sz="900" dirty="0">
                <a:latin typeface="Arial"/>
                <a:cs typeface="Arial"/>
              </a:rPr>
              <a:t>đáng tin cậy,</a:t>
            </a:r>
            <a:r>
              <a:rPr sz="900" spc="-25" dirty="0">
                <a:latin typeface="Arial"/>
                <a:cs typeface="Arial"/>
              </a:rPr>
              <a:t> </a:t>
            </a:r>
            <a:r>
              <a:rPr sz="900" dirty="0">
                <a:latin typeface="Arial"/>
                <a:cs typeface="Arial"/>
              </a:rPr>
              <a:t>BẰNG</a:t>
            </a:r>
            <a:r>
              <a:rPr sz="900" spc="-20" dirty="0">
                <a:latin typeface="Arial"/>
                <a:cs typeface="Arial"/>
              </a:rPr>
              <a:t> </a:t>
            </a:r>
            <a:r>
              <a:rPr sz="900" dirty="0">
                <a:latin typeface="Arial"/>
                <a:cs typeface="Arial"/>
              </a:rPr>
              <a:t>dài</a:t>
            </a:r>
            <a:r>
              <a:rPr sz="900" spc="-20" dirty="0">
                <a:latin typeface="Arial"/>
                <a:cs typeface="Arial"/>
              </a:rPr>
              <a:t> </a:t>
            </a:r>
            <a:r>
              <a:rPr sz="900" dirty="0">
                <a:latin typeface="Arial"/>
                <a:cs typeface="Arial"/>
              </a:rPr>
              <a:t>BẰNG</a:t>
            </a:r>
            <a:r>
              <a:rPr sz="900" spc="-20" dirty="0">
                <a:latin typeface="Arial"/>
                <a:cs typeface="Arial"/>
              </a:rPr>
              <a:t> </a:t>
            </a:r>
            <a:r>
              <a:rPr sz="900" dirty="0">
                <a:latin typeface="Arial"/>
                <a:cs typeface="Arial"/>
              </a:rPr>
              <a:t>đại khái</a:t>
            </a:r>
            <a:r>
              <a:rPr sz="900" spc="-25" dirty="0">
                <a:latin typeface="Arial"/>
                <a:cs typeface="Arial"/>
              </a:rPr>
              <a:t> </a:t>
            </a:r>
            <a:r>
              <a:rPr sz="900" spc="-10" dirty="0">
                <a:latin typeface="Arial"/>
                <a:cs typeface="Arial"/>
              </a:rPr>
              <a:t>hai phần ba cư xử</a:t>
            </a:r>
            <a:r>
              <a:rPr sz="900" spc="-25" dirty="0">
                <a:latin typeface="Arial"/>
                <a:cs typeface="Arial"/>
              </a:rPr>
              <a:t> </a:t>
            </a:r>
            <a:r>
              <a:rPr sz="900" dirty="0">
                <a:latin typeface="Arial"/>
                <a:cs typeface="Arial"/>
              </a:rPr>
              <a:t>theo</a:t>
            </a:r>
            <a:r>
              <a:rPr sz="900" spc="-25" dirty="0">
                <a:latin typeface="Arial"/>
                <a:cs typeface="Arial"/>
              </a:rPr>
              <a:t> </a:t>
            </a:r>
            <a:r>
              <a:rPr sz="900" dirty="0">
                <a:latin typeface="Arial"/>
                <a:cs typeface="Arial"/>
              </a:rPr>
              <a:t>ĐẾN</a:t>
            </a:r>
            <a:r>
              <a:rPr sz="900" spc="-25" dirty="0">
                <a:latin typeface="Arial"/>
                <a:cs typeface="Arial"/>
              </a:rPr>
              <a:t> </a:t>
            </a:r>
            <a:r>
              <a:rPr sz="900" dirty="0">
                <a:latin typeface="Arial"/>
                <a:cs typeface="Arial"/>
              </a:rPr>
              <a:t>của họ</a:t>
            </a:r>
            <a:r>
              <a:rPr sz="900" spc="-25" dirty="0">
                <a:latin typeface="Arial"/>
                <a:cs typeface="Arial"/>
              </a:rPr>
              <a:t> </a:t>
            </a:r>
            <a:r>
              <a:rPr sz="900" spc="-10" dirty="0">
                <a:latin typeface="Arial"/>
                <a:cs typeface="Arial"/>
              </a:rPr>
              <a:t>thông số kỹ thuật.</a:t>
            </a:r>
            <a:endParaRPr sz="900">
              <a:latin typeface="Arial"/>
              <a:cs typeface="Arial"/>
            </a:endParaRPr>
          </a:p>
          <a:p>
            <a:pPr marL="290830" indent="-120650">
              <a:lnSpc>
                <a:spcPct val="100000"/>
              </a:lnSpc>
              <a:spcBef>
                <a:spcPts val="425"/>
              </a:spcBef>
              <a:buClr>
                <a:srgbClr val="3333B2"/>
              </a:buClr>
              <a:buFont typeface="Apple Symbols"/>
              <a:buChar char="•"/>
              <a:tabLst>
                <a:tab pos="291465" algn="l"/>
              </a:tabLst>
            </a:pPr>
            <a:r>
              <a:rPr sz="900" dirty="0">
                <a:latin typeface="Arial"/>
                <a:cs typeface="Arial"/>
              </a:rPr>
              <a:t>TRONG</a:t>
            </a:r>
            <a:r>
              <a:rPr sz="900" spc="-20" dirty="0">
                <a:latin typeface="Arial"/>
                <a:cs typeface="Arial"/>
              </a:rPr>
              <a:t> </a:t>
            </a:r>
            <a:r>
              <a:rPr sz="900" spc="-10" dirty="0">
                <a:latin typeface="Arial"/>
                <a:cs typeface="Arial"/>
              </a:rPr>
              <a:t>luyện tập,</a:t>
            </a:r>
            <a:r>
              <a:rPr sz="900" spc="-15" dirty="0">
                <a:latin typeface="Arial"/>
                <a:cs typeface="Arial"/>
              </a:rPr>
              <a:t> </a:t>
            </a:r>
            <a:r>
              <a:rPr sz="900" dirty="0">
                <a:latin typeface="Arial"/>
                <a:cs typeface="Arial"/>
              </a:rPr>
              <a:t>chỉ một</a:t>
            </a:r>
            <a:r>
              <a:rPr sz="900" spc="-15" dirty="0">
                <a:latin typeface="Arial"/>
                <a:cs typeface="Arial"/>
              </a:rPr>
              <a:t> </a:t>
            </a:r>
            <a:r>
              <a:rPr sz="900" dirty="0">
                <a:latin typeface="Arial"/>
                <a:cs typeface="Arial"/>
              </a:rPr>
              <a:t>Một</a:t>
            </a:r>
            <a:r>
              <a:rPr sz="900" spc="-15" dirty="0">
                <a:latin typeface="Arial"/>
                <a:cs typeface="Arial"/>
              </a:rPr>
              <a:t> </a:t>
            </a:r>
            <a:r>
              <a:rPr sz="900" spc="-10" dirty="0">
                <a:latin typeface="Arial"/>
                <a:cs typeface="Arial"/>
              </a:rPr>
              <a:t>một vài</a:t>
            </a:r>
            <a:r>
              <a:rPr sz="900" spc="-20" dirty="0">
                <a:latin typeface="Arial"/>
                <a:cs typeface="Arial"/>
              </a:rPr>
              <a:t> </a:t>
            </a:r>
            <a:r>
              <a:rPr sz="900" dirty="0">
                <a:latin typeface="Arial"/>
                <a:cs typeface="Arial"/>
              </a:rPr>
              <a:t>hàng chục</a:t>
            </a:r>
            <a:r>
              <a:rPr sz="900" spc="-15" dirty="0">
                <a:latin typeface="Arial"/>
                <a:cs typeface="Arial"/>
              </a:rPr>
              <a:t> </a:t>
            </a:r>
            <a:r>
              <a:rPr sz="900" dirty="0">
                <a:latin typeface="Arial"/>
                <a:cs typeface="Arial"/>
              </a:rPr>
              <a:t>của</a:t>
            </a:r>
            <a:r>
              <a:rPr sz="900" spc="-15" dirty="0">
                <a:latin typeface="Arial"/>
                <a:cs typeface="Arial"/>
              </a:rPr>
              <a:t> </a:t>
            </a:r>
            <a:r>
              <a:rPr sz="900" dirty="0">
                <a:latin typeface="Arial"/>
                <a:cs typeface="Arial"/>
              </a:rPr>
              <a:t>máy chủ</a:t>
            </a:r>
            <a:r>
              <a:rPr sz="900" spc="-15" dirty="0">
                <a:latin typeface="Arial"/>
                <a:cs typeface="Arial"/>
              </a:rPr>
              <a:t> </a:t>
            </a:r>
            <a:r>
              <a:rPr sz="900" dirty="0">
                <a:latin typeface="Arial"/>
                <a:cs typeface="Arial"/>
              </a:rPr>
              <a:t>Có thể</a:t>
            </a:r>
            <a:r>
              <a:rPr sz="900" spc="-15" dirty="0">
                <a:latin typeface="Arial"/>
                <a:cs typeface="Arial"/>
              </a:rPr>
              <a:t> </a:t>
            </a:r>
            <a:r>
              <a:rPr sz="900" dirty="0">
                <a:latin typeface="Arial"/>
                <a:cs typeface="Arial"/>
              </a:rPr>
              <a:t>là</a:t>
            </a:r>
            <a:r>
              <a:rPr sz="900" spc="-20" dirty="0">
                <a:latin typeface="Arial"/>
                <a:cs typeface="Arial"/>
              </a:rPr>
              <a:t> </a:t>
            </a:r>
            <a:r>
              <a:rPr sz="900" spc="-10" dirty="0">
                <a:latin typeface="Arial"/>
                <a:cs typeface="Arial"/>
              </a:rPr>
              <a:t>được bố trí.</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7099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Chuỗi khối</a:t>
            </a:r>
            <a:r>
              <a:rPr sz="500" spc="60" dirty="0">
                <a:latin typeface="Arial"/>
                <a:cs typeface="Arial"/>
                <a:hlinkClick r:id="rId5" action="ppaction://hlinksldjump"/>
              </a:rPr>
              <a:t> </a:t>
            </a:r>
            <a:r>
              <a:rPr sz="500" spc="-10" dirty="0">
                <a:latin typeface="Arial"/>
                <a:cs typeface="Arial"/>
                <a:hlinkClick r:id="rId5" action="ppaction://hlinksldjump"/>
              </a:rPr>
              <a:t>kiến trúc</a:t>
            </a:r>
            <a:endParaRPr sz="500">
              <a:latin typeface="Arial"/>
              <a:cs typeface="Arial"/>
            </a:endParaRP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Kiến trúc</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lai</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hệ thống</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kiến trúc</a:t>
            </a:r>
            <a:endParaRPr sz="500">
              <a:latin typeface="Arial"/>
              <a:cs typeface="Arial"/>
            </a:endParaRPr>
          </a:p>
        </p:txBody>
      </p:sp>
      <p:sp>
        <p:nvSpPr>
          <p:cNvPr id="5" name="object 5"/>
          <p:cNvSpPr txBox="1"/>
          <p:nvPr/>
        </p:nvSpPr>
        <p:spPr>
          <a:xfrm>
            <a:off x="95300" y="197711"/>
            <a:ext cx="283083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Thêm vào</a:t>
            </a:r>
            <a:r>
              <a:rPr sz="1200" spc="-55" dirty="0">
                <a:solidFill>
                  <a:srgbClr val="3333B2"/>
                </a:solidFill>
                <a:latin typeface="Arial"/>
                <a:cs typeface="Arial"/>
              </a:rPr>
              <a:t> </a:t>
            </a:r>
            <a:r>
              <a:rPr sz="1200" dirty="0">
                <a:solidFill>
                  <a:srgbClr val="3333B2"/>
                </a:solidFill>
                <a:latin typeface="Arial"/>
                <a:cs typeface="Arial"/>
              </a:rPr>
              <a:t>Một</a:t>
            </a:r>
            <a:r>
              <a:rPr sz="1200" spc="-55" dirty="0">
                <a:solidFill>
                  <a:srgbClr val="3333B2"/>
                </a:solidFill>
                <a:latin typeface="Arial"/>
                <a:cs typeface="Arial"/>
              </a:rPr>
              <a:t> </a:t>
            </a:r>
            <a:r>
              <a:rPr sz="1200" dirty="0">
                <a:solidFill>
                  <a:srgbClr val="3333B2"/>
                </a:solidFill>
                <a:latin typeface="Arial"/>
                <a:cs typeface="Arial"/>
              </a:rPr>
              <a:t>khối:</a:t>
            </a:r>
            <a:r>
              <a:rPr sz="1200" spc="10" dirty="0">
                <a:solidFill>
                  <a:srgbClr val="3333B2"/>
                </a:solidFill>
                <a:latin typeface="Arial"/>
                <a:cs typeface="Arial"/>
              </a:rPr>
              <a:t> </a:t>
            </a:r>
            <a:r>
              <a:rPr sz="1200" dirty="0">
                <a:solidFill>
                  <a:srgbClr val="3333B2"/>
                </a:solidFill>
                <a:latin typeface="Arial"/>
                <a:cs typeface="Arial"/>
              </a:rPr>
              <a:t>phân phối</a:t>
            </a:r>
            <a:r>
              <a:rPr sz="1200" spc="-55" dirty="0">
                <a:solidFill>
                  <a:srgbClr val="3333B2"/>
                </a:solidFill>
                <a:latin typeface="Arial"/>
                <a:cs typeface="Arial"/>
              </a:rPr>
              <a:t> </a:t>
            </a:r>
            <a:r>
              <a:rPr sz="1200" spc="-10" dirty="0">
                <a:solidFill>
                  <a:srgbClr val="3333B2"/>
                </a:solidFill>
                <a:latin typeface="Arial"/>
                <a:cs typeface="Arial"/>
              </a:rPr>
              <a:t>sự đồng thuận</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phi tập trung</a:t>
            </a:r>
            <a:r>
              <a:rPr sz="1000" spc="-5" dirty="0">
                <a:solidFill>
                  <a:srgbClr val="3333B2"/>
                </a:solidFill>
                <a:latin typeface="Arial"/>
                <a:cs typeface="Arial"/>
              </a:rPr>
              <a:t> </a:t>
            </a:r>
            <a:r>
              <a:rPr sz="1000" dirty="0">
                <a:solidFill>
                  <a:srgbClr val="3333B2"/>
                </a:solidFill>
                <a:latin typeface="Arial"/>
                <a:cs typeface="Arial"/>
              </a:rPr>
              <a:t>giải pháp </a:t>
            </a:r>
            <a:r>
              <a:rPr sz="1000" spc="-10" dirty="0">
                <a:solidFill>
                  <a:srgbClr val="3333B2"/>
                </a:solidFill>
                <a:latin typeface="Arial"/>
                <a:cs typeface="Arial"/>
              </a:rPr>
              <a:t>(không được phép)</a:t>
            </a:r>
            <a:endParaRPr sz="1000">
              <a:latin typeface="Arial"/>
              <a:cs typeface="Arial"/>
            </a:endParaRPr>
          </a:p>
        </p:txBody>
      </p:sp>
      <p:pic>
        <p:nvPicPr>
          <p:cNvPr id="6" name="object 6"/>
          <p:cNvPicPr/>
          <p:nvPr/>
        </p:nvPicPr>
        <p:blipFill>
          <a:blip r:embed="rId4" cstate="print"/>
          <a:stretch>
            <a:fillRect/>
          </a:stretch>
        </p:blipFill>
        <p:spPr>
          <a:xfrm>
            <a:off x="1231252" y="791980"/>
            <a:ext cx="2145483" cy="1126341"/>
          </a:xfrm>
          <a:prstGeom prst="rect">
            <a:avLst/>
          </a:prstGeom>
        </p:spPr>
      </p:pic>
      <p:sp>
        <p:nvSpPr>
          <p:cNvPr id="7" name="object 7"/>
          <p:cNvSpPr txBox="1"/>
          <p:nvPr/>
        </p:nvSpPr>
        <p:spPr>
          <a:xfrm>
            <a:off x="321894" y="1985926"/>
            <a:ext cx="3964304" cy="947419"/>
          </a:xfrm>
          <a:prstGeom prst="rect">
            <a:avLst/>
          </a:prstGeom>
        </p:spPr>
        <p:txBody>
          <a:bodyPr vert="horz" wrap="square" lIns="0" tIns="83820" rIns="0" bIns="0" rtlCol="0">
            <a:spAutoFit/>
          </a:bodyPr>
          <a:lstStyle/>
          <a:p>
            <a:pPr marL="38100">
              <a:lnSpc>
                <a:spcPct val="100000"/>
              </a:lnSpc>
              <a:spcBef>
                <a:spcPts val="660"/>
              </a:spcBef>
            </a:pPr>
            <a:r>
              <a:rPr sz="1000" spc="-10" dirty="0">
                <a:solidFill>
                  <a:srgbClr val="3333B2"/>
                </a:solidFill>
                <a:latin typeface="Arial"/>
                <a:cs typeface="Arial"/>
              </a:rPr>
              <a:t>Quan sát</a:t>
            </a:r>
            <a:endParaRPr sz="1000">
              <a:latin typeface="Arial"/>
              <a:cs typeface="Arial"/>
            </a:endParaRPr>
          </a:p>
          <a:p>
            <a:pPr marL="290830" marR="198120" indent="-120650">
              <a:lnSpc>
                <a:spcPct val="111600"/>
              </a:lnSpc>
              <a:spcBef>
                <a:spcPts val="375"/>
              </a:spcBef>
              <a:buClr>
                <a:srgbClr val="3333B2"/>
              </a:buClr>
              <a:buFont typeface="Apple Symbols"/>
              <a:buChar char="•"/>
              <a:tabLst>
                <a:tab pos="291465" algn="l"/>
              </a:tabLst>
            </a:pPr>
            <a:r>
              <a:rPr sz="900" dirty="0">
                <a:latin typeface="Arial"/>
                <a:cs typeface="Arial"/>
              </a:rPr>
              <a:t>Người tham gia</a:t>
            </a:r>
            <a:r>
              <a:rPr sz="900" spc="-20" dirty="0">
                <a:latin typeface="Arial"/>
                <a:cs typeface="Arial"/>
              </a:rPr>
              <a:t> </a:t>
            </a:r>
            <a:r>
              <a:rPr sz="900" spc="-10" dirty="0">
                <a:latin typeface="Arial"/>
                <a:cs typeface="Arial"/>
              </a:rPr>
              <a:t>tập thể</a:t>
            </a:r>
            <a:r>
              <a:rPr sz="900" spc="-20" dirty="0">
                <a:latin typeface="Arial"/>
                <a:cs typeface="Arial"/>
              </a:rPr>
              <a:t> </a:t>
            </a:r>
            <a:r>
              <a:rPr sz="900" dirty="0">
                <a:latin typeface="Arial"/>
                <a:cs typeface="Arial"/>
              </a:rPr>
              <a:t>đính hôn</a:t>
            </a:r>
            <a:r>
              <a:rPr sz="900" spc="-20" dirty="0">
                <a:latin typeface="Arial"/>
                <a:cs typeface="Arial"/>
              </a:rPr>
              <a:t> </a:t>
            </a:r>
            <a:r>
              <a:rPr sz="900" dirty="0">
                <a:latin typeface="Arial"/>
                <a:cs typeface="Arial"/>
              </a:rPr>
              <a:t>TRONG</a:t>
            </a:r>
            <a:r>
              <a:rPr sz="900" spc="-20" dirty="0">
                <a:latin typeface="Arial"/>
                <a:cs typeface="Arial"/>
              </a:rPr>
              <a:t> </a:t>
            </a:r>
            <a:r>
              <a:rPr sz="900" dirty="0">
                <a:latin typeface="Arial"/>
                <a:cs typeface="Arial"/>
              </a:rPr>
              <a:t>Một</a:t>
            </a:r>
            <a:r>
              <a:rPr sz="900" spc="-20" dirty="0">
                <a:latin typeface="Arial"/>
                <a:cs typeface="Arial"/>
              </a:rPr>
              <a:t> </a:t>
            </a:r>
            <a:r>
              <a:rPr sz="900" dirty="0">
                <a:solidFill>
                  <a:srgbClr val="C80000"/>
                </a:solidFill>
                <a:latin typeface="Arial"/>
                <a:cs typeface="Arial"/>
              </a:rPr>
              <a:t>lãnh đạo</a:t>
            </a:r>
            <a:r>
              <a:rPr sz="900" spc="-20" dirty="0">
                <a:solidFill>
                  <a:srgbClr val="C80000"/>
                </a:solidFill>
                <a:latin typeface="Arial"/>
                <a:cs typeface="Arial"/>
              </a:rPr>
              <a:t> </a:t>
            </a:r>
            <a:r>
              <a:rPr sz="900" dirty="0">
                <a:solidFill>
                  <a:srgbClr val="C80000"/>
                </a:solidFill>
                <a:latin typeface="Arial"/>
                <a:cs typeface="Arial"/>
              </a:rPr>
              <a:t>bầu cử </a:t>
            </a:r>
            <a:r>
              <a:rPr sz="900" dirty="0">
                <a:latin typeface="Arial"/>
                <a:cs typeface="Arial"/>
              </a:rPr>
              <a:t>.</a:t>
            </a:r>
            <a:r>
              <a:rPr sz="900" spc="40" dirty="0">
                <a:latin typeface="Arial"/>
                <a:cs typeface="Arial"/>
              </a:rPr>
              <a:t> </a:t>
            </a:r>
            <a:r>
              <a:rPr sz="900" dirty="0">
                <a:latin typeface="Arial"/>
                <a:cs typeface="Arial"/>
              </a:rPr>
              <a:t>Chỉ một</a:t>
            </a:r>
            <a:r>
              <a:rPr sz="900" spc="-20" dirty="0">
                <a:latin typeface="Arial"/>
                <a:cs typeface="Arial"/>
              </a:rPr>
              <a:t> </a:t>
            </a:r>
            <a:r>
              <a:rPr sz="900" dirty="0">
                <a:latin typeface="Arial"/>
                <a:cs typeface="Arial"/>
              </a:rPr>
              <a:t>cái</a:t>
            </a:r>
            <a:r>
              <a:rPr sz="900" spc="-20" dirty="0">
                <a:latin typeface="Arial"/>
                <a:cs typeface="Arial"/>
              </a:rPr>
              <a:t> </a:t>
            </a:r>
            <a:r>
              <a:rPr sz="900" dirty="0">
                <a:latin typeface="Arial"/>
                <a:cs typeface="Arial"/>
              </a:rPr>
              <a:t>lãnh đạo </a:t>
            </a:r>
            <a:r>
              <a:rPr sz="900" spc="-10" dirty="0">
                <a:latin typeface="Arial"/>
                <a:cs typeface="Arial"/>
              </a:rPr>
              <a:t>được bầu</a:t>
            </a:r>
            <a:r>
              <a:rPr sz="900" spc="-20" dirty="0">
                <a:latin typeface="Arial"/>
                <a:cs typeface="Arial"/>
              </a:rPr>
              <a:t> </a:t>
            </a:r>
            <a:r>
              <a:rPr sz="900" dirty="0">
                <a:latin typeface="Arial"/>
                <a:cs typeface="Arial"/>
              </a:rPr>
              <a:t>là</a:t>
            </a:r>
            <a:r>
              <a:rPr sz="900" spc="-20" dirty="0">
                <a:latin typeface="Arial"/>
                <a:cs typeface="Arial"/>
              </a:rPr>
              <a:t> </a:t>
            </a:r>
            <a:r>
              <a:rPr sz="900" dirty="0">
                <a:latin typeface="Arial"/>
                <a:cs typeface="Arial"/>
              </a:rPr>
              <a:t>cho phép</a:t>
            </a:r>
            <a:r>
              <a:rPr sz="900" spc="-15" dirty="0">
                <a:latin typeface="Arial"/>
                <a:cs typeface="Arial"/>
              </a:rPr>
              <a:t> </a:t>
            </a:r>
            <a:r>
              <a:rPr sz="900" dirty="0">
                <a:latin typeface="Arial"/>
                <a:cs typeface="Arial"/>
              </a:rPr>
              <a:t>ĐẾN</a:t>
            </a:r>
            <a:r>
              <a:rPr sz="900" spc="-20" dirty="0">
                <a:latin typeface="Arial"/>
                <a:cs typeface="Arial"/>
              </a:rPr>
              <a:t> </a:t>
            </a:r>
            <a:r>
              <a:rPr sz="900" dirty="0">
                <a:latin typeface="Arial"/>
                <a:cs typeface="Arial"/>
              </a:rPr>
              <a:t>thêm vào</a:t>
            </a:r>
            <a:r>
              <a:rPr sz="900" spc="-20" dirty="0">
                <a:latin typeface="Arial"/>
                <a:cs typeface="Arial"/>
              </a:rPr>
              <a:t> </a:t>
            </a:r>
            <a:r>
              <a:rPr sz="900" dirty="0">
                <a:latin typeface="Arial"/>
                <a:cs typeface="Arial"/>
              </a:rPr>
              <a:t>Một</a:t>
            </a:r>
            <a:r>
              <a:rPr sz="900" spc="-15" dirty="0">
                <a:latin typeface="Arial"/>
                <a:cs typeface="Arial"/>
              </a:rPr>
              <a:t> </a:t>
            </a:r>
            <a:r>
              <a:rPr sz="900" spc="-10" dirty="0">
                <a:latin typeface="Arial"/>
                <a:cs typeface="Arial"/>
              </a:rPr>
              <a:t>khối</a:t>
            </a:r>
            <a:r>
              <a:rPr sz="900" spc="-20" dirty="0">
                <a:latin typeface="Arial"/>
                <a:cs typeface="Arial"/>
              </a:rPr>
              <a:t> </a:t>
            </a:r>
            <a:r>
              <a:rPr sz="900" dirty="0">
                <a:latin typeface="Arial"/>
                <a:cs typeface="Arial"/>
              </a:rPr>
              <a:t>của</a:t>
            </a:r>
            <a:r>
              <a:rPr sz="900" spc="-20" dirty="0">
                <a:latin typeface="Arial"/>
                <a:cs typeface="Arial"/>
              </a:rPr>
              <a:t> </a:t>
            </a:r>
            <a:r>
              <a:rPr sz="900" spc="-10" dirty="0">
                <a:latin typeface="Arial"/>
                <a:cs typeface="Arial"/>
              </a:rPr>
              <a:t>đã xác thực</a:t>
            </a:r>
            <a:r>
              <a:rPr sz="900" spc="-15" dirty="0">
                <a:latin typeface="Arial"/>
                <a:cs typeface="Arial"/>
              </a:rPr>
              <a:t> </a:t>
            </a:r>
            <a:r>
              <a:rPr sz="900" spc="-10" dirty="0">
                <a:latin typeface="Arial"/>
                <a:cs typeface="Arial"/>
              </a:rPr>
              <a:t>giao dịch.</a:t>
            </a:r>
            <a:endParaRPr sz="900">
              <a:latin typeface="Arial"/>
              <a:cs typeface="Arial"/>
            </a:endParaRPr>
          </a:p>
          <a:p>
            <a:pPr marL="290830" marR="30480" indent="-120650">
              <a:lnSpc>
                <a:spcPct val="111600"/>
              </a:lnSpc>
              <a:spcBef>
                <a:spcPts val="300"/>
              </a:spcBef>
              <a:buClr>
                <a:srgbClr val="3333B2"/>
              </a:buClr>
              <a:buFont typeface="Apple Symbols"/>
              <a:buChar char="•"/>
              <a:tabLst>
                <a:tab pos="291465" algn="l"/>
              </a:tabLst>
            </a:pPr>
            <a:r>
              <a:rPr sz="900" spc="-10" dirty="0">
                <a:latin typeface="Arial"/>
                <a:cs typeface="Arial"/>
              </a:rPr>
              <a:t>lớn </a:t>
            </a:r>
            <a:r>
              <a:rPr sz="900" dirty="0">
                <a:latin typeface="Arial"/>
                <a:cs typeface="Arial"/>
              </a:rPr>
              <a:t>,</a:t>
            </a:r>
            <a:r>
              <a:rPr sz="900" spc="-25" dirty="0">
                <a:latin typeface="Arial"/>
                <a:cs typeface="Arial"/>
              </a:rPr>
              <a:t> </a:t>
            </a:r>
            <a:r>
              <a:rPr sz="900" spc="-10" dirty="0">
                <a:latin typeface="Arial"/>
                <a:cs typeface="Arial"/>
              </a:rPr>
              <a:t>phi tập trung</a:t>
            </a:r>
            <a:r>
              <a:rPr sz="900" spc="-25" dirty="0">
                <a:latin typeface="Arial"/>
                <a:cs typeface="Arial"/>
              </a:rPr>
              <a:t> </a:t>
            </a:r>
            <a:r>
              <a:rPr sz="900" dirty="0">
                <a:latin typeface="Arial"/>
                <a:cs typeface="Arial"/>
              </a:rPr>
              <a:t>lãnh đạo</a:t>
            </a:r>
            <a:r>
              <a:rPr sz="900" spc="-20" dirty="0">
                <a:latin typeface="Arial"/>
                <a:cs typeface="Arial"/>
              </a:rPr>
              <a:t> </a:t>
            </a:r>
            <a:r>
              <a:rPr sz="900" dirty="0">
                <a:latin typeface="Arial"/>
                <a:cs typeface="Arial"/>
              </a:rPr>
              <a:t>cuộc bầu cử</a:t>
            </a:r>
            <a:r>
              <a:rPr sz="900" spc="-25" dirty="0">
                <a:latin typeface="Arial"/>
                <a:cs typeface="Arial"/>
              </a:rPr>
              <a:t> </a:t>
            </a:r>
            <a:r>
              <a:rPr sz="900" dirty="0">
                <a:latin typeface="Arial"/>
                <a:cs typeface="Arial"/>
              </a:rPr>
              <a:t>cái đó</a:t>
            </a:r>
            <a:r>
              <a:rPr sz="900" spc="-25" dirty="0">
                <a:latin typeface="Arial"/>
                <a:cs typeface="Arial"/>
              </a:rPr>
              <a:t> </a:t>
            </a:r>
            <a:r>
              <a:rPr sz="900" dirty="0">
                <a:latin typeface="Arial"/>
                <a:cs typeface="Arial"/>
              </a:rPr>
              <a:t>là</a:t>
            </a:r>
            <a:r>
              <a:rPr sz="900" spc="-20" dirty="0">
                <a:latin typeface="Arial"/>
                <a:cs typeface="Arial"/>
              </a:rPr>
              <a:t> </a:t>
            </a:r>
            <a:r>
              <a:rPr sz="900" spc="-10" dirty="0">
                <a:latin typeface="Arial"/>
                <a:cs typeface="Arial"/>
              </a:rPr>
              <a:t>hội chợ,</a:t>
            </a:r>
            <a:r>
              <a:rPr sz="900" spc="-25" dirty="0">
                <a:latin typeface="Arial"/>
                <a:cs typeface="Arial"/>
              </a:rPr>
              <a:t> </a:t>
            </a:r>
            <a:r>
              <a:rPr sz="900" dirty="0">
                <a:latin typeface="Arial"/>
                <a:cs typeface="Arial"/>
              </a:rPr>
              <a:t>mạnh mẽ,</a:t>
            </a:r>
            <a:r>
              <a:rPr sz="900" spc="-20" dirty="0">
                <a:latin typeface="Arial"/>
                <a:cs typeface="Arial"/>
              </a:rPr>
              <a:t> </a:t>
            </a:r>
            <a:r>
              <a:rPr sz="900" dirty="0">
                <a:latin typeface="Arial"/>
                <a:cs typeface="Arial"/>
              </a:rPr>
              <a:t>an toàn, </a:t>
            </a:r>
            <a:r>
              <a:rPr sz="900" spc="-25" dirty="0">
                <a:latin typeface="Arial"/>
                <a:cs typeface="Arial"/>
              </a:rPr>
              <a:t>và </a:t>
            </a:r>
            <a:r>
              <a:rPr sz="900" dirty="0">
                <a:latin typeface="Arial"/>
                <a:cs typeface="Arial"/>
              </a:rPr>
              <a:t>như vậy</a:t>
            </a:r>
            <a:r>
              <a:rPr sz="900" spc="-25" dirty="0">
                <a:latin typeface="Arial"/>
                <a:cs typeface="Arial"/>
              </a:rPr>
              <a:t> </a:t>
            </a:r>
            <a:r>
              <a:rPr sz="900" dirty="0">
                <a:latin typeface="Arial"/>
                <a:cs typeface="Arial"/>
              </a:rPr>
              <a:t>TRÊN,</a:t>
            </a:r>
            <a:r>
              <a:rPr sz="900" spc="-20" dirty="0">
                <a:latin typeface="Arial"/>
                <a:cs typeface="Arial"/>
              </a:rPr>
              <a:t> </a:t>
            </a:r>
            <a:r>
              <a:rPr sz="900" dirty="0">
                <a:latin typeface="Arial"/>
                <a:cs typeface="Arial"/>
              </a:rPr>
              <a:t>là</a:t>
            </a:r>
            <a:r>
              <a:rPr sz="900" spc="-25" dirty="0">
                <a:latin typeface="Arial"/>
                <a:cs typeface="Arial"/>
              </a:rPr>
              <a:t> </a:t>
            </a:r>
            <a:r>
              <a:rPr sz="900" dirty="0">
                <a:latin typeface="Arial"/>
                <a:cs typeface="Arial"/>
              </a:rPr>
              <a:t>xa</a:t>
            </a:r>
            <a:r>
              <a:rPr sz="900" spc="-20" dirty="0">
                <a:latin typeface="Arial"/>
                <a:cs typeface="Arial"/>
              </a:rPr>
              <a:t> </a:t>
            </a:r>
            <a:r>
              <a:rPr sz="900" dirty="0">
                <a:latin typeface="Arial"/>
                <a:cs typeface="Arial"/>
              </a:rPr>
              <a:t>từ</a:t>
            </a:r>
            <a:r>
              <a:rPr sz="900" spc="-25" dirty="0">
                <a:latin typeface="Arial"/>
                <a:cs typeface="Arial"/>
              </a:rPr>
              <a:t> </a:t>
            </a:r>
            <a:r>
              <a:rPr sz="900" spc="-10" dirty="0">
                <a:latin typeface="Arial"/>
                <a:cs typeface="Arial"/>
              </a:rPr>
              <a:t>tầm thường.</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7099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Chuỗi khối</a:t>
            </a:r>
            <a:r>
              <a:rPr sz="500" spc="60" dirty="0">
                <a:latin typeface="Arial"/>
                <a:cs typeface="Arial"/>
                <a:hlinkClick r:id="rId5" action="ppaction://hlinksldjump"/>
              </a:rPr>
              <a:t> </a:t>
            </a:r>
            <a:r>
              <a:rPr sz="500" spc="-10" dirty="0">
                <a:latin typeface="Arial"/>
                <a:cs typeface="Arial"/>
                <a:hlinkClick r:id="rId5" action="ppaction://hlinksldjump"/>
              </a:rPr>
              <a:t>kiến trúc</a:t>
            </a:r>
            <a:endParaRPr sz="500">
              <a:latin typeface="Arial"/>
              <a:cs typeface="Arial"/>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TotalTime>
  <Words>5016</Words>
  <Application>Microsoft Office PowerPoint</Application>
  <PresentationFormat>Custom</PresentationFormat>
  <Paragraphs>484</Paragraphs>
  <Slides>51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Apple Symbols</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Ứng dụng Phân lớp</vt:lpstr>
      <vt:lpstr>Ứng dụng Phân lớp</vt:lpstr>
      <vt:lpstr>PowerPoint Presentation</vt:lpstr>
      <vt:lpstr>Kiến trúc dựa trên đối tượng (Object-Based Architecture)</vt:lpstr>
      <vt:lpstr>Kiến trúc Restful</vt:lpstr>
      <vt:lpstr>Ví dụ: Kho Dịch vụ Đơn giản của Amazon</vt:lpstr>
      <vt:lpstr>Tại giao diện</vt:lpstr>
      <vt:lpstr>Tại giao diện</vt:lpstr>
      <vt:lpstr>Tại giao diện</vt:lpstr>
      <vt:lpstr>TRÊN giao diện</vt:lpstr>
      <vt:lpstr>TRÊN giao diện</vt:lpstr>
      <vt:lpstr>PowerPoint Presentation</vt:lpstr>
      <vt:lpstr>PowerPoint Presentation</vt:lpstr>
      <vt:lpstr>PowerPoint Presentation</vt:lpstr>
      <vt:lpstr>PowerPoint Presentation</vt:lpstr>
      <vt:lpstr>PowerPoint Presentation</vt:lpstr>
      <vt:lpstr>Sử dụng di sản ĐẾN xây dựng phần mềm trung gian</vt:lpstr>
      <vt:lpstr>PowerPoint Presentation</vt:lpstr>
      <vt:lpstr>Đang phát triển có thể thích nghi phần mềm trung gian</vt:lpstr>
      <vt:lpstr>PowerPoint Presentation</vt:lpstr>
      <vt:lpstr>PowerPoint Presentation</vt:lpstr>
      <vt:lpstr>PowerPoint Presentation</vt:lpstr>
      <vt:lpstr>PowerPoint Presentation</vt:lpstr>
      <vt:lpstr>Ví dụ: Các Mạng Tài liệu Hệ thống</vt:lpstr>
      <vt:lpstr>PowerPoint Presentation</vt:lpstr>
      <vt:lpstr>PowerPoint Presentation</vt:lpstr>
      <vt:lpstr>PowerPoint Presentation</vt:lpstr>
      <vt:lpstr>Thay thế các tổ chức</vt:lpstr>
      <vt:lpstr>Có cấu trúc ngang hàng</vt:lpstr>
      <vt:lpstr>Ví dụ: Dây nhau</vt:lpstr>
      <vt:lpstr>PowerPoint Presentation</vt:lpstr>
      <vt:lpstr>Không có cấu trúc ngang hàng</vt:lpstr>
      <vt:lpstr>Lũ lụt so với ngẫu nhiên đi bộ</vt:lpstr>
      <vt:lpstr>Lũ lụt so với ngẫu nhiên đi bộ</vt:lpstr>
      <vt:lpstr>Siêu ngang hàng mạng lưới</vt:lpstr>
      <vt:lpstr>Sự hợp tác: Các BitTorrent trường hợp</vt:lpstr>
      <vt:lpstr>PowerPoint Presentation</vt:lpstr>
      <vt:lpstr>Đám mây tính toán</vt:lpstr>
      <vt:lpstr>Máy chủ Edge ngành kiến trúc</vt:lpstr>
      <vt:lpstr>Lý do vì có MỘT bờ rìa cơ sở hạ tầng</vt:lpstr>
      <vt:lpstr>Bờ rìa sự phối hợp</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(4th edition, version 01)</dc:title>
  <cp:lastModifiedBy>Admin</cp:lastModifiedBy>
  <cp:revision>12</cp:revision>
  <dcterms:created xsi:type="dcterms:W3CDTF">2023-04-27T06:02:17Z</dcterms:created>
  <dcterms:modified xsi:type="dcterms:W3CDTF">2025-02-08T14:59:57Z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2023-04-27T00:00:00Z</vt:filetime>
  </property>
  <property fmtid="{D5CDD505-2E9C-101B-9397-08002B2CF9AE}" pid="3" name="Creator">
    <vt:lpwstr>LaTeX with Beamer class</vt:lpwstr>
  </property>
  <property fmtid="{D5CDD505-2E9C-101B-9397-08002B2CF9AE}" pid="4" name="LastSaved">
    <vt:filetime>2023-04-27T00:00:00Z</vt:filetime>
  </property>
  <property fmtid="{D5CDD505-2E9C-101B-9397-08002B2CF9AE}" pid="5" name="PTEX.Fullbanner">
    <vt:lpwstr>This is pdfTeX, Version 3.141592653-2.6-1.40.24 (TeX Live 2022) kpathsea version 6.3.4</vt:lpwstr>
  </property>
  <property fmtid="{D5CDD505-2E9C-101B-9397-08002B2CF9AE}" pid="6" name="Producer">
    <vt:lpwstr>pdfTeX-1.40.24</vt:lpwstr>
  </property>
</Properties>
</file>