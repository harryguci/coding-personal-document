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9753600" cy="7315200"/>
  <p:notesSz cx="6858000" cy="9144000"/>
  <p:embeddedFontLst>
    <p:embeddedFont>
      <p:font typeface="Muli" charset="1" panose="00000500000000000000"/>
      <p:regular r:id="rId54"/>
    </p:embeddedFont>
    <p:embeddedFont>
      <p:font typeface="Muli Ultra-Bold" charset="1" panose="00000900000000000000"/>
      <p:regular r:id="rId55"/>
    </p:embeddedFont>
    <p:embeddedFont>
      <p:font typeface="Dancing Script" charset="1" panose="03080600040507000D00"/>
      <p:regular r:id="rId56"/>
    </p:embeddedFont>
    <p:embeddedFont>
      <p:font typeface="Muli Bold" charset="1" panose="00000800000000000000"/>
      <p:regular r:id="rId57"/>
    </p:embeddedFont>
    <p:embeddedFont>
      <p:font typeface="Muli Semi-Bold" charset="1" panose="00000700000000000000"/>
      <p:regular r:id="rId58"/>
    </p:embeddedFont>
    <p:embeddedFont>
      <p:font typeface="Muli Extra-Light" charset="1" panose="0000030000000000000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6.png" Type="http://schemas.openxmlformats.org/officeDocument/2006/relationships/image"/><Relationship Id="rId4" Target="../media/image7.svg" Type="http://schemas.openxmlformats.org/officeDocument/2006/relationships/image"/><Relationship Id="rId5" Target="slide3.xml" Type="http://schemas.openxmlformats.org/officeDocument/2006/relationship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http://BucketName.s3.amazonaws.com/ObjectName"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5.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3047731" y="222611"/>
            <a:ext cx="3658137" cy="1017818"/>
            <a:chOff x="0" y="0"/>
            <a:chExt cx="5031744" cy="1400003"/>
          </a:xfrm>
        </p:grpSpPr>
        <p:sp>
          <p:nvSpPr>
            <p:cNvPr name="Freeform 3" id="3"/>
            <p:cNvSpPr/>
            <p:nvPr/>
          </p:nvSpPr>
          <p:spPr>
            <a:xfrm flipH="false" flipV="false" rot="0">
              <a:off x="0" y="0"/>
              <a:ext cx="5031744" cy="1400003"/>
            </a:xfrm>
            <a:custGeom>
              <a:avLst/>
              <a:gdLst/>
              <a:ahLst/>
              <a:cxnLst/>
              <a:rect r="r" b="b" t="t" l="l"/>
              <a:pathLst>
                <a:path h="1400003" w="5031744">
                  <a:moveTo>
                    <a:pt x="0" y="0"/>
                  </a:moveTo>
                  <a:lnTo>
                    <a:pt x="5031744" y="0"/>
                  </a:lnTo>
                  <a:lnTo>
                    <a:pt x="5031744" y="1400003"/>
                  </a:lnTo>
                  <a:lnTo>
                    <a:pt x="0" y="1400003"/>
                  </a:lnTo>
                  <a:close/>
                </a:path>
              </a:pathLst>
            </a:custGeom>
            <a:solidFill>
              <a:srgbClr val="000000">
                <a:alpha val="0"/>
              </a:srgbClr>
            </a:solidFill>
          </p:spPr>
        </p:sp>
        <p:sp>
          <p:nvSpPr>
            <p:cNvPr name="TextBox 4" id="4"/>
            <p:cNvSpPr txBox="true"/>
            <p:nvPr/>
          </p:nvSpPr>
          <p:spPr>
            <a:xfrm>
              <a:off x="0" y="0"/>
              <a:ext cx="5031744" cy="1400003"/>
            </a:xfrm>
            <a:prstGeom prst="rect">
              <a:avLst/>
            </a:prstGeom>
          </p:spPr>
          <p:txBody>
            <a:bodyPr anchor="t" rtlCol="false" tIns="0" lIns="0" bIns="0" rIns="0"/>
            <a:lstStyle/>
            <a:p>
              <a:pPr algn="ctr">
                <a:lnSpc>
                  <a:spcPts val="2284"/>
                </a:lnSpc>
              </a:pPr>
              <a:r>
                <a:rPr lang="en-US" sz="1904">
                  <a:solidFill>
                    <a:srgbClr val="513527"/>
                  </a:solidFill>
                  <a:latin typeface="Muli"/>
                  <a:ea typeface="Muli"/>
                  <a:cs typeface="Muli"/>
                  <a:sym typeface="Muli"/>
                </a:rPr>
                <a:t>Hệ Thống Phân Tán</a:t>
              </a:r>
            </a:p>
            <a:p>
              <a:pPr algn="ctr">
                <a:lnSpc>
                  <a:spcPts val="2284"/>
                </a:lnSpc>
              </a:pPr>
              <a:r>
                <a:rPr lang="en-US" sz="1904">
                  <a:solidFill>
                    <a:srgbClr val="513527"/>
                  </a:solidFill>
                  <a:latin typeface="Muli"/>
                  <a:ea typeface="Muli"/>
                  <a:cs typeface="Muli"/>
                  <a:sym typeface="Muli"/>
                </a:rPr>
                <a:t>(phiên bản thứ 4 , bản 01)</a:t>
              </a:r>
            </a:p>
          </p:txBody>
        </p:sp>
      </p:grpSp>
      <p:grpSp>
        <p:nvGrpSpPr>
          <p:cNvPr name="Group 5" id="5"/>
          <p:cNvGrpSpPr/>
          <p:nvPr/>
        </p:nvGrpSpPr>
        <p:grpSpPr>
          <a:xfrm rot="0">
            <a:off x="2098469" y="3211796"/>
            <a:ext cx="5982029" cy="891608"/>
            <a:chOff x="0" y="0"/>
            <a:chExt cx="6802404" cy="1013884"/>
          </a:xfrm>
        </p:grpSpPr>
        <p:sp>
          <p:nvSpPr>
            <p:cNvPr name="Freeform 6" id="6"/>
            <p:cNvSpPr/>
            <p:nvPr/>
          </p:nvSpPr>
          <p:spPr>
            <a:xfrm flipH="false" flipV="false" rot="0">
              <a:off x="0" y="0"/>
              <a:ext cx="6802403" cy="1013884"/>
            </a:xfrm>
            <a:custGeom>
              <a:avLst/>
              <a:gdLst/>
              <a:ahLst/>
              <a:cxnLst/>
              <a:rect r="r" b="b" t="t" l="l"/>
              <a:pathLst>
                <a:path h="1013884" w="6802403">
                  <a:moveTo>
                    <a:pt x="0" y="0"/>
                  </a:moveTo>
                  <a:lnTo>
                    <a:pt x="6802403" y="0"/>
                  </a:lnTo>
                  <a:lnTo>
                    <a:pt x="6802403" y="1013884"/>
                  </a:lnTo>
                  <a:lnTo>
                    <a:pt x="0" y="1013884"/>
                  </a:lnTo>
                  <a:close/>
                </a:path>
              </a:pathLst>
            </a:custGeom>
            <a:solidFill>
              <a:srgbClr val="000000">
                <a:alpha val="0"/>
              </a:srgbClr>
            </a:solidFill>
          </p:spPr>
        </p:sp>
        <p:sp>
          <p:nvSpPr>
            <p:cNvPr name="TextBox 7" id="7"/>
            <p:cNvSpPr txBox="true"/>
            <p:nvPr/>
          </p:nvSpPr>
          <p:spPr>
            <a:xfrm>
              <a:off x="0" y="0"/>
              <a:ext cx="6802404" cy="1013884"/>
            </a:xfrm>
            <a:prstGeom prst="rect">
              <a:avLst/>
            </a:prstGeom>
          </p:spPr>
          <p:txBody>
            <a:bodyPr anchor="t" rtlCol="false" tIns="0" lIns="0" bIns="0" rIns="0"/>
            <a:lstStyle/>
            <a:p>
              <a:pPr algn="l">
                <a:lnSpc>
                  <a:spcPts val="5354"/>
                </a:lnSpc>
              </a:pPr>
              <a:r>
                <a:rPr lang="en-US" b="true" sz="4461">
                  <a:solidFill>
                    <a:srgbClr val="343434"/>
                  </a:solidFill>
                  <a:latin typeface="Muli Ultra-Bold"/>
                  <a:ea typeface="Muli Ultra-Bold"/>
                  <a:cs typeface="Muli Ultra-Bold"/>
                  <a:sym typeface="Muli Ultra-Bold"/>
                </a:rPr>
                <a:t>Chương 02: Kiến trúc</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121018" y="418298"/>
            <a:ext cx="8462524" cy="5120906"/>
            <a:chOff x="0" y="0"/>
            <a:chExt cx="11283366" cy="6827874"/>
          </a:xfrm>
        </p:grpSpPr>
        <p:sp>
          <p:nvSpPr>
            <p:cNvPr name="Freeform 3" id="3"/>
            <p:cNvSpPr/>
            <p:nvPr/>
          </p:nvSpPr>
          <p:spPr>
            <a:xfrm flipH="false" flipV="false" rot="0">
              <a:off x="0" y="0"/>
              <a:ext cx="11283366" cy="6827875"/>
            </a:xfrm>
            <a:custGeom>
              <a:avLst/>
              <a:gdLst/>
              <a:ahLst/>
              <a:cxnLst/>
              <a:rect r="r" b="b" t="t" l="l"/>
              <a:pathLst>
                <a:path h="6827875" w="11283366">
                  <a:moveTo>
                    <a:pt x="0" y="0"/>
                  </a:moveTo>
                  <a:lnTo>
                    <a:pt x="11283366" y="0"/>
                  </a:lnTo>
                  <a:lnTo>
                    <a:pt x="11283366" y="6827875"/>
                  </a:lnTo>
                  <a:lnTo>
                    <a:pt x="0" y="6827875"/>
                  </a:lnTo>
                  <a:close/>
                </a:path>
              </a:pathLst>
            </a:custGeom>
            <a:solidFill>
              <a:srgbClr val="000000">
                <a:alpha val="0"/>
              </a:srgbClr>
            </a:solidFill>
          </p:spPr>
        </p:sp>
        <p:sp>
          <p:nvSpPr>
            <p:cNvPr name="TextBox 4" id="4"/>
            <p:cNvSpPr txBox="true"/>
            <p:nvPr/>
          </p:nvSpPr>
          <p:spPr>
            <a:xfrm>
              <a:off x="0" y="0"/>
              <a:ext cx="11283366" cy="682787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Phong cách kiến trúc </a:t>
              </a:r>
            </a:p>
            <a:p>
              <a:pPr algn="l">
                <a:lnSpc>
                  <a:spcPts val="2538"/>
                </a:lnSpc>
              </a:pPr>
              <a:r>
                <a:rPr lang="en-US" b="true" sz="2115">
                  <a:solidFill>
                    <a:srgbClr val="343434"/>
                  </a:solidFill>
                  <a:latin typeface="Muli Ultra-Bold"/>
                  <a:ea typeface="Muli Ultra-Bold"/>
                  <a:cs typeface="Muli Ultra-Bold"/>
                  <a:sym typeface="Muli Ultra-Bold"/>
                </a:rPr>
                <a:t>Nền tảng ý tưởng</a:t>
              </a:r>
            </a:p>
            <a:p>
              <a:pPr algn="l">
                <a:lnSpc>
                  <a:spcPts val="2284"/>
                </a:lnSpc>
              </a:pPr>
              <a:r>
                <a:rPr lang="en-US" b="true" sz="1904">
                  <a:solidFill>
                    <a:srgbClr val="343434"/>
                  </a:solidFill>
                  <a:latin typeface="Muli Ultra-Bold"/>
                  <a:ea typeface="Muli Ultra-Bold"/>
                  <a:cs typeface="Muli Ultra-Bold"/>
                  <a:sym typeface="Muli Ultra-Bold"/>
                </a:rPr>
                <a:t>Kiểu</a:t>
              </a:r>
              <a:r>
                <a:rPr lang="en-US" b="true" sz="1904">
                  <a:solidFill>
                    <a:srgbClr val="343434"/>
                  </a:solidFill>
                  <a:latin typeface="Muli Ultra-Bold"/>
                  <a:ea typeface="Muli Ultra-Bold"/>
                  <a:cs typeface="Muli Ultra-Bold"/>
                  <a:sym typeface="Muli Ultra-Bold"/>
                </a:rPr>
                <a:t> kiến trúc được xây dựng dựa trên:</a:t>
              </a:r>
            </a:p>
            <a:p>
              <a:pPr algn="l" marL="1117472" indent="-558736" lvl="1">
                <a:lnSpc>
                  <a:spcPts val="2284"/>
                </a:lnSpc>
                <a:buFont typeface="Arial"/>
                <a:buChar char="•"/>
              </a:pPr>
              <a:r>
                <a:rPr lang="en-US" b="true" sz="1904">
                  <a:solidFill>
                    <a:srgbClr val="343434"/>
                  </a:solidFill>
                  <a:latin typeface="Muli Ultra-Bold"/>
                  <a:ea typeface="Muli Ultra-Bold"/>
                  <a:cs typeface="Muli Ultra-Bold"/>
                  <a:sym typeface="Muli Ultra-Bold"/>
                </a:rPr>
                <a:t>(Có thể thay thế) các thành phần có giao diện được xác định rõ ràng.</a:t>
              </a:r>
            </a:p>
            <a:p>
              <a:pPr algn="l" marL="1117472" indent="-558736" lvl="1">
                <a:lnSpc>
                  <a:spcPts val="2284"/>
                </a:lnSpc>
                <a:buFont typeface="Arial"/>
                <a:buChar char="•"/>
              </a:pPr>
              <a:r>
                <a:rPr lang="en-US" b="true" sz="1904">
                  <a:solidFill>
                    <a:srgbClr val="343434"/>
                  </a:solidFill>
                  <a:latin typeface="Muli Ultra-Bold"/>
                  <a:ea typeface="Muli Ultra-Bold"/>
                  <a:cs typeface="Muli Ultra-Bold"/>
                  <a:sym typeface="Muli Ultra-Bold"/>
                </a:rPr>
                <a:t>Cách các thành phần được kết nối với nhau.</a:t>
              </a:r>
            </a:p>
            <a:p>
              <a:pPr algn="l" marL="1117471" indent="-558736" lvl="1">
                <a:lnSpc>
                  <a:spcPts val="2284"/>
                </a:lnSpc>
                <a:buFont typeface="Arial"/>
                <a:buChar char="•"/>
              </a:pPr>
              <a:r>
                <a:rPr lang="en-US" b="true" sz="1904">
                  <a:solidFill>
                    <a:srgbClr val="343434"/>
                  </a:solidFill>
                  <a:latin typeface="Muli Ultra-Bold"/>
                  <a:ea typeface="Muli Ultra-Bold"/>
                  <a:cs typeface="Muli Ultra-Bold"/>
                  <a:sym typeface="Muli Ultra-Bold"/>
                </a:rPr>
                <a:t>Dữ liệu trao đổi giữa các thành phần.</a:t>
              </a:r>
            </a:p>
            <a:p>
              <a:pPr algn="l" marL="1117471" indent="-558736" lvl="1">
                <a:lnSpc>
                  <a:spcPts val="2284"/>
                </a:lnSpc>
                <a:buFont typeface="Arial"/>
                <a:buChar char="•"/>
              </a:pPr>
              <a:r>
                <a:rPr lang="en-US" b="true" sz="1904">
                  <a:solidFill>
                    <a:srgbClr val="343434"/>
                  </a:solidFill>
                  <a:latin typeface="Muli Ultra-Bold"/>
                  <a:ea typeface="Muli Ultra-Bold"/>
                  <a:cs typeface="Muli Ultra-Bold"/>
                  <a:sym typeface="Muli Ultra-Bold"/>
                </a:rPr>
                <a:t>Cách các thành phần và đầu nối này được cấu hình chung trong một hệ thống.</a:t>
              </a:r>
            </a:p>
            <a:p>
              <a:pPr algn="l">
                <a:lnSpc>
                  <a:spcPts val="2284"/>
                </a:lnSpc>
              </a:pPr>
            </a:p>
            <a:p>
              <a:pPr algn="l" marL="456780" indent="-228390" lvl="1">
                <a:lnSpc>
                  <a:spcPts val="2538"/>
                </a:lnSpc>
                <a:buFont typeface="Arial"/>
                <a:buChar char="•"/>
              </a:pPr>
              <a:r>
                <a:rPr lang="en-US" b="true" sz="2115">
                  <a:solidFill>
                    <a:srgbClr val="343434"/>
                  </a:solidFill>
                  <a:latin typeface="Muli Ultra-Bold"/>
                  <a:ea typeface="Muli Ultra-Bold"/>
                  <a:cs typeface="Muli Ultra-Bold"/>
                  <a:sym typeface="Muli Ultra-Bold"/>
                </a:rPr>
                <a:t>Kết nối (Connector) </a:t>
              </a:r>
            </a:p>
            <a:p>
              <a:pPr algn="l">
                <a:lnSpc>
                  <a:spcPts val="2284"/>
                </a:lnSpc>
              </a:pPr>
              <a:r>
                <a:rPr lang="en-US" b="true" sz="1904">
                  <a:solidFill>
                    <a:srgbClr val="343434"/>
                  </a:solidFill>
                  <a:latin typeface="Muli Ultra-Bold"/>
                  <a:ea typeface="Muli Ultra-Bold"/>
                  <a:cs typeface="Muli Ultra-Bold"/>
                  <a:sym typeface="Muli Ultra-Bold"/>
                </a:rPr>
                <a:t>             - Connector là m</a:t>
              </a:r>
              <a:r>
                <a:rPr lang="en-US" b="true" sz="1904">
                  <a:solidFill>
                    <a:srgbClr val="343434"/>
                  </a:solidFill>
                  <a:latin typeface="Muli Ultra-Bold"/>
                  <a:ea typeface="Muli Ultra-Bold"/>
                  <a:cs typeface="Muli Ultra-Bold"/>
                  <a:sym typeface="Muli Ultra-Bold"/>
                </a:rPr>
                <a:t>ột cơ chế làm trung gian cho việc giao tiếp, phối hợp hoặc hợp tác giữa các thành phần.</a:t>
              </a:r>
            </a:p>
            <a:p>
              <a:pPr algn="l">
                <a:lnSpc>
                  <a:spcPts val="2284"/>
                </a:lnSpc>
              </a:pPr>
              <a:r>
                <a:rPr lang="en-US" b="true" sz="1904">
                  <a:solidFill>
                    <a:srgbClr val="343434"/>
                  </a:solidFill>
                  <a:latin typeface="Muli Ultra-Bold"/>
                  <a:ea typeface="Muli Ultra-Bold"/>
                  <a:cs typeface="Muli Ultra-Bold"/>
                  <a:sym typeface="Muli Ultra-Bold"/>
                </a:rPr>
                <a:t>             - </a:t>
              </a:r>
              <a:r>
                <a:rPr lang="en-US" b="true" sz="1904">
                  <a:solidFill>
                    <a:srgbClr val="343434"/>
                  </a:solidFill>
                  <a:latin typeface="Muli Ultra-Bold"/>
                  <a:ea typeface="Muli Ultra-Bold"/>
                  <a:cs typeface="Muli Ultra-Bold"/>
                  <a:sym typeface="Muli Ultra-Bold"/>
                </a:rPr>
                <a:t>Ví dụ:</a:t>
              </a:r>
            </a:p>
            <a:p>
              <a:pPr algn="l" marL="1125540" indent="-562770" lvl="1">
                <a:lnSpc>
                  <a:spcPts val="2284"/>
                </a:lnSpc>
                <a:buFont typeface="Arial"/>
                <a:buChar char="•"/>
              </a:pPr>
              <a:r>
                <a:rPr lang="en-US" b="true" sz="1904">
                  <a:solidFill>
                    <a:srgbClr val="343434"/>
                  </a:solidFill>
                  <a:latin typeface="Muli Ultra-Bold"/>
                  <a:ea typeface="Muli Ultra-Bold"/>
                  <a:cs typeface="Muli Ultra-Bold"/>
                  <a:sym typeface="Muli Ultra-Bold"/>
                </a:rPr>
                <a:t>Gọi thủ tục từ xa (Remote Procedure Call - RPC).</a:t>
              </a:r>
            </a:p>
            <a:p>
              <a:pPr algn="l" marL="1125540" indent="-562770" lvl="1">
                <a:lnSpc>
                  <a:spcPts val="2284"/>
                </a:lnSpc>
                <a:buFont typeface="Arial"/>
                <a:buChar char="•"/>
              </a:pPr>
              <a:r>
                <a:rPr lang="en-US" b="true" sz="1904">
                  <a:solidFill>
                    <a:srgbClr val="343434"/>
                  </a:solidFill>
                  <a:latin typeface="Muli Ultra-Bold"/>
                  <a:ea typeface="Muli Ultra-Bold"/>
                  <a:cs typeface="Muli Ultra-Bold"/>
                  <a:sym typeface="Muli Ultra-Bold"/>
                </a:rPr>
                <a:t>Nhắn tin (Messaging).</a:t>
              </a:r>
            </a:p>
            <a:p>
              <a:pPr algn="l" marL="1125540" indent="-562770" lvl="1">
                <a:lnSpc>
                  <a:spcPts val="2284"/>
                </a:lnSpc>
                <a:buFont typeface="Arial"/>
                <a:buChar char="•"/>
              </a:pPr>
              <a:r>
                <a:rPr lang="en-US" b="true" sz="1904">
                  <a:solidFill>
                    <a:srgbClr val="343434"/>
                  </a:solidFill>
                  <a:latin typeface="Muli Ultra-Bold"/>
                  <a:ea typeface="Muli Ultra-Bold"/>
                  <a:cs typeface="Muli Ultra-Bold"/>
                  <a:sym typeface="Muli Ultra-Bold"/>
                </a:rPr>
                <a:t>Truyền dữ liệu theo dòng (Streaming).</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4195660" cy="1125511"/>
            <a:chOff x="0" y="0"/>
            <a:chExt cx="5594214" cy="1500681"/>
          </a:xfrm>
        </p:grpSpPr>
        <p:sp>
          <p:nvSpPr>
            <p:cNvPr name="Freeform 3" id="3"/>
            <p:cNvSpPr/>
            <p:nvPr/>
          </p:nvSpPr>
          <p:spPr>
            <a:xfrm flipH="false" flipV="false" rot="0">
              <a:off x="0" y="0"/>
              <a:ext cx="5594214" cy="1500681"/>
            </a:xfrm>
            <a:custGeom>
              <a:avLst/>
              <a:gdLst/>
              <a:ahLst/>
              <a:cxnLst/>
              <a:rect r="r" b="b" t="t" l="l"/>
              <a:pathLst>
                <a:path h="1500681" w="5594214">
                  <a:moveTo>
                    <a:pt x="0" y="0"/>
                  </a:moveTo>
                  <a:lnTo>
                    <a:pt x="5594214" y="0"/>
                  </a:lnTo>
                  <a:lnTo>
                    <a:pt x="5594214" y="1500681"/>
                  </a:lnTo>
                  <a:lnTo>
                    <a:pt x="0" y="1500681"/>
                  </a:lnTo>
                  <a:close/>
                </a:path>
              </a:pathLst>
            </a:custGeom>
            <a:solidFill>
              <a:srgbClr val="000000">
                <a:alpha val="0"/>
              </a:srgbClr>
            </a:solidFill>
          </p:spPr>
        </p:sp>
        <p:sp>
          <p:nvSpPr>
            <p:cNvPr name="TextBox 4" id="4"/>
            <p:cNvSpPr txBox="true"/>
            <p:nvPr/>
          </p:nvSpPr>
          <p:spPr>
            <a:xfrm>
              <a:off x="0" y="0"/>
              <a:ext cx="5594214" cy="1500681"/>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Kiến trúc lớp </a:t>
              </a:r>
            </a:p>
            <a:p>
              <a:pPr algn="l">
                <a:lnSpc>
                  <a:spcPts val="2538"/>
                </a:lnSpc>
              </a:pPr>
              <a:r>
                <a:rPr lang="en-US" b="true" sz="2115">
                  <a:solidFill>
                    <a:srgbClr val="343434"/>
                  </a:solidFill>
                  <a:latin typeface="Muli Ultra-Bold"/>
                  <a:ea typeface="Muli Ultra-Bold"/>
                  <a:cs typeface="Muli Ultra-Bold"/>
                  <a:sym typeface="Muli Ultra-Bold"/>
                </a:rPr>
                <a:t>Các tổ chức phân lớp khác nhau</a:t>
              </a:r>
              <a:r>
                <a:rPr lang="en-US" b="true" sz="2115">
                  <a:solidFill>
                    <a:srgbClr val="343434"/>
                  </a:solidFill>
                  <a:latin typeface="Muli Ultra-Bold"/>
                  <a:ea typeface="Muli Ultra-Bold"/>
                  <a:cs typeface="Muli Ultra-Bold"/>
                  <a:sym typeface="Muli Ultra-Bold"/>
                </a:rPr>
                <a:t>:</a:t>
              </a:r>
            </a:p>
          </p:txBody>
        </p:sp>
      </p:grpSp>
      <p:sp>
        <p:nvSpPr>
          <p:cNvPr name="Freeform 5" id="5"/>
          <p:cNvSpPr/>
          <p:nvPr/>
        </p:nvSpPr>
        <p:spPr>
          <a:xfrm flipH="false" flipV="false" rot="0">
            <a:off x="1358507" y="1716723"/>
            <a:ext cx="1848170" cy="3722585"/>
          </a:xfrm>
          <a:custGeom>
            <a:avLst/>
            <a:gdLst/>
            <a:ahLst/>
            <a:cxnLst/>
            <a:rect r="r" b="b" t="t" l="l"/>
            <a:pathLst>
              <a:path h="3722585" w="1848170">
                <a:moveTo>
                  <a:pt x="0" y="0"/>
                </a:moveTo>
                <a:lnTo>
                  <a:pt x="1848170" y="0"/>
                </a:lnTo>
                <a:lnTo>
                  <a:pt x="1848170" y="3722585"/>
                </a:lnTo>
                <a:lnTo>
                  <a:pt x="0" y="3722585"/>
                </a:lnTo>
                <a:lnTo>
                  <a:pt x="0" y="0"/>
                </a:lnTo>
                <a:close/>
              </a:path>
            </a:pathLst>
          </a:custGeom>
          <a:blipFill>
            <a:blip r:embed="rId2"/>
            <a:stretch>
              <a:fillRect l="-29" t="0" r="-29" b="0"/>
            </a:stretch>
          </a:blipFill>
        </p:spPr>
      </p:sp>
      <p:sp>
        <p:nvSpPr>
          <p:cNvPr name="Freeform 6" id="6"/>
          <p:cNvSpPr/>
          <p:nvPr/>
        </p:nvSpPr>
        <p:spPr>
          <a:xfrm flipH="false" flipV="false" rot="0">
            <a:off x="3790281" y="1879973"/>
            <a:ext cx="1850846" cy="3527223"/>
          </a:xfrm>
          <a:custGeom>
            <a:avLst/>
            <a:gdLst/>
            <a:ahLst/>
            <a:cxnLst/>
            <a:rect r="r" b="b" t="t" l="l"/>
            <a:pathLst>
              <a:path h="3527223" w="1850846">
                <a:moveTo>
                  <a:pt x="0" y="0"/>
                </a:moveTo>
                <a:lnTo>
                  <a:pt x="1850846" y="0"/>
                </a:lnTo>
                <a:lnTo>
                  <a:pt x="1850846" y="3527223"/>
                </a:lnTo>
                <a:lnTo>
                  <a:pt x="0" y="3527223"/>
                </a:lnTo>
                <a:lnTo>
                  <a:pt x="0" y="0"/>
                </a:lnTo>
                <a:close/>
              </a:path>
            </a:pathLst>
          </a:custGeom>
          <a:blipFill>
            <a:blip r:embed="rId3"/>
            <a:stretch>
              <a:fillRect l="-29" t="0" r="-29" b="0"/>
            </a:stretch>
          </a:blipFill>
        </p:spPr>
      </p:sp>
      <p:sp>
        <p:nvSpPr>
          <p:cNvPr name="Freeform 7" id="7"/>
          <p:cNvSpPr/>
          <p:nvPr/>
        </p:nvSpPr>
        <p:spPr>
          <a:xfrm flipH="false" flipV="false" rot="0">
            <a:off x="6232840" y="2554372"/>
            <a:ext cx="2200563" cy="2408573"/>
          </a:xfrm>
          <a:custGeom>
            <a:avLst/>
            <a:gdLst/>
            <a:ahLst/>
            <a:cxnLst/>
            <a:rect r="r" b="b" t="t" l="l"/>
            <a:pathLst>
              <a:path h="2408573" w="2200563">
                <a:moveTo>
                  <a:pt x="0" y="0"/>
                </a:moveTo>
                <a:lnTo>
                  <a:pt x="2200564" y="0"/>
                </a:lnTo>
                <a:lnTo>
                  <a:pt x="2200564" y="2408573"/>
                </a:lnTo>
                <a:lnTo>
                  <a:pt x="0" y="2408573"/>
                </a:lnTo>
                <a:lnTo>
                  <a:pt x="0" y="0"/>
                </a:lnTo>
                <a:close/>
              </a:path>
            </a:pathLst>
          </a:custGeom>
          <a:blipFill>
            <a:blip r:embed="rId4"/>
            <a:stretch>
              <a:fillRect l="0" t="-16" r="0" b="-16"/>
            </a:stretch>
          </a:blipFill>
        </p:spPr>
      </p:sp>
      <p:grpSp>
        <p:nvGrpSpPr>
          <p:cNvPr name="Group 8" id="8"/>
          <p:cNvGrpSpPr/>
          <p:nvPr/>
        </p:nvGrpSpPr>
        <p:grpSpPr>
          <a:xfrm rot="0">
            <a:off x="2104519" y="5613735"/>
            <a:ext cx="349302" cy="377643"/>
            <a:chOff x="0" y="0"/>
            <a:chExt cx="465737" cy="503525"/>
          </a:xfrm>
        </p:grpSpPr>
        <p:sp>
          <p:nvSpPr>
            <p:cNvPr name="Freeform 9" id="9"/>
            <p:cNvSpPr/>
            <p:nvPr/>
          </p:nvSpPr>
          <p:spPr>
            <a:xfrm flipH="false" flipV="false" rot="0">
              <a:off x="0" y="0"/>
              <a:ext cx="465737" cy="503525"/>
            </a:xfrm>
            <a:custGeom>
              <a:avLst/>
              <a:gdLst/>
              <a:ahLst/>
              <a:cxnLst/>
              <a:rect r="r" b="b" t="t" l="l"/>
              <a:pathLst>
                <a:path h="503525" w="465737">
                  <a:moveTo>
                    <a:pt x="0" y="0"/>
                  </a:moveTo>
                  <a:lnTo>
                    <a:pt x="465737" y="0"/>
                  </a:lnTo>
                  <a:lnTo>
                    <a:pt x="465737" y="503525"/>
                  </a:lnTo>
                  <a:lnTo>
                    <a:pt x="0" y="503525"/>
                  </a:lnTo>
                  <a:close/>
                </a:path>
              </a:pathLst>
            </a:custGeom>
            <a:solidFill>
              <a:srgbClr val="000000">
                <a:alpha val="0"/>
              </a:srgbClr>
            </a:solidFill>
          </p:spPr>
        </p:sp>
        <p:sp>
          <p:nvSpPr>
            <p:cNvPr name="TextBox 10" id="10"/>
            <p:cNvSpPr txBox="true"/>
            <p:nvPr/>
          </p:nvSpPr>
          <p:spPr>
            <a:xfrm>
              <a:off x="0" y="0"/>
              <a:ext cx="465737" cy="503525"/>
            </a:xfrm>
            <a:prstGeom prst="rect">
              <a:avLst/>
            </a:prstGeom>
          </p:spPr>
          <p:txBody>
            <a:bodyPr anchor="t" rtlCol="false" tIns="0" lIns="0" bIns="0" rIns="0"/>
            <a:lstStyle/>
            <a:p>
              <a:pPr algn="l">
                <a:lnSpc>
                  <a:spcPts val="2284"/>
                </a:lnSpc>
              </a:pPr>
              <a:r>
                <a:rPr lang="en-US" b="true" sz="1904">
                  <a:solidFill>
                    <a:srgbClr val="343434"/>
                  </a:solidFill>
                  <a:latin typeface="Muli Ultra-Bold"/>
                  <a:ea typeface="Muli Ultra-Bold"/>
                  <a:cs typeface="Muli Ultra-Bold"/>
                  <a:sym typeface="Muli Ultra-Bold"/>
                </a:rPr>
                <a:t>(a)</a:t>
              </a:r>
            </a:p>
          </p:txBody>
        </p:sp>
      </p:grpSp>
      <p:grpSp>
        <p:nvGrpSpPr>
          <p:cNvPr name="Group 11" id="11"/>
          <p:cNvGrpSpPr/>
          <p:nvPr/>
        </p:nvGrpSpPr>
        <p:grpSpPr>
          <a:xfrm rot="0">
            <a:off x="4544336" y="5613735"/>
            <a:ext cx="349302" cy="377643"/>
            <a:chOff x="0" y="0"/>
            <a:chExt cx="465737" cy="503525"/>
          </a:xfrm>
        </p:grpSpPr>
        <p:sp>
          <p:nvSpPr>
            <p:cNvPr name="Freeform 12" id="12"/>
            <p:cNvSpPr/>
            <p:nvPr/>
          </p:nvSpPr>
          <p:spPr>
            <a:xfrm flipH="false" flipV="false" rot="0">
              <a:off x="0" y="0"/>
              <a:ext cx="465737" cy="503525"/>
            </a:xfrm>
            <a:custGeom>
              <a:avLst/>
              <a:gdLst/>
              <a:ahLst/>
              <a:cxnLst/>
              <a:rect r="r" b="b" t="t" l="l"/>
              <a:pathLst>
                <a:path h="503525" w="465737">
                  <a:moveTo>
                    <a:pt x="0" y="0"/>
                  </a:moveTo>
                  <a:lnTo>
                    <a:pt x="465737" y="0"/>
                  </a:lnTo>
                  <a:lnTo>
                    <a:pt x="465737" y="503525"/>
                  </a:lnTo>
                  <a:lnTo>
                    <a:pt x="0" y="503525"/>
                  </a:lnTo>
                  <a:close/>
                </a:path>
              </a:pathLst>
            </a:custGeom>
            <a:solidFill>
              <a:srgbClr val="000000">
                <a:alpha val="0"/>
              </a:srgbClr>
            </a:solidFill>
          </p:spPr>
        </p:sp>
        <p:sp>
          <p:nvSpPr>
            <p:cNvPr name="TextBox 13" id="13"/>
            <p:cNvSpPr txBox="true"/>
            <p:nvPr/>
          </p:nvSpPr>
          <p:spPr>
            <a:xfrm>
              <a:off x="0" y="0"/>
              <a:ext cx="465737" cy="503525"/>
            </a:xfrm>
            <a:prstGeom prst="rect">
              <a:avLst/>
            </a:prstGeom>
          </p:spPr>
          <p:txBody>
            <a:bodyPr anchor="t" rtlCol="false" tIns="0" lIns="0" bIns="0" rIns="0"/>
            <a:lstStyle/>
            <a:p>
              <a:pPr algn="l">
                <a:lnSpc>
                  <a:spcPts val="2284"/>
                </a:lnSpc>
              </a:pPr>
              <a:r>
                <a:rPr lang="en-US" b="true" sz="1904">
                  <a:solidFill>
                    <a:srgbClr val="343434"/>
                  </a:solidFill>
                  <a:latin typeface="Muli Ultra-Bold"/>
                  <a:ea typeface="Muli Ultra-Bold"/>
                  <a:cs typeface="Muli Ultra-Bold"/>
                  <a:sym typeface="Muli Ultra-Bold"/>
                </a:rPr>
                <a:t>(b)</a:t>
              </a:r>
            </a:p>
          </p:txBody>
        </p:sp>
      </p:grpSp>
      <p:grpSp>
        <p:nvGrpSpPr>
          <p:cNvPr name="Group 14" id="14"/>
          <p:cNvGrpSpPr/>
          <p:nvPr/>
        </p:nvGrpSpPr>
        <p:grpSpPr>
          <a:xfrm rot="0">
            <a:off x="7147016" y="5613735"/>
            <a:ext cx="335868" cy="377643"/>
            <a:chOff x="0" y="0"/>
            <a:chExt cx="447824" cy="503525"/>
          </a:xfrm>
        </p:grpSpPr>
        <p:sp>
          <p:nvSpPr>
            <p:cNvPr name="Freeform 15" id="15"/>
            <p:cNvSpPr/>
            <p:nvPr/>
          </p:nvSpPr>
          <p:spPr>
            <a:xfrm flipH="false" flipV="false" rot="0">
              <a:off x="0" y="0"/>
              <a:ext cx="447824" cy="503525"/>
            </a:xfrm>
            <a:custGeom>
              <a:avLst/>
              <a:gdLst/>
              <a:ahLst/>
              <a:cxnLst/>
              <a:rect r="r" b="b" t="t" l="l"/>
              <a:pathLst>
                <a:path h="503525" w="447824">
                  <a:moveTo>
                    <a:pt x="0" y="0"/>
                  </a:moveTo>
                  <a:lnTo>
                    <a:pt x="447824" y="0"/>
                  </a:lnTo>
                  <a:lnTo>
                    <a:pt x="447824" y="503525"/>
                  </a:lnTo>
                  <a:lnTo>
                    <a:pt x="0" y="503525"/>
                  </a:lnTo>
                  <a:close/>
                </a:path>
              </a:pathLst>
            </a:custGeom>
            <a:solidFill>
              <a:srgbClr val="000000">
                <a:alpha val="0"/>
              </a:srgbClr>
            </a:solidFill>
          </p:spPr>
        </p:sp>
        <p:sp>
          <p:nvSpPr>
            <p:cNvPr name="TextBox 16" id="16"/>
            <p:cNvSpPr txBox="true"/>
            <p:nvPr/>
          </p:nvSpPr>
          <p:spPr>
            <a:xfrm>
              <a:off x="0" y="0"/>
              <a:ext cx="447824" cy="503525"/>
            </a:xfrm>
            <a:prstGeom prst="rect">
              <a:avLst/>
            </a:prstGeom>
          </p:spPr>
          <p:txBody>
            <a:bodyPr anchor="t" rtlCol="false" tIns="0" lIns="0" bIns="0" rIns="0"/>
            <a:lstStyle/>
            <a:p>
              <a:pPr algn="l">
                <a:lnSpc>
                  <a:spcPts val="2284"/>
                </a:lnSpc>
              </a:pPr>
              <a:r>
                <a:rPr lang="en-US" b="true" sz="1904">
                  <a:solidFill>
                    <a:srgbClr val="343434"/>
                  </a:solidFill>
                  <a:latin typeface="Muli Ultra-Bold"/>
                  <a:ea typeface="Muli Ultra-Bold"/>
                  <a:cs typeface="Muli Ultra-Bold"/>
                  <a:sym typeface="Muli Ultra-Bold"/>
                </a:rPr>
                <a:t>(c)</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5052795" cy="1046564"/>
            <a:chOff x="0" y="0"/>
            <a:chExt cx="6737060" cy="1395419"/>
          </a:xfrm>
        </p:grpSpPr>
        <p:sp>
          <p:nvSpPr>
            <p:cNvPr name="Freeform 3" id="3"/>
            <p:cNvSpPr/>
            <p:nvPr/>
          </p:nvSpPr>
          <p:spPr>
            <a:xfrm flipH="false" flipV="false" rot="0">
              <a:off x="0" y="0"/>
              <a:ext cx="6737059" cy="1395419"/>
            </a:xfrm>
            <a:custGeom>
              <a:avLst/>
              <a:gdLst/>
              <a:ahLst/>
              <a:cxnLst/>
              <a:rect r="r" b="b" t="t" l="l"/>
              <a:pathLst>
                <a:path h="1395419" w="6737059">
                  <a:moveTo>
                    <a:pt x="0" y="0"/>
                  </a:moveTo>
                  <a:lnTo>
                    <a:pt x="6737059" y="0"/>
                  </a:lnTo>
                  <a:lnTo>
                    <a:pt x="6737059" y="1395419"/>
                  </a:lnTo>
                  <a:lnTo>
                    <a:pt x="0" y="1395419"/>
                  </a:lnTo>
                  <a:close/>
                </a:path>
              </a:pathLst>
            </a:custGeom>
            <a:solidFill>
              <a:srgbClr val="000000">
                <a:alpha val="0"/>
              </a:srgbClr>
            </a:solidFill>
          </p:spPr>
        </p:sp>
        <p:sp>
          <p:nvSpPr>
            <p:cNvPr name="TextBox 4" id="4"/>
            <p:cNvSpPr txBox="true"/>
            <p:nvPr/>
          </p:nvSpPr>
          <p:spPr>
            <a:xfrm>
              <a:off x="0" y="0"/>
              <a:ext cx="6737060" cy="1395419"/>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Ví dụ: giao thức giao tiếp</a:t>
              </a:r>
            </a:p>
            <a:p>
              <a:pPr algn="l">
                <a:lnSpc>
                  <a:spcPts val="2538"/>
                </a:lnSpc>
              </a:pPr>
              <a:r>
                <a:rPr lang="en-US" b="true" sz="2115">
                  <a:solidFill>
                    <a:srgbClr val="343434"/>
                  </a:solidFill>
                  <a:latin typeface="Muli Ultra-Bold"/>
                  <a:ea typeface="Muli Ultra-Bold"/>
                  <a:cs typeface="Muli Ultra-Bold"/>
                  <a:sym typeface="Muli Ultra-Bold"/>
                </a:rPr>
                <a:t>Protocol, Service, Interface</a:t>
              </a:r>
            </a:p>
          </p:txBody>
        </p:sp>
      </p:grpSp>
      <p:sp>
        <p:nvSpPr>
          <p:cNvPr name="Freeform 5" id="5"/>
          <p:cNvSpPr/>
          <p:nvPr/>
        </p:nvSpPr>
        <p:spPr>
          <a:xfrm flipH="false" flipV="false" rot="0">
            <a:off x="1607490" y="1675395"/>
            <a:ext cx="6526149" cy="3370879"/>
          </a:xfrm>
          <a:custGeom>
            <a:avLst/>
            <a:gdLst/>
            <a:ahLst/>
            <a:cxnLst/>
            <a:rect r="r" b="b" t="t" l="l"/>
            <a:pathLst>
              <a:path h="3370879" w="6526149">
                <a:moveTo>
                  <a:pt x="0" y="0"/>
                </a:moveTo>
                <a:lnTo>
                  <a:pt x="6526148" y="0"/>
                </a:lnTo>
                <a:lnTo>
                  <a:pt x="6526148" y="3370879"/>
                </a:lnTo>
                <a:lnTo>
                  <a:pt x="0" y="3370879"/>
                </a:lnTo>
                <a:lnTo>
                  <a:pt x="0" y="0"/>
                </a:lnTo>
                <a:close/>
              </a:path>
            </a:pathLst>
          </a:custGeom>
          <a:blipFill>
            <a:blip r:embed="rId2"/>
            <a:stretch>
              <a:fillRect l="0" t="-8" r="0" b="-8"/>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1018" y="418298"/>
            <a:ext cx="6921563" cy="814142"/>
            <a:chOff x="0" y="0"/>
            <a:chExt cx="9228751" cy="1085522"/>
          </a:xfrm>
        </p:grpSpPr>
        <p:sp>
          <p:nvSpPr>
            <p:cNvPr name="Freeform 3" id="3"/>
            <p:cNvSpPr/>
            <p:nvPr/>
          </p:nvSpPr>
          <p:spPr>
            <a:xfrm flipH="false" flipV="false" rot="0">
              <a:off x="0" y="0"/>
              <a:ext cx="9228751" cy="1085522"/>
            </a:xfrm>
            <a:custGeom>
              <a:avLst/>
              <a:gdLst/>
              <a:ahLst/>
              <a:cxnLst/>
              <a:rect r="r" b="b" t="t" l="l"/>
              <a:pathLst>
                <a:path h="1085522" w="9228751">
                  <a:moveTo>
                    <a:pt x="0" y="0"/>
                  </a:moveTo>
                  <a:lnTo>
                    <a:pt x="9228751" y="0"/>
                  </a:lnTo>
                  <a:lnTo>
                    <a:pt x="9228751" y="1085522"/>
                  </a:lnTo>
                  <a:lnTo>
                    <a:pt x="0" y="1085522"/>
                  </a:lnTo>
                  <a:close/>
                </a:path>
              </a:pathLst>
            </a:custGeom>
            <a:solidFill>
              <a:srgbClr val="000000">
                <a:alpha val="0"/>
              </a:srgbClr>
            </a:solidFill>
          </p:spPr>
        </p:sp>
        <p:sp>
          <p:nvSpPr>
            <p:cNvPr name="TextBox 4" id="4"/>
            <p:cNvSpPr txBox="true"/>
            <p:nvPr/>
          </p:nvSpPr>
          <p:spPr>
            <a:xfrm>
              <a:off x="0" y="0"/>
              <a:ext cx="9228751" cy="1085522"/>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Mô hình giao tiếp hai bên (Two-Party Communication)</a:t>
              </a:r>
            </a:p>
            <a:p>
              <a:pPr algn="l">
                <a:lnSpc>
                  <a:spcPts val="2538"/>
                </a:lnSpc>
              </a:pPr>
            </a:p>
          </p:txBody>
        </p:sp>
      </p:grpSp>
      <p:sp>
        <p:nvSpPr>
          <p:cNvPr name="Freeform 5" id="5"/>
          <p:cNvSpPr/>
          <p:nvPr/>
        </p:nvSpPr>
        <p:spPr>
          <a:xfrm flipH="false" flipV="false" rot="0">
            <a:off x="917874" y="1232439"/>
            <a:ext cx="7917852" cy="5235679"/>
          </a:xfrm>
          <a:custGeom>
            <a:avLst/>
            <a:gdLst/>
            <a:ahLst/>
            <a:cxnLst/>
            <a:rect r="r" b="b" t="t" l="l"/>
            <a:pathLst>
              <a:path h="5235679" w="7917852">
                <a:moveTo>
                  <a:pt x="0" y="0"/>
                </a:moveTo>
                <a:lnTo>
                  <a:pt x="7917852" y="0"/>
                </a:lnTo>
                <a:lnTo>
                  <a:pt x="7917852" y="5235680"/>
                </a:lnTo>
                <a:lnTo>
                  <a:pt x="0" y="5235680"/>
                </a:lnTo>
                <a:lnTo>
                  <a:pt x="0" y="0"/>
                </a:lnTo>
                <a:close/>
              </a:path>
            </a:pathLst>
          </a:custGeom>
          <a:blipFill>
            <a:blip r:embed="rId2"/>
            <a:stretch>
              <a:fillRect l="0" t="0" r="0" b="0"/>
            </a:stretch>
          </a:blipFill>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6345214" cy="510618"/>
            <a:chOff x="0" y="0"/>
            <a:chExt cx="8460285" cy="680824"/>
          </a:xfrm>
        </p:grpSpPr>
        <p:sp>
          <p:nvSpPr>
            <p:cNvPr name="Freeform 3" id="3"/>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4" id="4"/>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Ứng dụng phân lớp</a:t>
              </a:r>
            </a:p>
          </p:txBody>
        </p:sp>
      </p:grpSp>
      <p:grpSp>
        <p:nvGrpSpPr>
          <p:cNvPr name="Group 5" id="5"/>
          <p:cNvGrpSpPr/>
          <p:nvPr/>
        </p:nvGrpSpPr>
        <p:grpSpPr>
          <a:xfrm rot="0">
            <a:off x="699625" y="1089109"/>
            <a:ext cx="8338925" cy="3918743"/>
            <a:chOff x="0" y="0"/>
            <a:chExt cx="11118567" cy="5224990"/>
          </a:xfrm>
        </p:grpSpPr>
        <p:sp>
          <p:nvSpPr>
            <p:cNvPr name="Freeform 6" id="6"/>
            <p:cNvSpPr/>
            <p:nvPr/>
          </p:nvSpPr>
          <p:spPr>
            <a:xfrm flipH="false" flipV="false" rot="0">
              <a:off x="0" y="0"/>
              <a:ext cx="11118566" cy="5224990"/>
            </a:xfrm>
            <a:custGeom>
              <a:avLst/>
              <a:gdLst/>
              <a:ahLst/>
              <a:cxnLst/>
              <a:rect r="r" b="b" t="t" l="l"/>
              <a:pathLst>
                <a:path h="5224990" w="11118566">
                  <a:moveTo>
                    <a:pt x="0" y="0"/>
                  </a:moveTo>
                  <a:lnTo>
                    <a:pt x="11118566" y="0"/>
                  </a:lnTo>
                  <a:lnTo>
                    <a:pt x="11118566" y="5224990"/>
                  </a:lnTo>
                  <a:lnTo>
                    <a:pt x="0" y="5224990"/>
                  </a:lnTo>
                  <a:close/>
                </a:path>
              </a:pathLst>
            </a:custGeom>
            <a:solidFill>
              <a:srgbClr val="000000">
                <a:alpha val="0"/>
              </a:srgbClr>
            </a:solidFill>
          </p:spPr>
        </p:sp>
        <p:sp>
          <p:nvSpPr>
            <p:cNvPr name="TextBox 7" id="7"/>
            <p:cNvSpPr txBox="true"/>
            <p:nvPr/>
          </p:nvSpPr>
          <p:spPr>
            <a:xfrm>
              <a:off x="0" y="0"/>
              <a:ext cx="11118567" cy="5224990"/>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Mô hình ba lớp truyền thống (Traditional three-layered view)</a:t>
              </a:r>
            </a:p>
            <a:p>
              <a:pPr algn="l">
                <a:lnSpc>
                  <a:spcPts val="2550"/>
                </a:lnSpc>
              </a:pPr>
              <a:r>
                <a:rPr lang="en-US" b="true" sz="1904">
                  <a:solidFill>
                    <a:srgbClr val="343434"/>
                  </a:solidFill>
                  <a:latin typeface="Muli Ultra-Bold"/>
                  <a:ea typeface="Muli Ultra-Bold"/>
                  <a:cs typeface="Muli Ultra-Bold"/>
                  <a:sym typeface="Muli Ultra-Bold"/>
                </a:rPr>
                <a:t>         - Lớp giao diện ứng dụng (Application-interface layer): Chứa các thành phần để giao tiếp với người dùng hoặc các ứng dụng bên ngoài.</a:t>
              </a:r>
            </a:p>
            <a:p>
              <a:pPr algn="l">
                <a:lnSpc>
                  <a:spcPts val="2550"/>
                </a:lnSpc>
              </a:pPr>
              <a:r>
                <a:rPr lang="en-US" b="true" sz="1904">
                  <a:solidFill>
                    <a:srgbClr val="343434"/>
                  </a:solidFill>
                  <a:latin typeface="Muli Ultra-Bold"/>
                  <a:ea typeface="Muli Ultra-Bold"/>
                  <a:cs typeface="Muli Ultra-Bold"/>
                  <a:sym typeface="Muli Ultra-Bold"/>
                </a:rPr>
                <a:t>         - Lớp xử lý (Processing layer): Chứa các chức năng của ứng dụng, tức là không phụ thuộc vào dữ liệu cụ thể.</a:t>
              </a:r>
            </a:p>
            <a:p>
              <a:pPr algn="l">
                <a:lnSpc>
                  <a:spcPts val="2549"/>
                </a:lnSpc>
              </a:pPr>
              <a:r>
                <a:rPr lang="en-US" b="true" sz="1904">
                  <a:solidFill>
                    <a:srgbClr val="343434"/>
                  </a:solidFill>
                  <a:latin typeface="Muli Ultra-Bold"/>
                  <a:ea typeface="Muli Ultra-Bold"/>
                  <a:cs typeface="Muli Ultra-Bold"/>
                  <a:sym typeface="Muli Ultra-Bold"/>
                </a:rPr>
                <a:t>         - Lớp dữ liệu (Data layer): Chứa dữ liệu mà khách hàng muốn thao tác thông qua các thành phần ứng dụng</a:t>
              </a:r>
            </a:p>
            <a:p>
              <a:pPr algn="l">
                <a:lnSpc>
                  <a:spcPts val="2549"/>
                </a:lnSpc>
              </a:pPr>
            </a:p>
            <a:p>
              <a:pPr algn="l">
                <a:lnSpc>
                  <a:spcPts val="2549"/>
                </a:lnSpc>
              </a:pPr>
              <a:r>
                <a:rPr lang="en-US" b="true" sz="1904">
                  <a:solidFill>
                    <a:srgbClr val="343434"/>
                  </a:solidFill>
                  <a:latin typeface="Muli Ultra-Bold"/>
                  <a:ea typeface="Muli Ultra-Bold"/>
                  <a:cs typeface="Muli Ultra-Bold"/>
                  <a:sym typeface="Muli Ultra-Bold"/>
                </a:rPr>
                <a:t>Giám sát (Observation)</a:t>
              </a:r>
            </a:p>
            <a:p>
              <a:pPr algn="l">
                <a:lnSpc>
                  <a:spcPts val="2550"/>
                </a:lnSpc>
              </a:pPr>
              <a:r>
                <a:rPr lang="en-US" b="true" sz="1904">
                  <a:solidFill>
                    <a:srgbClr val="343434"/>
                  </a:solidFill>
                  <a:latin typeface="Muli Ultra-Bold"/>
                  <a:ea typeface="Muli Ultra-Bold"/>
                  <a:cs typeface="Muli Ultra-Bold"/>
                  <a:sym typeface="Muli Ultra-Bold"/>
                </a:rPr>
                <a:t>         - Phân lớp này được tìm thấy trong nhiều hệ thống thông tin phân tán, sử dụng công nghệ cơ sở dữ liệu truyền thống và các ứng dụng đi kèm.</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A8886E"/>
            </a:solidFill>
          </p:spPr>
        </p:sp>
      </p:grpSp>
      <p:grpSp>
        <p:nvGrpSpPr>
          <p:cNvPr name="Group 8" id="8"/>
          <p:cNvGrpSpPr/>
          <p:nvPr/>
        </p:nvGrpSpPr>
        <p:grpSpPr>
          <a:xfrm rot="0">
            <a:off x="113120" y="-3205"/>
            <a:ext cx="9523866" cy="214955"/>
            <a:chOff x="0" y="0"/>
            <a:chExt cx="12698489" cy="286607"/>
          </a:xfrm>
        </p:grpSpPr>
        <p:sp>
          <p:nvSpPr>
            <p:cNvPr name="Freeform 9" id="9"/>
            <p:cNvSpPr/>
            <p:nvPr/>
          </p:nvSpPr>
          <p:spPr>
            <a:xfrm flipH="false" flipV="false" rot="0">
              <a:off x="0" y="0"/>
              <a:ext cx="12698488" cy="286607"/>
            </a:xfrm>
            <a:custGeom>
              <a:avLst/>
              <a:gdLst/>
              <a:ahLst/>
              <a:cxnLst/>
              <a:rect r="r" b="b" t="t" l="l"/>
              <a:pathLst>
                <a:path h="286607" w="12698488">
                  <a:moveTo>
                    <a:pt x="0" y="0"/>
                  </a:moveTo>
                  <a:lnTo>
                    <a:pt x="12698488" y="0"/>
                  </a:lnTo>
                  <a:lnTo>
                    <a:pt x="12698488" y="286607"/>
                  </a:lnTo>
                  <a:lnTo>
                    <a:pt x="0" y="286607"/>
                  </a:lnTo>
                  <a:close/>
                </a:path>
              </a:pathLst>
            </a:custGeom>
            <a:solidFill>
              <a:srgbClr val="000000">
                <a:alpha val="0"/>
              </a:srgbClr>
            </a:solidFill>
          </p:spPr>
        </p:sp>
        <p:sp>
          <p:nvSpPr>
            <p:cNvPr name="TextBox 10" id="10"/>
            <p:cNvSpPr txBox="true"/>
            <p:nvPr/>
          </p:nvSpPr>
          <p:spPr>
            <a:xfrm>
              <a:off x="0" y="0"/>
              <a:ext cx="12698489" cy="286607"/>
            </a:xfrm>
            <a:prstGeom prst="rect">
              <a:avLst/>
            </a:prstGeom>
          </p:spPr>
          <p:txBody>
            <a:bodyPr anchor="t" rtlCol="false" tIns="0" lIns="0" bIns="0" rIns="0"/>
            <a:lstStyle/>
            <a:p>
              <a:pPr algn="l">
                <a:lnSpc>
                  <a:spcPts val="1269"/>
                </a:lnSpc>
              </a:pPr>
              <a:r>
                <a:rPr lang="en-US" sz="1057" u="sng">
                  <a:solidFill>
                    <a:srgbClr val="343434"/>
                  </a:solidFill>
                  <a:latin typeface="Muli"/>
                  <a:ea typeface="Muli"/>
                  <a:cs typeface="Muli"/>
                  <a:sym typeface="Muli"/>
                  <a:hlinkClick r:id="rId2" action="ppaction://hlinksldjump"/>
                </a:rPr>
                <a:t>Kiến trúc</a:t>
              </a:r>
              <a:r>
                <a:rPr lang="en-US" sz="1057">
                  <a:solidFill>
                    <a:srgbClr val="343434"/>
                  </a:solidFill>
                  <a:latin typeface="Muli"/>
                  <a:ea typeface="Muli"/>
                  <a:cs typeface="Muli"/>
                  <a:sym typeface="Muli"/>
                </a:rPr>
                <a:t> </a:t>
              </a:r>
              <a:r>
                <a:rPr lang="en-US" sz="1057" u="sng">
                  <a:solidFill>
                    <a:srgbClr val="343434"/>
                  </a:solidFill>
                  <a:latin typeface="Muli"/>
                  <a:ea typeface="Muli"/>
                  <a:cs typeface="Muli"/>
                  <a:sym typeface="Muli"/>
                  <a:hlinkClick r:id="rId2" action="ppaction://hlinksldjump"/>
                </a:rPr>
                <a:t>Kiến trúc phong cách</a:t>
              </a:r>
            </a:p>
          </p:txBody>
        </p:sp>
      </p:grpSp>
      <p:grpSp>
        <p:nvGrpSpPr>
          <p:cNvPr name="Group 11" id="11"/>
          <p:cNvGrpSpPr/>
          <p:nvPr/>
        </p:nvGrpSpPr>
        <p:grpSpPr>
          <a:xfrm rot="0">
            <a:off x="201626" y="418298"/>
            <a:ext cx="6345214" cy="510618"/>
            <a:chOff x="0" y="0"/>
            <a:chExt cx="8460285" cy="680824"/>
          </a:xfrm>
        </p:grpSpPr>
        <p:sp>
          <p:nvSpPr>
            <p:cNvPr name="Freeform 12" id="12"/>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3" id="13"/>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Ứng dụng Phân lớp</a:t>
              </a:r>
            </a:p>
          </p:txBody>
        </p:sp>
      </p:grpSp>
      <p:grpSp>
        <p:nvGrpSpPr>
          <p:cNvPr name="Group 14" id="14"/>
          <p:cNvGrpSpPr/>
          <p:nvPr/>
        </p:nvGrpSpPr>
        <p:grpSpPr>
          <a:xfrm rot="0">
            <a:off x="672755" y="1089109"/>
            <a:ext cx="8392664" cy="3908583"/>
            <a:chOff x="0" y="0"/>
            <a:chExt cx="11190218" cy="5211445"/>
          </a:xfrm>
        </p:grpSpPr>
        <p:sp>
          <p:nvSpPr>
            <p:cNvPr name="Freeform 15" id="15"/>
            <p:cNvSpPr/>
            <p:nvPr/>
          </p:nvSpPr>
          <p:spPr>
            <a:xfrm flipH="false" flipV="false" rot="0">
              <a:off x="0" y="0"/>
              <a:ext cx="11190219" cy="5211445"/>
            </a:xfrm>
            <a:custGeom>
              <a:avLst/>
              <a:gdLst/>
              <a:ahLst/>
              <a:cxnLst/>
              <a:rect r="r" b="b" t="t" l="l"/>
              <a:pathLst>
                <a:path h="5211445" w="11190219">
                  <a:moveTo>
                    <a:pt x="0" y="0"/>
                  </a:moveTo>
                  <a:lnTo>
                    <a:pt x="11190219" y="0"/>
                  </a:lnTo>
                  <a:lnTo>
                    <a:pt x="11190219" y="5211445"/>
                  </a:lnTo>
                  <a:lnTo>
                    <a:pt x="0" y="5211445"/>
                  </a:lnTo>
                  <a:close/>
                </a:path>
              </a:pathLst>
            </a:custGeom>
            <a:solidFill>
              <a:srgbClr val="000000">
                <a:alpha val="0"/>
              </a:srgbClr>
            </a:solidFill>
          </p:spPr>
        </p:sp>
        <p:sp>
          <p:nvSpPr>
            <p:cNvPr name="TextBox 16" id="16"/>
            <p:cNvSpPr txBox="true"/>
            <p:nvPr/>
          </p:nvSpPr>
          <p:spPr>
            <a:xfrm>
              <a:off x="0" y="0"/>
              <a:ext cx="11190218" cy="5211445"/>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Truyền thống ba lớp xem</a:t>
              </a:r>
            </a:p>
            <a:p>
              <a:pPr algn="l" marL="854159" indent="-427079" lvl="1">
                <a:lnSpc>
                  <a:spcPts val="2550"/>
                </a:lnSpc>
                <a:buFont typeface="Arial"/>
                <a:buChar char="•"/>
              </a:pPr>
              <a:r>
                <a:rPr lang="en-US" b="true" sz="1904">
                  <a:solidFill>
                    <a:srgbClr val="343434"/>
                  </a:solidFill>
                  <a:latin typeface="Muli Ultra-Bold"/>
                  <a:ea typeface="Muli Ultra-Bold"/>
                  <a:cs typeface="Muli Ultra-Bold"/>
                  <a:sym typeface="Muli Ultra-Bold"/>
                </a:rPr>
                <a:t>Lớp giao diện ứng dụng chứa đơn vị vì giao diện ĐẾN người sử dụng hoặc bên ngoài ứng dụng</a:t>
              </a:r>
            </a:p>
            <a:p>
              <a:pPr algn="l" marL="854159" indent="-427079" lvl="1">
                <a:lnSpc>
                  <a:spcPts val="2550"/>
                </a:lnSpc>
                <a:buFont typeface="Arial"/>
                <a:buChar char="•"/>
              </a:pPr>
              <a:r>
                <a:rPr lang="en-US" b="true" sz="1904">
                  <a:solidFill>
                    <a:srgbClr val="343434"/>
                  </a:solidFill>
                  <a:latin typeface="Muli Ultra-Bold"/>
                  <a:ea typeface="Muli Ultra-Bold"/>
                  <a:cs typeface="Muli Ultra-Bold"/>
                  <a:sym typeface="Muli Ultra-Bold"/>
                </a:rPr>
                <a:t>Xử lý lớp chứa cái chức năng của MỘT ứng dụng, tức là, không cụ thể dữ liệu</a:t>
              </a:r>
            </a:p>
            <a:p>
              <a:pPr algn="l" marL="854159" indent="-427079" lvl="1">
                <a:lnSpc>
                  <a:spcPts val="2550"/>
                </a:lnSpc>
                <a:buFont typeface="Arial"/>
                <a:buChar char="•"/>
              </a:pPr>
              <a:r>
                <a:rPr lang="en-US" b="true" sz="1904">
                  <a:solidFill>
                    <a:srgbClr val="343434"/>
                  </a:solidFill>
                  <a:latin typeface="Muli Ultra-Bold"/>
                  <a:ea typeface="Muli Ultra-Bold"/>
                  <a:cs typeface="Muli Ultra-Bold"/>
                  <a:sym typeface="Muli Ultra-Bold"/>
                </a:rPr>
                <a:t>Dữ liệu lớp chứa cái dữ liệu cái đó Một khách hàng muốn ĐẾN thao túng thông qua ứng dụng thành phần</a:t>
              </a:r>
            </a:p>
            <a:p>
              <a:pPr algn="l" marL="854159" indent="-427079" lvl="1">
                <a:lnSpc>
                  <a:spcPts val="2284"/>
                </a:lnSpc>
              </a:pPr>
            </a:p>
            <a:p>
              <a:pPr algn="l" marL="949065" indent="-474533" lvl="1">
                <a:lnSpc>
                  <a:spcPts val="2538"/>
                </a:lnSpc>
              </a:pPr>
              <a:r>
                <a:rPr lang="en-US" b="true" sz="2115">
                  <a:solidFill>
                    <a:srgbClr val="343434"/>
                  </a:solidFill>
                  <a:latin typeface="Muli Ultra-Bold"/>
                  <a:ea typeface="Muli Ultra-Bold"/>
                  <a:cs typeface="Muli Ultra-Bold"/>
                  <a:sym typeface="Muli Ultra-Bold"/>
                </a:rPr>
                <a:t>Nhận xét</a:t>
              </a:r>
            </a:p>
            <a:p>
              <a:pPr algn="l" marL="854159" indent="-427079" lvl="1">
                <a:lnSpc>
                  <a:spcPts val="2560"/>
                </a:lnSpc>
              </a:pPr>
              <a:r>
                <a:rPr lang="en-US" b="true" sz="1904">
                  <a:solidFill>
                    <a:srgbClr val="343434"/>
                  </a:solidFill>
                  <a:latin typeface="Muli Ultra-Bold"/>
                  <a:ea typeface="Muli Ultra-Bold"/>
                  <a:cs typeface="Muli Ultra-Bold"/>
                  <a:sym typeface="Muli Ultra-Bold"/>
                </a:rPr>
                <a:t>Cái này phân lớp là thành lập TRONG nhiều phân phối thông tin hệ thống, sử dụng cơ sở dữ liệu truyền thống công nghệ Và đi kèm ứng dụng.</a:t>
              </a:r>
            </a:p>
          </p:txBody>
        </p:sp>
      </p:grpSp>
      <p:sp>
        <p:nvSpPr>
          <p:cNvPr name="Freeform 17" id="17"/>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8" id="18"/>
          <p:cNvGrpSpPr/>
          <p:nvPr/>
        </p:nvGrpSpPr>
        <p:grpSpPr>
          <a:xfrm rot="0">
            <a:off x="113120" y="7087449"/>
            <a:ext cx="1334067" cy="220327"/>
            <a:chOff x="0" y="0"/>
            <a:chExt cx="1778756" cy="293770"/>
          </a:xfrm>
        </p:grpSpPr>
        <p:sp>
          <p:nvSpPr>
            <p:cNvPr name="Freeform 19" id="19"/>
            <p:cNvSpPr/>
            <p:nvPr/>
          </p:nvSpPr>
          <p:spPr>
            <a:xfrm flipH="false" flipV="false" rot="0">
              <a:off x="0" y="0"/>
              <a:ext cx="1778756" cy="293770"/>
            </a:xfrm>
            <a:custGeom>
              <a:avLst/>
              <a:gdLst/>
              <a:ahLst/>
              <a:cxnLst/>
              <a:rect r="r" b="b" t="t" l="l"/>
              <a:pathLst>
                <a:path h="293770" w="1778756">
                  <a:moveTo>
                    <a:pt x="0" y="0"/>
                  </a:moveTo>
                  <a:lnTo>
                    <a:pt x="1778756" y="0"/>
                  </a:lnTo>
                  <a:lnTo>
                    <a:pt x="1778756" y="293770"/>
                  </a:lnTo>
                  <a:lnTo>
                    <a:pt x="0" y="293770"/>
                  </a:lnTo>
                  <a:close/>
                </a:path>
              </a:pathLst>
            </a:custGeom>
            <a:solidFill>
              <a:srgbClr val="000000">
                <a:alpha val="0"/>
              </a:srgbClr>
            </a:solidFill>
          </p:spPr>
        </p:sp>
        <p:sp>
          <p:nvSpPr>
            <p:cNvPr name="TextBox 20" id="20"/>
            <p:cNvSpPr txBox="true"/>
            <p:nvPr/>
          </p:nvSpPr>
          <p:spPr>
            <a:xfrm>
              <a:off x="0" y="0"/>
              <a:ext cx="1778756" cy="293770"/>
            </a:xfrm>
            <a:prstGeom prst="rect">
              <a:avLst/>
            </a:prstGeom>
          </p:spPr>
          <p:txBody>
            <a:bodyPr anchor="t" rtlCol="false" tIns="0" lIns="0" bIns="0" rIns="0"/>
            <a:lstStyle/>
            <a:p>
              <a:pPr algn="l">
                <a:lnSpc>
                  <a:spcPts val="1269"/>
                </a:lnSpc>
              </a:pPr>
              <a:r>
                <a:rPr lang="en-US" sz="1057" u="sng">
                  <a:solidFill>
                    <a:srgbClr val="343434"/>
                  </a:solidFill>
                  <a:latin typeface="Muli"/>
                  <a:ea typeface="Muli"/>
                  <a:cs typeface="Muli"/>
                  <a:sym typeface="Muli"/>
                  <a:hlinkClick r:id="rId5" action="ppaction://hlinksldjump"/>
                </a:rPr>
                <a:t>nhiều lớp kiến trúc</a:t>
              </a:r>
            </a:p>
          </p:txBody>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4547650" cy="1366088"/>
            <a:chOff x="0" y="0"/>
            <a:chExt cx="6063533" cy="1821451"/>
          </a:xfrm>
        </p:grpSpPr>
        <p:sp>
          <p:nvSpPr>
            <p:cNvPr name="Freeform 3" id="3"/>
            <p:cNvSpPr/>
            <p:nvPr/>
          </p:nvSpPr>
          <p:spPr>
            <a:xfrm flipH="false" flipV="false" rot="0">
              <a:off x="0" y="0"/>
              <a:ext cx="6063533" cy="1821451"/>
            </a:xfrm>
            <a:custGeom>
              <a:avLst/>
              <a:gdLst/>
              <a:ahLst/>
              <a:cxnLst/>
              <a:rect r="r" b="b" t="t" l="l"/>
              <a:pathLst>
                <a:path h="1821451" w="6063533">
                  <a:moveTo>
                    <a:pt x="0" y="0"/>
                  </a:moveTo>
                  <a:lnTo>
                    <a:pt x="6063533" y="0"/>
                  </a:lnTo>
                  <a:lnTo>
                    <a:pt x="6063533" y="1821451"/>
                  </a:lnTo>
                  <a:lnTo>
                    <a:pt x="0" y="1821451"/>
                  </a:lnTo>
                  <a:close/>
                </a:path>
              </a:pathLst>
            </a:custGeom>
            <a:solidFill>
              <a:srgbClr val="000000">
                <a:alpha val="0"/>
              </a:srgbClr>
            </a:solidFill>
          </p:spPr>
        </p:sp>
        <p:sp>
          <p:nvSpPr>
            <p:cNvPr name="TextBox 4" id="4"/>
            <p:cNvSpPr txBox="true"/>
            <p:nvPr/>
          </p:nvSpPr>
          <p:spPr>
            <a:xfrm>
              <a:off x="0" y="0"/>
              <a:ext cx="6063533" cy="1821451"/>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Ứng dụng Phân lớp</a:t>
              </a:r>
            </a:p>
            <a:p>
              <a:pPr algn="l">
                <a:lnSpc>
                  <a:spcPts val="2538"/>
                </a:lnSpc>
              </a:pPr>
              <a:r>
                <a:rPr lang="en-US" b="true" sz="2115">
                  <a:solidFill>
                    <a:srgbClr val="343434"/>
                  </a:solidFill>
                  <a:latin typeface="Muli Ultra-Bold"/>
                  <a:ea typeface="Muli Ultra-Bold"/>
                  <a:cs typeface="Muli Ultra-Bold"/>
                  <a:sym typeface="Muli Ultra-Bold"/>
                </a:rPr>
                <a:t>Ví dụ: Một engine tìm kiếm đơn giản</a:t>
              </a:r>
            </a:p>
          </p:txBody>
        </p:sp>
      </p:grpSp>
      <p:sp>
        <p:nvSpPr>
          <p:cNvPr name="Freeform 5" id="5"/>
          <p:cNvSpPr/>
          <p:nvPr/>
        </p:nvSpPr>
        <p:spPr>
          <a:xfrm flipH="false" flipV="false" rot="0">
            <a:off x="1815840" y="1687285"/>
            <a:ext cx="6535265" cy="3663709"/>
          </a:xfrm>
          <a:custGeom>
            <a:avLst/>
            <a:gdLst/>
            <a:ahLst/>
            <a:cxnLst/>
            <a:rect r="r" b="b" t="t" l="l"/>
            <a:pathLst>
              <a:path h="3663709" w="6535265">
                <a:moveTo>
                  <a:pt x="0" y="0"/>
                </a:moveTo>
                <a:lnTo>
                  <a:pt x="6535265" y="0"/>
                </a:lnTo>
                <a:lnTo>
                  <a:pt x="6535265" y="3663710"/>
                </a:lnTo>
                <a:lnTo>
                  <a:pt x="0" y="3663710"/>
                </a:lnTo>
                <a:lnTo>
                  <a:pt x="0" y="0"/>
                </a:lnTo>
                <a:close/>
              </a:path>
            </a:pathLst>
          </a:custGeom>
          <a:blipFill>
            <a:blip r:embed="rId2"/>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6345214" cy="807172"/>
            <a:chOff x="0" y="0"/>
            <a:chExt cx="8460285" cy="1076230"/>
          </a:xfrm>
        </p:grpSpPr>
        <p:sp>
          <p:nvSpPr>
            <p:cNvPr name="Freeform 3" id="3"/>
            <p:cNvSpPr/>
            <p:nvPr/>
          </p:nvSpPr>
          <p:spPr>
            <a:xfrm flipH="false" flipV="false" rot="0">
              <a:off x="0" y="0"/>
              <a:ext cx="8460285" cy="1076230"/>
            </a:xfrm>
            <a:custGeom>
              <a:avLst/>
              <a:gdLst/>
              <a:ahLst/>
              <a:cxnLst/>
              <a:rect r="r" b="b" t="t" l="l"/>
              <a:pathLst>
                <a:path h="1076230" w="8460285">
                  <a:moveTo>
                    <a:pt x="0" y="0"/>
                  </a:moveTo>
                  <a:lnTo>
                    <a:pt x="8460285" y="0"/>
                  </a:lnTo>
                  <a:lnTo>
                    <a:pt x="8460285" y="1076230"/>
                  </a:lnTo>
                  <a:lnTo>
                    <a:pt x="0" y="1076230"/>
                  </a:lnTo>
                  <a:close/>
                </a:path>
              </a:pathLst>
            </a:custGeom>
            <a:solidFill>
              <a:srgbClr val="000000">
                <a:alpha val="0"/>
              </a:srgbClr>
            </a:solidFill>
          </p:spPr>
        </p:sp>
        <p:sp>
          <p:nvSpPr>
            <p:cNvPr name="TextBox 4" id="4"/>
            <p:cNvSpPr txBox="true"/>
            <p:nvPr/>
          </p:nvSpPr>
          <p:spPr>
            <a:xfrm>
              <a:off x="0" y="0"/>
              <a:ext cx="8460285" cy="1076230"/>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Kiểu dựa trên đối tượng</a:t>
              </a:r>
              <a:r>
                <a:rPr lang="en-US" sz="2538">
                  <a:solidFill>
                    <a:srgbClr val="343434"/>
                  </a:solidFill>
                  <a:latin typeface="Dancing Script"/>
                  <a:ea typeface="Dancing Script"/>
                  <a:cs typeface="Dancing Script"/>
                  <a:sym typeface="Dancing Script"/>
                </a:rPr>
                <a:t> (Object-Based Architecture)</a:t>
              </a:r>
            </a:p>
          </p:txBody>
        </p:sp>
      </p:grpSp>
      <p:grpSp>
        <p:nvGrpSpPr>
          <p:cNvPr name="Group 5" id="5"/>
          <p:cNvGrpSpPr/>
          <p:nvPr/>
        </p:nvGrpSpPr>
        <p:grpSpPr>
          <a:xfrm rot="0">
            <a:off x="742270" y="1225470"/>
            <a:ext cx="8279810" cy="1689258"/>
            <a:chOff x="0" y="0"/>
            <a:chExt cx="11039747" cy="2252345"/>
          </a:xfrm>
        </p:grpSpPr>
        <p:sp>
          <p:nvSpPr>
            <p:cNvPr name="Freeform 6" id="6"/>
            <p:cNvSpPr/>
            <p:nvPr/>
          </p:nvSpPr>
          <p:spPr>
            <a:xfrm flipH="false" flipV="false" rot="0">
              <a:off x="0" y="0"/>
              <a:ext cx="11039747" cy="2252345"/>
            </a:xfrm>
            <a:custGeom>
              <a:avLst/>
              <a:gdLst/>
              <a:ahLst/>
              <a:cxnLst/>
              <a:rect r="r" b="b" t="t" l="l"/>
              <a:pathLst>
                <a:path h="2252345" w="11039747">
                  <a:moveTo>
                    <a:pt x="0" y="0"/>
                  </a:moveTo>
                  <a:lnTo>
                    <a:pt x="11039747" y="0"/>
                  </a:lnTo>
                  <a:lnTo>
                    <a:pt x="11039747" y="2252345"/>
                  </a:lnTo>
                  <a:lnTo>
                    <a:pt x="0" y="2252345"/>
                  </a:lnTo>
                  <a:close/>
                </a:path>
              </a:pathLst>
            </a:custGeom>
            <a:solidFill>
              <a:srgbClr val="000000">
                <a:alpha val="0"/>
              </a:srgbClr>
            </a:solidFill>
          </p:spPr>
        </p:sp>
        <p:sp>
          <p:nvSpPr>
            <p:cNvPr name="TextBox 7" id="7"/>
            <p:cNvSpPr txBox="true"/>
            <p:nvPr/>
          </p:nvSpPr>
          <p:spPr>
            <a:xfrm>
              <a:off x="0" y="0"/>
              <a:ext cx="11039747" cy="2252345"/>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Bản chất (Essence)</a:t>
              </a:r>
            </a:p>
            <a:p>
              <a:pPr algn="l" marL="411102" indent="-205551" lvl="1">
                <a:lnSpc>
                  <a:spcPts val="2559"/>
                </a:lnSpc>
                <a:buFont typeface="Arial"/>
                <a:buChar char="•"/>
              </a:pPr>
              <a:r>
                <a:rPr lang="en-US" b="true" sz="1904">
                  <a:solidFill>
                    <a:srgbClr val="343434"/>
                  </a:solidFill>
                  <a:latin typeface="Muli Ultra-Bold"/>
                  <a:ea typeface="Muli Ultra-Bold"/>
                  <a:cs typeface="Muli Ultra-Bold"/>
                  <a:sym typeface="Muli Ultra-Bold"/>
                </a:rPr>
                <a:t>Các thành phần là các đối tượng, được kết nối với nhau thông qua các lời gọi thủ tục.</a:t>
              </a:r>
            </a:p>
            <a:p>
              <a:pPr algn="l" marL="411102" indent="-205551" lvl="1">
                <a:lnSpc>
                  <a:spcPts val="2560"/>
                </a:lnSpc>
                <a:buFont typeface="Arial"/>
                <a:buChar char="•"/>
              </a:pPr>
              <a:r>
                <a:rPr lang="en-US" b="true" sz="1904">
                  <a:solidFill>
                    <a:srgbClr val="343434"/>
                  </a:solidFill>
                  <a:latin typeface="Muli Ultra-Bold"/>
                  <a:ea typeface="Muli Ultra-Bold"/>
                  <a:cs typeface="Muli Ultra-Bold"/>
                  <a:sym typeface="Muli Ultra-Bold"/>
                </a:rPr>
                <a:t>Các đối tượng có thể được đặt trên các máy khác nhau, do đó các lời gọi có thể được thực thi qua mạng.</a:t>
              </a:r>
            </a:p>
          </p:txBody>
        </p:sp>
      </p:grpSp>
      <p:sp>
        <p:nvSpPr>
          <p:cNvPr name="Freeform 8" id="8"/>
          <p:cNvSpPr/>
          <p:nvPr/>
        </p:nvSpPr>
        <p:spPr>
          <a:xfrm flipH="false" flipV="false" rot="0">
            <a:off x="939157" y="3172047"/>
            <a:ext cx="3943018" cy="1785020"/>
          </a:xfrm>
          <a:custGeom>
            <a:avLst/>
            <a:gdLst/>
            <a:ahLst/>
            <a:cxnLst/>
            <a:rect r="r" b="b" t="t" l="l"/>
            <a:pathLst>
              <a:path h="1785020" w="3943018">
                <a:moveTo>
                  <a:pt x="0" y="0"/>
                </a:moveTo>
                <a:lnTo>
                  <a:pt x="3943018" y="0"/>
                </a:lnTo>
                <a:lnTo>
                  <a:pt x="3943018" y="1785021"/>
                </a:lnTo>
                <a:lnTo>
                  <a:pt x="0" y="1785021"/>
                </a:lnTo>
                <a:lnTo>
                  <a:pt x="0" y="0"/>
                </a:lnTo>
                <a:close/>
              </a:path>
            </a:pathLst>
          </a:custGeom>
          <a:blipFill>
            <a:blip r:embed="rId2"/>
            <a:stretch>
              <a:fillRect l="0" t="-12" r="0" b="-12"/>
            </a:stretch>
          </a:blipFill>
        </p:spPr>
      </p:sp>
      <p:sp>
        <p:nvSpPr>
          <p:cNvPr name="Freeform 9" id="9"/>
          <p:cNvSpPr/>
          <p:nvPr/>
        </p:nvSpPr>
        <p:spPr>
          <a:xfrm flipH="false" flipV="false" rot="0">
            <a:off x="5734202" y="3010475"/>
            <a:ext cx="2716336" cy="1850846"/>
          </a:xfrm>
          <a:custGeom>
            <a:avLst/>
            <a:gdLst/>
            <a:ahLst/>
            <a:cxnLst/>
            <a:rect r="r" b="b" t="t" l="l"/>
            <a:pathLst>
              <a:path h="1850846" w="2716336">
                <a:moveTo>
                  <a:pt x="0" y="0"/>
                </a:moveTo>
                <a:lnTo>
                  <a:pt x="2716335" y="0"/>
                </a:lnTo>
                <a:lnTo>
                  <a:pt x="2716335" y="1850846"/>
                </a:lnTo>
                <a:lnTo>
                  <a:pt x="0" y="1850846"/>
                </a:lnTo>
                <a:lnTo>
                  <a:pt x="0" y="0"/>
                </a:lnTo>
                <a:close/>
              </a:path>
            </a:pathLst>
          </a:custGeom>
          <a:blipFill>
            <a:blip r:embed="rId3"/>
            <a:stretch>
              <a:fillRect l="0" t="-29" r="0" b="-29"/>
            </a:stretch>
          </a:blipFill>
        </p:spPr>
      </p:sp>
      <p:grpSp>
        <p:nvGrpSpPr>
          <p:cNvPr name="Group 10" id="10"/>
          <p:cNvGrpSpPr/>
          <p:nvPr/>
        </p:nvGrpSpPr>
        <p:grpSpPr>
          <a:xfrm rot="0">
            <a:off x="731520" y="5214243"/>
            <a:ext cx="8136061" cy="1366043"/>
            <a:chOff x="0" y="0"/>
            <a:chExt cx="10848081" cy="1821390"/>
          </a:xfrm>
        </p:grpSpPr>
        <p:sp>
          <p:nvSpPr>
            <p:cNvPr name="Freeform 11" id="11"/>
            <p:cNvSpPr/>
            <p:nvPr/>
          </p:nvSpPr>
          <p:spPr>
            <a:xfrm flipH="false" flipV="false" rot="0">
              <a:off x="0" y="0"/>
              <a:ext cx="10848081" cy="1821390"/>
            </a:xfrm>
            <a:custGeom>
              <a:avLst/>
              <a:gdLst/>
              <a:ahLst/>
              <a:cxnLst/>
              <a:rect r="r" b="b" t="t" l="l"/>
              <a:pathLst>
                <a:path h="1821390" w="10848081">
                  <a:moveTo>
                    <a:pt x="0" y="0"/>
                  </a:moveTo>
                  <a:lnTo>
                    <a:pt x="10848081" y="0"/>
                  </a:lnTo>
                  <a:lnTo>
                    <a:pt x="10848081" y="1821390"/>
                  </a:lnTo>
                  <a:lnTo>
                    <a:pt x="0" y="1821390"/>
                  </a:lnTo>
                  <a:close/>
                </a:path>
              </a:pathLst>
            </a:custGeom>
            <a:solidFill>
              <a:srgbClr val="000000">
                <a:alpha val="0"/>
              </a:srgbClr>
            </a:solidFill>
          </p:spPr>
        </p:sp>
        <p:sp>
          <p:nvSpPr>
            <p:cNvPr name="TextBox 12" id="12"/>
            <p:cNvSpPr txBox="true"/>
            <p:nvPr/>
          </p:nvSpPr>
          <p:spPr>
            <a:xfrm>
              <a:off x="0" y="0"/>
              <a:ext cx="10848081" cy="1821390"/>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Đóng gói (Encapsulation)</a:t>
              </a:r>
            </a:p>
            <a:p>
              <a:pPr algn="l" marL="411102" indent="-205551" lvl="1">
                <a:lnSpc>
                  <a:spcPts val="2550"/>
                </a:lnSpc>
                <a:buFont typeface="Arial"/>
                <a:buChar char="•"/>
              </a:pPr>
              <a:r>
                <a:rPr lang="en-US" b="true" sz="1904">
                  <a:solidFill>
                    <a:srgbClr val="343434"/>
                  </a:solidFill>
                  <a:latin typeface="Muli Ultra-Bold"/>
                  <a:ea typeface="Muli Ultra-Bold"/>
                  <a:cs typeface="Muli Ultra-Bold"/>
                  <a:sym typeface="Muli Ultra-Bold"/>
                </a:rPr>
                <a:t>Các đối tượng được cho là đóng gói dữ liệu và cung cấp các phương thức để thao tác dữ liệu mà không tiết lộ cách triển khai bên trong.</a:t>
              </a:r>
            </a:p>
          </p:txBody>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6345214" cy="510618"/>
            <a:chOff x="0" y="0"/>
            <a:chExt cx="8460285" cy="680824"/>
          </a:xfrm>
        </p:grpSpPr>
        <p:sp>
          <p:nvSpPr>
            <p:cNvPr name="Freeform 3" id="3"/>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4" id="4"/>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Kiến trúc Restful</a:t>
              </a:r>
            </a:p>
          </p:txBody>
        </p:sp>
      </p:grpSp>
      <p:grpSp>
        <p:nvGrpSpPr>
          <p:cNvPr name="Group 5" id="5"/>
          <p:cNvGrpSpPr/>
          <p:nvPr/>
        </p:nvGrpSpPr>
        <p:grpSpPr>
          <a:xfrm rot="0">
            <a:off x="731520" y="1056743"/>
            <a:ext cx="8289914" cy="4240274"/>
            <a:chOff x="0" y="0"/>
            <a:chExt cx="11053218" cy="5653698"/>
          </a:xfrm>
        </p:grpSpPr>
        <p:sp>
          <p:nvSpPr>
            <p:cNvPr name="Freeform 6" id="6"/>
            <p:cNvSpPr/>
            <p:nvPr/>
          </p:nvSpPr>
          <p:spPr>
            <a:xfrm flipH="false" flipV="false" rot="0">
              <a:off x="0" y="0"/>
              <a:ext cx="11053218" cy="5653698"/>
            </a:xfrm>
            <a:custGeom>
              <a:avLst/>
              <a:gdLst/>
              <a:ahLst/>
              <a:cxnLst/>
              <a:rect r="r" b="b" t="t" l="l"/>
              <a:pathLst>
                <a:path h="5653698" w="11053218">
                  <a:moveTo>
                    <a:pt x="0" y="0"/>
                  </a:moveTo>
                  <a:lnTo>
                    <a:pt x="11053218" y="0"/>
                  </a:lnTo>
                  <a:lnTo>
                    <a:pt x="11053218" y="5653698"/>
                  </a:lnTo>
                  <a:lnTo>
                    <a:pt x="0" y="5653698"/>
                  </a:lnTo>
                  <a:close/>
                </a:path>
              </a:pathLst>
            </a:custGeom>
            <a:solidFill>
              <a:srgbClr val="000000">
                <a:alpha val="0"/>
              </a:srgbClr>
            </a:solidFill>
          </p:spPr>
        </p:sp>
        <p:sp>
          <p:nvSpPr>
            <p:cNvPr name="TextBox 7" id="7"/>
            <p:cNvSpPr txBox="true"/>
            <p:nvPr/>
          </p:nvSpPr>
          <p:spPr>
            <a:xfrm>
              <a:off x="0" y="0"/>
              <a:ext cx="11053218" cy="5653698"/>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Bản chất (Essence)</a:t>
              </a:r>
            </a:p>
            <a:p>
              <a:pPr algn="l">
                <a:lnSpc>
                  <a:spcPts val="2560"/>
                </a:lnSpc>
              </a:pPr>
              <a:r>
                <a:rPr lang="en-US" b="true" sz="1904">
                  <a:solidFill>
                    <a:srgbClr val="343434"/>
                  </a:solidFill>
                  <a:latin typeface="Muli Ultra-Bold"/>
                  <a:ea typeface="Muli Ultra-Bold"/>
                  <a:cs typeface="Muli Ultra-Bold"/>
                  <a:sym typeface="Muli Ultra-Bold"/>
                </a:rPr>
                <a:t> - </a:t>
              </a:r>
              <a:r>
                <a:rPr lang="en-US" sz="1904">
                  <a:solidFill>
                    <a:srgbClr val="343434"/>
                  </a:solidFill>
                  <a:latin typeface="Muli"/>
                  <a:ea typeface="Muli"/>
                  <a:cs typeface="Muli"/>
                  <a:sym typeface="Muli"/>
                </a:rPr>
                <a:t>Xem một hệ thống phân tán như một tập hợp các tài nguyên, được quản lý riêng lẻ bởi các thành phần. Các tài nguyên có thể được thêm, xóa, truy xuất và sửa đổi bởi các ứng dụng (từ xa).</a:t>
              </a:r>
            </a:p>
            <a:p>
              <a:pPr algn="l" marL="719812" indent="-359906" lvl="1">
                <a:lnSpc>
                  <a:spcPts val="2284"/>
                </a:lnSpc>
                <a:buAutoNum type="arabicPeriod" startAt="1"/>
              </a:pPr>
              <a:r>
                <a:rPr lang="en-US" sz="1904">
                  <a:solidFill>
                    <a:srgbClr val="343434"/>
                  </a:solidFill>
                  <a:latin typeface="Muli"/>
                  <a:ea typeface="Muli"/>
                  <a:cs typeface="Muli"/>
                  <a:sym typeface="Muli"/>
                </a:rPr>
                <a:t>Tài nguyên được nhận diện qua một hệ thống đặt tên duy nhất (thường là URL).</a:t>
              </a:r>
            </a:p>
            <a:p>
              <a:pPr algn="l" marL="719812" indent="-359906" lvl="1">
                <a:lnSpc>
                  <a:spcPts val="2284"/>
                </a:lnSpc>
                <a:buAutoNum type="arabicPeriod" startAt="1"/>
              </a:pPr>
              <a:r>
                <a:rPr lang="en-US" sz="1904">
                  <a:solidFill>
                    <a:srgbClr val="343434"/>
                  </a:solidFill>
                  <a:latin typeface="Muli"/>
                  <a:ea typeface="Muli"/>
                  <a:cs typeface="Muli"/>
                  <a:sym typeface="Muli"/>
                </a:rPr>
                <a:t>Tất cả dịch vụ đều cung cấp cùng một giao diện (thường dựa trên HTTP với các phương thức như GET, POST, PUT, DELETE).</a:t>
              </a:r>
            </a:p>
            <a:p>
              <a:pPr algn="l" marL="719812" indent="-359906" lvl="1">
                <a:lnSpc>
                  <a:spcPts val="2284"/>
                </a:lnSpc>
                <a:buAutoNum type="arabicPeriod" startAt="1"/>
              </a:pPr>
              <a:r>
                <a:rPr lang="en-US" sz="1904">
                  <a:solidFill>
                    <a:srgbClr val="343434"/>
                  </a:solidFill>
                  <a:latin typeface="Muli"/>
                  <a:ea typeface="Muli"/>
                  <a:cs typeface="Muli"/>
                  <a:sym typeface="Muli"/>
                </a:rPr>
                <a:t>Các thông điệp gửi đến hoặc nhận từ dịch vụ đều tự mô tả (self-descriptive), giúp hiểu rõ dữ liệu được truyền.</a:t>
              </a:r>
            </a:p>
            <a:p>
              <a:pPr algn="l" marL="719670" indent="-359835" lvl="1">
                <a:lnSpc>
                  <a:spcPts val="2284"/>
                </a:lnSpc>
                <a:buAutoNum type="arabicPeriod" startAt="1"/>
              </a:pPr>
              <a:r>
                <a:rPr lang="en-US" sz="1904">
                  <a:solidFill>
                    <a:srgbClr val="343434"/>
                  </a:solidFill>
                  <a:latin typeface="Muli"/>
                  <a:ea typeface="Muli"/>
                  <a:cs typeface="Muli"/>
                  <a:sym typeface="Muli"/>
                </a:rPr>
                <a:t>Sau khi thực hiện một thao tác, dịch vụ không lưu trạng thái của client (stateless), nghĩa là nó quên mọi thông tin về yêu cầu trước đó.</a:t>
              </a:r>
            </a:p>
            <a:p>
              <a:pPr algn="l">
                <a:lnSpc>
                  <a:spcPts val="2279"/>
                </a:lnSpc>
              </a:pPr>
            </a:p>
          </p:txBody>
        </p:sp>
      </p:grpSp>
      <p:graphicFrame>
        <p:nvGraphicFramePr>
          <p:cNvPr name="Table 8" id="8"/>
          <p:cNvGraphicFramePr>
            <a:graphicFrameLocks noGrp="true"/>
          </p:cNvGraphicFramePr>
          <p:nvPr/>
        </p:nvGraphicFramePr>
        <p:xfrm>
          <a:off x="3374233" y="5206145"/>
          <a:ext cx="6099359" cy="1882753"/>
        </p:xfrm>
        <a:graphic>
          <a:graphicData uri="http://schemas.openxmlformats.org/drawingml/2006/table">
            <a:tbl>
              <a:tblPr/>
              <a:tblGrid>
                <a:gridCol w="1230234"/>
                <a:gridCol w="4869124"/>
              </a:tblGrid>
              <a:tr h="315366">
                <a:tc>
                  <a:txBody>
                    <a:bodyPr anchor="t" rtlCol="false"/>
                    <a:lstStyle/>
                    <a:p>
                      <a:pPr algn="l">
                        <a:lnSpc>
                          <a:spcPts val="1777"/>
                        </a:lnSpc>
                        <a:defRPr/>
                      </a:pPr>
                      <a:r>
                        <a:rPr lang="en-US" b="true" sz="1480">
                          <a:solidFill>
                            <a:srgbClr val="343434"/>
                          </a:solidFill>
                          <a:latin typeface="Muli Ultra-Bold"/>
                          <a:ea typeface="Muli Ultra-Bold"/>
                          <a:cs typeface="Muli Ultra-Bold"/>
                          <a:sym typeface="Muli Ultra-Bold"/>
                        </a:rPr>
                        <a:t>Hoạt động</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19050">
                      <a:solidFill>
                        <a:srgbClr val="343434"/>
                      </a:solidFill>
                      <a:prstDash val="solid"/>
                      <a:round/>
                      <a:headEnd type="none" w="med" len="med"/>
                      <a:tailEnd type="none" w="med" len="med"/>
                    </a:lnB>
                  </a:tcPr>
                </a:tc>
                <a:tc>
                  <a:txBody>
                    <a:bodyPr anchor="t" rtlCol="false"/>
                    <a:lstStyle/>
                    <a:p>
                      <a:pPr algn="l">
                        <a:lnSpc>
                          <a:spcPts val="1777"/>
                        </a:lnSpc>
                        <a:defRPr/>
                      </a:pPr>
                      <a:r>
                        <a:rPr lang="en-US" sz="1480">
                          <a:solidFill>
                            <a:srgbClr val="343434"/>
                          </a:solidFill>
                          <a:latin typeface="Muli"/>
                          <a:ea typeface="Muli"/>
                          <a:cs typeface="Muli"/>
                          <a:sym typeface="Muli"/>
                        </a:rPr>
                        <a:t>Mô tả</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19050">
                      <a:solidFill>
                        <a:srgbClr val="343434"/>
                      </a:solidFill>
                      <a:prstDash val="solid"/>
                      <a:round/>
                      <a:headEnd type="none" w="med" len="med"/>
                      <a:tailEnd type="none" w="med" len="med"/>
                    </a:lnB>
                  </a:tcPr>
                </a:tc>
              </a:tr>
              <a:tr h="353618">
                <a:tc>
                  <a:txBody>
                    <a:bodyPr anchor="t" rtlCol="false"/>
                    <a:lstStyle/>
                    <a:p>
                      <a:pPr algn="l">
                        <a:lnSpc>
                          <a:spcPts val="1717"/>
                        </a:lnSpc>
                        <a:defRPr/>
                      </a:pPr>
                      <a:r>
                        <a:rPr lang="en-US" b="true" sz="1700">
                          <a:solidFill>
                            <a:srgbClr val="343434"/>
                          </a:solidFill>
                          <a:latin typeface="Muli Ultra-Bold"/>
                          <a:ea typeface="Muli Ultra-Bold"/>
                          <a:cs typeface="Muli Ultra-Bold"/>
                          <a:sym typeface="Muli Ultra-Bold"/>
                        </a:rPr>
                        <a:t>Put</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190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c>
                  <a:txBody>
                    <a:bodyPr anchor="t" rtlCol="false"/>
                    <a:lstStyle/>
                    <a:p>
                      <a:pPr algn="l">
                        <a:lnSpc>
                          <a:spcPts val="1777"/>
                        </a:lnSpc>
                        <a:defRPr/>
                      </a:pPr>
                      <a:r>
                        <a:rPr lang="en-US" sz="1480">
                          <a:solidFill>
                            <a:srgbClr val="343434"/>
                          </a:solidFill>
                          <a:latin typeface="Muli"/>
                          <a:ea typeface="Muli"/>
                          <a:cs typeface="Muli"/>
                          <a:sym typeface="Muli"/>
                        </a:rPr>
                        <a:t>Tạo mới một mới tài nguyên</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190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r>
              <a:tr h="525648">
                <a:tc>
                  <a:txBody>
                    <a:bodyPr anchor="t" rtlCol="false"/>
                    <a:lstStyle/>
                    <a:p>
                      <a:pPr algn="l">
                        <a:lnSpc>
                          <a:spcPts val="1623"/>
                        </a:lnSpc>
                        <a:defRPr/>
                      </a:pPr>
                      <a:r>
                        <a:rPr lang="en-US" b="true" sz="1700">
                          <a:solidFill>
                            <a:srgbClr val="343434"/>
                          </a:solidFill>
                          <a:latin typeface="Muli Ultra-Bold"/>
                          <a:ea typeface="Muli Ultra-Bold"/>
                          <a:cs typeface="Muli Ultra-Bold"/>
                          <a:sym typeface="Muli Ultra-Bold"/>
                        </a:rPr>
                        <a:t>Get</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c>
                  <a:txBody>
                    <a:bodyPr anchor="t" rtlCol="false"/>
                    <a:lstStyle/>
                    <a:p>
                      <a:pPr algn="l">
                        <a:lnSpc>
                          <a:spcPts val="1777"/>
                        </a:lnSpc>
                        <a:defRPr/>
                      </a:pPr>
                      <a:r>
                        <a:rPr lang="en-US" sz="1480">
                          <a:solidFill>
                            <a:srgbClr val="343434"/>
                          </a:solidFill>
                          <a:latin typeface="Muli"/>
                          <a:ea typeface="Muli"/>
                          <a:cs typeface="Muli"/>
                          <a:sym typeface="Muli"/>
                        </a:rPr>
                        <a:t>Lấy lại cái tình trạng của tài nguyên trong một số đại diện</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r>
              <a:tr h="344060">
                <a:tc>
                  <a:txBody>
                    <a:bodyPr anchor="t" rtlCol="false"/>
                    <a:lstStyle/>
                    <a:p>
                      <a:pPr algn="l">
                        <a:lnSpc>
                          <a:spcPts val="1623"/>
                        </a:lnSpc>
                        <a:defRPr/>
                      </a:pPr>
                      <a:r>
                        <a:rPr lang="en-US" b="true" sz="1700">
                          <a:solidFill>
                            <a:srgbClr val="343434"/>
                          </a:solidFill>
                          <a:latin typeface="Muli Ultra-Bold"/>
                          <a:ea typeface="Muli Ultra-Bold"/>
                          <a:cs typeface="Muli Ultra-Bold"/>
                          <a:sym typeface="Muli Ultra-Bold"/>
                        </a:rPr>
                        <a:t>Delete</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c>
                  <a:txBody>
                    <a:bodyPr anchor="t" rtlCol="false"/>
                    <a:lstStyle/>
                    <a:p>
                      <a:pPr algn="l">
                        <a:lnSpc>
                          <a:spcPts val="1777"/>
                        </a:lnSpc>
                        <a:defRPr/>
                      </a:pPr>
                      <a:r>
                        <a:rPr lang="en-US" sz="1480">
                          <a:solidFill>
                            <a:srgbClr val="343434"/>
                          </a:solidFill>
                          <a:latin typeface="Muli"/>
                          <a:ea typeface="Muli"/>
                          <a:cs typeface="Muli"/>
                          <a:sym typeface="Muli"/>
                        </a:rPr>
                        <a:t>Xóa bỏ một tài nguyên</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r>
              <a:tr h="344060">
                <a:tc>
                  <a:txBody>
                    <a:bodyPr anchor="t" rtlCol="false"/>
                    <a:lstStyle/>
                    <a:p>
                      <a:pPr algn="l">
                        <a:lnSpc>
                          <a:spcPts val="1623"/>
                        </a:lnSpc>
                        <a:defRPr/>
                      </a:pPr>
                      <a:r>
                        <a:rPr lang="en-US" b="true" sz="1700">
                          <a:solidFill>
                            <a:srgbClr val="343434"/>
                          </a:solidFill>
                          <a:latin typeface="Muli Ultra-Bold"/>
                          <a:ea typeface="Muli Ultra-Bold"/>
                          <a:cs typeface="Muli Ultra-Bold"/>
                          <a:sym typeface="Muli Ultra-Bold"/>
                        </a:rPr>
                        <a:t>Post</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c>
                  <a:txBody>
                    <a:bodyPr anchor="t" rtlCol="false"/>
                    <a:lstStyle/>
                    <a:p>
                      <a:pPr algn="l">
                        <a:lnSpc>
                          <a:spcPts val="1777"/>
                        </a:lnSpc>
                        <a:defRPr/>
                      </a:pPr>
                      <a:r>
                        <a:rPr lang="en-US" sz="1480">
                          <a:solidFill>
                            <a:srgbClr val="343434"/>
                          </a:solidFill>
                          <a:latin typeface="Muli"/>
                          <a:ea typeface="Muli"/>
                          <a:cs typeface="Muli"/>
                          <a:sym typeface="Muli"/>
                        </a:rPr>
                        <a:t>Biến đổi một tài nguyên qua chuyển một trạng thái mới</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r>
            </a:tbl>
          </a:graphicData>
        </a:graphic>
      </p:graphicFrame>
      <p:sp>
        <p:nvSpPr>
          <p:cNvPr name="TextBox 9" id="9"/>
          <p:cNvSpPr txBox="true"/>
          <p:nvPr/>
        </p:nvSpPr>
        <p:spPr>
          <a:xfrm rot="0">
            <a:off x="400510" y="5904940"/>
            <a:ext cx="2650165" cy="571500"/>
          </a:xfrm>
          <a:prstGeom prst="rect">
            <a:avLst/>
          </a:prstGeom>
        </p:spPr>
        <p:txBody>
          <a:bodyPr anchor="t" rtlCol="false" tIns="0" lIns="0" bIns="0" rIns="0">
            <a:spAutoFit/>
          </a:bodyPr>
          <a:lstStyle/>
          <a:p>
            <a:pPr algn="ctr">
              <a:lnSpc>
                <a:spcPts val="2279"/>
              </a:lnSpc>
              <a:spcBef>
                <a:spcPct val="0"/>
              </a:spcBef>
            </a:pPr>
            <a:r>
              <a:rPr lang="en-US" b="true" sz="1899">
                <a:solidFill>
                  <a:srgbClr val="000000"/>
                </a:solidFill>
                <a:latin typeface="Muli Bold"/>
                <a:ea typeface="Muli Bold"/>
                <a:cs typeface="Muli Bold"/>
                <a:sym typeface="Muli Bold"/>
              </a:rPr>
              <a:t>Các toán tử cơ bản (Basic Operators)</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7358269" cy="510618"/>
            <a:chOff x="0" y="0"/>
            <a:chExt cx="9811025" cy="680824"/>
          </a:xfrm>
        </p:grpSpPr>
        <p:sp>
          <p:nvSpPr>
            <p:cNvPr name="Freeform 3" id="3"/>
            <p:cNvSpPr/>
            <p:nvPr/>
          </p:nvSpPr>
          <p:spPr>
            <a:xfrm flipH="false" flipV="false" rot="0">
              <a:off x="0" y="0"/>
              <a:ext cx="9811025" cy="680824"/>
            </a:xfrm>
            <a:custGeom>
              <a:avLst/>
              <a:gdLst/>
              <a:ahLst/>
              <a:cxnLst/>
              <a:rect r="r" b="b" t="t" l="l"/>
              <a:pathLst>
                <a:path h="680824" w="9811025">
                  <a:moveTo>
                    <a:pt x="0" y="0"/>
                  </a:moveTo>
                  <a:lnTo>
                    <a:pt x="9811025" y="0"/>
                  </a:lnTo>
                  <a:lnTo>
                    <a:pt x="9811025" y="680824"/>
                  </a:lnTo>
                  <a:lnTo>
                    <a:pt x="0" y="680824"/>
                  </a:lnTo>
                  <a:close/>
                </a:path>
              </a:pathLst>
            </a:custGeom>
            <a:solidFill>
              <a:srgbClr val="000000">
                <a:alpha val="0"/>
              </a:srgbClr>
            </a:solidFill>
          </p:spPr>
        </p:sp>
        <p:sp>
          <p:nvSpPr>
            <p:cNvPr name="TextBox 4" id="4"/>
            <p:cNvSpPr txBox="true"/>
            <p:nvPr/>
          </p:nvSpPr>
          <p:spPr>
            <a:xfrm>
              <a:off x="0" y="0"/>
              <a:ext cx="981102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Ví dụ: Dịch vụ lưu trữ đơn giản của Amazon (Amazon S3)</a:t>
              </a:r>
            </a:p>
          </p:txBody>
        </p:sp>
      </p:grpSp>
      <p:grpSp>
        <p:nvGrpSpPr>
          <p:cNvPr name="Group 5" id="5"/>
          <p:cNvGrpSpPr/>
          <p:nvPr/>
        </p:nvGrpSpPr>
        <p:grpSpPr>
          <a:xfrm rot="0">
            <a:off x="645886" y="1056743"/>
            <a:ext cx="8395351" cy="4907124"/>
            <a:chOff x="0" y="0"/>
            <a:chExt cx="11193801" cy="6542831"/>
          </a:xfrm>
        </p:grpSpPr>
        <p:sp>
          <p:nvSpPr>
            <p:cNvPr name="Freeform 6" id="6"/>
            <p:cNvSpPr/>
            <p:nvPr/>
          </p:nvSpPr>
          <p:spPr>
            <a:xfrm flipH="false" flipV="false" rot="0">
              <a:off x="0" y="0"/>
              <a:ext cx="11193801" cy="6542832"/>
            </a:xfrm>
            <a:custGeom>
              <a:avLst/>
              <a:gdLst/>
              <a:ahLst/>
              <a:cxnLst/>
              <a:rect r="r" b="b" t="t" l="l"/>
              <a:pathLst>
                <a:path h="6542832" w="11193801">
                  <a:moveTo>
                    <a:pt x="0" y="0"/>
                  </a:moveTo>
                  <a:lnTo>
                    <a:pt x="11193801" y="0"/>
                  </a:lnTo>
                  <a:lnTo>
                    <a:pt x="11193801" y="6542832"/>
                  </a:lnTo>
                  <a:lnTo>
                    <a:pt x="0" y="6542832"/>
                  </a:lnTo>
                  <a:close/>
                </a:path>
              </a:pathLst>
            </a:custGeom>
            <a:solidFill>
              <a:srgbClr val="000000">
                <a:alpha val="0"/>
              </a:srgbClr>
            </a:solidFill>
          </p:spPr>
        </p:sp>
        <p:sp>
          <p:nvSpPr>
            <p:cNvPr name="TextBox 7" id="7"/>
            <p:cNvSpPr txBox="true"/>
            <p:nvPr/>
          </p:nvSpPr>
          <p:spPr>
            <a:xfrm>
              <a:off x="0" y="0"/>
              <a:ext cx="11193801" cy="6542831"/>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Bản chất (Essence)</a:t>
              </a:r>
            </a:p>
            <a:p>
              <a:pPr algn="l" marL="411102" indent="-205551" lvl="1">
                <a:lnSpc>
                  <a:spcPts val="2412"/>
                </a:lnSpc>
                <a:buFont typeface="Arial"/>
                <a:buChar char="•"/>
              </a:pPr>
              <a:r>
                <a:rPr lang="en-US" b="true" sz="1904">
                  <a:solidFill>
                    <a:srgbClr val="343434"/>
                  </a:solidFill>
                  <a:latin typeface="Muli Ultra-Bold"/>
                  <a:ea typeface="Muli Ultra-Bold"/>
                  <a:cs typeface="Muli Ultra-Bold"/>
                  <a:sym typeface="Muli Ultra-Bold"/>
                </a:rPr>
                <a:t>Đối tượng (Objects): Các tệp được lưu trữ trong buckets (tương tự như thư mục).</a:t>
              </a:r>
            </a:p>
            <a:p>
              <a:pPr algn="l" marL="411102" indent="-205551" lvl="1">
                <a:lnSpc>
                  <a:spcPts val="2412"/>
                </a:lnSpc>
                <a:buFont typeface="Arial"/>
                <a:buChar char="•"/>
              </a:pPr>
              <a:r>
                <a:rPr lang="en-US" b="true" sz="1904">
                  <a:solidFill>
                    <a:srgbClr val="343434"/>
                  </a:solidFill>
                  <a:latin typeface="Muli Ultra-Bold"/>
                  <a:ea typeface="Muli Ultra-Bold"/>
                  <a:cs typeface="Muli Ultra-Bold"/>
                  <a:sym typeface="Muli Ultra-Bold"/>
                </a:rPr>
                <a:t>Buckets không thể chứa các buckets khác (không có cấu trúc thư mục lồng nhau).</a:t>
              </a:r>
            </a:p>
            <a:p>
              <a:pPr algn="l" marL="411102" indent="-205551" lvl="1">
                <a:lnSpc>
                  <a:spcPts val="2412"/>
                </a:lnSpc>
                <a:buFont typeface="Arial"/>
                <a:buChar char="•"/>
              </a:pPr>
              <a:r>
                <a:rPr lang="en-US" b="true" sz="1904">
                  <a:solidFill>
                    <a:srgbClr val="343434"/>
                  </a:solidFill>
                  <a:latin typeface="Muli Ultra-Bold"/>
                  <a:ea typeface="Muli Ultra-Bold"/>
                  <a:cs typeface="Muli Ultra-Bold"/>
                  <a:sym typeface="Muli Ultra-Bold"/>
                </a:rPr>
                <a:t>Để thao tác trên một đối tượng ObjectName trong bucket BucketName, cần sử dụng định danh sau: </a:t>
              </a:r>
            </a:p>
            <a:p>
              <a:pPr algn="ctr">
                <a:lnSpc>
                  <a:spcPts val="2412"/>
                </a:lnSpc>
              </a:pPr>
            </a:p>
            <a:p>
              <a:pPr algn="ctr">
                <a:lnSpc>
                  <a:spcPts val="2681"/>
                </a:lnSpc>
              </a:pPr>
              <a:r>
                <a:rPr lang="en-US" b="true" sz="2115" u="sng">
                  <a:solidFill>
                    <a:srgbClr val="1083B4"/>
                  </a:solidFill>
                  <a:latin typeface="Muli Ultra-Bold"/>
                  <a:ea typeface="Muli Ultra-Bold"/>
                  <a:cs typeface="Muli Ultra-Bold"/>
                  <a:sym typeface="Muli Ultra-Bold"/>
                  <a:hlinkClick r:id="rId2" tooltip="http://BucketName.s3.amazonaws.com/ObjectName"/>
                </a:rPr>
                <a:t>http://BucketName.s3.amazonaws.com/ObjectName</a:t>
              </a:r>
            </a:p>
            <a:p>
              <a:pPr algn="l">
                <a:lnSpc>
                  <a:spcPts val="2284"/>
                </a:lnSpc>
              </a:pPr>
            </a:p>
            <a:p>
              <a:pPr algn="l">
                <a:lnSpc>
                  <a:spcPts val="2538"/>
                </a:lnSpc>
              </a:pPr>
              <a:r>
                <a:rPr lang="en-US" b="true" sz="2115">
                  <a:solidFill>
                    <a:srgbClr val="343434"/>
                  </a:solidFill>
                  <a:latin typeface="Muli Ultra-Bold"/>
                  <a:ea typeface="Muli Ultra-Bold"/>
                  <a:cs typeface="Muli Ultra-Bold"/>
                  <a:sym typeface="Muli Ultra-Bold"/>
                </a:rPr>
                <a:t>Các thao tác điểm hình (Typical operations)</a:t>
              </a:r>
            </a:p>
            <a:p>
              <a:pPr algn="l">
                <a:lnSpc>
                  <a:spcPts val="2284"/>
                </a:lnSpc>
              </a:pPr>
              <a:r>
                <a:rPr lang="en-US" b="true" sz="1904">
                  <a:solidFill>
                    <a:srgbClr val="343434"/>
                  </a:solidFill>
                  <a:latin typeface="Muli Ultra-Bold"/>
                  <a:ea typeface="Muli Ultra-Bold"/>
                  <a:cs typeface="Muli Ultra-Bold"/>
                  <a:sym typeface="Muli Ultra-Bold"/>
                </a:rPr>
                <a:t>Tất cả các thao tác được thực hiện bằng cách gửi các yêu cầu HTTP:</a:t>
              </a:r>
            </a:p>
            <a:p>
              <a:pPr algn="l" marL="593526" indent="-296763" lvl="1">
                <a:lnSpc>
                  <a:spcPts val="2284"/>
                </a:lnSpc>
                <a:buFont typeface="Arial"/>
                <a:buChar char="•"/>
              </a:pPr>
              <a:r>
                <a:rPr lang="en-US" b="true" sz="1904">
                  <a:solidFill>
                    <a:srgbClr val="343434"/>
                  </a:solidFill>
                  <a:latin typeface="Muli Ultra-Bold"/>
                  <a:ea typeface="Muli Ultra-Bold"/>
                  <a:cs typeface="Muli Ultra-Bold"/>
                  <a:sym typeface="Muli Ultra-Bold"/>
                </a:rPr>
                <a:t>Tạo bucket hoặc đối tượng: Sử dụng PUT với URI tương ứng.</a:t>
              </a:r>
            </a:p>
            <a:p>
              <a:pPr algn="l" marL="593526" indent="-296763" lvl="1">
                <a:lnSpc>
                  <a:spcPts val="2284"/>
                </a:lnSpc>
                <a:buFont typeface="Arial"/>
                <a:buChar char="•"/>
              </a:pPr>
              <a:r>
                <a:rPr lang="en-US" b="true" sz="1904">
                  <a:solidFill>
                    <a:srgbClr val="343434"/>
                  </a:solidFill>
                  <a:latin typeface="Muli Ultra-Bold"/>
                  <a:ea typeface="Muli Ultra-Bold"/>
                  <a:cs typeface="Muli Ultra-Bold"/>
                  <a:sym typeface="Muli Ultra-Bold"/>
                </a:rPr>
                <a:t>Liệt kê các đối tượng trong một bucket: Sử dụng GET trên tên bucket.</a:t>
              </a:r>
            </a:p>
            <a:p>
              <a:pPr algn="l" marL="593526" indent="-296763" lvl="1">
                <a:lnSpc>
                  <a:spcPts val="2284"/>
                </a:lnSpc>
                <a:buFont typeface="Arial"/>
                <a:buChar char="•"/>
              </a:pPr>
              <a:r>
                <a:rPr lang="en-US" b="true" sz="1904">
                  <a:solidFill>
                    <a:srgbClr val="343434"/>
                  </a:solidFill>
                  <a:latin typeface="Muli Ultra-Bold"/>
                  <a:ea typeface="Muli Ultra-Bold"/>
                  <a:cs typeface="Muli Ultra-Bold"/>
                  <a:sym typeface="Muli Ultra-Bold"/>
                </a:rPr>
                <a:t>Đọc một đối tượng: Sử dụng GET trên URI đầy đủ của đối tượng.</a:t>
              </a:r>
            </a:p>
          </p:txBody>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6345214" cy="510618"/>
            <a:chOff x="0" y="0"/>
            <a:chExt cx="8460285" cy="680824"/>
          </a:xfrm>
        </p:grpSpPr>
        <p:sp>
          <p:nvSpPr>
            <p:cNvPr name="Freeform 3" id="3"/>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4" id="4"/>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Về</a:t>
              </a:r>
              <a:r>
                <a:rPr lang="en-US" sz="2538">
                  <a:solidFill>
                    <a:srgbClr val="343434"/>
                  </a:solidFill>
                  <a:latin typeface="Dancing Script"/>
                  <a:ea typeface="Dancing Script"/>
                  <a:cs typeface="Dancing Script"/>
                  <a:sym typeface="Dancing Script"/>
                </a:rPr>
                <a:t> giao diện</a:t>
              </a:r>
            </a:p>
          </p:txBody>
        </p:sp>
      </p:grpSp>
      <p:grpSp>
        <p:nvGrpSpPr>
          <p:cNvPr name="Group 5" id="5"/>
          <p:cNvGrpSpPr/>
          <p:nvPr/>
        </p:nvGrpSpPr>
        <p:grpSpPr>
          <a:xfrm rot="0">
            <a:off x="725957" y="1056743"/>
            <a:ext cx="8285186" cy="2358185"/>
            <a:chOff x="0" y="0"/>
            <a:chExt cx="11046915" cy="3144247"/>
          </a:xfrm>
        </p:grpSpPr>
        <p:sp>
          <p:nvSpPr>
            <p:cNvPr name="Freeform 6" id="6"/>
            <p:cNvSpPr/>
            <p:nvPr/>
          </p:nvSpPr>
          <p:spPr>
            <a:xfrm flipH="false" flipV="false" rot="0">
              <a:off x="0" y="0"/>
              <a:ext cx="11046915" cy="3144247"/>
            </a:xfrm>
            <a:custGeom>
              <a:avLst/>
              <a:gdLst/>
              <a:ahLst/>
              <a:cxnLst/>
              <a:rect r="r" b="b" t="t" l="l"/>
              <a:pathLst>
                <a:path h="3144247" w="11046915">
                  <a:moveTo>
                    <a:pt x="0" y="0"/>
                  </a:moveTo>
                  <a:lnTo>
                    <a:pt x="11046915" y="0"/>
                  </a:lnTo>
                  <a:lnTo>
                    <a:pt x="11046915" y="3144247"/>
                  </a:lnTo>
                  <a:lnTo>
                    <a:pt x="0" y="3144247"/>
                  </a:lnTo>
                  <a:close/>
                </a:path>
              </a:pathLst>
            </a:custGeom>
            <a:solidFill>
              <a:srgbClr val="000000">
                <a:alpha val="0"/>
              </a:srgbClr>
            </a:solidFill>
          </p:spPr>
        </p:sp>
        <p:sp>
          <p:nvSpPr>
            <p:cNvPr name="TextBox 7" id="7"/>
            <p:cNvSpPr txBox="true"/>
            <p:nvPr/>
          </p:nvSpPr>
          <p:spPr>
            <a:xfrm>
              <a:off x="0" y="0"/>
              <a:ext cx="11046915" cy="3144247"/>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Vấn đề</a:t>
              </a:r>
            </a:p>
            <a:p>
              <a:pPr algn="l" marL="411102" indent="-205551" lvl="1">
                <a:lnSpc>
                  <a:spcPts val="2559"/>
                </a:lnSpc>
                <a:buFont typeface="Arial"/>
                <a:buChar char="•"/>
              </a:pPr>
              <a:r>
                <a:rPr lang="en-US" b="true" sz="1904">
                  <a:solidFill>
                    <a:srgbClr val="343434"/>
                  </a:solidFill>
                  <a:latin typeface="Muli Ultra-Bold"/>
                  <a:ea typeface="Muli Ultra-Bold"/>
                  <a:cs typeface="Muli Ultra-Bold"/>
                  <a:sym typeface="Muli Ultra-Bold"/>
                </a:rPr>
                <a:t>Nhiều người thích cách tiếp cận RESTful vì giao diện của dịch vụ rất đơn giản.</a:t>
              </a:r>
            </a:p>
            <a:p>
              <a:pPr algn="l" marL="411102" indent="-205551" lvl="1">
                <a:lnSpc>
                  <a:spcPts val="2560"/>
                </a:lnSpc>
                <a:buFont typeface="Arial"/>
                <a:buChar char="•"/>
              </a:pPr>
              <a:r>
                <a:rPr lang="en-US" b="true" sz="1904">
                  <a:solidFill>
                    <a:srgbClr val="343434"/>
                  </a:solidFill>
                  <a:latin typeface="Muli Ultra-Bold"/>
                  <a:ea typeface="Muli Ultra-Bold"/>
                  <a:cs typeface="Muli Ultra-Bold"/>
                  <a:sym typeface="Muli Ultra-Bold"/>
                </a:rPr>
                <a:t>Tuy nhiên, điểm khó khăn là nhiều thao tác cần được thực hiện thông qua tham số trong yêu cầu (parameter space).</a:t>
              </a:r>
            </a:p>
            <a:p>
              <a:pPr algn="l">
                <a:lnSpc>
                  <a:spcPts val="2560"/>
                </a:lnSpc>
              </a:pPr>
            </a:p>
            <a:p>
              <a:pPr algn="l">
                <a:lnSpc>
                  <a:spcPts val="2560"/>
                </a:lnSpc>
              </a:pPr>
              <a:r>
                <a:rPr lang="en-US" b="true" sz="2115">
                  <a:solidFill>
                    <a:srgbClr val="343434"/>
                  </a:solidFill>
                  <a:latin typeface="Muli Ultra-Bold"/>
                  <a:ea typeface="Muli Ultra-Bold"/>
                  <a:cs typeface="Muli Ultra-Bold"/>
                  <a:sym typeface="Muli Ultra-Bold"/>
                </a:rPr>
                <a:t>Giao diện </a:t>
              </a:r>
              <a:r>
                <a:rPr lang="en-US" b="true" sz="2115">
                  <a:solidFill>
                    <a:srgbClr val="343434"/>
                  </a:solidFill>
                  <a:latin typeface="Muli Ultra-Bold"/>
                  <a:ea typeface="Muli Ultra-Bold"/>
                  <a:cs typeface="Muli Ultra-Bold"/>
                  <a:sym typeface="Muli Ultra-Bold"/>
                </a:rPr>
                <a:t>Amazon S3 SOAP</a:t>
              </a:r>
            </a:p>
          </p:txBody>
        </p:sp>
      </p:grpSp>
      <p:sp>
        <p:nvSpPr>
          <p:cNvPr name="Freeform 8" id="8"/>
          <p:cNvSpPr/>
          <p:nvPr/>
        </p:nvSpPr>
        <p:spPr>
          <a:xfrm flipH="false" flipV="false" rot="0">
            <a:off x="1652469" y="3660959"/>
            <a:ext cx="6622477" cy="1954272"/>
          </a:xfrm>
          <a:custGeom>
            <a:avLst/>
            <a:gdLst/>
            <a:ahLst/>
            <a:cxnLst/>
            <a:rect r="r" b="b" t="t" l="l"/>
            <a:pathLst>
              <a:path h="1954272" w="6622477">
                <a:moveTo>
                  <a:pt x="0" y="0"/>
                </a:moveTo>
                <a:lnTo>
                  <a:pt x="6622477" y="0"/>
                </a:lnTo>
                <a:lnTo>
                  <a:pt x="6622477" y="1954272"/>
                </a:lnTo>
                <a:lnTo>
                  <a:pt x="0" y="1954272"/>
                </a:lnTo>
                <a:lnTo>
                  <a:pt x="0" y="0"/>
                </a:lnTo>
                <a:close/>
              </a:path>
            </a:pathLst>
          </a:custGeom>
          <a:blipFill>
            <a:blip r:embed="rId2"/>
            <a:stretch>
              <a:fillRect l="-24" t="0" r="-24" b="0"/>
            </a:stretch>
          </a:blipFill>
        </p:spPr>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A8886E"/>
            </a:solidFill>
          </p:spPr>
        </p:sp>
      </p:grpSp>
      <p:grpSp>
        <p:nvGrpSpPr>
          <p:cNvPr name="Group 8" id="8"/>
          <p:cNvGrpSpPr/>
          <p:nvPr/>
        </p:nvGrpSpPr>
        <p:grpSpPr>
          <a:xfrm rot="0">
            <a:off x="113120" y="-3205"/>
            <a:ext cx="9523866" cy="214955"/>
            <a:chOff x="0" y="0"/>
            <a:chExt cx="12698489" cy="286607"/>
          </a:xfrm>
        </p:grpSpPr>
        <p:sp>
          <p:nvSpPr>
            <p:cNvPr name="Freeform 9" id="9"/>
            <p:cNvSpPr/>
            <p:nvPr/>
          </p:nvSpPr>
          <p:spPr>
            <a:xfrm flipH="false" flipV="false" rot="0">
              <a:off x="0" y="0"/>
              <a:ext cx="12698488" cy="286607"/>
            </a:xfrm>
            <a:custGeom>
              <a:avLst/>
              <a:gdLst/>
              <a:ahLst/>
              <a:cxnLst/>
              <a:rect r="r" b="b" t="t" l="l"/>
              <a:pathLst>
                <a:path h="286607" w="12698488">
                  <a:moveTo>
                    <a:pt x="0" y="0"/>
                  </a:moveTo>
                  <a:lnTo>
                    <a:pt x="12698488" y="0"/>
                  </a:lnTo>
                  <a:lnTo>
                    <a:pt x="12698488" y="286607"/>
                  </a:lnTo>
                  <a:lnTo>
                    <a:pt x="0" y="286607"/>
                  </a:lnTo>
                  <a:close/>
                </a:path>
              </a:pathLst>
            </a:custGeom>
            <a:solidFill>
              <a:srgbClr val="000000">
                <a:alpha val="0"/>
              </a:srgbClr>
            </a:solidFill>
          </p:spPr>
        </p:sp>
        <p:sp>
          <p:nvSpPr>
            <p:cNvPr name="TextBox 10" id="10"/>
            <p:cNvSpPr txBox="true"/>
            <p:nvPr/>
          </p:nvSpPr>
          <p:spPr>
            <a:xfrm>
              <a:off x="0" y="0"/>
              <a:ext cx="12698489" cy="286607"/>
            </a:xfrm>
            <a:prstGeom prst="rect">
              <a:avLst/>
            </a:prstGeom>
          </p:spPr>
          <p:txBody>
            <a:bodyPr anchor="t" rtlCol="false" tIns="0" lIns="0" bIns="0" rIns="0"/>
            <a:lstStyle/>
            <a:p>
              <a:pPr algn="l">
                <a:lnSpc>
                  <a:spcPts val="1269"/>
                </a:lnSpc>
              </a:pPr>
              <a:r>
                <a:rPr lang="en-US" sz="1057" u="sng">
                  <a:solidFill>
                    <a:srgbClr val="343434"/>
                  </a:solidFill>
                  <a:latin typeface="Muli"/>
                  <a:ea typeface="Muli"/>
                  <a:cs typeface="Muli"/>
                  <a:sym typeface="Muli"/>
                  <a:hlinkClick r:id="rId2" action="ppaction://hlinksldjump"/>
                </a:rPr>
                <a:t>Kiến trúc</a:t>
              </a:r>
              <a:r>
                <a:rPr lang="en-US" sz="1057">
                  <a:solidFill>
                    <a:srgbClr val="343434"/>
                  </a:solidFill>
                  <a:latin typeface="Muli"/>
                  <a:ea typeface="Muli"/>
                  <a:cs typeface="Muli"/>
                  <a:sym typeface="Muli"/>
                </a:rPr>
                <a:t> </a:t>
              </a:r>
              <a:r>
                <a:rPr lang="en-US" sz="1057" u="sng">
                  <a:solidFill>
                    <a:srgbClr val="343434"/>
                  </a:solidFill>
                  <a:latin typeface="Muli"/>
                  <a:ea typeface="Muli"/>
                  <a:cs typeface="Muli"/>
                  <a:sym typeface="Muli"/>
                  <a:hlinkClick r:id="rId2" action="ppaction://hlinksldjump"/>
                </a:rPr>
                <a:t>Kiến trúc phong cách</a:t>
              </a:r>
            </a:p>
          </p:txBody>
        </p:sp>
      </p:grpSp>
      <p:grpSp>
        <p:nvGrpSpPr>
          <p:cNvPr name="Group 11" id="11"/>
          <p:cNvGrpSpPr/>
          <p:nvPr/>
        </p:nvGrpSpPr>
        <p:grpSpPr>
          <a:xfrm rot="0">
            <a:off x="201626" y="418298"/>
            <a:ext cx="6345214" cy="510618"/>
            <a:chOff x="0" y="0"/>
            <a:chExt cx="8460285" cy="680824"/>
          </a:xfrm>
        </p:grpSpPr>
        <p:sp>
          <p:nvSpPr>
            <p:cNvPr name="Freeform 12" id="12"/>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3" id="13"/>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Về</a:t>
              </a:r>
              <a:r>
                <a:rPr lang="en-US" sz="2538">
                  <a:solidFill>
                    <a:srgbClr val="343434"/>
                  </a:solidFill>
                  <a:latin typeface="Dancing Script"/>
                  <a:ea typeface="Dancing Script"/>
                  <a:cs typeface="Dancing Script"/>
                  <a:sym typeface="Dancing Script"/>
                </a:rPr>
                <a:t> giao diện</a:t>
              </a:r>
            </a:p>
          </p:txBody>
        </p:sp>
      </p:grpSp>
      <p:grpSp>
        <p:nvGrpSpPr>
          <p:cNvPr name="Group 14" id="14"/>
          <p:cNvGrpSpPr/>
          <p:nvPr/>
        </p:nvGrpSpPr>
        <p:grpSpPr>
          <a:xfrm rot="0">
            <a:off x="726843" y="1035344"/>
            <a:ext cx="8287873" cy="6009511"/>
            <a:chOff x="0" y="0"/>
            <a:chExt cx="11050497" cy="8012681"/>
          </a:xfrm>
        </p:grpSpPr>
        <p:sp>
          <p:nvSpPr>
            <p:cNvPr name="Freeform 15" id="15"/>
            <p:cNvSpPr/>
            <p:nvPr/>
          </p:nvSpPr>
          <p:spPr>
            <a:xfrm flipH="false" flipV="false" rot="0">
              <a:off x="0" y="0"/>
              <a:ext cx="11050498" cy="8012681"/>
            </a:xfrm>
            <a:custGeom>
              <a:avLst/>
              <a:gdLst/>
              <a:ahLst/>
              <a:cxnLst/>
              <a:rect r="r" b="b" t="t" l="l"/>
              <a:pathLst>
                <a:path h="8012681" w="11050498">
                  <a:moveTo>
                    <a:pt x="0" y="0"/>
                  </a:moveTo>
                  <a:lnTo>
                    <a:pt x="11050498" y="0"/>
                  </a:lnTo>
                  <a:lnTo>
                    <a:pt x="11050498" y="8012681"/>
                  </a:lnTo>
                  <a:lnTo>
                    <a:pt x="0" y="8012681"/>
                  </a:lnTo>
                  <a:close/>
                </a:path>
              </a:pathLst>
            </a:custGeom>
            <a:solidFill>
              <a:srgbClr val="000000">
                <a:alpha val="0"/>
              </a:srgbClr>
            </a:solidFill>
          </p:spPr>
        </p:sp>
        <p:sp>
          <p:nvSpPr>
            <p:cNvPr name="TextBox 16" id="16"/>
            <p:cNvSpPr txBox="true"/>
            <p:nvPr/>
          </p:nvSpPr>
          <p:spPr>
            <a:xfrm>
              <a:off x="0" y="0"/>
              <a:ext cx="11050497" cy="8012681"/>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Đơn giản hóa (Simplifications)</a:t>
              </a:r>
            </a:p>
            <a:p>
              <a:pPr algn="l" marL="388620" indent="-194310" lvl="1">
                <a:lnSpc>
                  <a:spcPts val="2160"/>
                </a:lnSpc>
                <a:buFont typeface="Arial"/>
                <a:buChar char="•"/>
              </a:pPr>
              <a:r>
                <a:rPr lang="en-US" sz="1800">
                  <a:solidFill>
                    <a:srgbClr val="343434"/>
                  </a:solidFill>
                  <a:latin typeface="Muli"/>
                  <a:ea typeface="Muli"/>
                  <a:cs typeface="Muli"/>
                  <a:sym typeface="Muli"/>
                </a:rPr>
                <a:t>Giả sử có một giao diện bucket cung cấp thao tác create, yêu cầu một chuỗi đầu vào như "mybucket" để tạo một bucket có tên "mybucket".</a:t>
              </a:r>
            </a:p>
            <a:p>
              <a:pPr algn="l">
                <a:lnSpc>
                  <a:spcPts val="2124"/>
                </a:lnSpc>
              </a:pPr>
              <a:r>
                <a:rPr lang="en-US" sz="1800">
                  <a:solidFill>
                    <a:srgbClr val="343434"/>
                  </a:solidFill>
                  <a:latin typeface="Muli"/>
                  <a:ea typeface="Muli"/>
                  <a:cs typeface="Muli"/>
                  <a:sym typeface="Muli"/>
                </a:rPr>
                <a:t> </a:t>
              </a:r>
            </a:p>
            <a:p>
              <a:pPr algn="l">
                <a:lnSpc>
                  <a:spcPts val="2124"/>
                </a:lnSpc>
              </a:pPr>
            </a:p>
            <a:p>
              <a:pPr algn="l">
                <a:lnSpc>
                  <a:spcPts val="2124"/>
                </a:lnSpc>
              </a:pPr>
            </a:p>
            <a:p>
              <a:pPr algn="l">
                <a:lnSpc>
                  <a:spcPts val="2124"/>
                </a:lnSpc>
              </a:pPr>
            </a:p>
            <a:p>
              <a:pPr algn="l">
                <a:lnSpc>
                  <a:spcPts val="2124"/>
                </a:lnSpc>
              </a:pPr>
            </a:p>
            <a:p>
              <a:pPr algn="l">
                <a:lnSpc>
                  <a:spcPts val="2124"/>
                </a:lnSpc>
              </a:pPr>
            </a:p>
            <a:p>
              <a:pPr algn="l">
                <a:lnSpc>
                  <a:spcPts val="2124"/>
                </a:lnSpc>
              </a:pPr>
            </a:p>
            <a:p>
              <a:pPr algn="l">
                <a:lnSpc>
                  <a:spcPts val="2124"/>
                </a:lnSpc>
              </a:pPr>
            </a:p>
            <a:p>
              <a:pPr algn="l">
                <a:lnSpc>
                  <a:spcPts val="2160"/>
                </a:lnSpc>
              </a:pPr>
              <a:r>
                <a:rPr lang="en-US" sz="1800">
                  <a:solidFill>
                    <a:srgbClr val="343434"/>
                  </a:solidFill>
                  <a:latin typeface="Muli"/>
                  <a:ea typeface="Muli"/>
                  <a:cs typeface="Muli"/>
                  <a:sym typeface="Muli"/>
                </a:rPr>
                <a:t>Kết luận</a:t>
              </a:r>
            </a:p>
            <a:p>
              <a:pPr algn="l" marL="388620" indent="-194310" lvl="1">
                <a:lnSpc>
                  <a:spcPts val="2160"/>
                </a:lnSpc>
                <a:buFont typeface="Arial"/>
                <a:buChar char="•"/>
              </a:pPr>
              <a:r>
                <a:rPr lang="en-US" sz="1800">
                  <a:solidFill>
                    <a:srgbClr val="343434"/>
                  </a:solidFill>
                  <a:latin typeface="Muli"/>
                  <a:ea typeface="Muli"/>
                  <a:cs typeface="Muli"/>
                  <a:sym typeface="Muli"/>
                </a:rPr>
                <a:t>RESTful đơn giản hơn về mặt giao diện: Thay vì gọi hàm như SOAP, RESTful sử dụng HTTP với các phương thức tiêu chuẩn (GET, POST, PUT, DELETE).</a:t>
              </a:r>
            </a:p>
            <a:p>
              <a:pPr algn="l" marL="388620" indent="-194310" lvl="1">
                <a:lnSpc>
                  <a:spcPts val="2160"/>
                </a:lnSpc>
                <a:buFont typeface="Arial"/>
                <a:buChar char="•"/>
              </a:pPr>
              <a:r>
                <a:rPr lang="en-US" sz="1800">
                  <a:solidFill>
                    <a:srgbClr val="343434"/>
                  </a:solidFill>
                  <a:latin typeface="Muli"/>
                  <a:ea typeface="Muli"/>
                  <a:cs typeface="Muli"/>
                  <a:sym typeface="Muli"/>
                </a:rPr>
                <a:t>SOAP mạnh hơn trong mô tả dữ liệu: SOAP thường sử dụng XML với schema phức tạp để mô tả dữ liệu truyền tải.</a:t>
              </a:r>
            </a:p>
            <a:p>
              <a:pPr algn="l" marL="388620" indent="-194310" lvl="1">
                <a:lnSpc>
                  <a:spcPts val="2160"/>
                </a:lnSpc>
                <a:buFont typeface="Arial"/>
                <a:buChar char="•"/>
              </a:pPr>
              <a:r>
                <a:rPr lang="en-US" sz="1800">
                  <a:solidFill>
                    <a:srgbClr val="343434"/>
                  </a:solidFill>
                  <a:latin typeface="Muli"/>
                  <a:ea typeface="Muli"/>
                  <a:cs typeface="Muli"/>
                  <a:sym typeface="Muli"/>
                </a:rPr>
                <a:t>RESTful yêu cầu quản lý tham số nhiều hơn: Với RESTful, thông tin có thể được truyền qua URL, headers hoặc body, nhưng cần xử lý thủ công hơn so với SOAP.</a:t>
              </a:r>
            </a:p>
            <a:p>
              <a:pPr algn="l" marL="388620" indent="-194310" lvl="1">
                <a:lnSpc>
                  <a:spcPts val="2160"/>
                </a:lnSpc>
                <a:buFont typeface="Arial"/>
                <a:buChar char="•"/>
              </a:pPr>
              <a:r>
                <a:rPr lang="en-US" sz="1800">
                  <a:solidFill>
                    <a:srgbClr val="343434"/>
                  </a:solidFill>
                  <a:latin typeface="Muli"/>
                  <a:ea typeface="Muli"/>
                  <a:cs typeface="Muli"/>
                  <a:sym typeface="Muli"/>
                </a:rPr>
                <a:t>RESTful phù hợp với Web API: Vì RESTful dựa trên HTTP, nó dễ dàng tích hợp với các hệ thống web và cloud hơn.</a:t>
              </a:r>
            </a:p>
          </p:txBody>
        </p:sp>
      </p:grpSp>
      <p:sp>
        <p:nvSpPr>
          <p:cNvPr name="Freeform 17" id="17"/>
          <p:cNvSpPr/>
          <p:nvPr/>
        </p:nvSpPr>
        <p:spPr>
          <a:xfrm flipH="false" flipV="false" rot="0">
            <a:off x="1889504" y="2139431"/>
            <a:ext cx="5962552" cy="1912630"/>
          </a:xfrm>
          <a:custGeom>
            <a:avLst/>
            <a:gdLst/>
            <a:ahLst/>
            <a:cxnLst/>
            <a:rect r="r" b="b" t="t" l="l"/>
            <a:pathLst>
              <a:path h="1912630" w="5962552">
                <a:moveTo>
                  <a:pt x="0" y="0"/>
                </a:moveTo>
                <a:lnTo>
                  <a:pt x="5962552" y="0"/>
                </a:lnTo>
                <a:lnTo>
                  <a:pt x="5962552" y="1912630"/>
                </a:lnTo>
                <a:lnTo>
                  <a:pt x="0" y="1912630"/>
                </a:lnTo>
                <a:lnTo>
                  <a:pt x="0" y="0"/>
                </a:lnTo>
                <a:close/>
              </a:path>
            </a:pathLst>
          </a:custGeom>
          <a:blipFill>
            <a:blip r:embed="rId3"/>
            <a:stretch>
              <a:fillRect l="0" t="-615" r="0" b="-7390"/>
            </a:stretch>
          </a:blipFill>
        </p:spPr>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BFA"/>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5320040" cy="1125511"/>
            <a:chOff x="0" y="0"/>
            <a:chExt cx="7093386" cy="1500681"/>
          </a:xfrm>
        </p:grpSpPr>
        <p:sp>
          <p:nvSpPr>
            <p:cNvPr name="Freeform 3" id="3"/>
            <p:cNvSpPr/>
            <p:nvPr/>
          </p:nvSpPr>
          <p:spPr>
            <a:xfrm flipH="false" flipV="false" rot="0">
              <a:off x="0" y="0"/>
              <a:ext cx="7093386" cy="1500681"/>
            </a:xfrm>
            <a:custGeom>
              <a:avLst/>
              <a:gdLst/>
              <a:ahLst/>
              <a:cxnLst/>
              <a:rect r="r" b="b" t="t" l="l"/>
              <a:pathLst>
                <a:path h="1500681" w="7093386">
                  <a:moveTo>
                    <a:pt x="0" y="0"/>
                  </a:moveTo>
                  <a:lnTo>
                    <a:pt x="7093386" y="0"/>
                  </a:lnTo>
                  <a:lnTo>
                    <a:pt x="7093386" y="1500681"/>
                  </a:lnTo>
                  <a:lnTo>
                    <a:pt x="0" y="1500681"/>
                  </a:lnTo>
                  <a:close/>
                </a:path>
              </a:pathLst>
            </a:custGeom>
            <a:solidFill>
              <a:srgbClr val="000000">
                <a:alpha val="0"/>
              </a:srgbClr>
            </a:solidFill>
          </p:spPr>
        </p:sp>
        <p:sp>
          <p:nvSpPr>
            <p:cNvPr name="TextBox 4" id="4"/>
            <p:cNvSpPr txBox="true"/>
            <p:nvPr/>
          </p:nvSpPr>
          <p:spPr>
            <a:xfrm>
              <a:off x="0" y="0"/>
              <a:ext cx="7093386" cy="1500681"/>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Phối hợp (Coordination)</a:t>
              </a:r>
            </a:p>
            <a:p>
              <a:pPr algn="l">
                <a:lnSpc>
                  <a:spcPts val="2538"/>
                </a:lnSpc>
              </a:pPr>
              <a:r>
                <a:rPr lang="en-US" b="true" sz="2115">
                  <a:solidFill>
                    <a:srgbClr val="343434"/>
                  </a:solidFill>
                  <a:latin typeface="Muli Ultra-Bold"/>
                  <a:ea typeface="Muli Ultra-Bold"/>
                  <a:cs typeface="Muli Ultra-Bold"/>
                  <a:sym typeface="Muli Ultra-Bold"/>
                </a:rPr>
                <a:t>Ràng buộc thời gian và ràng buộc tham chiếu </a:t>
              </a:r>
            </a:p>
          </p:txBody>
        </p:sp>
      </p:grpSp>
      <p:graphicFrame>
        <p:nvGraphicFramePr>
          <p:cNvPr name="Table 5" id="5"/>
          <p:cNvGraphicFramePr>
            <a:graphicFrameLocks noGrp="true"/>
          </p:cNvGraphicFramePr>
          <p:nvPr/>
        </p:nvGraphicFramePr>
        <p:xfrm>
          <a:off x="1144341" y="1543809"/>
          <a:ext cx="7415960" cy="1530350"/>
        </p:xfrm>
        <a:graphic>
          <a:graphicData uri="http://schemas.openxmlformats.org/drawingml/2006/table">
            <a:tbl>
              <a:tblPr/>
              <a:tblGrid>
                <a:gridCol w="2748306"/>
                <a:gridCol w="2354190"/>
                <a:gridCol w="2313464"/>
              </a:tblGrid>
              <a:tr h="593011">
                <a:tc>
                  <a:txBody>
                    <a:bodyPr anchor="t" rtlCol="false"/>
                    <a:lstStyle/>
                    <a:p>
                      <a:pPr algn="l">
                        <a:lnSpc>
                          <a:spcPts val="1679"/>
                        </a:lnSpc>
                        <a:defRPr/>
                      </a:pPr>
                      <a:endParaRPr lang="en-US" sz="1100"/>
                    </a:p>
                  </a:txBody>
                  <a:tcPr marL="0" marR="0" marT="0" marB="0" anchor="ctr">
                    <a:lnL cmpd="sng" algn="ctr" cap="flat" w="6350">
                      <a:solidFill>
                        <a:srgbClr val="343434"/>
                      </a:solidFill>
                      <a:prstDash val="solid"/>
                      <a:round/>
                      <a:headEnd type="none" w="med" len="med"/>
                      <a:tailEnd type="none" w="med" len="med"/>
                    </a:lnL>
                    <a:lnR cmpd="sng" algn="ctr" cap="flat" w="190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19050">
                      <a:solidFill>
                        <a:srgbClr val="343434"/>
                      </a:solidFill>
                      <a:prstDash val="solid"/>
                      <a:round/>
                      <a:headEnd type="none" w="med" len="med"/>
                      <a:tailEnd type="none" w="med" len="med"/>
                    </a:lnB>
                  </a:tcPr>
                </a:tc>
                <a:tc>
                  <a:txBody>
                    <a:bodyPr anchor="t" rtlCol="false"/>
                    <a:lstStyle/>
                    <a:p>
                      <a:pPr algn="ctr">
                        <a:lnSpc>
                          <a:spcPts val="1925"/>
                        </a:lnSpc>
                        <a:defRPr/>
                      </a:pPr>
                      <a:r>
                        <a:rPr lang="en-US" b="true" sz="1692">
                          <a:solidFill>
                            <a:srgbClr val="343434"/>
                          </a:solidFill>
                          <a:latin typeface="Muli Ultra-Bold"/>
                          <a:ea typeface="Muli Ultra-Bold"/>
                          <a:cs typeface="Muli Ultra-Bold"/>
                          <a:sym typeface="Muli Ultra-Bold"/>
                        </a:rPr>
                        <a:t>Tạm thời được ghép nối</a:t>
                      </a:r>
                      <a:endParaRPr lang="en-US" sz="1100"/>
                    </a:p>
                  </a:txBody>
                  <a:tcPr marL="0" marR="0" marT="0" marB="0" anchor="ctr">
                    <a:lnL cmpd="sng" algn="ctr" cap="flat" w="190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19050">
                      <a:solidFill>
                        <a:srgbClr val="343434"/>
                      </a:solidFill>
                      <a:prstDash val="solid"/>
                      <a:round/>
                      <a:headEnd type="none" w="med" len="med"/>
                      <a:tailEnd type="none" w="med" len="med"/>
                    </a:lnB>
                  </a:tcPr>
                </a:tc>
                <a:tc>
                  <a:txBody>
                    <a:bodyPr anchor="t" rtlCol="false"/>
                    <a:lstStyle/>
                    <a:p>
                      <a:pPr algn="ctr">
                        <a:lnSpc>
                          <a:spcPts val="1925"/>
                        </a:lnSpc>
                        <a:defRPr/>
                      </a:pPr>
                      <a:r>
                        <a:rPr lang="en-US" b="true" sz="1692">
                          <a:solidFill>
                            <a:srgbClr val="343434"/>
                          </a:solidFill>
                          <a:latin typeface="Muli Ultra-Bold"/>
                          <a:ea typeface="Muli Ultra-Bold"/>
                          <a:cs typeface="Muli Ultra-Bold"/>
                          <a:sym typeface="Muli Ultra-Bold"/>
                        </a:rPr>
                        <a:t>Tạm thời được ghép nối</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19050">
                      <a:solidFill>
                        <a:srgbClr val="343434"/>
                      </a:solidFill>
                      <a:prstDash val="solid"/>
                      <a:round/>
                      <a:headEnd type="none" w="med" len="med"/>
                      <a:tailEnd type="none" w="med" len="med"/>
                    </a:lnB>
                  </a:tcPr>
                </a:tc>
              </a:tr>
              <a:tr h="353893">
                <a:tc>
                  <a:txBody>
                    <a:bodyPr anchor="t" rtlCol="false"/>
                    <a:lstStyle/>
                    <a:p>
                      <a:pPr algn="r">
                        <a:lnSpc>
                          <a:spcPts val="2031"/>
                        </a:lnSpc>
                        <a:defRPr/>
                      </a:pPr>
                      <a:r>
                        <a:rPr lang="en-US" b="true" sz="1692">
                          <a:solidFill>
                            <a:srgbClr val="343434"/>
                          </a:solidFill>
                          <a:latin typeface="Muli Ultra-Bold"/>
                          <a:ea typeface="Muli Ultra-Bold"/>
                          <a:cs typeface="Muli Ultra-Bold"/>
                          <a:sym typeface="Muli Ultra-Bold"/>
                        </a:rPr>
                        <a:t>Liên kết tham chiếu</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19050">
                      <a:solidFill>
                        <a:srgbClr val="343434"/>
                      </a:solidFill>
                      <a:prstDash val="solid"/>
                      <a:round/>
                      <a:headEnd type="none" w="med" len="med"/>
                      <a:tailEnd type="none" w="med" len="med"/>
                    </a:lnR>
                    <a:lnT cmpd="sng" algn="ctr" cap="flat" w="190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c>
                  <a:txBody>
                    <a:bodyPr anchor="t" rtlCol="false"/>
                    <a:lstStyle/>
                    <a:p>
                      <a:pPr algn="ctr">
                        <a:lnSpc>
                          <a:spcPts val="2031"/>
                        </a:lnSpc>
                        <a:defRPr/>
                      </a:pPr>
                      <a:r>
                        <a:rPr lang="en-US" b="true" sz="1692">
                          <a:solidFill>
                            <a:srgbClr val="343434"/>
                          </a:solidFill>
                          <a:latin typeface="Muli Ultra-Bold"/>
                          <a:ea typeface="Muli Ultra-Bold"/>
                          <a:cs typeface="Muli Ultra-Bold"/>
                          <a:sym typeface="Muli Ultra-Bold"/>
                        </a:rPr>
                        <a:t>Trực tiếp</a:t>
                      </a:r>
                      <a:endParaRPr lang="en-US" sz="1100"/>
                    </a:p>
                  </a:txBody>
                  <a:tcPr marL="0" marR="0" marT="0" marB="0" anchor="ctr">
                    <a:lnL cmpd="sng" algn="ctr" cap="flat" w="190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190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c>
                  <a:txBody>
                    <a:bodyPr anchor="t" rtlCol="false"/>
                    <a:lstStyle/>
                    <a:p>
                      <a:pPr algn="ctr">
                        <a:lnSpc>
                          <a:spcPts val="2031"/>
                        </a:lnSpc>
                        <a:defRPr/>
                      </a:pPr>
                      <a:r>
                        <a:rPr lang="en-US" b="true" sz="1692">
                          <a:solidFill>
                            <a:srgbClr val="343434"/>
                          </a:solidFill>
                          <a:latin typeface="Muli Ultra-Bold"/>
                          <a:ea typeface="Muli Ultra-Bold"/>
                          <a:cs typeface="Muli Ultra-Bold"/>
                          <a:sym typeface="Muli Ultra-Bold"/>
                        </a:rPr>
                        <a:t>Hộp thư</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190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r>
              <a:tr h="583446">
                <a:tc>
                  <a:txBody>
                    <a:bodyPr anchor="t" rtlCol="false"/>
                    <a:lstStyle/>
                    <a:p>
                      <a:pPr algn="r">
                        <a:lnSpc>
                          <a:spcPts val="1925"/>
                        </a:lnSpc>
                        <a:defRPr/>
                      </a:pPr>
                      <a:r>
                        <a:rPr lang="en-US" b="true" sz="1692">
                          <a:solidFill>
                            <a:srgbClr val="343434"/>
                          </a:solidFill>
                          <a:latin typeface="Muli Ultra-Bold"/>
                          <a:ea typeface="Muli Ultra-Bold"/>
                          <a:cs typeface="Muli Ultra-Bold"/>
                          <a:sym typeface="Muli Ultra-Bold"/>
                        </a:rPr>
                        <a:t>Tách rời tham chiếu</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190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c>
                  <a:txBody>
                    <a:bodyPr anchor="t" rtlCol="false"/>
                    <a:lstStyle/>
                    <a:p>
                      <a:pPr algn="ctr">
                        <a:lnSpc>
                          <a:spcPts val="1925"/>
                        </a:lnSpc>
                        <a:defRPr/>
                      </a:pPr>
                      <a:r>
                        <a:rPr lang="en-US" b="true" sz="1692">
                          <a:solidFill>
                            <a:srgbClr val="343434"/>
                          </a:solidFill>
                          <a:latin typeface="Muli Ultra-Bold"/>
                          <a:ea typeface="Muli Ultra-Bold"/>
                          <a:cs typeface="Muli Ultra-Bold"/>
                          <a:sym typeface="Muli Ultra-Bold"/>
                        </a:rPr>
                        <a:t>Dựa trên sự kiện</a:t>
                      </a:r>
                      <a:endParaRPr lang="en-US" sz="1100"/>
                    </a:p>
                  </a:txBody>
                  <a:tcPr marL="0" marR="0" marT="0" marB="0" anchor="ctr">
                    <a:lnL cmpd="sng" algn="ctr" cap="flat" w="190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c>
                  <a:txBody>
                    <a:bodyPr anchor="t" rtlCol="false"/>
                    <a:lstStyle/>
                    <a:p>
                      <a:pPr algn="ctr">
                        <a:lnSpc>
                          <a:spcPts val="1925"/>
                        </a:lnSpc>
                        <a:defRPr/>
                      </a:pPr>
                      <a:r>
                        <a:rPr lang="en-US" b="true" sz="1692">
                          <a:solidFill>
                            <a:srgbClr val="343434"/>
                          </a:solidFill>
                          <a:latin typeface="Muli Ultra-Bold"/>
                          <a:ea typeface="Muli Ultra-Bold"/>
                          <a:cs typeface="Muli Ultra-Bold"/>
                          <a:sym typeface="Muli Ultra-Bold"/>
                        </a:rPr>
                        <a:t>Không gian dữ liệu chung</a:t>
                      </a:r>
                      <a:endParaRPr lang="en-US" sz="1100"/>
                    </a:p>
                  </a:txBody>
                  <a:tcPr marL="0" marR="0" marT="0" marB="0" anchor="ctr">
                    <a:lnL cmpd="sng" algn="ctr" cap="flat" w="6350">
                      <a:solidFill>
                        <a:srgbClr val="343434"/>
                      </a:solidFill>
                      <a:prstDash val="solid"/>
                      <a:round/>
                      <a:headEnd type="none" w="med" len="med"/>
                      <a:tailEnd type="none" w="med" len="med"/>
                    </a:lnL>
                    <a:lnR cmpd="sng" algn="ctr" cap="flat" w="6350">
                      <a:solidFill>
                        <a:srgbClr val="343434"/>
                      </a:solidFill>
                      <a:prstDash val="solid"/>
                      <a:round/>
                      <a:headEnd type="none" w="med" len="med"/>
                      <a:tailEnd type="none" w="med" len="med"/>
                    </a:lnR>
                    <a:lnT cmpd="sng" algn="ctr" cap="flat" w="6350">
                      <a:solidFill>
                        <a:srgbClr val="343434"/>
                      </a:solidFill>
                      <a:prstDash val="solid"/>
                      <a:round/>
                      <a:headEnd type="none" w="med" len="med"/>
                      <a:tailEnd type="none" w="med" len="med"/>
                    </a:lnT>
                    <a:lnB cmpd="sng" algn="ctr" cap="flat" w="6350">
                      <a:solidFill>
                        <a:srgbClr val="343434"/>
                      </a:solidFill>
                      <a:prstDash val="solid"/>
                      <a:round/>
                      <a:headEnd type="none" w="med" len="med"/>
                      <a:tailEnd type="none" w="med" len="med"/>
                    </a:lnB>
                  </a:tcPr>
                </a:tc>
              </a:tr>
            </a:tbl>
          </a:graphicData>
        </a:graphic>
      </p:graphicFrame>
      <p:grpSp>
        <p:nvGrpSpPr>
          <p:cNvPr name="Group 6" id="6"/>
          <p:cNvGrpSpPr/>
          <p:nvPr/>
        </p:nvGrpSpPr>
        <p:grpSpPr>
          <a:xfrm rot="0">
            <a:off x="734771" y="3177309"/>
            <a:ext cx="6519973" cy="416429"/>
            <a:chOff x="0" y="0"/>
            <a:chExt cx="8693297" cy="555238"/>
          </a:xfrm>
        </p:grpSpPr>
        <p:sp>
          <p:nvSpPr>
            <p:cNvPr name="Freeform 7" id="7"/>
            <p:cNvSpPr/>
            <p:nvPr/>
          </p:nvSpPr>
          <p:spPr>
            <a:xfrm flipH="false" flipV="false" rot="0">
              <a:off x="0" y="0"/>
              <a:ext cx="8693297" cy="555238"/>
            </a:xfrm>
            <a:custGeom>
              <a:avLst/>
              <a:gdLst/>
              <a:ahLst/>
              <a:cxnLst/>
              <a:rect r="r" b="b" t="t" l="l"/>
              <a:pathLst>
                <a:path h="555238" w="8693297">
                  <a:moveTo>
                    <a:pt x="0" y="0"/>
                  </a:moveTo>
                  <a:lnTo>
                    <a:pt x="8693297" y="0"/>
                  </a:lnTo>
                  <a:lnTo>
                    <a:pt x="8693297" y="555238"/>
                  </a:lnTo>
                  <a:lnTo>
                    <a:pt x="0" y="555238"/>
                  </a:lnTo>
                  <a:close/>
                </a:path>
              </a:pathLst>
            </a:custGeom>
            <a:solidFill>
              <a:srgbClr val="000000">
                <a:alpha val="0"/>
              </a:srgbClr>
            </a:solidFill>
          </p:spPr>
        </p:sp>
        <p:sp>
          <p:nvSpPr>
            <p:cNvPr name="TextBox 8" id="8"/>
            <p:cNvSpPr txBox="true"/>
            <p:nvPr/>
          </p:nvSpPr>
          <p:spPr>
            <a:xfrm>
              <a:off x="0" y="0"/>
              <a:ext cx="8693297" cy="555238"/>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Dựa trên sự kiện và không gian dữ liệu chung </a:t>
              </a:r>
            </a:p>
          </p:txBody>
        </p:sp>
      </p:grpSp>
      <p:sp>
        <p:nvSpPr>
          <p:cNvPr name="Freeform 9" id="9"/>
          <p:cNvSpPr/>
          <p:nvPr/>
        </p:nvSpPr>
        <p:spPr>
          <a:xfrm flipH="false" flipV="false" rot="0">
            <a:off x="1129182" y="3912566"/>
            <a:ext cx="3750284" cy="2077419"/>
          </a:xfrm>
          <a:custGeom>
            <a:avLst/>
            <a:gdLst/>
            <a:ahLst/>
            <a:cxnLst/>
            <a:rect r="r" b="b" t="t" l="l"/>
            <a:pathLst>
              <a:path h="2077419" w="3750284">
                <a:moveTo>
                  <a:pt x="0" y="0"/>
                </a:moveTo>
                <a:lnTo>
                  <a:pt x="3750284" y="0"/>
                </a:lnTo>
                <a:lnTo>
                  <a:pt x="3750284" y="2077419"/>
                </a:lnTo>
                <a:lnTo>
                  <a:pt x="0" y="2077419"/>
                </a:lnTo>
                <a:lnTo>
                  <a:pt x="0" y="0"/>
                </a:lnTo>
                <a:close/>
              </a:path>
            </a:pathLst>
          </a:custGeom>
          <a:blipFill>
            <a:blip r:embed="rId2"/>
            <a:stretch>
              <a:fillRect l="-4" t="0" r="-4" b="0"/>
            </a:stretch>
          </a:blipFill>
        </p:spPr>
      </p:sp>
      <p:sp>
        <p:nvSpPr>
          <p:cNvPr name="Freeform 10" id="10"/>
          <p:cNvSpPr/>
          <p:nvPr/>
        </p:nvSpPr>
        <p:spPr>
          <a:xfrm flipH="false" flipV="false" rot="0">
            <a:off x="5353239" y="3915196"/>
            <a:ext cx="3106025" cy="2233691"/>
          </a:xfrm>
          <a:custGeom>
            <a:avLst/>
            <a:gdLst/>
            <a:ahLst/>
            <a:cxnLst/>
            <a:rect r="r" b="b" t="t" l="l"/>
            <a:pathLst>
              <a:path h="2233691" w="3106025">
                <a:moveTo>
                  <a:pt x="0" y="0"/>
                </a:moveTo>
                <a:lnTo>
                  <a:pt x="3106025" y="0"/>
                </a:lnTo>
                <a:lnTo>
                  <a:pt x="3106025" y="2233691"/>
                </a:lnTo>
                <a:lnTo>
                  <a:pt x="0" y="2233691"/>
                </a:lnTo>
                <a:lnTo>
                  <a:pt x="0" y="0"/>
                </a:lnTo>
                <a:close/>
              </a:path>
            </a:pathLst>
          </a:custGeom>
          <a:blipFill>
            <a:blip r:embed="rId3"/>
            <a:stretch>
              <a:fillRect l="0" t="-4" r="0" b="-4"/>
            </a:stretch>
          </a:blipFill>
        </p:spPr>
      </p:sp>
    </p:spTree>
  </p:cSld>
  <p:clrMapOvr>
    <a:masterClrMapping/>
  </p:clrMapOvr>
  <p:transition spd="fast">
    <p:fade/>
  </p:transition>
</p:sld>
</file>

<file path=ppt/slides/slide15.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390278" y="418298"/>
            <a:ext cx="8973043" cy="4268377"/>
            <a:chOff x="0" y="0"/>
            <a:chExt cx="11964058" cy="5691169"/>
          </a:xfrm>
        </p:grpSpPr>
        <p:sp>
          <p:nvSpPr>
            <p:cNvPr name="Freeform 3" id="3"/>
            <p:cNvSpPr/>
            <p:nvPr/>
          </p:nvSpPr>
          <p:spPr>
            <a:xfrm flipH="false" flipV="false" rot="0">
              <a:off x="0" y="0"/>
              <a:ext cx="11964058" cy="5691169"/>
            </a:xfrm>
            <a:custGeom>
              <a:avLst/>
              <a:gdLst/>
              <a:ahLst/>
              <a:cxnLst/>
              <a:rect r="r" b="b" t="t" l="l"/>
              <a:pathLst>
                <a:path h="5691169" w="11964058">
                  <a:moveTo>
                    <a:pt x="0" y="0"/>
                  </a:moveTo>
                  <a:lnTo>
                    <a:pt x="11964058" y="0"/>
                  </a:lnTo>
                  <a:lnTo>
                    <a:pt x="11964058" y="5691169"/>
                  </a:lnTo>
                  <a:lnTo>
                    <a:pt x="0" y="5691169"/>
                  </a:lnTo>
                  <a:close/>
                </a:path>
              </a:pathLst>
            </a:custGeom>
            <a:solidFill>
              <a:srgbClr val="000000">
                <a:alpha val="0"/>
              </a:srgbClr>
            </a:solidFill>
          </p:spPr>
        </p:sp>
        <p:sp>
          <p:nvSpPr>
            <p:cNvPr name="TextBox 4" id="4"/>
            <p:cNvSpPr txBox="true"/>
            <p:nvPr/>
          </p:nvSpPr>
          <p:spPr>
            <a:xfrm>
              <a:off x="0" y="0"/>
              <a:ext cx="11964058" cy="5691169"/>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Ví dụ: Không gian bộ dữ liệu Linda </a:t>
              </a:r>
            </a:p>
            <a:p>
              <a:pPr algn="l">
                <a:lnSpc>
                  <a:spcPts val="2538"/>
                </a:lnSpc>
              </a:pPr>
              <a:r>
                <a:rPr lang="en-US" b="true" sz="2115">
                  <a:solidFill>
                    <a:srgbClr val="343434"/>
                  </a:solidFill>
                  <a:latin typeface="Muli Ultra-Bold"/>
                  <a:ea typeface="Muli Ultra-Bold"/>
                  <a:cs typeface="Muli Ultra-Bold"/>
                  <a:sym typeface="Muli Ultra-Bold"/>
                </a:rPr>
                <a:t>     Ba toán tử đơn giản</a:t>
              </a:r>
            </a:p>
            <a:p>
              <a:pPr algn="l" marL="593526" indent="-296763" lvl="1">
                <a:lnSpc>
                  <a:spcPts val="2284"/>
                </a:lnSpc>
                <a:buFont typeface="Arial"/>
                <a:buChar char="•"/>
              </a:pPr>
              <a:r>
                <a:rPr lang="en-US" b="true" sz="1904">
                  <a:solidFill>
                    <a:srgbClr val="343434"/>
                  </a:solidFill>
                  <a:latin typeface="Muli Ultra-Bold"/>
                  <a:ea typeface="Muli Ultra-Bold"/>
                  <a:cs typeface="Muli Ultra-Bold"/>
                  <a:sym typeface="Muli Ultra-Bold"/>
                </a:rPr>
                <a:t>in(t): Xóa một bộ dữ liệu (tuple) khớp với mẫu t.</a:t>
              </a:r>
            </a:p>
            <a:p>
              <a:pPr algn="l" marL="593526" indent="-296763" lvl="1">
                <a:lnSpc>
                  <a:spcPts val="2284"/>
                </a:lnSpc>
                <a:buFont typeface="Arial"/>
                <a:buChar char="•"/>
              </a:pPr>
              <a:r>
                <a:rPr lang="en-US" b="true" sz="1904">
                  <a:solidFill>
                    <a:srgbClr val="343434"/>
                  </a:solidFill>
                  <a:latin typeface="Muli Ultra-Bold"/>
                  <a:ea typeface="Muli Ultra-Bold"/>
                  <a:cs typeface="Muli Ultra-Bold"/>
                  <a:sym typeface="Muli Ultra-Bold"/>
                </a:rPr>
                <a:t>rd(t): Lấy một bản sao của bộ dữ liệu khớp với mẫu t.</a:t>
              </a:r>
            </a:p>
            <a:p>
              <a:pPr algn="l" marL="593526" indent="-296763" lvl="1">
                <a:lnSpc>
                  <a:spcPts val="2284"/>
                </a:lnSpc>
                <a:buFont typeface="Arial"/>
                <a:buChar char="•"/>
              </a:pPr>
              <a:r>
                <a:rPr lang="en-US" b="true" sz="1904">
                  <a:solidFill>
                    <a:srgbClr val="343434"/>
                  </a:solidFill>
                  <a:latin typeface="Muli Ultra-Bold"/>
                  <a:ea typeface="Muli Ultra-Bold"/>
                  <a:cs typeface="Muli Ultra-Bold"/>
                  <a:sym typeface="Muli Ultra-Bold"/>
                </a:rPr>
                <a:t>out(t): Thêm bộ dữ liệu t vào không gian bộ dữ liệu.</a:t>
              </a:r>
            </a:p>
            <a:p>
              <a:pPr algn="l" marL="647531" indent="-323765" lvl="1">
                <a:lnSpc>
                  <a:spcPts val="2538"/>
                </a:lnSpc>
                <a:buFont typeface="Arial"/>
                <a:buChar char="•"/>
              </a:pPr>
              <a:r>
                <a:rPr lang="en-US" b="true" sz="2115">
                  <a:solidFill>
                    <a:srgbClr val="343434"/>
                  </a:solidFill>
                  <a:latin typeface="Muli Ultra-Bold"/>
                  <a:ea typeface="Muli Ultra-Bold"/>
                  <a:cs typeface="Muli Ultra-Bold"/>
                  <a:sym typeface="Muli Ultra-Bold"/>
                </a:rPr>
                <a:t>Chi tiết bổ sung</a:t>
              </a:r>
            </a:p>
            <a:p>
              <a:pPr algn="l" marL="1406326" indent="-703163" lvl="1">
                <a:lnSpc>
                  <a:spcPts val="2550"/>
                </a:lnSpc>
                <a:buFont typeface="Arial"/>
                <a:buChar char="•"/>
              </a:pPr>
              <a:r>
                <a:rPr lang="en-US" b="true" sz="1904">
                  <a:solidFill>
                    <a:srgbClr val="343434"/>
                  </a:solidFill>
                  <a:latin typeface="Muli Ultra-Bold"/>
                  <a:ea typeface="Muli Ultra-Bold"/>
                  <a:cs typeface="Muli Ultra-Bold"/>
                  <a:sym typeface="Muli Ultra-Bold"/>
                </a:rPr>
                <a:t>Gọi out(t) hai lần liên tiếp sẽ lưu trữ hai bản sao của bộ dữ liệu t ⇒ Không gian bộ dữ liệu được mô hình hóa như một tập hợp đa tập (multiset).</a:t>
              </a:r>
            </a:p>
            <a:p>
              <a:pPr algn="l" marL="1406326" indent="-703163" lvl="1">
                <a:lnSpc>
                  <a:spcPts val="2550"/>
                </a:lnSpc>
                <a:buFont typeface="Arial"/>
                <a:buChar char="•"/>
              </a:pPr>
              <a:r>
                <a:rPr lang="en-US" b="true" sz="1904">
                  <a:solidFill>
                    <a:srgbClr val="343434"/>
                  </a:solidFill>
                  <a:latin typeface="Muli Ultra-Bold"/>
                  <a:ea typeface="Muli Ultra-Bold"/>
                  <a:cs typeface="Muli Ultra-Bold"/>
                  <a:sym typeface="Muli Ultra-Bold"/>
                </a:rPr>
                <a:t>Cả in và rd đều là các thao tác chặn (blocking operations): Người gọi sẽ bị chặn cho đến khi tìm thấy một bộ dữ liệu phù hợp hoặc khi bộ dữ liệu đó trở nên khả dụng.</a:t>
              </a:r>
            </a:p>
          </p:txBody>
        </p:sp>
      </p:gr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449000" y="333064"/>
            <a:ext cx="9028020" cy="598817"/>
            <a:chOff x="0" y="0"/>
            <a:chExt cx="12037360" cy="798422"/>
          </a:xfrm>
        </p:grpSpPr>
        <p:sp>
          <p:nvSpPr>
            <p:cNvPr name="Freeform 3" id="3"/>
            <p:cNvSpPr/>
            <p:nvPr/>
          </p:nvSpPr>
          <p:spPr>
            <a:xfrm flipH="false" flipV="false" rot="0">
              <a:off x="0" y="0"/>
              <a:ext cx="12037360" cy="798422"/>
            </a:xfrm>
            <a:custGeom>
              <a:avLst/>
              <a:gdLst/>
              <a:ahLst/>
              <a:cxnLst/>
              <a:rect r="r" b="b" t="t" l="l"/>
              <a:pathLst>
                <a:path h="798422" w="12037360">
                  <a:moveTo>
                    <a:pt x="0" y="0"/>
                  </a:moveTo>
                  <a:lnTo>
                    <a:pt x="12037360" y="0"/>
                  </a:lnTo>
                  <a:lnTo>
                    <a:pt x="12037360" y="798422"/>
                  </a:lnTo>
                  <a:lnTo>
                    <a:pt x="0" y="798422"/>
                  </a:lnTo>
                  <a:close/>
                </a:path>
              </a:pathLst>
            </a:custGeom>
            <a:solidFill>
              <a:srgbClr val="000000">
                <a:alpha val="0"/>
              </a:srgbClr>
            </a:solidFill>
          </p:spPr>
        </p:sp>
        <p:sp>
          <p:nvSpPr>
            <p:cNvPr name="TextBox 4" id="4"/>
            <p:cNvSpPr txBox="true"/>
            <p:nvPr/>
          </p:nvSpPr>
          <p:spPr>
            <a:xfrm>
              <a:off x="0" y="0"/>
              <a:ext cx="12037360" cy="798422"/>
            </a:xfrm>
            <a:prstGeom prst="rect">
              <a:avLst/>
            </a:prstGeom>
          </p:spPr>
          <p:txBody>
            <a:bodyPr anchor="t" rtlCol="false" tIns="0" lIns="0" bIns="0" rIns="0"/>
            <a:lstStyle/>
            <a:p>
              <a:pPr algn="ctr">
                <a:lnSpc>
                  <a:spcPts val="3046"/>
                </a:lnSpc>
              </a:pPr>
              <a:r>
                <a:rPr lang="en-US" sz="2538">
                  <a:solidFill>
                    <a:srgbClr val="343434"/>
                  </a:solidFill>
                  <a:latin typeface="Dancing Script"/>
                  <a:ea typeface="Dancing Script"/>
                  <a:cs typeface="Dancing Script"/>
                  <a:sym typeface="Dancing Script"/>
                </a:rPr>
                <a:t>Ví dụ: Không gian bộ dữ liệu Linda </a:t>
              </a:r>
            </a:p>
          </p:txBody>
        </p:sp>
      </p:grpSp>
      <p:sp>
        <p:nvSpPr>
          <p:cNvPr name="Freeform 5" id="5"/>
          <p:cNvSpPr/>
          <p:nvPr/>
        </p:nvSpPr>
        <p:spPr>
          <a:xfrm flipH="false" flipV="false" rot="0">
            <a:off x="937300" y="1047483"/>
            <a:ext cx="7878999" cy="5886251"/>
          </a:xfrm>
          <a:custGeom>
            <a:avLst/>
            <a:gdLst/>
            <a:ahLst/>
            <a:cxnLst/>
            <a:rect r="r" b="b" t="t" l="l"/>
            <a:pathLst>
              <a:path h="5886251" w="7878999">
                <a:moveTo>
                  <a:pt x="0" y="0"/>
                </a:moveTo>
                <a:lnTo>
                  <a:pt x="7879000" y="0"/>
                </a:lnTo>
                <a:lnTo>
                  <a:pt x="7879000" y="5886251"/>
                </a:lnTo>
                <a:lnTo>
                  <a:pt x="0" y="5886251"/>
                </a:lnTo>
                <a:lnTo>
                  <a:pt x="0" y="0"/>
                </a:lnTo>
                <a:close/>
              </a:path>
            </a:pathLst>
          </a:custGeom>
          <a:blipFill>
            <a:blip r:embed="rId2"/>
            <a:stretch>
              <a:fillRect l="-956" t="0" r="0" b="0"/>
            </a:stretch>
          </a:blipFill>
        </p:spPr>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147888" y="418298"/>
            <a:ext cx="7931853" cy="2608725"/>
            <a:chOff x="0" y="0"/>
            <a:chExt cx="10575804" cy="3478300"/>
          </a:xfrm>
        </p:grpSpPr>
        <p:sp>
          <p:nvSpPr>
            <p:cNvPr name="Freeform 3" id="3"/>
            <p:cNvSpPr/>
            <p:nvPr/>
          </p:nvSpPr>
          <p:spPr>
            <a:xfrm flipH="false" flipV="false" rot="0">
              <a:off x="0" y="0"/>
              <a:ext cx="10575804" cy="3478300"/>
            </a:xfrm>
            <a:custGeom>
              <a:avLst/>
              <a:gdLst/>
              <a:ahLst/>
              <a:cxnLst/>
              <a:rect r="r" b="b" t="t" l="l"/>
              <a:pathLst>
                <a:path h="3478300" w="10575804">
                  <a:moveTo>
                    <a:pt x="0" y="0"/>
                  </a:moveTo>
                  <a:lnTo>
                    <a:pt x="10575804" y="0"/>
                  </a:lnTo>
                  <a:lnTo>
                    <a:pt x="10575804" y="3478300"/>
                  </a:lnTo>
                  <a:lnTo>
                    <a:pt x="0" y="3478300"/>
                  </a:lnTo>
                  <a:close/>
                </a:path>
              </a:pathLst>
            </a:custGeom>
            <a:solidFill>
              <a:srgbClr val="000000">
                <a:alpha val="0"/>
              </a:srgbClr>
            </a:solidFill>
          </p:spPr>
        </p:sp>
        <p:sp>
          <p:nvSpPr>
            <p:cNvPr name="TextBox 4" id="4"/>
            <p:cNvSpPr txBox="true"/>
            <p:nvPr/>
          </p:nvSpPr>
          <p:spPr>
            <a:xfrm>
              <a:off x="0" y="0"/>
              <a:ext cx="10575804" cy="3478300"/>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Mô hình Publish-Subscribe</a:t>
              </a:r>
            </a:p>
            <a:p>
              <a:pPr algn="l">
                <a:lnSpc>
                  <a:spcPts val="2538"/>
                </a:lnSpc>
              </a:pPr>
              <a:r>
                <a:rPr lang="en-US" b="true" sz="2115">
                  <a:solidFill>
                    <a:srgbClr val="343434"/>
                  </a:solidFill>
                  <a:latin typeface="Muli Ultra-Bold"/>
                  <a:ea typeface="Muli Ultra-Bold"/>
                  <a:cs typeface="Muli Ultra-Bold"/>
                  <a:sym typeface="Muli Ultra-Bold"/>
                </a:rPr>
                <a:t>Vấn đề: Làm thế nào để đối chiếu các sự kiện?</a:t>
              </a:r>
            </a:p>
            <a:p>
              <a:pPr algn="l">
                <a:lnSpc>
                  <a:spcPts val="2284"/>
                </a:lnSpc>
              </a:pPr>
              <a:r>
                <a:rPr lang="en-US" b="true" sz="1904">
                  <a:solidFill>
                    <a:srgbClr val="343434"/>
                  </a:solidFill>
                  <a:latin typeface="Muli Ultra-Bold"/>
                  <a:ea typeface="Muli Ultra-Bold"/>
                  <a:cs typeface="Muli Ultra-Bold"/>
                  <a:sym typeface="Muli Ultra-Bold"/>
                </a:rPr>
                <a:t>Giả sử các sự kiện được mô tả bằng cặp (thuộc tính, giá trị):</a:t>
              </a:r>
            </a:p>
            <a:p>
              <a:pPr algn="l" marL="566656" indent="-283328" lvl="1">
                <a:lnSpc>
                  <a:spcPts val="2284"/>
                </a:lnSpc>
                <a:buFont typeface="Arial"/>
                <a:buChar char="•"/>
              </a:pPr>
              <a:r>
                <a:rPr lang="en-US" b="true" sz="1904">
                  <a:solidFill>
                    <a:srgbClr val="343434"/>
                  </a:solidFill>
                  <a:latin typeface="Muli Ultra-Bold"/>
                  <a:ea typeface="Muli Ultra-Bold"/>
                  <a:cs typeface="Muli Ultra-Bold"/>
                  <a:sym typeface="Muli Ultra-Bold"/>
                </a:rPr>
                <a:t>Đăng ký theo chủ đề (Topic-based subscription): Xác định chuỗi điều kiện theo dạng "thuộc tính = giá trị".</a:t>
              </a:r>
            </a:p>
            <a:p>
              <a:pPr algn="l" marL="566656" indent="-283328" lvl="1">
                <a:lnSpc>
                  <a:spcPts val="2284"/>
                </a:lnSpc>
                <a:buFont typeface="Arial"/>
                <a:buChar char="•"/>
              </a:pPr>
              <a:r>
                <a:rPr lang="en-US" b="true" sz="1904">
                  <a:solidFill>
                    <a:srgbClr val="343434"/>
                  </a:solidFill>
                  <a:latin typeface="Muli Ultra-Bold"/>
                  <a:ea typeface="Muli Ultra-Bold"/>
                  <a:cs typeface="Muli Ultra-Bold"/>
                  <a:sym typeface="Muli Ultra-Bold"/>
                </a:rPr>
                <a:t>Đăng ký theo nội dung (Content-based subscription): Xác định chuỗi điều kiện theo dạng "thuộc tính ∈ khoảng giá trị".</a:t>
              </a:r>
            </a:p>
          </p:txBody>
        </p:sp>
      </p:grpSp>
      <p:sp>
        <p:nvSpPr>
          <p:cNvPr name="Freeform 5" id="5"/>
          <p:cNvSpPr/>
          <p:nvPr/>
        </p:nvSpPr>
        <p:spPr>
          <a:xfrm flipH="false" flipV="false" rot="0">
            <a:off x="1550291" y="2857714"/>
            <a:ext cx="6653019" cy="2312230"/>
          </a:xfrm>
          <a:custGeom>
            <a:avLst/>
            <a:gdLst/>
            <a:ahLst/>
            <a:cxnLst/>
            <a:rect r="r" b="b" t="t" l="l"/>
            <a:pathLst>
              <a:path h="2312230" w="6653019">
                <a:moveTo>
                  <a:pt x="0" y="0"/>
                </a:moveTo>
                <a:lnTo>
                  <a:pt x="6653018" y="0"/>
                </a:lnTo>
                <a:lnTo>
                  <a:pt x="6653018" y="2312230"/>
                </a:lnTo>
                <a:lnTo>
                  <a:pt x="0" y="2312230"/>
                </a:lnTo>
                <a:lnTo>
                  <a:pt x="0" y="0"/>
                </a:lnTo>
                <a:close/>
              </a:path>
            </a:pathLst>
          </a:custGeom>
          <a:blipFill>
            <a:blip r:embed="rId2"/>
            <a:stretch>
              <a:fillRect l="0" t="0" r="0" b="0"/>
            </a:stretch>
          </a:blipFill>
        </p:spPr>
      </p:sp>
      <p:grpSp>
        <p:nvGrpSpPr>
          <p:cNvPr name="Group 6" id="6"/>
          <p:cNvGrpSpPr/>
          <p:nvPr/>
        </p:nvGrpSpPr>
        <p:grpSpPr>
          <a:xfrm rot="0">
            <a:off x="14765" y="5434340"/>
            <a:ext cx="9753600" cy="1840074"/>
            <a:chOff x="0" y="0"/>
            <a:chExt cx="13004800" cy="2453431"/>
          </a:xfrm>
        </p:grpSpPr>
        <p:sp>
          <p:nvSpPr>
            <p:cNvPr name="Freeform 7" id="7"/>
            <p:cNvSpPr/>
            <p:nvPr/>
          </p:nvSpPr>
          <p:spPr>
            <a:xfrm flipH="false" flipV="false" rot="0">
              <a:off x="0" y="0"/>
              <a:ext cx="13004800" cy="2453431"/>
            </a:xfrm>
            <a:custGeom>
              <a:avLst/>
              <a:gdLst/>
              <a:ahLst/>
              <a:cxnLst/>
              <a:rect r="r" b="b" t="t" l="l"/>
              <a:pathLst>
                <a:path h="2453431" w="13004800">
                  <a:moveTo>
                    <a:pt x="0" y="0"/>
                  </a:moveTo>
                  <a:lnTo>
                    <a:pt x="13004800" y="0"/>
                  </a:lnTo>
                  <a:lnTo>
                    <a:pt x="13004800" y="2453431"/>
                  </a:lnTo>
                  <a:lnTo>
                    <a:pt x="0" y="2453431"/>
                  </a:lnTo>
                  <a:close/>
                </a:path>
              </a:pathLst>
            </a:custGeom>
            <a:solidFill>
              <a:srgbClr val="000000">
                <a:alpha val="0"/>
              </a:srgbClr>
            </a:solidFill>
          </p:spPr>
        </p:sp>
        <p:sp>
          <p:nvSpPr>
            <p:cNvPr name="TextBox 8" id="8"/>
            <p:cNvSpPr txBox="true"/>
            <p:nvPr/>
          </p:nvSpPr>
          <p:spPr>
            <a:xfrm>
              <a:off x="0" y="0"/>
              <a:ext cx="13004800" cy="2453431"/>
            </a:xfrm>
            <a:prstGeom prst="rect">
              <a:avLst/>
            </a:prstGeom>
          </p:spPr>
          <p:txBody>
            <a:bodyPr anchor="t" rtlCol="false" tIns="0" lIns="0" bIns="0" rIns="0"/>
            <a:lstStyle/>
            <a:p>
              <a:pPr algn="l">
                <a:lnSpc>
                  <a:spcPts val="2538"/>
                </a:lnSpc>
              </a:pPr>
              <a:r>
                <a:rPr lang="en-US" b="true" sz="2115">
                  <a:solidFill>
                    <a:srgbClr val="FBFBFA"/>
                  </a:solidFill>
                  <a:latin typeface="Muli Ultra-Bold"/>
                  <a:ea typeface="Muli Ultra-Bold"/>
                  <a:cs typeface="Muli Ultra-Bold"/>
                  <a:sym typeface="Muli Ultra-Bold"/>
                </a:rPr>
                <a:t>Nhận xét</a:t>
              </a:r>
            </a:p>
            <a:p>
              <a:pPr algn="l">
                <a:lnSpc>
                  <a:spcPts val="2284"/>
                </a:lnSpc>
              </a:pPr>
              <a:r>
                <a:rPr lang="en-US" b="true" sz="1904">
                  <a:solidFill>
                    <a:srgbClr val="FBFBFA"/>
                  </a:solidFill>
                  <a:latin typeface="Muli Ultra-Bold"/>
                  <a:ea typeface="Muli Ultra-Bold"/>
                  <a:cs typeface="Muli Ultra-Bold"/>
                  <a:sym typeface="Muli Ultra-Bold"/>
                </a:rPr>
                <a:t>Đăng ký theo nội dung có thể gặp vấn đề nghiêm trọng về khả năng mở rộng (scalability problems).</a:t>
              </a:r>
            </a:p>
            <a:p>
              <a:pPr algn="l">
                <a:lnSpc>
                  <a:spcPts val="2284"/>
                </a:lnSpc>
              </a:pPr>
              <a:r>
                <a:rPr lang="en-US" b="true" sz="1904">
                  <a:solidFill>
                    <a:srgbClr val="FBFBFA"/>
                  </a:solidFill>
                  <a:latin typeface="Muli Ultra-Bold"/>
                  <a:ea typeface="Muli Ultra-Bold"/>
                  <a:cs typeface="Muli Ultra-Bold"/>
                  <a:sym typeface="Muli Ultra-Bold"/>
                </a:rPr>
                <a:t>Lý do? Khi số lượng người đăng ký lớn và bộ lọc nội dung trở nên phức tạp, hệ thống phải xử lý nhiều điều kiện so khớp hơn, làm tăng độ trễ và tiêu tốn tài nguyên.</a:t>
              </a:r>
            </a:p>
          </p:txBody>
        </p:sp>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76211"/>
            <a:ext cx="8004911" cy="510618"/>
            <a:chOff x="0" y="0"/>
            <a:chExt cx="10673214" cy="680824"/>
          </a:xfrm>
        </p:grpSpPr>
        <p:sp>
          <p:nvSpPr>
            <p:cNvPr name="Freeform 3" id="3"/>
            <p:cNvSpPr/>
            <p:nvPr/>
          </p:nvSpPr>
          <p:spPr>
            <a:xfrm flipH="false" flipV="false" rot="0">
              <a:off x="0" y="0"/>
              <a:ext cx="10673214" cy="680824"/>
            </a:xfrm>
            <a:custGeom>
              <a:avLst/>
              <a:gdLst/>
              <a:ahLst/>
              <a:cxnLst/>
              <a:rect r="r" b="b" t="t" l="l"/>
              <a:pathLst>
                <a:path h="680824" w="10673214">
                  <a:moveTo>
                    <a:pt x="0" y="0"/>
                  </a:moveTo>
                  <a:lnTo>
                    <a:pt x="10673214" y="0"/>
                  </a:lnTo>
                  <a:lnTo>
                    <a:pt x="10673214" y="680824"/>
                  </a:lnTo>
                  <a:lnTo>
                    <a:pt x="0" y="680824"/>
                  </a:lnTo>
                  <a:close/>
                </a:path>
              </a:pathLst>
            </a:custGeom>
            <a:solidFill>
              <a:srgbClr val="000000">
                <a:alpha val="0"/>
              </a:srgbClr>
            </a:solidFill>
          </p:spPr>
        </p:sp>
        <p:sp>
          <p:nvSpPr>
            <p:cNvPr name="TextBox 4" id="4"/>
            <p:cNvSpPr txBox="true"/>
            <p:nvPr/>
          </p:nvSpPr>
          <p:spPr>
            <a:xfrm>
              <a:off x="0" y="0"/>
              <a:ext cx="10673214"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Middleware</a:t>
              </a:r>
              <a:r>
                <a:rPr lang="en-US" sz="2538">
                  <a:solidFill>
                    <a:srgbClr val="343434"/>
                  </a:solidFill>
                  <a:latin typeface="Dancing Script"/>
                  <a:ea typeface="Dancing Script"/>
                  <a:cs typeface="Dancing Script"/>
                  <a:sym typeface="Dancing Script"/>
                </a:rPr>
                <a:t>: Hệ điều hành của hệ thống phân tán</a:t>
              </a:r>
            </a:p>
          </p:txBody>
        </p:sp>
      </p:grpSp>
      <p:sp>
        <p:nvSpPr>
          <p:cNvPr name="Freeform 5" id="5"/>
          <p:cNvSpPr/>
          <p:nvPr/>
        </p:nvSpPr>
        <p:spPr>
          <a:xfrm flipH="false" flipV="false" rot="0">
            <a:off x="1481263" y="1248212"/>
            <a:ext cx="6725274" cy="3356786"/>
          </a:xfrm>
          <a:custGeom>
            <a:avLst/>
            <a:gdLst/>
            <a:ahLst/>
            <a:cxnLst/>
            <a:rect r="r" b="b" t="t" l="l"/>
            <a:pathLst>
              <a:path h="3356786" w="6725274">
                <a:moveTo>
                  <a:pt x="0" y="0"/>
                </a:moveTo>
                <a:lnTo>
                  <a:pt x="6725274" y="0"/>
                </a:lnTo>
                <a:lnTo>
                  <a:pt x="6725274" y="3356786"/>
                </a:lnTo>
                <a:lnTo>
                  <a:pt x="0" y="3356786"/>
                </a:lnTo>
                <a:lnTo>
                  <a:pt x="0" y="0"/>
                </a:lnTo>
                <a:close/>
              </a:path>
            </a:pathLst>
          </a:custGeom>
          <a:blipFill>
            <a:blip r:embed="rId2"/>
            <a:stretch>
              <a:fillRect l="-12" t="0" r="-12" b="0"/>
            </a:stretch>
          </a:blipFill>
        </p:spPr>
      </p:sp>
      <p:grpSp>
        <p:nvGrpSpPr>
          <p:cNvPr name="Group 6" id="6"/>
          <p:cNvGrpSpPr/>
          <p:nvPr/>
        </p:nvGrpSpPr>
        <p:grpSpPr>
          <a:xfrm rot="0">
            <a:off x="715413" y="4871698"/>
            <a:ext cx="8256973" cy="1352417"/>
            <a:chOff x="0" y="0"/>
            <a:chExt cx="11009298" cy="1803223"/>
          </a:xfrm>
        </p:grpSpPr>
        <p:sp>
          <p:nvSpPr>
            <p:cNvPr name="Freeform 7" id="7"/>
            <p:cNvSpPr/>
            <p:nvPr/>
          </p:nvSpPr>
          <p:spPr>
            <a:xfrm flipH="false" flipV="false" rot="0">
              <a:off x="0" y="0"/>
              <a:ext cx="11009298" cy="1803222"/>
            </a:xfrm>
            <a:custGeom>
              <a:avLst/>
              <a:gdLst/>
              <a:ahLst/>
              <a:cxnLst/>
              <a:rect r="r" b="b" t="t" l="l"/>
              <a:pathLst>
                <a:path h="1803222" w="11009298">
                  <a:moveTo>
                    <a:pt x="0" y="0"/>
                  </a:moveTo>
                  <a:lnTo>
                    <a:pt x="11009298" y="0"/>
                  </a:lnTo>
                  <a:lnTo>
                    <a:pt x="11009298" y="1803222"/>
                  </a:lnTo>
                  <a:lnTo>
                    <a:pt x="0" y="1803222"/>
                  </a:lnTo>
                  <a:close/>
                </a:path>
              </a:pathLst>
            </a:custGeom>
            <a:solidFill>
              <a:srgbClr val="000000">
                <a:alpha val="0"/>
              </a:srgbClr>
            </a:solidFill>
          </p:spPr>
        </p:sp>
        <p:sp>
          <p:nvSpPr>
            <p:cNvPr name="TextBox 8" id="8"/>
            <p:cNvSpPr txBox="true"/>
            <p:nvPr/>
          </p:nvSpPr>
          <p:spPr>
            <a:xfrm>
              <a:off x="0" y="-28575"/>
              <a:ext cx="11009298" cy="1831798"/>
            </a:xfrm>
            <a:prstGeom prst="rect">
              <a:avLst/>
            </a:prstGeom>
          </p:spPr>
          <p:txBody>
            <a:bodyPr anchor="t" rtlCol="false" tIns="0" lIns="0" bIns="0" rIns="0"/>
            <a:lstStyle/>
            <a:p>
              <a:pPr algn="l">
                <a:lnSpc>
                  <a:spcPts val="2559"/>
                </a:lnSpc>
              </a:pPr>
              <a:r>
                <a:rPr lang="en-US" sz="1904" b="true">
                  <a:solidFill>
                    <a:srgbClr val="343434"/>
                  </a:solidFill>
                  <a:latin typeface="Muli Ultra-Bold"/>
                  <a:ea typeface="Muli Ultra-Bold"/>
                  <a:cs typeface="Muli Ultra-Bold"/>
                  <a:sym typeface="Muli Ultra-Bold"/>
                </a:rPr>
                <a:t>Giải thích các thành phần, chức năng của Middleware?</a:t>
              </a:r>
            </a:p>
            <a:p>
              <a:pPr algn="l">
                <a:lnSpc>
                  <a:spcPts val="2559"/>
                </a:lnSpc>
              </a:pPr>
              <a:r>
                <a:rPr lang="en-US" sz="1904" b="true">
                  <a:solidFill>
                    <a:srgbClr val="343434"/>
                  </a:solidFill>
                  <a:latin typeface="Muli Ultra-Bold"/>
                  <a:ea typeface="Muli Ultra-Bold"/>
                  <a:cs typeface="Muli Ultra-Bold"/>
                  <a:sym typeface="Muli Ultra-Bold"/>
                </a:rPr>
                <a:t>Các thành phần và chức năng thường được sử dụng mà các ứng dụng không cần phải triển khai riêng biệt.</a:t>
              </a:r>
            </a:p>
            <a:p>
              <a:pPr algn="l">
                <a:lnSpc>
                  <a:spcPts val="2560"/>
                </a:lnSpc>
              </a:pPr>
            </a:p>
          </p:txBody>
        </p:sp>
      </p:grpSp>
    </p:spTree>
  </p:cSld>
  <p:clrMapOvr>
    <a:masterClrMapping/>
  </p:clrMapOvr>
  <p:transition spd="fast">
    <p:fade/>
  </p:transition>
</p:sld>
</file>

<file path=ppt/slides/slide19.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9161394" cy="510618"/>
            <a:chOff x="0" y="0"/>
            <a:chExt cx="12215192" cy="680824"/>
          </a:xfrm>
        </p:grpSpPr>
        <p:sp>
          <p:nvSpPr>
            <p:cNvPr name="Freeform 3" id="3"/>
            <p:cNvSpPr/>
            <p:nvPr/>
          </p:nvSpPr>
          <p:spPr>
            <a:xfrm flipH="false" flipV="false" rot="0">
              <a:off x="0" y="0"/>
              <a:ext cx="12215192" cy="680824"/>
            </a:xfrm>
            <a:custGeom>
              <a:avLst/>
              <a:gdLst/>
              <a:ahLst/>
              <a:cxnLst/>
              <a:rect r="r" b="b" t="t" l="l"/>
              <a:pathLst>
                <a:path h="680824" w="12215192">
                  <a:moveTo>
                    <a:pt x="0" y="0"/>
                  </a:moveTo>
                  <a:lnTo>
                    <a:pt x="12215192" y="0"/>
                  </a:lnTo>
                  <a:lnTo>
                    <a:pt x="12215192" y="680824"/>
                  </a:lnTo>
                  <a:lnTo>
                    <a:pt x="0" y="680824"/>
                  </a:lnTo>
                  <a:close/>
                </a:path>
              </a:pathLst>
            </a:custGeom>
            <a:solidFill>
              <a:srgbClr val="000000">
                <a:alpha val="0"/>
              </a:srgbClr>
            </a:solidFill>
          </p:spPr>
        </p:sp>
        <p:sp>
          <p:nvSpPr>
            <p:cNvPr name="TextBox 4" id="4"/>
            <p:cNvSpPr txBox="true"/>
            <p:nvPr/>
          </p:nvSpPr>
          <p:spPr>
            <a:xfrm>
              <a:off x="0" y="0"/>
              <a:ext cx="12215192"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Sử dụng các thành phần kế thừa để xây dựng Middleware</a:t>
              </a:r>
            </a:p>
          </p:txBody>
        </p:sp>
      </p:grpSp>
      <p:grpSp>
        <p:nvGrpSpPr>
          <p:cNvPr name="Group 5" id="5"/>
          <p:cNvGrpSpPr/>
          <p:nvPr/>
        </p:nvGrpSpPr>
        <p:grpSpPr>
          <a:xfrm rot="0">
            <a:off x="492426" y="1341912"/>
            <a:ext cx="8579794" cy="2917984"/>
            <a:chOff x="0" y="0"/>
            <a:chExt cx="11439726" cy="3890645"/>
          </a:xfrm>
        </p:grpSpPr>
        <p:sp>
          <p:nvSpPr>
            <p:cNvPr name="Freeform 6" id="6"/>
            <p:cNvSpPr/>
            <p:nvPr/>
          </p:nvSpPr>
          <p:spPr>
            <a:xfrm flipH="false" flipV="false" rot="0">
              <a:off x="0" y="0"/>
              <a:ext cx="11439726" cy="3890645"/>
            </a:xfrm>
            <a:custGeom>
              <a:avLst/>
              <a:gdLst/>
              <a:ahLst/>
              <a:cxnLst/>
              <a:rect r="r" b="b" t="t" l="l"/>
              <a:pathLst>
                <a:path h="3890645" w="11439726">
                  <a:moveTo>
                    <a:pt x="0" y="0"/>
                  </a:moveTo>
                  <a:lnTo>
                    <a:pt x="11439726" y="0"/>
                  </a:lnTo>
                  <a:lnTo>
                    <a:pt x="11439726" y="3890645"/>
                  </a:lnTo>
                  <a:lnTo>
                    <a:pt x="0" y="3890645"/>
                  </a:lnTo>
                  <a:close/>
                </a:path>
              </a:pathLst>
            </a:custGeom>
            <a:solidFill>
              <a:srgbClr val="000000">
                <a:alpha val="0"/>
              </a:srgbClr>
            </a:solidFill>
          </p:spPr>
        </p:sp>
        <p:sp>
          <p:nvSpPr>
            <p:cNvPr name="TextBox 7" id="7"/>
            <p:cNvSpPr txBox="true"/>
            <p:nvPr/>
          </p:nvSpPr>
          <p:spPr>
            <a:xfrm>
              <a:off x="0" y="0"/>
              <a:ext cx="11439726" cy="3890645"/>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Vấn đề</a:t>
              </a:r>
            </a:p>
            <a:p>
              <a:pPr algn="l">
                <a:lnSpc>
                  <a:spcPts val="2538"/>
                </a:lnSpc>
              </a:pPr>
              <a:r>
                <a:rPr lang="en-US" b="true" sz="2115">
                  <a:solidFill>
                    <a:srgbClr val="343434"/>
                  </a:solidFill>
                  <a:latin typeface="Muli Ultra-Bold"/>
                  <a:ea typeface="Muli Ultra-Bold"/>
                  <a:cs typeface="Muli Ultra-Bold"/>
                  <a:sym typeface="Muli Ultra-Bold"/>
                </a:rPr>
                <a:t>Các giao diện được cung cấp bởi một thành phần kế thừa thường không phù hợp với tất cả các ứng dụng.</a:t>
              </a:r>
            </a:p>
            <a:p>
              <a:pPr algn="l">
                <a:lnSpc>
                  <a:spcPts val="2538"/>
                </a:lnSpc>
              </a:pPr>
              <a:r>
                <a:rPr lang="en-US" b="true" sz="2115">
                  <a:solidFill>
                    <a:srgbClr val="343434"/>
                  </a:solidFill>
                  <a:latin typeface="Muli Ultra-Bold"/>
                  <a:ea typeface="Muli Ultra-Bold"/>
                  <a:cs typeface="Muli Ultra-Bold"/>
                  <a:sym typeface="Muli Ultra-Bold"/>
                </a:rPr>
                <a:t>Giải pháp</a:t>
              </a:r>
            </a:p>
            <a:p>
              <a:pPr algn="l">
                <a:lnSpc>
                  <a:spcPts val="2538"/>
                </a:lnSpc>
              </a:pPr>
              <a:r>
                <a:rPr lang="en-US" b="true" sz="2115">
                  <a:solidFill>
                    <a:srgbClr val="343434"/>
                  </a:solidFill>
                  <a:latin typeface="Muli Ultra-Bold"/>
                  <a:ea typeface="Muli Ultra-Bold"/>
                  <a:cs typeface="Muli Ultra-Bold"/>
                  <a:sym typeface="Muli Ultra-Bold"/>
                </a:rPr>
                <a:t>W</a:t>
              </a:r>
              <a:r>
                <a:rPr lang="en-US" b="true" sz="2115">
                  <a:solidFill>
                    <a:srgbClr val="343434"/>
                  </a:solidFill>
                  <a:latin typeface="Muli Ultra-Bold"/>
                  <a:ea typeface="Muli Ultra-Bold"/>
                  <a:cs typeface="Muli Ultra-Bold"/>
                  <a:sym typeface="Muli Ultra-Bold"/>
                </a:rPr>
                <a:t>rapper hoặc adapter cung cấp một giao diện chấp nhận được cho một ứng dụng khách.</a:t>
              </a:r>
            </a:p>
            <a:p>
              <a:pPr algn="l">
                <a:lnSpc>
                  <a:spcPts val="2538"/>
                </a:lnSpc>
              </a:pPr>
              <a:r>
                <a:rPr lang="en-US" sz="2115">
                  <a:solidFill>
                    <a:srgbClr val="343434"/>
                  </a:solidFill>
                  <a:latin typeface="Muli"/>
                  <a:ea typeface="Muli"/>
                  <a:cs typeface="Muli"/>
                  <a:sym typeface="Muli"/>
                </a:rPr>
                <a:t>Các chức năng của nó được biến đổi thành các chức năng có sẵn tại thành phần.</a:t>
              </a:r>
            </a:p>
            <a:p>
              <a:pPr algn="l">
                <a:lnSpc>
                  <a:spcPts val="2560"/>
                </a:lnSpc>
              </a:pPr>
            </a:p>
          </p:txBody>
        </p:sp>
      </p:gr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7887812" cy="1046564"/>
            <a:chOff x="0" y="0"/>
            <a:chExt cx="10517083" cy="1395419"/>
          </a:xfrm>
        </p:grpSpPr>
        <p:sp>
          <p:nvSpPr>
            <p:cNvPr name="Freeform 3" id="3"/>
            <p:cNvSpPr/>
            <p:nvPr/>
          </p:nvSpPr>
          <p:spPr>
            <a:xfrm flipH="false" flipV="false" rot="0">
              <a:off x="0" y="0"/>
              <a:ext cx="10517083" cy="1395419"/>
            </a:xfrm>
            <a:custGeom>
              <a:avLst/>
              <a:gdLst/>
              <a:ahLst/>
              <a:cxnLst/>
              <a:rect r="r" b="b" t="t" l="l"/>
              <a:pathLst>
                <a:path h="1395419" w="10517083">
                  <a:moveTo>
                    <a:pt x="0" y="0"/>
                  </a:moveTo>
                  <a:lnTo>
                    <a:pt x="10517083" y="0"/>
                  </a:lnTo>
                  <a:lnTo>
                    <a:pt x="10517083" y="1395419"/>
                  </a:lnTo>
                  <a:lnTo>
                    <a:pt x="0" y="1395419"/>
                  </a:lnTo>
                  <a:close/>
                </a:path>
              </a:pathLst>
            </a:custGeom>
            <a:solidFill>
              <a:srgbClr val="000000">
                <a:alpha val="0"/>
              </a:srgbClr>
            </a:solidFill>
          </p:spPr>
        </p:sp>
        <p:sp>
          <p:nvSpPr>
            <p:cNvPr name="TextBox 4" id="4"/>
            <p:cNvSpPr txBox="true"/>
            <p:nvPr/>
          </p:nvSpPr>
          <p:spPr>
            <a:xfrm>
              <a:off x="0" y="0"/>
              <a:ext cx="10517083" cy="1395419"/>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Tổ chức các wrapper</a:t>
              </a:r>
            </a:p>
            <a:p>
              <a:pPr algn="l">
                <a:lnSpc>
                  <a:spcPts val="2538"/>
                </a:lnSpc>
              </a:pPr>
              <a:r>
                <a:rPr lang="en-US" b="true" sz="2115">
                  <a:solidFill>
                    <a:srgbClr val="343434"/>
                  </a:solidFill>
                  <a:latin typeface="Muli Ultra-Bold"/>
                  <a:ea typeface="Muli Ultra-Bold"/>
                  <a:cs typeface="Muli Ultra-Bold"/>
                  <a:sym typeface="Muli Ultra-Bold"/>
                </a:rPr>
                <a:t>Hai giải pháp: 1- on -1 hoặc thông qua một broker</a:t>
              </a:r>
            </a:p>
          </p:txBody>
        </p:sp>
      </p:grpSp>
      <p:sp>
        <p:nvSpPr>
          <p:cNvPr name="Freeform 5" id="5"/>
          <p:cNvSpPr/>
          <p:nvPr/>
        </p:nvSpPr>
        <p:spPr>
          <a:xfrm flipH="false" flipV="false" rot="0">
            <a:off x="1890769" y="1682146"/>
            <a:ext cx="2409377" cy="1837473"/>
          </a:xfrm>
          <a:custGeom>
            <a:avLst/>
            <a:gdLst/>
            <a:ahLst/>
            <a:cxnLst/>
            <a:rect r="r" b="b" t="t" l="l"/>
            <a:pathLst>
              <a:path h="1837473" w="2409377">
                <a:moveTo>
                  <a:pt x="0" y="0"/>
                </a:moveTo>
                <a:lnTo>
                  <a:pt x="2409377" y="0"/>
                </a:lnTo>
                <a:lnTo>
                  <a:pt x="2409377" y="1837473"/>
                </a:lnTo>
                <a:lnTo>
                  <a:pt x="0" y="1837473"/>
                </a:lnTo>
                <a:lnTo>
                  <a:pt x="0" y="0"/>
                </a:lnTo>
                <a:close/>
              </a:path>
            </a:pathLst>
          </a:custGeom>
          <a:blipFill>
            <a:blip r:embed="rId2"/>
            <a:stretch>
              <a:fillRect l="0" t="-45" r="0" b="-45"/>
            </a:stretch>
          </a:blipFill>
        </p:spPr>
      </p:sp>
      <p:sp>
        <p:nvSpPr>
          <p:cNvPr name="Freeform 6" id="6"/>
          <p:cNvSpPr/>
          <p:nvPr/>
        </p:nvSpPr>
        <p:spPr>
          <a:xfrm flipH="false" flipV="false" rot="0">
            <a:off x="5997564" y="1863050"/>
            <a:ext cx="1850173" cy="1648534"/>
          </a:xfrm>
          <a:custGeom>
            <a:avLst/>
            <a:gdLst/>
            <a:ahLst/>
            <a:cxnLst/>
            <a:rect r="r" b="b" t="t" l="l"/>
            <a:pathLst>
              <a:path h="1648534" w="1850173">
                <a:moveTo>
                  <a:pt x="0" y="0"/>
                </a:moveTo>
                <a:lnTo>
                  <a:pt x="1850173" y="0"/>
                </a:lnTo>
                <a:lnTo>
                  <a:pt x="1850173" y="1648534"/>
                </a:lnTo>
                <a:lnTo>
                  <a:pt x="0" y="1648534"/>
                </a:lnTo>
                <a:lnTo>
                  <a:pt x="0" y="0"/>
                </a:lnTo>
                <a:close/>
              </a:path>
            </a:pathLst>
          </a:custGeom>
          <a:blipFill>
            <a:blip r:embed="rId3"/>
            <a:stretch>
              <a:fillRect l="0" t="-25" r="0" b="-25"/>
            </a:stretch>
          </a:blipFill>
        </p:spPr>
      </p:sp>
      <p:grpSp>
        <p:nvGrpSpPr>
          <p:cNvPr name="Group 7" id="7"/>
          <p:cNvGrpSpPr/>
          <p:nvPr/>
        </p:nvGrpSpPr>
        <p:grpSpPr>
          <a:xfrm rot="0">
            <a:off x="681032" y="4359474"/>
            <a:ext cx="8140971" cy="1576279"/>
            <a:chOff x="0" y="0"/>
            <a:chExt cx="10854628" cy="2101706"/>
          </a:xfrm>
        </p:grpSpPr>
        <p:sp>
          <p:nvSpPr>
            <p:cNvPr name="Freeform 8" id="8"/>
            <p:cNvSpPr/>
            <p:nvPr/>
          </p:nvSpPr>
          <p:spPr>
            <a:xfrm flipH="false" flipV="false" rot="0">
              <a:off x="0" y="0"/>
              <a:ext cx="10854628" cy="2101706"/>
            </a:xfrm>
            <a:custGeom>
              <a:avLst/>
              <a:gdLst/>
              <a:ahLst/>
              <a:cxnLst/>
              <a:rect r="r" b="b" t="t" l="l"/>
              <a:pathLst>
                <a:path h="2101706" w="10854628">
                  <a:moveTo>
                    <a:pt x="0" y="0"/>
                  </a:moveTo>
                  <a:lnTo>
                    <a:pt x="10854628" y="0"/>
                  </a:lnTo>
                  <a:lnTo>
                    <a:pt x="10854628" y="2101706"/>
                  </a:lnTo>
                  <a:lnTo>
                    <a:pt x="0" y="2101706"/>
                  </a:lnTo>
                  <a:close/>
                </a:path>
              </a:pathLst>
            </a:custGeom>
            <a:solidFill>
              <a:srgbClr val="000000">
                <a:alpha val="0"/>
              </a:srgbClr>
            </a:solidFill>
          </p:spPr>
        </p:sp>
        <p:sp>
          <p:nvSpPr>
            <p:cNvPr name="TextBox 9" id="9"/>
            <p:cNvSpPr txBox="true"/>
            <p:nvPr/>
          </p:nvSpPr>
          <p:spPr>
            <a:xfrm>
              <a:off x="0" y="0"/>
              <a:ext cx="10854628" cy="2101706"/>
            </a:xfrm>
            <a:prstGeom prst="rect">
              <a:avLst/>
            </a:prstGeom>
          </p:spPr>
          <p:txBody>
            <a:bodyPr anchor="t" rtlCol="false" tIns="0" lIns="0" bIns="0" rIns="0"/>
            <a:lstStyle/>
            <a:p>
              <a:pPr algn="l">
                <a:lnSpc>
                  <a:spcPts val="2284"/>
                </a:lnSpc>
              </a:pPr>
              <a:r>
                <a:rPr lang="en-US" sz="1904">
                  <a:solidFill>
                    <a:srgbClr val="343434"/>
                  </a:solidFill>
                  <a:latin typeface="Muli"/>
                  <a:ea typeface="Muli"/>
                  <a:cs typeface="Muli"/>
                  <a:sym typeface="Muli"/>
                </a:rPr>
                <a:t>Tính phức tạp với N ứng dụng</a:t>
              </a:r>
            </a:p>
            <a:p>
              <a:pPr algn="l" marL="846098" indent="-423049" lvl="1">
                <a:lnSpc>
                  <a:spcPts val="2284"/>
                </a:lnSpc>
                <a:buFont typeface="Arial"/>
                <a:buChar char="•"/>
              </a:pPr>
              <a:r>
                <a:rPr lang="en-US" sz="1904">
                  <a:solidFill>
                    <a:srgbClr val="343434"/>
                  </a:solidFill>
                  <a:latin typeface="Muli"/>
                  <a:ea typeface="Muli"/>
                  <a:cs typeface="Muli"/>
                  <a:sym typeface="Muli"/>
                </a:rPr>
                <a:t>1-on -1 : Yêu cầu N × ( N − 1) = 0( N ² ) wrapper</a:t>
              </a:r>
            </a:p>
            <a:p>
              <a:pPr algn="l" marL="846098" indent="-423049" lvl="1">
                <a:lnSpc>
                  <a:spcPts val="2284"/>
                </a:lnSpc>
                <a:buFont typeface="Arial"/>
                <a:buChar char="•"/>
              </a:pPr>
              <a:r>
                <a:rPr lang="en-US" sz="1904">
                  <a:solidFill>
                    <a:srgbClr val="343434"/>
                  </a:solidFill>
                  <a:latin typeface="Muli"/>
                  <a:ea typeface="Muli"/>
                  <a:cs typeface="Muli"/>
                  <a:sym typeface="Muli"/>
                </a:rPr>
                <a:t>Broker : Yêu cầu 2 số = TRÊN )​​ wrapper</a:t>
              </a:r>
            </a:p>
          </p:txBody>
        </p:sp>
      </p:grpSp>
    </p:spTree>
  </p:cSld>
  <p:clrMapOvr>
    <a:masterClrMapping/>
  </p:clrMapOvr>
  <p:transition spd="fast">
    <p:fade/>
  </p:transition>
</p:sld>
</file>

<file path=ppt/slides/slide21.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6345214" cy="891618"/>
            <a:chOff x="0" y="0"/>
            <a:chExt cx="8460285" cy="1188824"/>
          </a:xfrm>
        </p:grpSpPr>
        <p:sp>
          <p:nvSpPr>
            <p:cNvPr name="Freeform 3" id="3"/>
            <p:cNvSpPr/>
            <p:nvPr/>
          </p:nvSpPr>
          <p:spPr>
            <a:xfrm flipH="false" flipV="false" rot="0">
              <a:off x="0" y="0"/>
              <a:ext cx="8460285" cy="1188824"/>
            </a:xfrm>
            <a:custGeom>
              <a:avLst/>
              <a:gdLst/>
              <a:ahLst/>
              <a:cxnLst/>
              <a:rect r="r" b="b" t="t" l="l"/>
              <a:pathLst>
                <a:path h="1188824" w="8460285">
                  <a:moveTo>
                    <a:pt x="0" y="0"/>
                  </a:moveTo>
                  <a:lnTo>
                    <a:pt x="8460285" y="0"/>
                  </a:lnTo>
                  <a:lnTo>
                    <a:pt x="8460285" y="1188824"/>
                  </a:lnTo>
                  <a:lnTo>
                    <a:pt x="0" y="1188824"/>
                  </a:lnTo>
                  <a:close/>
                </a:path>
              </a:pathLst>
            </a:custGeom>
            <a:solidFill>
              <a:srgbClr val="000000">
                <a:alpha val="0"/>
              </a:srgbClr>
            </a:solidFill>
          </p:spPr>
        </p:sp>
        <p:sp>
          <p:nvSpPr>
            <p:cNvPr name="TextBox 4" id="4"/>
            <p:cNvSpPr txBox="true"/>
            <p:nvPr/>
          </p:nvSpPr>
          <p:spPr>
            <a:xfrm>
              <a:off x="0" y="0"/>
              <a:ext cx="8460285" cy="1188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Phát triển Middleware có thể thích ứng</a:t>
              </a:r>
            </a:p>
            <a:p>
              <a:pPr algn="l">
                <a:lnSpc>
                  <a:spcPts val="3046"/>
                </a:lnSpc>
              </a:pPr>
            </a:p>
          </p:txBody>
        </p:sp>
      </p:grpSp>
      <p:grpSp>
        <p:nvGrpSpPr>
          <p:cNvPr name="Group 5" id="5"/>
          <p:cNvGrpSpPr/>
          <p:nvPr/>
        </p:nvGrpSpPr>
        <p:grpSpPr>
          <a:xfrm rot="0">
            <a:off x="726118" y="1056743"/>
            <a:ext cx="8294590" cy="1050594"/>
            <a:chOff x="0" y="0"/>
            <a:chExt cx="11059454" cy="1400793"/>
          </a:xfrm>
        </p:grpSpPr>
        <p:sp>
          <p:nvSpPr>
            <p:cNvPr name="Freeform 6" id="6"/>
            <p:cNvSpPr/>
            <p:nvPr/>
          </p:nvSpPr>
          <p:spPr>
            <a:xfrm flipH="false" flipV="false" rot="0">
              <a:off x="0" y="0"/>
              <a:ext cx="11059454" cy="1400793"/>
            </a:xfrm>
            <a:custGeom>
              <a:avLst/>
              <a:gdLst/>
              <a:ahLst/>
              <a:cxnLst/>
              <a:rect r="r" b="b" t="t" l="l"/>
              <a:pathLst>
                <a:path h="1400793" w="11059454">
                  <a:moveTo>
                    <a:pt x="0" y="0"/>
                  </a:moveTo>
                  <a:lnTo>
                    <a:pt x="11059454" y="0"/>
                  </a:lnTo>
                  <a:lnTo>
                    <a:pt x="11059454" y="1400793"/>
                  </a:lnTo>
                  <a:lnTo>
                    <a:pt x="0" y="1400793"/>
                  </a:lnTo>
                  <a:close/>
                </a:path>
              </a:pathLst>
            </a:custGeom>
            <a:solidFill>
              <a:srgbClr val="000000">
                <a:alpha val="0"/>
              </a:srgbClr>
            </a:solidFill>
          </p:spPr>
        </p:sp>
        <p:sp>
          <p:nvSpPr>
            <p:cNvPr name="TextBox 7" id="7"/>
            <p:cNvSpPr txBox="true"/>
            <p:nvPr/>
          </p:nvSpPr>
          <p:spPr>
            <a:xfrm>
              <a:off x="0" y="0"/>
              <a:ext cx="11059454" cy="1400793"/>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Vấn đề</a:t>
              </a:r>
            </a:p>
            <a:p>
              <a:pPr algn="l">
                <a:lnSpc>
                  <a:spcPts val="2560"/>
                </a:lnSpc>
              </a:pPr>
              <a:r>
                <a:rPr lang="en-US" sz="1904">
                  <a:solidFill>
                    <a:srgbClr val="343434"/>
                  </a:solidFill>
                  <a:latin typeface="Muli"/>
                  <a:ea typeface="Muli"/>
                  <a:cs typeface="Muli"/>
                  <a:sym typeface="Muli"/>
                </a:rPr>
                <a:t>Middleware chứa các giải pháp phù hợp cho hầu hết các ứng dụng ⇒ bạn có thể muốn điều chỉnh hành vi của nó cho các ứng dụng cụ thể.</a:t>
              </a:r>
            </a:p>
          </p:txBody>
        </p:sp>
      </p:gr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5880117" cy="884524"/>
            <a:chOff x="0" y="0"/>
            <a:chExt cx="7840157" cy="1179366"/>
          </a:xfrm>
        </p:grpSpPr>
        <p:sp>
          <p:nvSpPr>
            <p:cNvPr name="Freeform 3" id="3"/>
            <p:cNvSpPr/>
            <p:nvPr/>
          </p:nvSpPr>
          <p:spPr>
            <a:xfrm flipH="false" flipV="false" rot="0">
              <a:off x="0" y="0"/>
              <a:ext cx="7840156" cy="1179366"/>
            </a:xfrm>
            <a:custGeom>
              <a:avLst/>
              <a:gdLst/>
              <a:ahLst/>
              <a:cxnLst/>
              <a:rect r="r" b="b" t="t" l="l"/>
              <a:pathLst>
                <a:path h="1179366" w="7840156">
                  <a:moveTo>
                    <a:pt x="0" y="0"/>
                  </a:moveTo>
                  <a:lnTo>
                    <a:pt x="7840156" y="0"/>
                  </a:lnTo>
                  <a:lnTo>
                    <a:pt x="7840156" y="1179366"/>
                  </a:lnTo>
                  <a:lnTo>
                    <a:pt x="0" y="1179366"/>
                  </a:lnTo>
                  <a:close/>
                </a:path>
              </a:pathLst>
            </a:custGeom>
            <a:solidFill>
              <a:srgbClr val="000000">
                <a:alpha val="0"/>
              </a:srgbClr>
            </a:solidFill>
          </p:spPr>
        </p:sp>
        <p:sp>
          <p:nvSpPr>
            <p:cNvPr name="TextBox 4" id="4"/>
            <p:cNvSpPr txBox="true"/>
            <p:nvPr/>
          </p:nvSpPr>
          <p:spPr>
            <a:xfrm>
              <a:off x="0" y="0"/>
              <a:ext cx="7840157" cy="1179366"/>
            </a:xfrm>
            <a:prstGeom prst="rect">
              <a:avLst/>
            </a:prstGeom>
          </p:spPr>
          <p:txBody>
            <a:bodyPr anchor="t" rtlCol="false" tIns="0" lIns="0" bIns="0" rIns="0"/>
            <a:lstStyle/>
            <a:p>
              <a:pPr algn="l">
                <a:lnSpc>
                  <a:spcPts val="3046"/>
                </a:lnSpc>
              </a:pPr>
              <a:r>
                <a:rPr lang="en-US" b="true" sz="2538">
                  <a:solidFill>
                    <a:srgbClr val="343434"/>
                  </a:solidFill>
                  <a:latin typeface="Muli Ultra-Bold"/>
                  <a:ea typeface="Muli Ultra-Bold"/>
                  <a:cs typeface="Muli Ultra-Bold"/>
                  <a:sym typeface="Muli Ultra-Bold"/>
                </a:rPr>
                <a:t>Chặn luồng điều khiển thông thường</a:t>
              </a:r>
            </a:p>
            <a:p>
              <a:pPr algn="l">
                <a:lnSpc>
                  <a:spcPts val="3046"/>
                </a:lnSpc>
              </a:pPr>
            </a:p>
          </p:txBody>
        </p:sp>
      </p:grpSp>
      <p:sp>
        <p:nvSpPr>
          <p:cNvPr name="Freeform 5" id="5"/>
          <p:cNvSpPr/>
          <p:nvPr/>
        </p:nvSpPr>
        <p:spPr>
          <a:xfrm flipH="false" flipV="false" rot="0">
            <a:off x="1509416" y="1638781"/>
            <a:ext cx="6738656" cy="5021542"/>
          </a:xfrm>
          <a:custGeom>
            <a:avLst/>
            <a:gdLst/>
            <a:ahLst/>
            <a:cxnLst/>
            <a:rect r="r" b="b" t="t" l="l"/>
            <a:pathLst>
              <a:path h="5021542" w="6738656">
                <a:moveTo>
                  <a:pt x="0" y="0"/>
                </a:moveTo>
                <a:lnTo>
                  <a:pt x="6738656" y="0"/>
                </a:lnTo>
                <a:lnTo>
                  <a:pt x="6738656" y="5021541"/>
                </a:lnTo>
                <a:lnTo>
                  <a:pt x="0" y="5021541"/>
                </a:lnTo>
                <a:lnTo>
                  <a:pt x="0" y="0"/>
                </a:lnTo>
                <a:close/>
              </a:path>
            </a:pathLst>
          </a:custGeom>
          <a:blipFill>
            <a:blip r:embed="rId2"/>
            <a:stretch>
              <a:fillRect l="0" t="-16" r="0" b="-16"/>
            </a:stretch>
          </a:blipFill>
        </p:spPr>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147888" y="418298"/>
            <a:ext cx="9137297" cy="2901581"/>
            <a:chOff x="0" y="0"/>
            <a:chExt cx="12183062" cy="3868774"/>
          </a:xfrm>
        </p:grpSpPr>
        <p:sp>
          <p:nvSpPr>
            <p:cNvPr name="Freeform 3" id="3"/>
            <p:cNvSpPr/>
            <p:nvPr/>
          </p:nvSpPr>
          <p:spPr>
            <a:xfrm flipH="false" flipV="false" rot="0">
              <a:off x="0" y="0"/>
              <a:ext cx="12183062" cy="3868774"/>
            </a:xfrm>
            <a:custGeom>
              <a:avLst/>
              <a:gdLst/>
              <a:ahLst/>
              <a:cxnLst/>
              <a:rect r="r" b="b" t="t" l="l"/>
              <a:pathLst>
                <a:path h="3868774" w="12183062">
                  <a:moveTo>
                    <a:pt x="0" y="0"/>
                  </a:moveTo>
                  <a:lnTo>
                    <a:pt x="12183062" y="0"/>
                  </a:lnTo>
                  <a:lnTo>
                    <a:pt x="12183062" y="3868774"/>
                  </a:lnTo>
                  <a:lnTo>
                    <a:pt x="0" y="3868774"/>
                  </a:lnTo>
                  <a:close/>
                </a:path>
              </a:pathLst>
            </a:custGeom>
            <a:solidFill>
              <a:srgbClr val="000000">
                <a:alpha val="0"/>
              </a:srgbClr>
            </a:solidFill>
          </p:spPr>
        </p:sp>
        <p:sp>
          <p:nvSpPr>
            <p:cNvPr name="TextBox 4" id="4"/>
            <p:cNvSpPr txBox="true"/>
            <p:nvPr/>
          </p:nvSpPr>
          <p:spPr>
            <a:xfrm>
              <a:off x="0" y="0"/>
              <a:ext cx="12183062" cy="386877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Kiến trúc hệ thống tập trung</a:t>
              </a:r>
            </a:p>
            <a:p>
              <a:pPr algn="l">
                <a:lnSpc>
                  <a:spcPts val="3046"/>
                </a:lnSpc>
              </a:pPr>
            </a:p>
            <a:p>
              <a:pPr algn="l">
                <a:lnSpc>
                  <a:spcPts val="2538"/>
                </a:lnSpc>
              </a:pPr>
              <a:r>
                <a:rPr lang="en-US" b="true" sz="2115">
                  <a:solidFill>
                    <a:srgbClr val="343434"/>
                  </a:solidFill>
                  <a:latin typeface="Muli Ultra-Bold"/>
                  <a:ea typeface="Muli Ultra-Bold"/>
                  <a:cs typeface="Muli Ultra-Bold"/>
                  <a:sym typeface="Muli Ultra-Bold"/>
                </a:rPr>
                <a:t>Mô hình Khách hàng–Máy chủ Cơ bản</a:t>
              </a:r>
            </a:p>
            <a:p>
              <a:pPr algn="l">
                <a:lnSpc>
                  <a:spcPts val="2284"/>
                </a:lnSpc>
              </a:pPr>
              <a:r>
                <a:rPr lang="en-US" sz="1904">
                  <a:solidFill>
                    <a:srgbClr val="343434"/>
                  </a:solidFill>
                  <a:latin typeface="Muli"/>
                  <a:ea typeface="Muli"/>
                  <a:cs typeface="Muli"/>
                  <a:sym typeface="Muli"/>
                </a:rPr>
                <a:t>Đặc điểm:</a:t>
              </a:r>
            </a:p>
            <a:p>
              <a:pPr algn="l" marL="1379458" indent="-689729" lvl="1">
                <a:lnSpc>
                  <a:spcPts val="2284"/>
                </a:lnSpc>
                <a:buFont typeface="Arial"/>
                <a:buChar char="•"/>
              </a:pPr>
              <a:r>
                <a:rPr lang="en-US" sz="1904">
                  <a:solidFill>
                    <a:srgbClr val="343434"/>
                  </a:solidFill>
                  <a:latin typeface="Muli"/>
                  <a:ea typeface="Muli"/>
                  <a:cs typeface="Muli"/>
                  <a:sym typeface="Muli"/>
                </a:rPr>
                <a:t>Có các quá trình cung cấp dịch vụ</a:t>
              </a:r>
              <a:r>
                <a:rPr lang="en-US" sz="1904">
                  <a:solidFill>
                    <a:srgbClr val="343434"/>
                  </a:solidFill>
                  <a:latin typeface="Muli"/>
                  <a:ea typeface="Muli"/>
                  <a:cs typeface="Muli"/>
                  <a:sym typeface="Muli"/>
                </a:rPr>
                <a:t> ( máy chủ )</a:t>
              </a:r>
            </a:p>
            <a:p>
              <a:pPr algn="l" marL="1379458" indent="-689729" lvl="1">
                <a:lnSpc>
                  <a:spcPts val="2284"/>
                </a:lnSpc>
                <a:buFont typeface="Arial"/>
                <a:buChar char="•"/>
              </a:pPr>
              <a:r>
                <a:rPr lang="en-US" sz="1904">
                  <a:solidFill>
                    <a:srgbClr val="343434"/>
                  </a:solidFill>
                  <a:latin typeface="Muli"/>
                  <a:ea typeface="Muli"/>
                  <a:cs typeface="Muli"/>
                  <a:sym typeface="Muli"/>
                </a:rPr>
                <a:t>Có các quá trình sử dụng dịch vụ  ( khách hàng)</a:t>
              </a:r>
            </a:p>
            <a:p>
              <a:pPr algn="l" marL="1379367" indent="-689684" lvl="1">
                <a:lnSpc>
                  <a:spcPts val="2284"/>
                </a:lnSpc>
                <a:buFont typeface="Arial"/>
                <a:buChar char="•"/>
              </a:pPr>
              <a:r>
                <a:rPr lang="en-US" sz="1904">
                  <a:solidFill>
                    <a:srgbClr val="343434"/>
                  </a:solidFill>
                  <a:latin typeface="Muli"/>
                  <a:ea typeface="Muli"/>
                  <a:cs typeface="Muli"/>
                  <a:sym typeface="Muli"/>
                </a:rPr>
                <a:t>Khách hàng và máy chủ có thể nằm trên các máy khác nhau.</a:t>
              </a:r>
            </a:p>
            <a:p>
              <a:pPr algn="l" marL="1379367" indent="-689684" lvl="1">
                <a:lnSpc>
                  <a:spcPts val="2284"/>
                </a:lnSpc>
                <a:buFont typeface="Arial"/>
                <a:buChar char="•"/>
              </a:pPr>
              <a:r>
                <a:rPr lang="en-US" sz="1904">
                  <a:solidFill>
                    <a:srgbClr val="343434"/>
                  </a:solidFill>
                  <a:latin typeface="Muli"/>
                  <a:ea typeface="Muli"/>
                  <a:cs typeface="Muli"/>
                  <a:sym typeface="Muli"/>
                </a:rPr>
                <a:t>Khách hàng tuân theo mô hình yêu cầu/phản hồi khi sử dụng dịch vụ.</a:t>
              </a:r>
            </a:p>
            <a:p>
              <a:pPr algn="l">
                <a:lnSpc>
                  <a:spcPts val="2284"/>
                </a:lnSpc>
              </a:pPr>
            </a:p>
          </p:txBody>
        </p:sp>
      </p:grpSp>
      <p:sp>
        <p:nvSpPr>
          <p:cNvPr name="Freeform 5" id="5"/>
          <p:cNvSpPr/>
          <p:nvPr/>
        </p:nvSpPr>
        <p:spPr>
          <a:xfrm flipH="false" flipV="false" rot="0">
            <a:off x="2472476" y="3471383"/>
            <a:ext cx="4881785" cy="1075651"/>
          </a:xfrm>
          <a:custGeom>
            <a:avLst/>
            <a:gdLst/>
            <a:ahLst/>
            <a:cxnLst/>
            <a:rect r="r" b="b" t="t" l="l"/>
            <a:pathLst>
              <a:path h="1075651" w="4881785">
                <a:moveTo>
                  <a:pt x="0" y="0"/>
                </a:moveTo>
                <a:lnTo>
                  <a:pt x="4881784" y="0"/>
                </a:lnTo>
                <a:lnTo>
                  <a:pt x="4881784" y="1075651"/>
                </a:lnTo>
                <a:lnTo>
                  <a:pt x="0" y="1075651"/>
                </a:lnTo>
                <a:lnTo>
                  <a:pt x="0" y="0"/>
                </a:lnTo>
                <a:close/>
              </a:path>
            </a:pathLst>
          </a:custGeom>
          <a:blipFill>
            <a:blip r:embed="rId2"/>
            <a:stretch>
              <a:fillRect l="0" t="-12" r="0" b="-12"/>
            </a:stretch>
          </a:blipFill>
        </p:spPr>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A8886E"/>
        </a:solidFill>
      </p:bgPr>
    </p:bg>
    <p:spTree>
      <p:nvGrpSpPr>
        <p:cNvPr id="1" name=""/>
        <p:cNvGrpSpPr/>
        <p:nvPr/>
      </p:nvGrpSpPr>
      <p:grpSpPr>
        <a:xfrm>
          <a:off x="0" y="0"/>
          <a:ext cx="0" cy="0"/>
          <a:chOff x="0" y="0"/>
          <a:chExt cx="0" cy="0"/>
        </a:xfrm>
      </p:grpSpPr>
      <p:grpSp>
        <p:nvGrpSpPr>
          <p:cNvPr name="Group 2" id="2"/>
          <p:cNvGrpSpPr/>
          <p:nvPr/>
        </p:nvGrpSpPr>
        <p:grpSpPr>
          <a:xfrm rot="0">
            <a:off x="121018" y="418298"/>
            <a:ext cx="9214064" cy="2774268"/>
            <a:chOff x="0" y="0"/>
            <a:chExt cx="12285419" cy="3699024"/>
          </a:xfrm>
        </p:grpSpPr>
        <p:sp>
          <p:nvSpPr>
            <p:cNvPr name="Freeform 3" id="3"/>
            <p:cNvSpPr/>
            <p:nvPr/>
          </p:nvSpPr>
          <p:spPr>
            <a:xfrm flipH="false" flipV="false" rot="0">
              <a:off x="0" y="0"/>
              <a:ext cx="12285418" cy="3699024"/>
            </a:xfrm>
            <a:custGeom>
              <a:avLst/>
              <a:gdLst/>
              <a:ahLst/>
              <a:cxnLst/>
              <a:rect r="r" b="b" t="t" l="l"/>
              <a:pathLst>
                <a:path h="3699024" w="12285418">
                  <a:moveTo>
                    <a:pt x="0" y="0"/>
                  </a:moveTo>
                  <a:lnTo>
                    <a:pt x="12285418" y="0"/>
                  </a:lnTo>
                  <a:lnTo>
                    <a:pt x="12285418" y="3699024"/>
                  </a:lnTo>
                  <a:lnTo>
                    <a:pt x="0" y="3699024"/>
                  </a:lnTo>
                  <a:close/>
                </a:path>
              </a:pathLst>
            </a:custGeom>
            <a:solidFill>
              <a:srgbClr val="000000">
                <a:alpha val="0"/>
              </a:srgbClr>
            </a:solidFill>
          </p:spPr>
        </p:sp>
        <p:sp>
          <p:nvSpPr>
            <p:cNvPr name="TextBox 4" id="4"/>
            <p:cNvSpPr txBox="true"/>
            <p:nvPr/>
          </p:nvSpPr>
          <p:spPr>
            <a:xfrm>
              <a:off x="0" y="0"/>
              <a:ext cx="12285419" cy="3699024"/>
            </a:xfrm>
            <a:prstGeom prst="rect">
              <a:avLst/>
            </a:prstGeom>
          </p:spPr>
          <p:txBody>
            <a:bodyPr anchor="t" rtlCol="false" tIns="0" lIns="0" bIns="0" rIns="0"/>
            <a:lstStyle/>
            <a:p>
              <a:pPr algn="l">
                <a:lnSpc>
                  <a:spcPts val="3046"/>
                </a:lnSpc>
              </a:pPr>
              <a:r>
                <a:rPr lang="en-US" sz="2538">
                  <a:solidFill>
                    <a:srgbClr val="FBFBFA"/>
                  </a:solidFill>
                  <a:latin typeface="Dancing Script"/>
                  <a:ea typeface="Dancing Script"/>
                  <a:cs typeface="Dancing Script"/>
                  <a:sym typeface="Dancing Script"/>
                </a:rPr>
                <a:t>Kiến trúc hệ thống tập trung nhiều tầng</a:t>
              </a:r>
            </a:p>
            <a:p>
              <a:pPr algn="l">
                <a:lnSpc>
                  <a:spcPts val="2538"/>
                </a:lnSpc>
              </a:pPr>
              <a:r>
                <a:rPr lang="en-US" b="true" sz="2115">
                  <a:solidFill>
                    <a:srgbClr val="FBFBFA"/>
                  </a:solidFill>
                  <a:latin typeface="Muli Ultra-Bold"/>
                  <a:ea typeface="Muli Ultra-Bold"/>
                  <a:cs typeface="Muli Ultra-Bold"/>
                  <a:sym typeface="Muli Ultra-Bold"/>
                </a:rPr>
                <a:t>Một số tổ chức truyền thống:</a:t>
              </a:r>
            </a:p>
            <a:p>
              <a:pPr algn="l" marL="456781" indent="-228390" lvl="1">
                <a:lnSpc>
                  <a:spcPts val="2538"/>
                </a:lnSpc>
                <a:buFont typeface="Arial"/>
                <a:buChar char="•"/>
              </a:pPr>
              <a:r>
                <a:rPr lang="en-US" b="true" sz="2115">
                  <a:solidFill>
                    <a:srgbClr val="FBFBFA"/>
                  </a:solidFill>
                  <a:latin typeface="Muli Ultra-Bold"/>
                  <a:ea typeface="Muli Ultra-Bold"/>
                  <a:cs typeface="Muli Ultra-Bold"/>
                  <a:sym typeface="Muli Ultra-Bold"/>
                </a:rPr>
                <a:t>Một tầng: c</a:t>
              </a:r>
              <a:r>
                <a:rPr lang="en-US" b="true" sz="2115">
                  <a:solidFill>
                    <a:srgbClr val="FBFBFA"/>
                  </a:solidFill>
                  <a:latin typeface="Muli Ultra-Bold"/>
                  <a:ea typeface="Muli Ultra-Bold"/>
                  <a:cs typeface="Muli Ultra-Bold"/>
                  <a:sym typeface="Muli Ultra-Bold"/>
                </a:rPr>
                <a:t>ấu hình máy trạm ngu ngốc/máy chính (mainframe).</a:t>
              </a:r>
            </a:p>
            <a:p>
              <a:pPr algn="l" marL="456781" indent="-228390" lvl="1">
                <a:lnSpc>
                  <a:spcPts val="2538"/>
                </a:lnSpc>
                <a:buFont typeface="Arial"/>
                <a:buChar char="•"/>
              </a:pPr>
              <a:r>
                <a:rPr lang="en-US" b="true" sz="2115">
                  <a:solidFill>
                    <a:srgbClr val="FBFBFA"/>
                  </a:solidFill>
                  <a:latin typeface="Muli Ultra-Bold"/>
                  <a:ea typeface="Muli Ultra-Bold"/>
                  <a:cs typeface="Muli Ultra-Bold"/>
                  <a:sym typeface="Muli Ultra-Bold"/>
                </a:rPr>
                <a:t>Hai tầng: cấu hình khách hàng/máy chủ đơn.</a:t>
              </a:r>
            </a:p>
            <a:p>
              <a:pPr algn="l" marL="456781" indent="-228390" lvl="1">
                <a:lnSpc>
                  <a:spcPts val="2538"/>
                </a:lnSpc>
                <a:buFont typeface="Arial"/>
                <a:buChar char="•"/>
              </a:pPr>
              <a:r>
                <a:rPr lang="en-US" b="true" sz="2115">
                  <a:solidFill>
                    <a:srgbClr val="FBFBFA"/>
                  </a:solidFill>
                  <a:latin typeface="Muli Ultra-Bold"/>
                  <a:ea typeface="Muli Ultra-Bold"/>
                  <a:cs typeface="Muli Ultra-Bold"/>
                  <a:sym typeface="Muli Ultra-Bold"/>
                </a:rPr>
                <a:t>Ba tầng: mỗi tầng trên một máy </a:t>
              </a:r>
              <a:r>
                <a:rPr lang="en-US" b="true" sz="2115">
                  <a:solidFill>
                    <a:srgbClr val="FBFBFA"/>
                  </a:solidFill>
                  <a:latin typeface="Muli Ultra-Bold"/>
                  <a:ea typeface="Muli Ultra-Bold"/>
                  <a:cs typeface="Muli Ultra-Bold"/>
                  <a:sym typeface="Muli Ultra-Bold"/>
                </a:rPr>
                <a:t>riêng biệt.</a:t>
              </a:r>
            </a:p>
            <a:p>
              <a:pPr algn="l">
                <a:lnSpc>
                  <a:spcPts val="2538"/>
                </a:lnSpc>
              </a:pPr>
            </a:p>
            <a:p>
              <a:pPr algn="l">
                <a:lnSpc>
                  <a:spcPts val="2538"/>
                </a:lnSpc>
              </a:pPr>
              <a:r>
                <a:rPr lang="en-US" b="true" sz="2115">
                  <a:solidFill>
                    <a:srgbClr val="FBFBFA"/>
                  </a:solidFill>
                  <a:latin typeface="Muli Ultra-Bold"/>
                  <a:ea typeface="Muli Ultra-Bold"/>
                  <a:cs typeface="Muli Ultra-Bold"/>
                  <a:sym typeface="Muli Ultra-Bold"/>
                </a:rPr>
                <a:t>Cấu hình hai tầng truyền thống.</a:t>
              </a:r>
            </a:p>
            <a:p>
              <a:pPr algn="l" marL="1562584" indent="-781292" lvl="1">
                <a:lnSpc>
                  <a:spcPts val="2538"/>
                </a:lnSpc>
              </a:pPr>
            </a:p>
          </p:txBody>
        </p:sp>
      </p:grpSp>
      <p:sp>
        <p:nvSpPr>
          <p:cNvPr name="Freeform 5" id="5"/>
          <p:cNvSpPr/>
          <p:nvPr/>
        </p:nvSpPr>
        <p:spPr>
          <a:xfrm flipH="false" flipV="false" rot="0">
            <a:off x="853034" y="3415283"/>
            <a:ext cx="7903460" cy="2913403"/>
          </a:xfrm>
          <a:custGeom>
            <a:avLst/>
            <a:gdLst/>
            <a:ahLst/>
            <a:cxnLst/>
            <a:rect r="r" b="b" t="t" l="l"/>
            <a:pathLst>
              <a:path h="2913403" w="7903460">
                <a:moveTo>
                  <a:pt x="0" y="0"/>
                </a:moveTo>
                <a:lnTo>
                  <a:pt x="7903461" y="0"/>
                </a:lnTo>
                <a:lnTo>
                  <a:pt x="7903461" y="2913403"/>
                </a:lnTo>
                <a:lnTo>
                  <a:pt x="0" y="2913403"/>
                </a:lnTo>
                <a:lnTo>
                  <a:pt x="0" y="0"/>
                </a:lnTo>
                <a:close/>
              </a:path>
            </a:pathLst>
          </a:custGeom>
          <a:blipFill>
            <a:blip r:embed="rId2"/>
            <a:stretch>
              <a:fillRect l="0" t="-20" r="0" b="-20"/>
            </a:stretch>
          </a:blipFill>
        </p:spPr>
      </p:sp>
      <p:grpSp>
        <p:nvGrpSpPr>
          <p:cNvPr name="Group 6" id="6"/>
          <p:cNvGrpSpPr/>
          <p:nvPr/>
        </p:nvGrpSpPr>
        <p:grpSpPr>
          <a:xfrm rot="0">
            <a:off x="1380576" y="6384782"/>
            <a:ext cx="769320" cy="377643"/>
            <a:chOff x="0" y="0"/>
            <a:chExt cx="1025760" cy="503525"/>
          </a:xfrm>
        </p:grpSpPr>
        <p:sp>
          <p:nvSpPr>
            <p:cNvPr name="Freeform 7" id="7"/>
            <p:cNvSpPr/>
            <p:nvPr/>
          </p:nvSpPr>
          <p:spPr>
            <a:xfrm flipH="false" flipV="false" rot="0">
              <a:off x="0" y="0"/>
              <a:ext cx="1025760" cy="503525"/>
            </a:xfrm>
            <a:custGeom>
              <a:avLst/>
              <a:gdLst/>
              <a:ahLst/>
              <a:cxnLst/>
              <a:rect r="r" b="b" t="t" l="l"/>
              <a:pathLst>
                <a:path h="503525" w="1025760">
                  <a:moveTo>
                    <a:pt x="0" y="0"/>
                  </a:moveTo>
                  <a:lnTo>
                    <a:pt x="1025760" y="0"/>
                  </a:lnTo>
                  <a:lnTo>
                    <a:pt x="1025760" y="503525"/>
                  </a:lnTo>
                  <a:lnTo>
                    <a:pt x="0" y="503525"/>
                  </a:lnTo>
                  <a:close/>
                </a:path>
              </a:pathLst>
            </a:custGeom>
            <a:solidFill>
              <a:srgbClr val="000000">
                <a:alpha val="0"/>
              </a:srgbClr>
            </a:solidFill>
          </p:spPr>
        </p:sp>
        <p:sp>
          <p:nvSpPr>
            <p:cNvPr name="TextBox 8" id="8"/>
            <p:cNvSpPr txBox="true"/>
            <p:nvPr/>
          </p:nvSpPr>
          <p:spPr>
            <a:xfrm>
              <a:off x="0" y="0"/>
              <a:ext cx="1025760" cy="503525"/>
            </a:xfrm>
            <a:prstGeom prst="rect">
              <a:avLst/>
            </a:prstGeom>
          </p:spPr>
          <p:txBody>
            <a:bodyPr anchor="t" rtlCol="false" tIns="0" lIns="0" bIns="0" rIns="0"/>
            <a:lstStyle/>
            <a:p>
              <a:pPr algn="l">
                <a:lnSpc>
                  <a:spcPts val="2284"/>
                </a:lnSpc>
              </a:pPr>
              <a:r>
                <a:rPr lang="en-US" sz="1904">
                  <a:solidFill>
                    <a:srgbClr val="FBFBFA"/>
                  </a:solidFill>
                  <a:latin typeface="Muli"/>
                  <a:ea typeface="Muli"/>
                  <a:cs typeface="Muli"/>
                  <a:sym typeface="Muli"/>
                </a:rPr>
                <a:t>(Một)</a:t>
              </a:r>
            </a:p>
          </p:txBody>
        </p:sp>
      </p:grpSp>
      <p:grpSp>
        <p:nvGrpSpPr>
          <p:cNvPr name="Group 9" id="9"/>
          <p:cNvGrpSpPr/>
          <p:nvPr/>
        </p:nvGrpSpPr>
        <p:grpSpPr>
          <a:xfrm rot="0">
            <a:off x="3046070" y="6384782"/>
            <a:ext cx="349302" cy="377643"/>
            <a:chOff x="0" y="0"/>
            <a:chExt cx="465737" cy="503525"/>
          </a:xfrm>
        </p:grpSpPr>
        <p:sp>
          <p:nvSpPr>
            <p:cNvPr name="Freeform 10" id="10"/>
            <p:cNvSpPr/>
            <p:nvPr/>
          </p:nvSpPr>
          <p:spPr>
            <a:xfrm flipH="false" flipV="false" rot="0">
              <a:off x="0" y="0"/>
              <a:ext cx="465737" cy="503525"/>
            </a:xfrm>
            <a:custGeom>
              <a:avLst/>
              <a:gdLst/>
              <a:ahLst/>
              <a:cxnLst/>
              <a:rect r="r" b="b" t="t" l="l"/>
              <a:pathLst>
                <a:path h="503525" w="465737">
                  <a:moveTo>
                    <a:pt x="0" y="0"/>
                  </a:moveTo>
                  <a:lnTo>
                    <a:pt x="465737" y="0"/>
                  </a:lnTo>
                  <a:lnTo>
                    <a:pt x="465737" y="503525"/>
                  </a:lnTo>
                  <a:lnTo>
                    <a:pt x="0" y="503525"/>
                  </a:lnTo>
                  <a:close/>
                </a:path>
              </a:pathLst>
            </a:custGeom>
            <a:solidFill>
              <a:srgbClr val="000000">
                <a:alpha val="0"/>
              </a:srgbClr>
            </a:solidFill>
          </p:spPr>
        </p:sp>
        <p:sp>
          <p:nvSpPr>
            <p:cNvPr name="TextBox 11" id="11"/>
            <p:cNvSpPr txBox="true"/>
            <p:nvPr/>
          </p:nvSpPr>
          <p:spPr>
            <a:xfrm>
              <a:off x="0" y="0"/>
              <a:ext cx="465737" cy="503525"/>
            </a:xfrm>
            <a:prstGeom prst="rect">
              <a:avLst/>
            </a:prstGeom>
          </p:spPr>
          <p:txBody>
            <a:bodyPr anchor="t" rtlCol="false" tIns="0" lIns="0" bIns="0" rIns="0"/>
            <a:lstStyle/>
            <a:p>
              <a:pPr algn="l">
                <a:lnSpc>
                  <a:spcPts val="2284"/>
                </a:lnSpc>
              </a:pPr>
              <a:r>
                <a:rPr lang="en-US" sz="1904">
                  <a:solidFill>
                    <a:srgbClr val="FBFBFA"/>
                  </a:solidFill>
                  <a:latin typeface="Muli"/>
                  <a:ea typeface="Muli"/>
                  <a:cs typeface="Muli"/>
                  <a:sym typeface="Muli"/>
                </a:rPr>
                <a:t>(b)</a:t>
              </a:r>
            </a:p>
          </p:txBody>
        </p:sp>
      </p:grpSp>
      <p:grpSp>
        <p:nvGrpSpPr>
          <p:cNvPr name="Group 12" id="12"/>
          <p:cNvGrpSpPr/>
          <p:nvPr/>
        </p:nvGrpSpPr>
        <p:grpSpPr>
          <a:xfrm rot="0">
            <a:off x="4711322" y="6384782"/>
            <a:ext cx="335868" cy="377643"/>
            <a:chOff x="0" y="0"/>
            <a:chExt cx="447824" cy="503525"/>
          </a:xfrm>
        </p:grpSpPr>
        <p:sp>
          <p:nvSpPr>
            <p:cNvPr name="Freeform 13" id="13"/>
            <p:cNvSpPr/>
            <p:nvPr/>
          </p:nvSpPr>
          <p:spPr>
            <a:xfrm flipH="false" flipV="false" rot="0">
              <a:off x="0" y="0"/>
              <a:ext cx="447824" cy="503525"/>
            </a:xfrm>
            <a:custGeom>
              <a:avLst/>
              <a:gdLst/>
              <a:ahLst/>
              <a:cxnLst/>
              <a:rect r="r" b="b" t="t" l="l"/>
              <a:pathLst>
                <a:path h="503525" w="447824">
                  <a:moveTo>
                    <a:pt x="0" y="0"/>
                  </a:moveTo>
                  <a:lnTo>
                    <a:pt x="447824" y="0"/>
                  </a:lnTo>
                  <a:lnTo>
                    <a:pt x="447824" y="503525"/>
                  </a:lnTo>
                  <a:lnTo>
                    <a:pt x="0" y="503525"/>
                  </a:lnTo>
                  <a:close/>
                </a:path>
              </a:pathLst>
            </a:custGeom>
            <a:solidFill>
              <a:srgbClr val="000000">
                <a:alpha val="0"/>
              </a:srgbClr>
            </a:solidFill>
          </p:spPr>
        </p:sp>
        <p:sp>
          <p:nvSpPr>
            <p:cNvPr name="TextBox 14" id="14"/>
            <p:cNvSpPr txBox="true"/>
            <p:nvPr/>
          </p:nvSpPr>
          <p:spPr>
            <a:xfrm>
              <a:off x="0" y="0"/>
              <a:ext cx="447824" cy="503525"/>
            </a:xfrm>
            <a:prstGeom prst="rect">
              <a:avLst/>
            </a:prstGeom>
          </p:spPr>
          <p:txBody>
            <a:bodyPr anchor="t" rtlCol="false" tIns="0" lIns="0" bIns="0" rIns="0"/>
            <a:lstStyle/>
            <a:p>
              <a:pPr algn="l">
                <a:lnSpc>
                  <a:spcPts val="2284"/>
                </a:lnSpc>
              </a:pPr>
              <a:r>
                <a:rPr lang="en-US" sz="1904">
                  <a:solidFill>
                    <a:srgbClr val="FBFBFA"/>
                  </a:solidFill>
                  <a:latin typeface="Muli"/>
                  <a:ea typeface="Muli"/>
                  <a:cs typeface="Muli"/>
                  <a:sym typeface="Muli"/>
                </a:rPr>
                <a:t>(c)</a:t>
              </a:r>
            </a:p>
          </p:txBody>
        </p:sp>
      </p:grpSp>
      <p:grpSp>
        <p:nvGrpSpPr>
          <p:cNvPr name="Group 15" id="15"/>
          <p:cNvGrpSpPr/>
          <p:nvPr/>
        </p:nvGrpSpPr>
        <p:grpSpPr>
          <a:xfrm rot="0">
            <a:off x="6363324" y="6384782"/>
            <a:ext cx="961828" cy="377643"/>
            <a:chOff x="0" y="0"/>
            <a:chExt cx="1282438" cy="503525"/>
          </a:xfrm>
        </p:grpSpPr>
        <p:sp>
          <p:nvSpPr>
            <p:cNvPr name="Freeform 16" id="16"/>
            <p:cNvSpPr/>
            <p:nvPr/>
          </p:nvSpPr>
          <p:spPr>
            <a:xfrm flipH="false" flipV="false" rot="0">
              <a:off x="0" y="0"/>
              <a:ext cx="1282438" cy="503525"/>
            </a:xfrm>
            <a:custGeom>
              <a:avLst/>
              <a:gdLst/>
              <a:ahLst/>
              <a:cxnLst/>
              <a:rect r="r" b="b" t="t" l="l"/>
              <a:pathLst>
                <a:path h="503525" w="1282438">
                  <a:moveTo>
                    <a:pt x="0" y="0"/>
                  </a:moveTo>
                  <a:lnTo>
                    <a:pt x="1282438" y="0"/>
                  </a:lnTo>
                  <a:lnTo>
                    <a:pt x="1282438" y="503525"/>
                  </a:lnTo>
                  <a:lnTo>
                    <a:pt x="0" y="503525"/>
                  </a:lnTo>
                  <a:close/>
                </a:path>
              </a:pathLst>
            </a:custGeom>
            <a:solidFill>
              <a:srgbClr val="000000">
                <a:alpha val="0"/>
              </a:srgbClr>
            </a:solidFill>
          </p:spPr>
        </p:sp>
        <p:sp>
          <p:nvSpPr>
            <p:cNvPr name="TextBox 17" id="17"/>
            <p:cNvSpPr txBox="true"/>
            <p:nvPr/>
          </p:nvSpPr>
          <p:spPr>
            <a:xfrm>
              <a:off x="0" y="0"/>
              <a:ext cx="1282438" cy="503525"/>
            </a:xfrm>
            <a:prstGeom prst="rect">
              <a:avLst/>
            </a:prstGeom>
          </p:spPr>
          <p:txBody>
            <a:bodyPr anchor="t" rtlCol="false" tIns="0" lIns="0" bIns="0" rIns="0"/>
            <a:lstStyle/>
            <a:p>
              <a:pPr algn="l">
                <a:lnSpc>
                  <a:spcPts val="2284"/>
                </a:lnSpc>
              </a:pPr>
              <a:r>
                <a:rPr lang="en-US" sz="1904">
                  <a:solidFill>
                    <a:srgbClr val="FBFBFA"/>
                  </a:solidFill>
                  <a:latin typeface="Muli"/>
                  <a:ea typeface="Muli"/>
                  <a:cs typeface="Muli"/>
                  <a:sym typeface="Muli"/>
                </a:rPr>
                <a:t>(ngày)</a:t>
              </a:r>
            </a:p>
          </p:txBody>
        </p:sp>
      </p:grpSp>
      <p:grpSp>
        <p:nvGrpSpPr>
          <p:cNvPr name="Group 18" id="18"/>
          <p:cNvGrpSpPr/>
          <p:nvPr/>
        </p:nvGrpSpPr>
        <p:grpSpPr>
          <a:xfrm rot="0">
            <a:off x="8028577" y="6384782"/>
            <a:ext cx="839323" cy="377643"/>
            <a:chOff x="0" y="0"/>
            <a:chExt cx="1119098" cy="503525"/>
          </a:xfrm>
        </p:grpSpPr>
        <p:sp>
          <p:nvSpPr>
            <p:cNvPr name="Freeform 19" id="19"/>
            <p:cNvSpPr/>
            <p:nvPr/>
          </p:nvSpPr>
          <p:spPr>
            <a:xfrm flipH="false" flipV="false" rot="0">
              <a:off x="0" y="0"/>
              <a:ext cx="1119098" cy="503525"/>
            </a:xfrm>
            <a:custGeom>
              <a:avLst/>
              <a:gdLst/>
              <a:ahLst/>
              <a:cxnLst/>
              <a:rect r="r" b="b" t="t" l="l"/>
              <a:pathLst>
                <a:path h="503525" w="1119098">
                  <a:moveTo>
                    <a:pt x="0" y="0"/>
                  </a:moveTo>
                  <a:lnTo>
                    <a:pt x="1119098" y="0"/>
                  </a:lnTo>
                  <a:lnTo>
                    <a:pt x="1119098" y="503525"/>
                  </a:lnTo>
                  <a:lnTo>
                    <a:pt x="0" y="503525"/>
                  </a:lnTo>
                  <a:close/>
                </a:path>
              </a:pathLst>
            </a:custGeom>
            <a:solidFill>
              <a:srgbClr val="000000">
                <a:alpha val="0"/>
              </a:srgbClr>
            </a:solidFill>
          </p:spPr>
        </p:sp>
        <p:sp>
          <p:nvSpPr>
            <p:cNvPr name="TextBox 20" id="20"/>
            <p:cNvSpPr txBox="true"/>
            <p:nvPr/>
          </p:nvSpPr>
          <p:spPr>
            <a:xfrm>
              <a:off x="0" y="0"/>
              <a:ext cx="1119098" cy="503525"/>
            </a:xfrm>
            <a:prstGeom prst="rect">
              <a:avLst/>
            </a:prstGeom>
          </p:spPr>
          <p:txBody>
            <a:bodyPr anchor="t" rtlCol="false" tIns="0" lIns="0" bIns="0" rIns="0"/>
            <a:lstStyle/>
            <a:p>
              <a:pPr algn="l">
                <a:lnSpc>
                  <a:spcPts val="2284"/>
                </a:lnSpc>
              </a:pPr>
              <a:r>
                <a:rPr lang="en-US" sz="1904">
                  <a:solidFill>
                    <a:srgbClr val="FBFBFA"/>
                  </a:solidFill>
                  <a:latin typeface="Muli"/>
                  <a:ea typeface="Muli"/>
                  <a:cs typeface="Muli"/>
                  <a:sym typeface="Muli"/>
                </a:rPr>
                <a:t>(và)</a:t>
              </a:r>
            </a:p>
          </p:txBody>
        </p:sp>
      </p:gr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5787673" cy="1046564"/>
            <a:chOff x="0" y="0"/>
            <a:chExt cx="7716898" cy="1395419"/>
          </a:xfrm>
        </p:grpSpPr>
        <p:sp>
          <p:nvSpPr>
            <p:cNvPr name="Freeform 3" id="3"/>
            <p:cNvSpPr/>
            <p:nvPr/>
          </p:nvSpPr>
          <p:spPr>
            <a:xfrm flipH="false" flipV="false" rot="0">
              <a:off x="0" y="0"/>
              <a:ext cx="7716898" cy="1395419"/>
            </a:xfrm>
            <a:custGeom>
              <a:avLst/>
              <a:gdLst/>
              <a:ahLst/>
              <a:cxnLst/>
              <a:rect r="r" b="b" t="t" l="l"/>
              <a:pathLst>
                <a:path h="1395419" w="7716898">
                  <a:moveTo>
                    <a:pt x="0" y="0"/>
                  </a:moveTo>
                  <a:lnTo>
                    <a:pt x="7716898" y="0"/>
                  </a:lnTo>
                  <a:lnTo>
                    <a:pt x="7716898" y="1395419"/>
                  </a:lnTo>
                  <a:lnTo>
                    <a:pt x="0" y="1395419"/>
                  </a:lnTo>
                  <a:close/>
                </a:path>
              </a:pathLst>
            </a:custGeom>
            <a:solidFill>
              <a:srgbClr val="000000">
                <a:alpha val="0"/>
              </a:srgbClr>
            </a:solidFill>
          </p:spPr>
        </p:sp>
        <p:sp>
          <p:nvSpPr>
            <p:cNvPr name="TextBox 4" id="4"/>
            <p:cNvSpPr txBox="true"/>
            <p:nvPr/>
          </p:nvSpPr>
          <p:spPr>
            <a:xfrm>
              <a:off x="0" y="0"/>
              <a:ext cx="7716898" cy="1395419"/>
            </a:xfrm>
            <a:prstGeom prst="rect">
              <a:avLst/>
            </a:prstGeom>
          </p:spPr>
          <p:txBody>
            <a:bodyPr anchor="t" rtlCol="false" tIns="0" lIns="0" bIns="0" rIns="0"/>
            <a:lstStyle/>
            <a:p>
              <a:pPr algn="l">
                <a:lnSpc>
                  <a:spcPts val="3046"/>
                </a:lnSpc>
              </a:pPr>
              <a:r>
                <a:rPr lang="en-US" b="true" sz="2538">
                  <a:solidFill>
                    <a:srgbClr val="343434"/>
                  </a:solidFill>
                  <a:latin typeface="Muli Ultra-Bold"/>
                  <a:ea typeface="Muli Ultra-Bold"/>
                  <a:cs typeface="Muli Ultra-Bold"/>
                  <a:sym typeface="Muli Ultra-Bold"/>
                </a:rPr>
                <a:t>Client và server cùng một lúc</a:t>
              </a:r>
            </a:p>
            <a:p>
              <a:pPr algn="l">
                <a:lnSpc>
                  <a:spcPts val="2538"/>
                </a:lnSpc>
              </a:pPr>
              <a:r>
                <a:rPr lang="en-US" sz="2115">
                  <a:solidFill>
                    <a:srgbClr val="343434"/>
                  </a:solidFill>
                  <a:latin typeface="Muli"/>
                  <a:ea typeface="Muli"/>
                  <a:cs typeface="Muli"/>
                  <a:sym typeface="Muli"/>
                </a:rPr>
                <a:t>Kiến trúc ba tầng</a:t>
              </a:r>
            </a:p>
          </p:txBody>
        </p:sp>
      </p:grpSp>
      <p:sp>
        <p:nvSpPr>
          <p:cNvPr name="Freeform 5" id="5"/>
          <p:cNvSpPr/>
          <p:nvPr/>
        </p:nvSpPr>
        <p:spPr>
          <a:xfrm flipH="false" flipV="false" rot="0">
            <a:off x="2391131" y="1798165"/>
            <a:ext cx="4972368" cy="1851925"/>
          </a:xfrm>
          <a:custGeom>
            <a:avLst/>
            <a:gdLst/>
            <a:ahLst/>
            <a:cxnLst/>
            <a:rect r="r" b="b" t="t" l="l"/>
            <a:pathLst>
              <a:path h="1851925" w="4972368">
                <a:moveTo>
                  <a:pt x="0" y="0"/>
                </a:moveTo>
                <a:lnTo>
                  <a:pt x="4972368" y="0"/>
                </a:lnTo>
                <a:lnTo>
                  <a:pt x="4972368" y="1851925"/>
                </a:lnTo>
                <a:lnTo>
                  <a:pt x="0" y="1851925"/>
                </a:lnTo>
                <a:lnTo>
                  <a:pt x="0" y="0"/>
                </a:lnTo>
                <a:close/>
              </a:path>
            </a:pathLst>
          </a:custGeom>
          <a:blipFill>
            <a:blip r:embed="rId2"/>
            <a:stretch>
              <a:fillRect l="0" t="0" r="0" b="0"/>
            </a:stretch>
          </a:blipFill>
        </p:spPr>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A8886E"/>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6345214" cy="891618"/>
            <a:chOff x="0" y="0"/>
            <a:chExt cx="8460285" cy="1188824"/>
          </a:xfrm>
        </p:grpSpPr>
        <p:sp>
          <p:nvSpPr>
            <p:cNvPr name="Freeform 3" id="3"/>
            <p:cNvSpPr/>
            <p:nvPr/>
          </p:nvSpPr>
          <p:spPr>
            <a:xfrm flipH="false" flipV="false" rot="0">
              <a:off x="0" y="0"/>
              <a:ext cx="8460285" cy="1188824"/>
            </a:xfrm>
            <a:custGeom>
              <a:avLst/>
              <a:gdLst/>
              <a:ahLst/>
              <a:cxnLst/>
              <a:rect r="r" b="b" t="t" l="l"/>
              <a:pathLst>
                <a:path h="1188824" w="8460285">
                  <a:moveTo>
                    <a:pt x="0" y="0"/>
                  </a:moveTo>
                  <a:lnTo>
                    <a:pt x="8460285" y="0"/>
                  </a:lnTo>
                  <a:lnTo>
                    <a:pt x="8460285" y="1188824"/>
                  </a:lnTo>
                  <a:lnTo>
                    <a:pt x="0" y="1188824"/>
                  </a:lnTo>
                  <a:close/>
                </a:path>
              </a:pathLst>
            </a:custGeom>
            <a:solidFill>
              <a:srgbClr val="000000">
                <a:alpha val="0"/>
              </a:srgbClr>
            </a:solidFill>
          </p:spPr>
        </p:sp>
        <p:sp>
          <p:nvSpPr>
            <p:cNvPr name="TextBox 4" id="4"/>
            <p:cNvSpPr txBox="true"/>
            <p:nvPr/>
          </p:nvSpPr>
          <p:spPr>
            <a:xfrm>
              <a:off x="0" y="0"/>
              <a:ext cx="8460285" cy="1188824"/>
            </a:xfrm>
            <a:prstGeom prst="rect">
              <a:avLst/>
            </a:prstGeom>
          </p:spPr>
          <p:txBody>
            <a:bodyPr anchor="t" rtlCol="false" tIns="0" lIns="0" bIns="0" rIns="0"/>
            <a:lstStyle/>
            <a:p>
              <a:pPr algn="l">
                <a:lnSpc>
                  <a:spcPts val="3046"/>
                </a:lnSpc>
              </a:pPr>
              <a:r>
                <a:rPr lang="en-US" sz="2538">
                  <a:solidFill>
                    <a:srgbClr val="FBFBFA"/>
                  </a:solidFill>
                  <a:latin typeface="Dancing Script"/>
                  <a:ea typeface="Dancing Script"/>
                  <a:cs typeface="Dancing Script"/>
                  <a:sym typeface="Dancing Script"/>
                </a:rPr>
                <a:t>Ví dụ: Hệ thống Tệp Mạng (NFS)</a:t>
              </a:r>
            </a:p>
            <a:p>
              <a:pPr algn="l">
                <a:lnSpc>
                  <a:spcPts val="3046"/>
                </a:lnSpc>
              </a:pPr>
            </a:p>
          </p:txBody>
        </p:sp>
      </p:grpSp>
      <p:grpSp>
        <p:nvGrpSpPr>
          <p:cNvPr name="Group 5" id="5"/>
          <p:cNvGrpSpPr/>
          <p:nvPr/>
        </p:nvGrpSpPr>
        <p:grpSpPr>
          <a:xfrm rot="0">
            <a:off x="726494" y="1056743"/>
            <a:ext cx="8074261" cy="1914446"/>
            <a:chOff x="0" y="0"/>
            <a:chExt cx="10765682" cy="2552595"/>
          </a:xfrm>
        </p:grpSpPr>
        <p:sp>
          <p:nvSpPr>
            <p:cNvPr name="Freeform 6" id="6"/>
            <p:cNvSpPr/>
            <p:nvPr/>
          </p:nvSpPr>
          <p:spPr>
            <a:xfrm flipH="false" flipV="false" rot="0">
              <a:off x="0" y="0"/>
              <a:ext cx="10765682" cy="2552595"/>
            </a:xfrm>
            <a:custGeom>
              <a:avLst/>
              <a:gdLst/>
              <a:ahLst/>
              <a:cxnLst/>
              <a:rect r="r" b="b" t="t" l="l"/>
              <a:pathLst>
                <a:path h="2552595" w="10765682">
                  <a:moveTo>
                    <a:pt x="0" y="0"/>
                  </a:moveTo>
                  <a:lnTo>
                    <a:pt x="10765682" y="0"/>
                  </a:lnTo>
                  <a:lnTo>
                    <a:pt x="10765682" y="2552595"/>
                  </a:lnTo>
                  <a:lnTo>
                    <a:pt x="0" y="2552595"/>
                  </a:lnTo>
                  <a:close/>
                </a:path>
              </a:pathLst>
            </a:custGeom>
            <a:solidFill>
              <a:srgbClr val="000000">
                <a:alpha val="0"/>
              </a:srgbClr>
            </a:solidFill>
          </p:spPr>
        </p:sp>
        <p:sp>
          <p:nvSpPr>
            <p:cNvPr name="TextBox 7" id="7"/>
            <p:cNvSpPr txBox="true"/>
            <p:nvPr/>
          </p:nvSpPr>
          <p:spPr>
            <a:xfrm>
              <a:off x="0" y="0"/>
              <a:ext cx="10765682" cy="2552595"/>
            </a:xfrm>
            <a:prstGeom prst="rect">
              <a:avLst/>
            </a:prstGeom>
          </p:spPr>
          <p:txBody>
            <a:bodyPr anchor="t" rtlCol="false" tIns="0" lIns="0" bIns="0" rIns="0"/>
            <a:lstStyle/>
            <a:p>
              <a:pPr algn="l">
                <a:lnSpc>
                  <a:spcPts val="2538"/>
                </a:lnSpc>
              </a:pPr>
              <a:r>
                <a:rPr lang="en-US" b="true" sz="2115">
                  <a:solidFill>
                    <a:srgbClr val="FBFBFA"/>
                  </a:solidFill>
                  <a:latin typeface="Muli Ultra-Bold"/>
                  <a:ea typeface="Muli Ultra-Bold"/>
                  <a:cs typeface="Muli Ultra-Bold"/>
                  <a:sym typeface="Muli Ultra-Bold"/>
                </a:rPr>
                <a:t>Cơ sở</a:t>
              </a:r>
            </a:p>
            <a:p>
              <a:pPr algn="l">
                <a:lnSpc>
                  <a:spcPts val="2560"/>
                </a:lnSpc>
              </a:pPr>
              <a:r>
                <a:rPr lang="en-US" sz="1904">
                  <a:solidFill>
                    <a:srgbClr val="FBFBFA"/>
                  </a:solidFill>
                  <a:latin typeface="Muli"/>
                  <a:ea typeface="Muli"/>
                  <a:cs typeface="Muli"/>
                  <a:sym typeface="Muli"/>
                </a:rPr>
                <a:t>Mỗi máy chủ NFS cung cấp một cái nhìn chuẩn hóa về hệ thống tệp cục bộ của nó: mỗi máy chủ hỗ trợ cùng một mô hình, bất kể cách triển khai của hệ thống tệp.</a:t>
              </a:r>
            </a:p>
            <a:p>
              <a:pPr algn="l">
                <a:lnSpc>
                  <a:spcPts val="2538"/>
                </a:lnSpc>
              </a:pPr>
              <a:r>
                <a:rPr lang="en-US" b="true" sz="2115">
                  <a:solidFill>
                    <a:srgbClr val="FBFBFA"/>
                  </a:solidFill>
                  <a:latin typeface="Muli Ultra-Bold"/>
                  <a:ea typeface="Muli Ultra-Bold"/>
                  <a:cs typeface="Muli Ultra-Bold"/>
                  <a:sym typeface="Muli Ultra-Bold"/>
                </a:rPr>
                <a:t>Mô hình truy cập từ xa NFS</a:t>
              </a:r>
            </a:p>
          </p:txBody>
        </p:sp>
      </p:grpSp>
      <p:sp>
        <p:nvSpPr>
          <p:cNvPr name="Freeform 8" id="8"/>
          <p:cNvSpPr/>
          <p:nvPr/>
        </p:nvSpPr>
        <p:spPr>
          <a:xfrm flipH="false" flipV="false" rot="0">
            <a:off x="1196639" y="3259500"/>
            <a:ext cx="3318479" cy="1865461"/>
          </a:xfrm>
          <a:custGeom>
            <a:avLst/>
            <a:gdLst/>
            <a:ahLst/>
            <a:cxnLst/>
            <a:rect r="r" b="b" t="t" l="l"/>
            <a:pathLst>
              <a:path h="1865461" w="3318479">
                <a:moveTo>
                  <a:pt x="0" y="0"/>
                </a:moveTo>
                <a:lnTo>
                  <a:pt x="3318480" y="0"/>
                </a:lnTo>
                <a:lnTo>
                  <a:pt x="3318480" y="1865461"/>
                </a:lnTo>
                <a:lnTo>
                  <a:pt x="0" y="1865461"/>
                </a:lnTo>
                <a:lnTo>
                  <a:pt x="0" y="0"/>
                </a:lnTo>
                <a:close/>
              </a:path>
            </a:pathLst>
          </a:custGeom>
          <a:blipFill>
            <a:blip r:embed="rId2"/>
            <a:stretch>
              <a:fillRect l="-4" t="0" r="-4" b="0"/>
            </a:stretch>
          </a:blipFill>
        </p:spPr>
      </p:sp>
      <p:sp>
        <p:nvSpPr>
          <p:cNvPr name="Freeform 9" id="9"/>
          <p:cNvSpPr/>
          <p:nvPr/>
        </p:nvSpPr>
        <p:spPr>
          <a:xfrm flipH="false" flipV="false" rot="0">
            <a:off x="4991562" y="2994536"/>
            <a:ext cx="3571528" cy="2398068"/>
          </a:xfrm>
          <a:custGeom>
            <a:avLst/>
            <a:gdLst/>
            <a:ahLst/>
            <a:cxnLst/>
            <a:rect r="r" b="b" t="t" l="l"/>
            <a:pathLst>
              <a:path h="2398068" w="3571528">
                <a:moveTo>
                  <a:pt x="0" y="0"/>
                </a:moveTo>
                <a:lnTo>
                  <a:pt x="3571528" y="0"/>
                </a:lnTo>
                <a:lnTo>
                  <a:pt x="3571528" y="2398068"/>
                </a:lnTo>
                <a:lnTo>
                  <a:pt x="0" y="2398068"/>
                </a:lnTo>
                <a:lnTo>
                  <a:pt x="0" y="0"/>
                </a:lnTo>
                <a:close/>
              </a:path>
            </a:pathLst>
          </a:custGeom>
          <a:blipFill>
            <a:blip r:embed="rId3"/>
            <a:stretch>
              <a:fillRect l="-20" t="0" r="-20" b="0"/>
            </a:stretch>
          </a:blipFill>
        </p:spPr>
      </p:sp>
      <p:grpSp>
        <p:nvGrpSpPr>
          <p:cNvPr name="Group 10" id="10"/>
          <p:cNvGrpSpPr/>
          <p:nvPr/>
        </p:nvGrpSpPr>
        <p:grpSpPr>
          <a:xfrm rot="0">
            <a:off x="726494" y="5414425"/>
            <a:ext cx="5729904" cy="377643"/>
            <a:chOff x="0" y="0"/>
            <a:chExt cx="7639872" cy="503525"/>
          </a:xfrm>
        </p:grpSpPr>
        <p:sp>
          <p:nvSpPr>
            <p:cNvPr name="Freeform 11" id="11"/>
            <p:cNvSpPr/>
            <p:nvPr/>
          </p:nvSpPr>
          <p:spPr>
            <a:xfrm flipH="false" flipV="false" rot="0">
              <a:off x="0" y="0"/>
              <a:ext cx="7639872" cy="503525"/>
            </a:xfrm>
            <a:custGeom>
              <a:avLst/>
              <a:gdLst/>
              <a:ahLst/>
              <a:cxnLst/>
              <a:rect r="r" b="b" t="t" l="l"/>
              <a:pathLst>
                <a:path h="503525" w="7639872">
                  <a:moveTo>
                    <a:pt x="0" y="0"/>
                  </a:moveTo>
                  <a:lnTo>
                    <a:pt x="7639872" y="0"/>
                  </a:lnTo>
                  <a:lnTo>
                    <a:pt x="7639872" y="503525"/>
                  </a:lnTo>
                  <a:lnTo>
                    <a:pt x="0" y="503525"/>
                  </a:lnTo>
                  <a:close/>
                </a:path>
              </a:pathLst>
            </a:custGeom>
            <a:solidFill>
              <a:srgbClr val="000000">
                <a:alpha val="0"/>
              </a:srgbClr>
            </a:solidFill>
          </p:spPr>
        </p:sp>
        <p:sp>
          <p:nvSpPr>
            <p:cNvPr name="TextBox 12" id="12"/>
            <p:cNvSpPr txBox="true"/>
            <p:nvPr/>
          </p:nvSpPr>
          <p:spPr>
            <a:xfrm>
              <a:off x="0" y="0"/>
              <a:ext cx="7639872" cy="503525"/>
            </a:xfrm>
            <a:prstGeom prst="rect">
              <a:avLst/>
            </a:prstGeom>
          </p:spPr>
          <p:txBody>
            <a:bodyPr anchor="t" rtlCol="false" tIns="0" lIns="0" bIns="0" rIns="0"/>
            <a:lstStyle/>
            <a:p>
              <a:pPr algn="l">
                <a:lnSpc>
                  <a:spcPts val="2284"/>
                </a:lnSpc>
              </a:pPr>
              <a:r>
                <a:rPr lang="en-US" sz="1904">
                  <a:solidFill>
                    <a:srgbClr val="FBFBFA"/>
                  </a:solidFill>
                  <a:latin typeface="Muli"/>
                  <a:ea typeface="Muli"/>
                  <a:cs typeface="Muli"/>
                  <a:sym typeface="Muli"/>
                </a:rPr>
                <a:t>Truy cập từ xa | Tải lên/tải xuống</a:t>
              </a:r>
            </a:p>
          </p:txBody>
        </p:sp>
      </p:grpSp>
      <p:grpSp>
        <p:nvGrpSpPr>
          <p:cNvPr name="Group 13" id="13"/>
          <p:cNvGrpSpPr/>
          <p:nvPr/>
        </p:nvGrpSpPr>
        <p:grpSpPr>
          <a:xfrm rot="0">
            <a:off x="734771" y="5758354"/>
            <a:ext cx="8119939" cy="1050594"/>
            <a:chOff x="0" y="0"/>
            <a:chExt cx="10826586" cy="1400793"/>
          </a:xfrm>
        </p:grpSpPr>
        <p:sp>
          <p:nvSpPr>
            <p:cNvPr name="Freeform 14" id="14"/>
            <p:cNvSpPr/>
            <p:nvPr/>
          </p:nvSpPr>
          <p:spPr>
            <a:xfrm flipH="false" flipV="false" rot="0">
              <a:off x="0" y="0"/>
              <a:ext cx="10826586" cy="1400793"/>
            </a:xfrm>
            <a:custGeom>
              <a:avLst/>
              <a:gdLst/>
              <a:ahLst/>
              <a:cxnLst/>
              <a:rect r="r" b="b" t="t" l="l"/>
              <a:pathLst>
                <a:path h="1400793" w="10826586">
                  <a:moveTo>
                    <a:pt x="0" y="0"/>
                  </a:moveTo>
                  <a:lnTo>
                    <a:pt x="10826586" y="0"/>
                  </a:lnTo>
                  <a:lnTo>
                    <a:pt x="10826586" y="1400793"/>
                  </a:lnTo>
                  <a:lnTo>
                    <a:pt x="0" y="1400793"/>
                  </a:lnTo>
                  <a:close/>
                </a:path>
              </a:pathLst>
            </a:custGeom>
            <a:solidFill>
              <a:srgbClr val="000000">
                <a:alpha val="0"/>
              </a:srgbClr>
            </a:solidFill>
          </p:spPr>
        </p:sp>
        <p:sp>
          <p:nvSpPr>
            <p:cNvPr name="TextBox 15" id="15"/>
            <p:cNvSpPr txBox="true"/>
            <p:nvPr/>
          </p:nvSpPr>
          <p:spPr>
            <a:xfrm>
              <a:off x="0" y="-28575"/>
              <a:ext cx="10826586" cy="1429368"/>
            </a:xfrm>
            <a:prstGeom prst="rect">
              <a:avLst/>
            </a:prstGeom>
          </p:spPr>
          <p:txBody>
            <a:bodyPr anchor="t" rtlCol="false" tIns="0" lIns="0" bIns="0" rIns="0"/>
            <a:lstStyle/>
            <a:p>
              <a:pPr algn="l">
                <a:lnSpc>
                  <a:spcPts val="2560"/>
                </a:lnSpc>
              </a:pPr>
              <a:r>
                <a:rPr lang="en-US" sz="1904">
                  <a:solidFill>
                    <a:srgbClr val="343434"/>
                  </a:solidFill>
                  <a:latin typeface="Muli"/>
                  <a:ea typeface="Muli"/>
                  <a:cs typeface="Muli"/>
                  <a:sym typeface="Muli"/>
                </a:rPr>
                <a:t>Chú ý: FTP là một mô hình tải lên/tải xuống điển hình. Điều tương tự cũng có thể nói về các hệ thống như Dropbox.</a:t>
              </a:r>
            </a:p>
          </p:txBody>
        </p:sp>
      </p:gr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2463926" cy="503525"/>
            <a:chOff x="0" y="0"/>
            <a:chExt cx="3285235" cy="671366"/>
          </a:xfrm>
        </p:grpSpPr>
        <p:sp>
          <p:nvSpPr>
            <p:cNvPr name="Freeform 3" id="3"/>
            <p:cNvSpPr/>
            <p:nvPr/>
          </p:nvSpPr>
          <p:spPr>
            <a:xfrm flipH="false" flipV="false" rot="0">
              <a:off x="0" y="0"/>
              <a:ext cx="3285235" cy="671366"/>
            </a:xfrm>
            <a:custGeom>
              <a:avLst/>
              <a:gdLst/>
              <a:ahLst/>
              <a:cxnLst/>
              <a:rect r="r" b="b" t="t" l="l"/>
              <a:pathLst>
                <a:path h="671366" w="3285235">
                  <a:moveTo>
                    <a:pt x="0" y="0"/>
                  </a:moveTo>
                  <a:lnTo>
                    <a:pt x="3285235" y="0"/>
                  </a:lnTo>
                  <a:lnTo>
                    <a:pt x="3285235" y="671366"/>
                  </a:lnTo>
                  <a:lnTo>
                    <a:pt x="0" y="671366"/>
                  </a:lnTo>
                  <a:close/>
                </a:path>
              </a:pathLst>
            </a:custGeom>
            <a:solidFill>
              <a:srgbClr val="000000">
                <a:alpha val="0"/>
              </a:srgbClr>
            </a:solidFill>
          </p:spPr>
        </p:sp>
        <p:sp>
          <p:nvSpPr>
            <p:cNvPr name="TextBox 4" id="4"/>
            <p:cNvSpPr txBox="true"/>
            <p:nvPr/>
          </p:nvSpPr>
          <p:spPr>
            <a:xfrm>
              <a:off x="0" y="0"/>
              <a:ext cx="3285235" cy="671366"/>
            </a:xfrm>
            <a:prstGeom prst="rect">
              <a:avLst/>
            </a:prstGeom>
          </p:spPr>
          <p:txBody>
            <a:bodyPr anchor="t" rtlCol="false" tIns="0" lIns="0" bIns="0" rIns="0"/>
            <a:lstStyle/>
            <a:p>
              <a:pPr algn="l">
                <a:lnSpc>
                  <a:spcPts val="3046"/>
                </a:lnSpc>
              </a:pPr>
              <a:r>
                <a:rPr lang="en-US" b="true" sz="2538">
                  <a:solidFill>
                    <a:srgbClr val="343434"/>
                  </a:solidFill>
                  <a:latin typeface="Muli Ultra-Bold"/>
                  <a:ea typeface="Muli Ultra-Bold"/>
                  <a:cs typeface="Muli Ultra-Bold"/>
                  <a:sym typeface="Muli Ultra-Bold"/>
                </a:rPr>
                <a:t>Kiến</a:t>
              </a:r>
              <a:r>
                <a:rPr lang="en-US" b="true" sz="2538">
                  <a:solidFill>
                    <a:srgbClr val="343434"/>
                  </a:solidFill>
                  <a:latin typeface="Muli Ultra-Bold"/>
                  <a:ea typeface="Muli Ultra-Bold"/>
                  <a:cs typeface="Muli Ultra-Bold"/>
                  <a:sym typeface="Muli Ultra-Bold"/>
                </a:rPr>
                <a:t> trúc NFS</a:t>
              </a:r>
            </a:p>
          </p:txBody>
        </p:sp>
      </p:grpSp>
      <p:sp>
        <p:nvSpPr>
          <p:cNvPr name="Freeform 5" id="5"/>
          <p:cNvSpPr/>
          <p:nvPr/>
        </p:nvSpPr>
        <p:spPr>
          <a:xfrm flipH="false" flipV="false" rot="0">
            <a:off x="775018" y="998311"/>
            <a:ext cx="8243979" cy="3959446"/>
          </a:xfrm>
          <a:custGeom>
            <a:avLst/>
            <a:gdLst/>
            <a:ahLst/>
            <a:cxnLst/>
            <a:rect r="r" b="b" t="t" l="l"/>
            <a:pathLst>
              <a:path h="3959446" w="8243979">
                <a:moveTo>
                  <a:pt x="0" y="0"/>
                </a:moveTo>
                <a:lnTo>
                  <a:pt x="8243978" y="0"/>
                </a:lnTo>
                <a:lnTo>
                  <a:pt x="8243978" y="3959446"/>
                </a:lnTo>
                <a:lnTo>
                  <a:pt x="0" y="3959446"/>
                </a:lnTo>
                <a:lnTo>
                  <a:pt x="0" y="0"/>
                </a:lnTo>
                <a:close/>
              </a:path>
            </a:pathLst>
          </a:custGeom>
          <a:blipFill>
            <a:blip r:embed="rId2"/>
            <a:stretch>
              <a:fillRect l="0" t="-8" r="0" b="-8"/>
            </a:stretch>
          </a:blipFill>
        </p:spPr>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7631990" cy="1573186"/>
            <a:chOff x="0" y="0"/>
            <a:chExt cx="10175987" cy="2097581"/>
          </a:xfrm>
        </p:grpSpPr>
        <p:sp>
          <p:nvSpPr>
            <p:cNvPr name="Freeform 3" id="3"/>
            <p:cNvSpPr/>
            <p:nvPr/>
          </p:nvSpPr>
          <p:spPr>
            <a:xfrm flipH="false" flipV="false" rot="0">
              <a:off x="0" y="0"/>
              <a:ext cx="10175987" cy="2097581"/>
            </a:xfrm>
            <a:custGeom>
              <a:avLst/>
              <a:gdLst/>
              <a:ahLst/>
              <a:cxnLst/>
              <a:rect r="r" b="b" t="t" l="l"/>
              <a:pathLst>
                <a:path h="2097581" w="10175987">
                  <a:moveTo>
                    <a:pt x="0" y="0"/>
                  </a:moveTo>
                  <a:lnTo>
                    <a:pt x="10175987" y="0"/>
                  </a:lnTo>
                  <a:lnTo>
                    <a:pt x="10175987" y="2097581"/>
                  </a:lnTo>
                  <a:lnTo>
                    <a:pt x="0" y="2097581"/>
                  </a:lnTo>
                  <a:close/>
                </a:path>
              </a:pathLst>
            </a:custGeom>
            <a:solidFill>
              <a:srgbClr val="000000">
                <a:alpha val="0"/>
              </a:srgbClr>
            </a:solidFill>
          </p:spPr>
        </p:sp>
        <p:sp>
          <p:nvSpPr>
            <p:cNvPr name="TextBox 4" id="4"/>
            <p:cNvSpPr txBox="true"/>
            <p:nvPr/>
          </p:nvSpPr>
          <p:spPr>
            <a:xfrm>
              <a:off x="0" y="0"/>
              <a:ext cx="10175987" cy="2097581"/>
            </a:xfrm>
            <a:prstGeom prst="rect">
              <a:avLst/>
            </a:prstGeom>
          </p:spPr>
          <p:txBody>
            <a:bodyPr anchor="t" rtlCol="false" tIns="0" lIns="0" bIns="0" rIns="0"/>
            <a:lstStyle/>
            <a:p>
              <a:pPr algn="l">
                <a:lnSpc>
                  <a:spcPts val="3046"/>
                </a:lnSpc>
              </a:pPr>
              <a:r>
                <a:rPr lang="en-US" sz="2538">
                  <a:solidFill>
                    <a:srgbClr val="513527"/>
                  </a:solidFill>
                  <a:latin typeface="Dancing Script"/>
                  <a:ea typeface="Dancing Script"/>
                  <a:cs typeface="Dancing Script"/>
                  <a:sym typeface="Dancing Script"/>
                </a:rPr>
                <a:t>Ví dụ: Máy chủ Web Đơn Giản</a:t>
              </a:r>
            </a:p>
            <a:p>
              <a:pPr algn="l">
                <a:lnSpc>
                  <a:spcPts val="3046"/>
                </a:lnSpc>
              </a:pPr>
            </a:p>
            <a:p>
              <a:pPr algn="l">
                <a:lnSpc>
                  <a:spcPts val="3046"/>
                </a:lnSpc>
              </a:pPr>
              <a:r>
                <a:rPr lang="en-US" b="true" sz="2538">
                  <a:solidFill>
                    <a:srgbClr val="513527"/>
                  </a:solidFill>
                  <a:latin typeface="Muli Ultra-Bold"/>
                  <a:ea typeface="Muli Ultra-Bold"/>
                  <a:cs typeface="Muli Ultra-Bold"/>
                  <a:sym typeface="Muli Ultra-Bold"/>
                </a:rPr>
                <a:t>Trong những ngày trước...</a:t>
              </a:r>
            </a:p>
            <a:p>
              <a:pPr algn="l">
                <a:lnSpc>
                  <a:spcPts val="2538"/>
                </a:lnSpc>
              </a:pPr>
            </a:p>
          </p:txBody>
        </p:sp>
      </p:grpSp>
      <p:sp>
        <p:nvSpPr>
          <p:cNvPr name="Freeform 5" id="5"/>
          <p:cNvSpPr/>
          <p:nvPr/>
        </p:nvSpPr>
        <p:spPr>
          <a:xfrm flipH="false" flipV="false" rot="0">
            <a:off x="2080366" y="1511050"/>
            <a:ext cx="5526801" cy="2694927"/>
          </a:xfrm>
          <a:custGeom>
            <a:avLst/>
            <a:gdLst/>
            <a:ahLst/>
            <a:cxnLst/>
            <a:rect r="r" b="b" t="t" l="l"/>
            <a:pathLst>
              <a:path h="2694927" w="5526801">
                <a:moveTo>
                  <a:pt x="0" y="0"/>
                </a:moveTo>
                <a:lnTo>
                  <a:pt x="5526801" y="0"/>
                </a:lnTo>
                <a:lnTo>
                  <a:pt x="5526801" y="2694926"/>
                </a:lnTo>
                <a:lnTo>
                  <a:pt x="0" y="2694926"/>
                </a:lnTo>
                <a:lnTo>
                  <a:pt x="0" y="0"/>
                </a:lnTo>
                <a:close/>
              </a:path>
            </a:pathLst>
          </a:custGeom>
          <a:blipFill>
            <a:blip r:embed="rId2"/>
            <a:stretch>
              <a:fillRect l="0" t="-4" r="0" b="-4"/>
            </a:stretch>
          </a:blipFill>
        </p:spPr>
      </p:sp>
      <p:grpSp>
        <p:nvGrpSpPr>
          <p:cNvPr name="Group 6" id="6"/>
          <p:cNvGrpSpPr/>
          <p:nvPr/>
        </p:nvGrpSpPr>
        <p:grpSpPr>
          <a:xfrm rot="0">
            <a:off x="201626" y="4396476"/>
            <a:ext cx="9434927" cy="2897349"/>
            <a:chOff x="0" y="0"/>
            <a:chExt cx="12579902" cy="3863131"/>
          </a:xfrm>
        </p:grpSpPr>
        <p:sp>
          <p:nvSpPr>
            <p:cNvPr name="Freeform 7" id="7"/>
            <p:cNvSpPr/>
            <p:nvPr/>
          </p:nvSpPr>
          <p:spPr>
            <a:xfrm flipH="false" flipV="false" rot="0">
              <a:off x="0" y="0"/>
              <a:ext cx="12579903" cy="3863131"/>
            </a:xfrm>
            <a:custGeom>
              <a:avLst/>
              <a:gdLst/>
              <a:ahLst/>
              <a:cxnLst/>
              <a:rect r="r" b="b" t="t" l="l"/>
              <a:pathLst>
                <a:path h="3863131" w="12579903">
                  <a:moveTo>
                    <a:pt x="0" y="0"/>
                  </a:moveTo>
                  <a:lnTo>
                    <a:pt x="12579903" y="0"/>
                  </a:lnTo>
                  <a:lnTo>
                    <a:pt x="12579903" y="3863131"/>
                  </a:lnTo>
                  <a:lnTo>
                    <a:pt x="0" y="3863131"/>
                  </a:lnTo>
                  <a:close/>
                </a:path>
              </a:pathLst>
            </a:custGeom>
            <a:solidFill>
              <a:srgbClr val="000000">
                <a:alpha val="0"/>
              </a:srgbClr>
            </a:solidFill>
          </p:spPr>
        </p:sp>
        <p:sp>
          <p:nvSpPr>
            <p:cNvPr name="TextBox 8" id="8"/>
            <p:cNvSpPr txBox="true"/>
            <p:nvPr/>
          </p:nvSpPr>
          <p:spPr>
            <a:xfrm>
              <a:off x="0" y="0"/>
              <a:ext cx="12579902" cy="3863131"/>
            </a:xfrm>
            <a:prstGeom prst="rect">
              <a:avLst/>
            </a:prstGeom>
          </p:spPr>
          <p:txBody>
            <a:bodyPr anchor="t" rtlCol="false" tIns="0" lIns="0" bIns="0" rIns="0"/>
            <a:lstStyle/>
            <a:p>
              <a:pPr algn="l">
                <a:lnSpc>
                  <a:spcPts val="2538"/>
                </a:lnSpc>
              </a:pPr>
              <a:r>
                <a:rPr lang="en-US" b="true" sz="2115">
                  <a:solidFill>
                    <a:srgbClr val="513527"/>
                  </a:solidFill>
                  <a:latin typeface="Muli Ultra-Bold"/>
                  <a:ea typeface="Muli Ultra-Bold"/>
                  <a:cs typeface="Muli Ultra-Bold"/>
                  <a:sym typeface="Muli Ultra-Bold"/>
                </a:rPr>
                <a:t>...cuộc sống rất đơn giản:</a:t>
              </a:r>
            </a:p>
            <a:p>
              <a:pPr algn="l" marL="456781" indent="-228390" lvl="1">
                <a:lnSpc>
                  <a:spcPts val="2538"/>
                </a:lnSpc>
                <a:buFont typeface="Arial"/>
                <a:buChar char="•"/>
              </a:pPr>
              <a:r>
                <a:rPr lang="en-US" b="true" sz="2115">
                  <a:solidFill>
                    <a:srgbClr val="513527"/>
                  </a:solidFill>
                  <a:latin typeface="Muli Ultra-Bold"/>
                  <a:ea typeface="Muli Ultra-Bold"/>
                  <a:cs typeface="Muli Ultra-Bold"/>
                  <a:sym typeface="Muli Ultra-Bold"/>
                </a:rPr>
                <a:t>Một trang web bao gồm một tập hợp các tệp HTML.</a:t>
              </a:r>
            </a:p>
            <a:p>
              <a:pPr algn="l" marL="456781" indent="-228390" lvl="1">
                <a:lnSpc>
                  <a:spcPts val="2538"/>
                </a:lnSpc>
                <a:buFont typeface="Arial"/>
                <a:buChar char="•"/>
              </a:pPr>
              <a:r>
                <a:rPr lang="en-US" b="true" sz="2115">
                  <a:solidFill>
                    <a:srgbClr val="513527"/>
                  </a:solidFill>
                  <a:latin typeface="Muli Ultra-Bold"/>
                  <a:ea typeface="Muli Ultra-Bold"/>
                  <a:cs typeface="Muli Ultra-Bold"/>
                  <a:sym typeface="Muli Ultra-Bold"/>
                </a:rPr>
                <a:t>Các tệp </a:t>
              </a:r>
              <a:r>
                <a:rPr lang="en-US" b="true" sz="2115">
                  <a:solidFill>
                    <a:srgbClr val="513527"/>
                  </a:solidFill>
                  <a:latin typeface="Muli Ultra-Bold"/>
                  <a:ea typeface="Muli Ultra-Bold"/>
                  <a:cs typeface="Muli Ultra-Bold"/>
                  <a:sym typeface="Muli Ultra-Bold"/>
                </a:rPr>
                <a:t>HTML có thể tham chiếu lẫn nhau bằng một liên kết</a:t>
              </a:r>
              <a:r>
                <a:rPr lang="en-US" b="true" sz="2115">
                  <a:solidFill>
                    <a:srgbClr val="513527"/>
                  </a:solidFill>
                  <a:latin typeface="Muli Ultra-Bold"/>
                  <a:ea typeface="Muli Ultra-Bold"/>
                  <a:cs typeface="Muli Ultra-Bold"/>
                  <a:sym typeface="Muli Ultra-Bold"/>
                </a:rPr>
                <a:t> (hyperlink).</a:t>
              </a:r>
            </a:p>
            <a:p>
              <a:pPr algn="l" marL="456781" indent="-228390" lvl="1">
                <a:lnSpc>
                  <a:spcPts val="2538"/>
                </a:lnSpc>
                <a:buFont typeface="Arial"/>
                <a:buChar char="•"/>
              </a:pPr>
              <a:r>
                <a:rPr lang="en-US" b="true" sz="2115">
                  <a:solidFill>
                    <a:srgbClr val="513527"/>
                  </a:solidFill>
                  <a:latin typeface="Muli Ultra-Bold"/>
                  <a:ea typeface="Muli Ultra-Bold"/>
                  <a:cs typeface="Muli Ultra-Bold"/>
                  <a:sym typeface="Muli Ultra-Bold"/>
                </a:rPr>
                <a:t>Một máy chủ Web về cơ bản chỉ cần một liên kết để truy xuất một tệp.</a:t>
              </a:r>
            </a:p>
            <a:p>
              <a:pPr algn="l" marL="456781" indent="-228390" lvl="1">
                <a:lnSpc>
                  <a:spcPts val="2538"/>
                </a:lnSpc>
                <a:buFont typeface="Arial"/>
                <a:buChar char="•"/>
              </a:pPr>
              <a:r>
                <a:rPr lang="en-US" sz="2115">
                  <a:solidFill>
                    <a:srgbClr val="513527"/>
                  </a:solidFill>
                  <a:latin typeface="Muli"/>
                  <a:ea typeface="Muli"/>
                  <a:cs typeface="Muli"/>
                  <a:sym typeface="Muli"/>
                </a:rPr>
                <a:t>Một trình duyệt chịu trách nhiệm hiển thị nội dung của một tệp một cách đúng đắn.</a:t>
              </a:r>
            </a:p>
            <a:p>
              <a:pPr algn="l">
                <a:lnSpc>
                  <a:spcPts val="2284"/>
                </a:lnSpc>
              </a:pPr>
            </a:p>
          </p:txBody>
        </p:sp>
      </p:gr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8475745" cy="1192186"/>
            <a:chOff x="0" y="0"/>
            <a:chExt cx="11300994" cy="1589581"/>
          </a:xfrm>
        </p:grpSpPr>
        <p:sp>
          <p:nvSpPr>
            <p:cNvPr name="Freeform 3" id="3"/>
            <p:cNvSpPr/>
            <p:nvPr/>
          </p:nvSpPr>
          <p:spPr>
            <a:xfrm flipH="false" flipV="false" rot="0">
              <a:off x="0" y="0"/>
              <a:ext cx="11300994" cy="1589581"/>
            </a:xfrm>
            <a:custGeom>
              <a:avLst/>
              <a:gdLst/>
              <a:ahLst/>
              <a:cxnLst/>
              <a:rect r="r" b="b" t="t" l="l"/>
              <a:pathLst>
                <a:path h="1589581" w="11300994">
                  <a:moveTo>
                    <a:pt x="0" y="0"/>
                  </a:moveTo>
                  <a:lnTo>
                    <a:pt x="11300994" y="0"/>
                  </a:lnTo>
                  <a:lnTo>
                    <a:pt x="11300994" y="1589581"/>
                  </a:lnTo>
                  <a:lnTo>
                    <a:pt x="0" y="1589581"/>
                  </a:lnTo>
                  <a:close/>
                </a:path>
              </a:pathLst>
            </a:custGeom>
            <a:solidFill>
              <a:srgbClr val="000000">
                <a:alpha val="0"/>
              </a:srgbClr>
            </a:solidFill>
          </p:spPr>
        </p:sp>
        <p:sp>
          <p:nvSpPr>
            <p:cNvPr name="TextBox 4" id="4"/>
            <p:cNvSpPr txBox="true"/>
            <p:nvPr/>
          </p:nvSpPr>
          <p:spPr>
            <a:xfrm>
              <a:off x="0" y="0"/>
              <a:ext cx="11300994" cy="1589581"/>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Ví dụ (tiếp theo): Máy chủ Web Ít Đơn Giản Hơn</a:t>
              </a:r>
            </a:p>
            <a:p>
              <a:pPr algn="l">
                <a:lnSpc>
                  <a:spcPts val="3046"/>
                </a:lnSpc>
              </a:pPr>
              <a:r>
                <a:rPr lang="en-US" b="true" sz="2538">
                  <a:solidFill>
                    <a:srgbClr val="343434"/>
                  </a:solidFill>
                  <a:latin typeface="Muli Ultra-Bold"/>
                  <a:ea typeface="Muli Ultra-Bold"/>
                  <a:cs typeface="Muli Ultra-Bold"/>
                  <a:sym typeface="Muli Ultra-Bold"/>
                </a:rPr>
                <a:t>Vẫn trong những ngày trước...</a:t>
              </a:r>
            </a:p>
            <a:p>
              <a:pPr algn="l">
                <a:lnSpc>
                  <a:spcPts val="2538"/>
                </a:lnSpc>
              </a:pPr>
            </a:p>
          </p:txBody>
        </p:sp>
      </p:grpSp>
      <p:sp>
        <p:nvSpPr>
          <p:cNvPr name="Freeform 5" id="5"/>
          <p:cNvSpPr/>
          <p:nvPr/>
        </p:nvSpPr>
        <p:spPr>
          <a:xfrm flipH="false" flipV="false" rot="0">
            <a:off x="1594174" y="1636683"/>
            <a:ext cx="6565251" cy="2257766"/>
          </a:xfrm>
          <a:custGeom>
            <a:avLst/>
            <a:gdLst/>
            <a:ahLst/>
            <a:cxnLst/>
            <a:rect r="r" b="b" t="t" l="l"/>
            <a:pathLst>
              <a:path h="2257766" w="6565251">
                <a:moveTo>
                  <a:pt x="0" y="0"/>
                </a:moveTo>
                <a:lnTo>
                  <a:pt x="6565252" y="0"/>
                </a:lnTo>
                <a:lnTo>
                  <a:pt x="6565252" y="2257766"/>
                </a:lnTo>
                <a:lnTo>
                  <a:pt x="0" y="2257766"/>
                </a:lnTo>
                <a:lnTo>
                  <a:pt x="0" y="0"/>
                </a:lnTo>
                <a:close/>
              </a:path>
            </a:pathLst>
          </a:custGeom>
          <a:blipFill>
            <a:blip r:embed="rId2"/>
            <a:stretch>
              <a:fillRect l="0" t="-25" r="0" b="-25"/>
            </a:stretch>
          </a:blipFill>
        </p:spPr>
      </p:sp>
      <p:grpSp>
        <p:nvGrpSpPr>
          <p:cNvPr name="Group 6" id="6"/>
          <p:cNvGrpSpPr/>
          <p:nvPr/>
        </p:nvGrpSpPr>
        <p:grpSpPr>
          <a:xfrm rot="0">
            <a:off x="201626" y="4349353"/>
            <a:ext cx="9312271" cy="2697324"/>
            <a:chOff x="0" y="0"/>
            <a:chExt cx="12416361" cy="3596432"/>
          </a:xfrm>
        </p:grpSpPr>
        <p:sp>
          <p:nvSpPr>
            <p:cNvPr name="Freeform 7" id="7"/>
            <p:cNvSpPr/>
            <p:nvPr/>
          </p:nvSpPr>
          <p:spPr>
            <a:xfrm flipH="false" flipV="false" rot="0">
              <a:off x="0" y="0"/>
              <a:ext cx="12416361" cy="3596432"/>
            </a:xfrm>
            <a:custGeom>
              <a:avLst/>
              <a:gdLst/>
              <a:ahLst/>
              <a:cxnLst/>
              <a:rect r="r" b="b" t="t" l="l"/>
              <a:pathLst>
                <a:path h="3596432" w="12416361">
                  <a:moveTo>
                    <a:pt x="0" y="0"/>
                  </a:moveTo>
                  <a:lnTo>
                    <a:pt x="12416361" y="0"/>
                  </a:lnTo>
                  <a:lnTo>
                    <a:pt x="12416361" y="3596432"/>
                  </a:lnTo>
                  <a:lnTo>
                    <a:pt x="0" y="3596432"/>
                  </a:lnTo>
                  <a:close/>
                </a:path>
              </a:pathLst>
            </a:custGeom>
            <a:solidFill>
              <a:srgbClr val="000000">
                <a:alpha val="0"/>
              </a:srgbClr>
            </a:solidFill>
          </p:spPr>
        </p:sp>
        <p:sp>
          <p:nvSpPr>
            <p:cNvPr name="TextBox 8" id="8"/>
            <p:cNvSpPr txBox="true"/>
            <p:nvPr/>
          </p:nvSpPr>
          <p:spPr>
            <a:xfrm>
              <a:off x="0" y="0"/>
              <a:ext cx="12416361" cy="3596432"/>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...cuộc sống trở nên phức tạp hơn một chút:</a:t>
              </a:r>
            </a:p>
            <a:p>
              <a:pPr algn="l" marL="845902" indent="-422951" lvl="1">
                <a:lnSpc>
                  <a:spcPts val="2284"/>
                </a:lnSpc>
                <a:buFont typeface="Arial"/>
                <a:buChar char="•"/>
              </a:pPr>
              <a:r>
                <a:rPr lang="en-US" sz="1904">
                  <a:solidFill>
                    <a:srgbClr val="343434"/>
                  </a:solidFill>
                  <a:latin typeface="Muli"/>
                  <a:ea typeface="Muli"/>
                  <a:cs typeface="Muli"/>
                  <a:sym typeface="Muli"/>
                </a:rPr>
                <a:t>Một trang web được xây dựng xung quanh một cơ sở dữ liệu với nội dung.</a:t>
              </a:r>
            </a:p>
            <a:p>
              <a:pPr algn="l" marL="845902" indent="-422951" lvl="1">
                <a:lnSpc>
                  <a:spcPts val="2284"/>
                </a:lnSpc>
                <a:buFont typeface="Arial"/>
                <a:buChar char="•"/>
              </a:pPr>
              <a:r>
                <a:rPr lang="en-US" sz="1904">
                  <a:solidFill>
                    <a:srgbClr val="343434"/>
                  </a:solidFill>
                  <a:latin typeface="Muli"/>
                  <a:ea typeface="Muli"/>
                  <a:cs typeface="Muli"/>
                  <a:sym typeface="Muli"/>
                </a:rPr>
                <a:t>Một trang web có thể vẫn được tham chiếu bằng một liên kết (hyperlink).</a:t>
              </a:r>
            </a:p>
            <a:p>
              <a:pPr algn="l" marL="845902" indent="-422951" lvl="1">
                <a:lnSpc>
                  <a:spcPts val="2284"/>
                </a:lnSpc>
                <a:buFont typeface="Arial"/>
                <a:buChar char="•"/>
              </a:pPr>
              <a:r>
                <a:rPr lang="en-US" sz="1904">
                  <a:solidFill>
                    <a:srgbClr val="343434"/>
                  </a:solidFill>
                  <a:latin typeface="Muli"/>
                  <a:ea typeface="Muli"/>
                  <a:cs typeface="Muli"/>
                  <a:sym typeface="Muli"/>
                </a:rPr>
                <a:t>Một máy chủ Web về cơ bản chỉ cần một liên kết để truy xuất một tệp.</a:t>
              </a:r>
            </a:p>
            <a:p>
              <a:pPr algn="l" marL="845902" indent="-422951" lvl="1">
                <a:lnSpc>
                  <a:spcPts val="2284"/>
                </a:lnSpc>
                <a:buFont typeface="Arial"/>
                <a:buChar char="•"/>
              </a:pPr>
              <a:r>
                <a:rPr lang="en-US" sz="1904">
                  <a:solidFill>
                    <a:srgbClr val="343434"/>
                  </a:solidFill>
                  <a:latin typeface="Muli"/>
                  <a:ea typeface="Muli"/>
                  <a:cs typeface="Muli"/>
                  <a:sym typeface="Muli"/>
                </a:rPr>
                <a:t>Một chương trình riêng biệt (Common Gateway Interface) tạo thành một trang.</a:t>
              </a:r>
            </a:p>
            <a:p>
              <a:pPr algn="l" marL="845902" indent="-422951" lvl="1">
                <a:lnSpc>
                  <a:spcPts val="2284"/>
                </a:lnSpc>
                <a:buFont typeface="Arial"/>
                <a:buChar char="•"/>
              </a:pPr>
              <a:r>
                <a:rPr lang="en-US" sz="1904">
                  <a:solidFill>
                    <a:srgbClr val="343434"/>
                  </a:solidFill>
                  <a:latin typeface="Muli"/>
                  <a:ea typeface="Muli"/>
                  <a:cs typeface="Muli"/>
                  <a:sym typeface="Muli"/>
                </a:rPr>
                <a:t>Một trình duyệt chịu trách nhiệm hiển thị nội dung của một tệp một cách đúng đắn.</a:t>
              </a:r>
            </a:p>
            <a:p>
              <a:pPr algn="l">
                <a:lnSpc>
                  <a:spcPts val="2284"/>
                </a:lnSpc>
              </a:pPr>
            </a:p>
          </p:txBody>
        </p:sp>
      </p:grpSp>
    </p:spTree>
  </p:cSld>
  <p:clrMapOvr>
    <a:masterClrMapping/>
  </p:clrMapOvr>
  <p:transition spd="fast">
    <p:fade/>
  </p:transition>
</p:sld>
</file>

<file path=ppt/slides/slide30.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6345214" cy="884524"/>
            <a:chOff x="0" y="0"/>
            <a:chExt cx="8460285" cy="1179366"/>
          </a:xfrm>
        </p:grpSpPr>
        <p:sp>
          <p:nvSpPr>
            <p:cNvPr name="Freeform 3" id="3"/>
            <p:cNvSpPr/>
            <p:nvPr/>
          </p:nvSpPr>
          <p:spPr>
            <a:xfrm flipH="false" flipV="false" rot="0">
              <a:off x="0" y="0"/>
              <a:ext cx="8460285" cy="1179366"/>
            </a:xfrm>
            <a:custGeom>
              <a:avLst/>
              <a:gdLst/>
              <a:ahLst/>
              <a:cxnLst/>
              <a:rect r="r" b="b" t="t" l="l"/>
              <a:pathLst>
                <a:path h="1179366" w="8460285">
                  <a:moveTo>
                    <a:pt x="0" y="0"/>
                  </a:moveTo>
                  <a:lnTo>
                    <a:pt x="8460285" y="0"/>
                  </a:lnTo>
                  <a:lnTo>
                    <a:pt x="8460285" y="1179366"/>
                  </a:lnTo>
                  <a:lnTo>
                    <a:pt x="0" y="1179366"/>
                  </a:lnTo>
                  <a:close/>
                </a:path>
              </a:pathLst>
            </a:custGeom>
            <a:solidFill>
              <a:srgbClr val="000000">
                <a:alpha val="0"/>
              </a:srgbClr>
            </a:solidFill>
          </p:spPr>
        </p:sp>
        <p:sp>
          <p:nvSpPr>
            <p:cNvPr name="TextBox 4" id="4"/>
            <p:cNvSpPr txBox="true"/>
            <p:nvPr/>
          </p:nvSpPr>
          <p:spPr>
            <a:xfrm>
              <a:off x="0" y="0"/>
              <a:ext cx="8460285" cy="1179366"/>
            </a:xfrm>
            <a:prstGeom prst="rect">
              <a:avLst/>
            </a:prstGeom>
          </p:spPr>
          <p:txBody>
            <a:bodyPr anchor="t" rtlCol="false" tIns="0" lIns="0" bIns="0" rIns="0"/>
            <a:lstStyle/>
            <a:p>
              <a:pPr algn="l">
                <a:lnSpc>
                  <a:spcPts val="3046"/>
                </a:lnSpc>
              </a:pPr>
              <a:r>
                <a:rPr lang="en-US" b="true" sz="2538">
                  <a:solidFill>
                    <a:srgbClr val="343434"/>
                  </a:solidFill>
                  <a:latin typeface="Muli Ultra-Bold"/>
                  <a:ea typeface="Muli Ultra-Bold"/>
                  <a:cs typeface="Muli Ultra-Bold"/>
                  <a:sym typeface="Muli Ultra-Bold"/>
                </a:rPr>
                <a:t>Các tổ chức thay thế</a:t>
              </a:r>
            </a:p>
            <a:p>
              <a:pPr algn="l">
                <a:lnSpc>
                  <a:spcPts val="3046"/>
                </a:lnSpc>
              </a:pPr>
            </a:p>
          </p:txBody>
        </p:sp>
      </p:grpSp>
      <p:grpSp>
        <p:nvGrpSpPr>
          <p:cNvPr name="Group 5" id="5"/>
          <p:cNvGrpSpPr/>
          <p:nvPr/>
        </p:nvGrpSpPr>
        <p:grpSpPr>
          <a:xfrm rot="0">
            <a:off x="362978" y="1568163"/>
            <a:ext cx="9027643" cy="5168819"/>
            <a:chOff x="0" y="0"/>
            <a:chExt cx="12036858" cy="6891758"/>
          </a:xfrm>
        </p:grpSpPr>
        <p:sp>
          <p:nvSpPr>
            <p:cNvPr name="Freeform 6" id="6"/>
            <p:cNvSpPr/>
            <p:nvPr/>
          </p:nvSpPr>
          <p:spPr>
            <a:xfrm flipH="false" flipV="false" rot="0">
              <a:off x="0" y="0"/>
              <a:ext cx="12036858" cy="6891758"/>
            </a:xfrm>
            <a:custGeom>
              <a:avLst/>
              <a:gdLst/>
              <a:ahLst/>
              <a:cxnLst/>
              <a:rect r="r" b="b" t="t" l="l"/>
              <a:pathLst>
                <a:path h="6891758" w="12036858">
                  <a:moveTo>
                    <a:pt x="0" y="0"/>
                  </a:moveTo>
                  <a:lnTo>
                    <a:pt x="12036858" y="0"/>
                  </a:lnTo>
                  <a:lnTo>
                    <a:pt x="12036858" y="6891758"/>
                  </a:lnTo>
                  <a:lnTo>
                    <a:pt x="0" y="6891758"/>
                  </a:lnTo>
                  <a:close/>
                </a:path>
              </a:pathLst>
            </a:custGeom>
            <a:solidFill>
              <a:srgbClr val="000000">
                <a:alpha val="0"/>
              </a:srgbClr>
            </a:solidFill>
          </p:spPr>
        </p:sp>
        <p:sp>
          <p:nvSpPr>
            <p:cNvPr name="TextBox 7" id="7"/>
            <p:cNvSpPr txBox="true"/>
            <p:nvPr/>
          </p:nvSpPr>
          <p:spPr>
            <a:xfrm>
              <a:off x="0" y="9525"/>
              <a:ext cx="12036858" cy="6882233"/>
            </a:xfrm>
            <a:prstGeom prst="rect">
              <a:avLst/>
            </a:prstGeom>
          </p:spPr>
          <p:txBody>
            <a:bodyPr anchor="t" rtlCol="false" tIns="0" lIns="0" bIns="0" rIns="0"/>
            <a:lstStyle/>
            <a:p>
              <a:pPr algn="l">
                <a:lnSpc>
                  <a:spcPts val="2898"/>
                </a:lnSpc>
              </a:pPr>
              <a:r>
                <a:rPr lang="en-US" b="true" sz="2415">
                  <a:solidFill>
                    <a:srgbClr val="343434"/>
                  </a:solidFill>
                  <a:latin typeface="Muli Bold"/>
                  <a:ea typeface="Muli Bold"/>
                  <a:cs typeface="Muli Bold"/>
                  <a:sym typeface="Muli Bold"/>
                </a:rPr>
                <a:t>Phân phối theo chiều dọc</a:t>
              </a:r>
            </a:p>
            <a:p>
              <a:pPr algn="l">
                <a:lnSpc>
                  <a:spcPts val="2898"/>
                </a:lnSpc>
              </a:pPr>
              <a:r>
                <a:rPr lang="en-US" sz="2415">
                  <a:solidFill>
                    <a:srgbClr val="343434"/>
                  </a:solidFill>
                  <a:latin typeface="Muli"/>
                  <a:ea typeface="Muli"/>
                  <a:cs typeface="Muli"/>
                  <a:sym typeface="Muli"/>
                </a:rPr>
                <a:t>Xuất phát từ việc chia các ứng dụng phân tán thành ba tầng logic và chạy các thành phần từ mỗi tầng trên các máy chủ (máy tính) khác nhau.</a:t>
              </a:r>
            </a:p>
            <a:p>
              <a:pPr algn="l">
                <a:lnSpc>
                  <a:spcPts val="2898"/>
                </a:lnSpc>
              </a:pPr>
              <a:r>
                <a:rPr lang="en-US" b="true" sz="2415">
                  <a:solidFill>
                    <a:srgbClr val="343434"/>
                  </a:solidFill>
                  <a:latin typeface="Muli Ultra-Bold"/>
                  <a:ea typeface="Muli Ultra-Bold"/>
                  <a:cs typeface="Muli Ultra-Bold"/>
                  <a:sym typeface="Muli Ultra-Bold"/>
                </a:rPr>
                <a:t>Phân phối theo chiều ngang</a:t>
              </a:r>
            </a:p>
            <a:p>
              <a:pPr algn="l">
                <a:lnSpc>
                  <a:spcPts val="2898"/>
                </a:lnSpc>
              </a:pPr>
              <a:r>
                <a:rPr lang="en-US" sz="2415">
                  <a:solidFill>
                    <a:srgbClr val="343434"/>
                  </a:solidFill>
                  <a:latin typeface="Muli"/>
                  <a:ea typeface="Muli"/>
                  <a:cs typeface="Muli"/>
                  <a:sym typeface="Muli"/>
                </a:rPr>
                <a:t>Một client hoặc server có thể được chia tách vật lý thành các phần hợp lý tương đương, nhưng mỗi phần vẫn hoạt động trên phần dữ liệu hoàn chỉnh của mình.</a:t>
              </a:r>
            </a:p>
            <a:p>
              <a:pPr algn="l">
                <a:lnSpc>
                  <a:spcPts val="2898"/>
                </a:lnSpc>
              </a:pPr>
              <a:r>
                <a:rPr lang="en-US" b="true" sz="2415">
                  <a:solidFill>
                    <a:srgbClr val="343434"/>
                  </a:solidFill>
                  <a:latin typeface="Muli Ultra-Bold"/>
                  <a:ea typeface="Muli Ultra-Bold"/>
                  <a:cs typeface="Muli Ultra-Bold"/>
                  <a:sym typeface="Muli Ultra-Bold"/>
                </a:rPr>
                <a:t>Kiến trúc ngang hàng (Peer-to-peer)</a:t>
              </a:r>
            </a:p>
            <a:p>
              <a:pPr algn="l">
                <a:lnSpc>
                  <a:spcPts val="2898"/>
                </a:lnSpc>
              </a:pPr>
              <a:r>
                <a:rPr lang="en-US" sz="2415">
                  <a:solidFill>
                    <a:srgbClr val="343434"/>
                  </a:solidFill>
                  <a:latin typeface="Muli"/>
                  <a:ea typeface="Muli"/>
                  <a:cs typeface="Muli"/>
                  <a:sym typeface="Muli"/>
                </a:rPr>
                <a:t>Các quá trình đều bình đẳng: các chức năng cần được thực hiện được đại diện bởi mọi quá trình ⇒ mỗi quá trình sẽ đóng vai trò là một client và một server cùng một lúc (tức là, đóng vai trò như một người phục vụ).</a:t>
              </a:r>
            </a:p>
            <a:p>
              <a:pPr algn="l">
                <a:lnSpc>
                  <a:spcPts val="2951"/>
                </a:lnSpc>
              </a:pPr>
            </a:p>
          </p:txBody>
        </p:sp>
      </p:gr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6083" y="220902"/>
            <a:ext cx="6345214" cy="503525"/>
            <a:chOff x="0" y="0"/>
            <a:chExt cx="8460285" cy="671366"/>
          </a:xfrm>
        </p:grpSpPr>
        <p:sp>
          <p:nvSpPr>
            <p:cNvPr name="Freeform 3" id="3"/>
            <p:cNvSpPr/>
            <p:nvPr/>
          </p:nvSpPr>
          <p:spPr>
            <a:xfrm flipH="false" flipV="false" rot="0">
              <a:off x="0" y="0"/>
              <a:ext cx="8460285" cy="671366"/>
            </a:xfrm>
            <a:custGeom>
              <a:avLst/>
              <a:gdLst/>
              <a:ahLst/>
              <a:cxnLst/>
              <a:rect r="r" b="b" t="t" l="l"/>
              <a:pathLst>
                <a:path h="671366" w="8460285">
                  <a:moveTo>
                    <a:pt x="0" y="0"/>
                  </a:moveTo>
                  <a:lnTo>
                    <a:pt x="8460285" y="0"/>
                  </a:lnTo>
                  <a:lnTo>
                    <a:pt x="8460285" y="671366"/>
                  </a:lnTo>
                  <a:lnTo>
                    <a:pt x="0" y="671366"/>
                  </a:lnTo>
                  <a:close/>
                </a:path>
              </a:pathLst>
            </a:custGeom>
            <a:solidFill>
              <a:srgbClr val="000000">
                <a:alpha val="0"/>
              </a:srgbClr>
            </a:solidFill>
          </p:spPr>
        </p:sp>
        <p:sp>
          <p:nvSpPr>
            <p:cNvPr name="TextBox 4" id="4"/>
            <p:cNvSpPr txBox="true"/>
            <p:nvPr/>
          </p:nvSpPr>
          <p:spPr>
            <a:xfrm>
              <a:off x="0" y="0"/>
              <a:ext cx="8460285" cy="671366"/>
            </a:xfrm>
            <a:prstGeom prst="rect">
              <a:avLst/>
            </a:prstGeom>
          </p:spPr>
          <p:txBody>
            <a:bodyPr anchor="t" rtlCol="false" tIns="0" lIns="0" bIns="0" rIns="0"/>
            <a:lstStyle/>
            <a:p>
              <a:pPr algn="l">
                <a:lnSpc>
                  <a:spcPts val="3046"/>
                </a:lnSpc>
              </a:pPr>
              <a:r>
                <a:rPr lang="en-US" b="true" sz="2538" spc="126">
                  <a:solidFill>
                    <a:srgbClr val="FFFFFF"/>
                  </a:solidFill>
                  <a:latin typeface="Muli Semi-Bold"/>
                  <a:ea typeface="Muli Semi-Bold"/>
                  <a:cs typeface="Muli Semi-Bold"/>
                  <a:sym typeface="Muli Semi-Bold"/>
                </a:rPr>
                <a:t>Cấu trúc P2P</a:t>
              </a:r>
            </a:p>
          </p:txBody>
        </p:sp>
      </p:grpSp>
      <p:grpSp>
        <p:nvGrpSpPr>
          <p:cNvPr name="Group 5" id="5"/>
          <p:cNvGrpSpPr/>
          <p:nvPr/>
        </p:nvGrpSpPr>
        <p:grpSpPr>
          <a:xfrm rot="0">
            <a:off x="522247" y="671075"/>
            <a:ext cx="8709106" cy="2902454"/>
            <a:chOff x="0" y="0"/>
            <a:chExt cx="11612141" cy="3869938"/>
          </a:xfrm>
        </p:grpSpPr>
        <p:sp>
          <p:nvSpPr>
            <p:cNvPr name="Freeform 6" id="6"/>
            <p:cNvSpPr/>
            <p:nvPr/>
          </p:nvSpPr>
          <p:spPr>
            <a:xfrm flipH="false" flipV="false" rot="0">
              <a:off x="0" y="0"/>
              <a:ext cx="11612142" cy="3869939"/>
            </a:xfrm>
            <a:custGeom>
              <a:avLst/>
              <a:gdLst/>
              <a:ahLst/>
              <a:cxnLst/>
              <a:rect r="r" b="b" t="t" l="l"/>
              <a:pathLst>
                <a:path h="3869939" w="11612142">
                  <a:moveTo>
                    <a:pt x="0" y="0"/>
                  </a:moveTo>
                  <a:lnTo>
                    <a:pt x="11612142" y="0"/>
                  </a:lnTo>
                  <a:lnTo>
                    <a:pt x="11612142" y="3869939"/>
                  </a:lnTo>
                  <a:lnTo>
                    <a:pt x="0" y="3869939"/>
                  </a:lnTo>
                  <a:close/>
                </a:path>
              </a:pathLst>
            </a:custGeom>
            <a:solidFill>
              <a:srgbClr val="000000">
                <a:alpha val="0"/>
              </a:srgbClr>
            </a:solidFill>
          </p:spPr>
        </p:sp>
        <p:sp>
          <p:nvSpPr>
            <p:cNvPr name="TextBox 7" id="7"/>
            <p:cNvSpPr txBox="true"/>
            <p:nvPr/>
          </p:nvSpPr>
          <p:spPr>
            <a:xfrm>
              <a:off x="0" y="0"/>
              <a:ext cx="11612141" cy="3869938"/>
            </a:xfrm>
            <a:prstGeom prst="rect">
              <a:avLst/>
            </a:prstGeom>
          </p:spPr>
          <p:txBody>
            <a:bodyPr anchor="t" rtlCol="false" tIns="0" lIns="0" bIns="0" rIns="0"/>
            <a:lstStyle/>
            <a:p>
              <a:pPr algn="l">
                <a:lnSpc>
                  <a:spcPts val="2538"/>
                </a:lnSpc>
              </a:pPr>
              <a:r>
                <a:rPr lang="en-US" b="true" sz="2115" spc="105">
                  <a:solidFill>
                    <a:srgbClr val="6D6D6D"/>
                  </a:solidFill>
                  <a:latin typeface="Muli Bold"/>
                  <a:ea typeface="Muli Bold"/>
                  <a:cs typeface="Muli Bold"/>
                  <a:sym typeface="Muli Bold"/>
                </a:rPr>
                <a:t>Tóm tắt</a:t>
              </a:r>
            </a:p>
            <a:p>
              <a:pPr algn="l">
                <a:lnSpc>
                  <a:spcPts val="2538"/>
                </a:lnSpc>
              </a:pPr>
              <a:r>
                <a:rPr lang="en-US" b="true" sz="2115" spc="105">
                  <a:solidFill>
                    <a:srgbClr val="6D6D6D"/>
                  </a:solidFill>
                  <a:latin typeface="Muli Bold"/>
                  <a:ea typeface="Muli Bold"/>
                  <a:cs typeface="Muli Bold"/>
                  <a:sym typeface="Muli Bold"/>
                </a:rPr>
                <a:t>Sử dụng một chỉ số không có ngữ nghĩa: mỗi mục dữ liệu được liên kết duy nhất với một khóa, mà khóa này được dùng làm chỉ mục. Thực tiễn phổ biến: sử dụng một hàm băm.</a:t>
              </a:r>
            </a:p>
            <a:p>
              <a:pPr algn="ctr">
                <a:lnSpc>
                  <a:spcPts val="2538"/>
                </a:lnSpc>
              </a:pPr>
              <a:r>
                <a:rPr lang="en-US" b="true" sz="2115" spc="105">
                  <a:solidFill>
                    <a:srgbClr val="6D6D6D"/>
                  </a:solidFill>
                  <a:latin typeface="Muli Bold"/>
                  <a:ea typeface="Muli Bold"/>
                  <a:cs typeface="Muli Bold"/>
                  <a:sym typeface="Muli Bold"/>
                </a:rPr>
                <a:t>key(data item)=hash(data item’s value)</a:t>
              </a:r>
            </a:p>
            <a:p>
              <a:pPr algn="l">
                <a:lnSpc>
                  <a:spcPts val="2538"/>
                </a:lnSpc>
              </a:pPr>
              <a:r>
                <a:rPr lang="en-US" b="true" sz="2115" spc="105">
                  <a:solidFill>
                    <a:srgbClr val="6D6D6D"/>
                  </a:solidFill>
                  <a:latin typeface="Muli Bold"/>
                  <a:ea typeface="Muli Bold"/>
                  <a:cs typeface="Muli Bold"/>
                  <a:sym typeface="Muli Bold"/>
                </a:rPr>
                <a:t>Hệ thống P2P bây giờ chịu trách nhiệm lưu trữ các cặp (khóa, giá trị).</a:t>
              </a:r>
            </a:p>
            <a:p>
              <a:pPr algn="l">
                <a:lnSpc>
                  <a:spcPts val="2284"/>
                </a:lnSpc>
              </a:pPr>
            </a:p>
            <a:p>
              <a:pPr algn="l">
                <a:lnSpc>
                  <a:spcPts val="2538"/>
                </a:lnSpc>
              </a:pPr>
              <a:r>
                <a:rPr lang="en-US" b="true" sz="2115" spc="105">
                  <a:solidFill>
                    <a:srgbClr val="6D6D6D"/>
                  </a:solidFill>
                  <a:latin typeface="Muli Bold"/>
                  <a:ea typeface="Muli Bold"/>
                  <a:cs typeface="Muli Bold"/>
                  <a:sym typeface="Muli Bold"/>
                </a:rPr>
                <a:t>Ví dụ đơn giản: hypercube</a:t>
              </a:r>
            </a:p>
          </p:txBody>
        </p:sp>
      </p:grpSp>
      <p:sp>
        <p:nvSpPr>
          <p:cNvPr name="Freeform 8" id="8"/>
          <p:cNvSpPr/>
          <p:nvPr/>
        </p:nvSpPr>
        <p:spPr>
          <a:xfrm flipH="false" flipV="false" rot="0">
            <a:off x="2178437" y="3649729"/>
            <a:ext cx="5389854" cy="2088126"/>
          </a:xfrm>
          <a:custGeom>
            <a:avLst/>
            <a:gdLst/>
            <a:ahLst/>
            <a:cxnLst/>
            <a:rect r="r" b="b" t="t" l="l"/>
            <a:pathLst>
              <a:path h="2088126" w="5389854">
                <a:moveTo>
                  <a:pt x="0" y="0"/>
                </a:moveTo>
                <a:lnTo>
                  <a:pt x="5389854" y="0"/>
                </a:lnTo>
                <a:lnTo>
                  <a:pt x="5389854" y="2088126"/>
                </a:lnTo>
                <a:lnTo>
                  <a:pt x="0" y="2088126"/>
                </a:lnTo>
                <a:lnTo>
                  <a:pt x="0" y="0"/>
                </a:lnTo>
                <a:close/>
              </a:path>
            </a:pathLst>
          </a:custGeom>
          <a:blipFill>
            <a:blip r:embed="rId2"/>
            <a:stretch>
              <a:fillRect l="-16" t="0" r="-16" b="0"/>
            </a:stretch>
          </a:blipFill>
        </p:spPr>
      </p:sp>
      <p:grpSp>
        <p:nvGrpSpPr>
          <p:cNvPr name="Group 9" id="9"/>
          <p:cNvGrpSpPr/>
          <p:nvPr/>
        </p:nvGrpSpPr>
        <p:grpSpPr>
          <a:xfrm rot="0">
            <a:off x="672379" y="5812696"/>
            <a:ext cx="8251599" cy="1029781"/>
            <a:chOff x="0" y="0"/>
            <a:chExt cx="11002132" cy="1373042"/>
          </a:xfrm>
        </p:grpSpPr>
        <p:sp>
          <p:nvSpPr>
            <p:cNvPr name="Freeform 10" id="10"/>
            <p:cNvSpPr/>
            <p:nvPr/>
          </p:nvSpPr>
          <p:spPr>
            <a:xfrm flipH="false" flipV="false" rot="0">
              <a:off x="0" y="0"/>
              <a:ext cx="11002132" cy="1373042"/>
            </a:xfrm>
            <a:custGeom>
              <a:avLst/>
              <a:gdLst/>
              <a:ahLst/>
              <a:cxnLst/>
              <a:rect r="r" b="b" t="t" l="l"/>
              <a:pathLst>
                <a:path h="1373042" w="11002132">
                  <a:moveTo>
                    <a:pt x="0" y="0"/>
                  </a:moveTo>
                  <a:lnTo>
                    <a:pt x="11002132" y="0"/>
                  </a:lnTo>
                  <a:lnTo>
                    <a:pt x="11002132" y="1373042"/>
                  </a:lnTo>
                  <a:lnTo>
                    <a:pt x="0" y="1373042"/>
                  </a:lnTo>
                  <a:close/>
                </a:path>
              </a:pathLst>
            </a:custGeom>
            <a:solidFill>
              <a:srgbClr val="000000">
                <a:alpha val="0"/>
              </a:srgbClr>
            </a:solidFill>
          </p:spPr>
        </p:sp>
        <p:sp>
          <p:nvSpPr>
            <p:cNvPr name="TextBox 11" id="11"/>
            <p:cNvSpPr txBox="true"/>
            <p:nvPr/>
          </p:nvSpPr>
          <p:spPr>
            <a:xfrm>
              <a:off x="0" y="-28575"/>
              <a:ext cx="11002132" cy="1401617"/>
            </a:xfrm>
            <a:prstGeom prst="rect">
              <a:avLst/>
            </a:prstGeom>
          </p:spPr>
          <p:txBody>
            <a:bodyPr anchor="t" rtlCol="false" tIns="0" lIns="0" bIns="0" rIns="0"/>
            <a:lstStyle/>
            <a:p>
              <a:pPr algn="l">
                <a:lnSpc>
                  <a:spcPts val="2550"/>
                </a:lnSpc>
              </a:pPr>
              <a:r>
                <a:rPr lang="en-US" sz="1904" spc="19">
                  <a:solidFill>
                    <a:srgbClr val="FFFFFF"/>
                  </a:solidFill>
                  <a:latin typeface="Muli Extra-Light"/>
                  <a:ea typeface="Muli Extra-Light"/>
                  <a:cs typeface="Muli Extra-Light"/>
                  <a:sym typeface="Muli Extra-Light"/>
                </a:rPr>
                <a:t>Trong mô hình này, việc tra cứu dd với khóa k∈{0,1,2,...,24−1}</a:t>
              </a:r>
              <a:r>
                <a:rPr lang="en-US" sz="1904" spc="19">
                  <a:solidFill>
                    <a:srgbClr val="FFFFFF"/>
                  </a:solidFill>
                  <a:latin typeface="Muli Extra-Light"/>
                  <a:ea typeface="Muli Extra-Light"/>
                  <a:cs typeface="Muli Extra-Light"/>
                  <a:sym typeface="Muli Extra-Light"/>
                </a:rPr>
                <a:t>k</a:t>
              </a:r>
              <a:r>
                <a:rPr lang="en-US" sz="1904" spc="19">
                  <a:solidFill>
                    <a:srgbClr val="FFFFFF"/>
                  </a:solidFill>
                  <a:latin typeface="Muli Extra-Light"/>
                  <a:ea typeface="Muli Extra-Light"/>
                  <a:cs typeface="Muli Extra-Light"/>
                  <a:sym typeface="Muli Extra-Light"/>
                </a:rPr>
                <a:t>∈{0,1,2,...,2</a:t>
              </a:r>
              <a:r>
                <a:rPr lang="en-US" sz="1904" spc="19">
                  <a:solidFill>
                    <a:srgbClr val="FFFFFF"/>
                  </a:solidFill>
                  <a:latin typeface="Muli Extra-Light"/>
                  <a:ea typeface="Muli Extra-Light"/>
                  <a:cs typeface="Muli Extra-Light"/>
                  <a:sym typeface="Muli Extra-Light"/>
                </a:rPr>
                <a:t>4</a:t>
              </a:r>
              <a:r>
                <a:rPr lang="en-US" sz="1904" spc="19">
                  <a:solidFill>
                    <a:srgbClr val="FFFFFF"/>
                  </a:solidFill>
                  <a:latin typeface="Muli Extra-Light"/>
                  <a:ea typeface="Muli Extra-Light"/>
                  <a:cs typeface="Muli Extra-Light"/>
                  <a:sym typeface="Muli Extra-Light"/>
                </a:rPr>
                <a:t>−1} có nghĩa là yêu cầu định tuyến đến nút có định danh k</a:t>
              </a:r>
              <a:r>
                <a:rPr lang="en-US" sz="1904" spc="19">
                  <a:solidFill>
                    <a:srgbClr val="FFFFFF"/>
                  </a:solidFill>
                  <a:latin typeface="Muli Extra-Light"/>
                  <a:ea typeface="Muli Extra-Light"/>
                  <a:cs typeface="Muli Extra-Light"/>
                  <a:sym typeface="Muli Extra-Light"/>
                </a:rPr>
                <a:t>k</a:t>
              </a:r>
              <a:r>
                <a:rPr lang="en-US" sz="1904" spc="19">
                  <a:solidFill>
                    <a:srgbClr val="FFFFFF"/>
                  </a:solidFill>
                  <a:latin typeface="Muli Extra-Light"/>
                  <a:ea typeface="Muli Extra-Light"/>
                  <a:cs typeface="Muli Extra-Light"/>
                  <a:sym typeface="Muli Extra-Light"/>
                </a:rPr>
                <a:t>.</a:t>
              </a:r>
            </a:p>
          </p:txBody>
        </p:sp>
      </p:grpSp>
    </p:spTree>
  </p:cSld>
  <p:clrMapOvr>
    <a:masterClrMapping/>
  </p:clrMapOvr>
  <p:transition spd="fast">
    <p:fade/>
  </p:transition>
</p:sld>
</file>

<file path=ppt/slides/slide32.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6345214" cy="891618"/>
            <a:chOff x="0" y="0"/>
            <a:chExt cx="8460285" cy="1188824"/>
          </a:xfrm>
        </p:grpSpPr>
        <p:sp>
          <p:nvSpPr>
            <p:cNvPr name="Freeform 3" id="3"/>
            <p:cNvSpPr/>
            <p:nvPr/>
          </p:nvSpPr>
          <p:spPr>
            <a:xfrm flipH="false" flipV="false" rot="0">
              <a:off x="0" y="0"/>
              <a:ext cx="8460285" cy="1188824"/>
            </a:xfrm>
            <a:custGeom>
              <a:avLst/>
              <a:gdLst/>
              <a:ahLst/>
              <a:cxnLst/>
              <a:rect r="r" b="b" t="t" l="l"/>
              <a:pathLst>
                <a:path h="1188824" w="8460285">
                  <a:moveTo>
                    <a:pt x="0" y="0"/>
                  </a:moveTo>
                  <a:lnTo>
                    <a:pt x="8460285" y="0"/>
                  </a:lnTo>
                  <a:lnTo>
                    <a:pt x="8460285" y="1188824"/>
                  </a:lnTo>
                  <a:lnTo>
                    <a:pt x="0" y="1188824"/>
                  </a:lnTo>
                  <a:close/>
                </a:path>
              </a:pathLst>
            </a:custGeom>
            <a:solidFill>
              <a:srgbClr val="000000">
                <a:alpha val="0"/>
              </a:srgbClr>
            </a:solidFill>
          </p:spPr>
        </p:sp>
        <p:sp>
          <p:nvSpPr>
            <p:cNvPr name="TextBox 4" id="4"/>
            <p:cNvSpPr txBox="true"/>
            <p:nvPr/>
          </p:nvSpPr>
          <p:spPr>
            <a:xfrm>
              <a:off x="0" y="0"/>
              <a:ext cx="8460285" cy="1188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Ví dụ: Chord</a:t>
              </a:r>
            </a:p>
            <a:p>
              <a:pPr algn="l">
                <a:lnSpc>
                  <a:spcPts val="3046"/>
                </a:lnSpc>
              </a:pPr>
            </a:p>
          </p:txBody>
        </p:sp>
      </p:grpSp>
      <p:grpSp>
        <p:nvGrpSpPr>
          <p:cNvPr name="Group 5" id="5"/>
          <p:cNvGrpSpPr/>
          <p:nvPr/>
        </p:nvGrpSpPr>
        <p:grpSpPr>
          <a:xfrm rot="0">
            <a:off x="334589" y="1346536"/>
            <a:ext cx="9186305" cy="2583024"/>
            <a:chOff x="0" y="0"/>
            <a:chExt cx="12248407" cy="3444031"/>
          </a:xfrm>
        </p:grpSpPr>
        <p:sp>
          <p:nvSpPr>
            <p:cNvPr name="Freeform 6" id="6"/>
            <p:cNvSpPr/>
            <p:nvPr/>
          </p:nvSpPr>
          <p:spPr>
            <a:xfrm flipH="false" flipV="false" rot="0">
              <a:off x="0" y="0"/>
              <a:ext cx="12248407" cy="3444032"/>
            </a:xfrm>
            <a:custGeom>
              <a:avLst/>
              <a:gdLst/>
              <a:ahLst/>
              <a:cxnLst/>
              <a:rect r="r" b="b" t="t" l="l"/>
              <a:pathLst>
                <a:path h="3444032" w="12248407">
                  <a:moveTo>
                    <a:pt x="0" y="0"/>
                  </a:moveTo>
                  <a:lnTo>
                    <a:pt x="12248407" y="0"/>
                  </a:lnTo>
                  <a:lnTo>
                    <a:pt x="12248407" y="3444032"/>
                  </a:lnTo>
                  <a:lnTo>
                    <a:pt x="0" y="3444032"/>
                  </a:lnTo>
                  <a:close/>
                </a:path>
              </a:pathLst>
            </a:custGeom>
            <a:solidFill>
              <a:srgbClr val="000000">
                <a:alpha val="0"/>
              </a:srgbClr>
            </a:solidFill>
          </p:spPr>
        </p:sp>
        <p:sp>
          <p:nvSpPr>
            <p:cNvPr name="TextBox 7" id="7"/>
            <p:cNvSpPr txBox="true"/>
            <p:nvPr/>
          </p:nvSpPr>
          <p:spPr>
            <a:xfrm>
              <a:off x="0" y="0"/>
              <a:ext cx="12248407" cy="3444031"/>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Nguyên tắc</a:t>
              </a:r>
            </a:p>
            <a:p>
              <a:pPr algn="l" marL="456781" indent="-228390" lvl="1">
                <a:lnSpc>
                  <a:spcPts val="2538"/>
                </a:lnSpc>
                <a:buFont typeface="Arial"/>
                <a:buChar char="•"/>
              </a:pPr>
              <a:r>
                <a:rPr lang="en-US" b="true" sz="2115">
                  <a:solidFill>
                    <a:srgbClr val="343434"/>
                  </a:solidFill>
                  <a:latin typeface="Muli Ultra-Bold"/>
                  <a:ea typeface="Muli Ultra-Bold"/>
                  <a:cs typeface="Muli Ultra-Bold"/>
                  <a:sym typeface="Muli Ultra-Bold"/>
                </a:rPr>
                <a:t>Các nút được tổ chức hợp lý trong một vòng tròn. Mỗi nút có một định danh m-bit</a:t>
              </a:r>
              <a:r>
                <a:rPr lang="en-US" b="true" sz="2115">
                  <a:solidFill>
                    <a:srgbClr val="343434"/>
                  </a:solidFill>
                  <a:latin typeface="Muli Ultra-Bold"/>
                  <a:ea typeface="Muli Ultra-Bold"/>
                  <a:cs typeface="Muli Ultra-Bold"/>
                  <a:sym typeface="Muli Ultra-Bold"/>
                </a:rPr>
                <a:t>.</a:t>
              </a:r>
            </a:p>
            <a:p>
              <a:pPr algn="l" marL="456781" indent="-228390" lvl="1">
                <a:lnSpc>
                  <a:spcPts val="2538"/>
                </a:lnSpc>
                <a:buFont typeface="Arial"/>
                <a:buChar char="•"/>
              </a:pPr>
              <a:r>
                <a:rPr lang="en-US" b="true" sz="2115">
                  <a:solidFill>
                    <a:srgbClr val="343434"/>
                  </a:solidFill>
                  <a:latin typeface="Muli Ultra-Bold"/>
                  <a:ea typeface="Muli Ultra-Bold"/>
                  <a:cs typeface="Muli Ultra-Bold"/>
                  <a:sym typeface="Muli Ultra-Bold"/>
                </a:rPr>
                <a:t>Mỗi mục dữ liệu được băm thành một khóa m-bit.</a:t>
              </a:r>
            </a:p>
            <a:p>
              <a:pPr algn="l" marL="456781" indent="-228390" lvl="1">
                <a:lnSpc>
                  <a:spcPts val="2538"/>
                </a:lnSpc>
                <a:buFont typeface="Arial"/>
                <a:buChar char="•"/>
              </a:pPr>
              <a:r>
                <a:rPr lang="en-US" b="true" sz="2115">
                  <a:solidFill>
                    <a:srgbClr val="343434"/>
                  </a:solidFill>
                  <a:latin typeface="Muli Ultra-Bold"/>
                  <a:ea typeface="Muli Ultra-Bold"/>
                  <a:cs typeface="Muli Ultra-Bold"/>
                  <a:sym typeface="Muli Ultra-Bold"/>
                </a:rPr>
                <a:t>Mục dữ liệu với khóa k</a:t>
              </a:r>
              <a:r>
                <a:rPr lang="en-US" b="true" sz="2115">
                  <a:solidFill>
                    <a:srgbClr val="343434"/>
                  </a:solidFill>
                  <a:latin typeface="Muli Ultra-Bold"/>
                  <a:ea typeface="Muli Ultra-Bold"/>
                  <a:cs typeface="Muli Ultra-Bold"/>
                  <a:sym typeface="Muli Ultra-Bold"/>
                </a:rPr>
                <a:t>k</a:t>
              </a:r>
              <a:r>
                <a:rPr lang="en-US" b="true" sz="2115">
                  <a:solidFill>
                    <a:srgbClr val="343434"/>
                  </a:solidFill>
                  <a:latin typeface="Muli Ultra-Bold"/>
                  <a:ea typeface="Muli Ultra-Bold"/>
                  <a:cs typeface="Muli Ultra-Bold"/>
                  <a:sym typeface="Muli Ultra-Bold"/>
                </a:rPr>
                <a:t> được lưu trữ tại nút có định danh nhỏ nhất id≥k, được gọi là người kế nhiệm của khóa </a:t>
              </a:r>
              <a:r>
                <a:rPr lang="en-US" b="true" sz="2115">
                  <a:solidFill>
                    <a:srgbClr val="343434"/>
                  </a:solidFill>
                  <a:latin typeface="Muli Ultra-Bold"/>
                  <a:ea typeface="Muli Ultra-Bold"/>
                  <a:cs typeface="Muli Ultra-Bold"/>
                  <a:sym typeface="Muli Ultra-Bold"/>
                </a:rPr>
                <a:t>k</a:t>
              </a:r>
              <a:r>
                <a:rPr lang="en-US" b="true" sz="2115">
                  <a:solidFill>
                    <a:srgbClr val="343434"/>
                  </a:solidFill>
                  <a:latin typeface="Muli Ultra-Bold"/>
                  <a:ea typeface="Muli Ultra-Bold"/>
                  <a:cs typeface="Muli Ultra-Bold"/>
                  <a:sym typeface="Muli Ultra-Bold"/>
                </a:rPr>
                <a:t>.</a:t>
              </a:r>
            </a:p>
            <a:p>
              <a:pPr algn="l" marL="456781" indent="-228390" lvl="1">
                <a:lnSpc>
                  <a:spcPts val="2538"/>
                </a:lnSpc>
                <a:buFont typeface="Arial"/>
                <a:buChar char="•"/>
              </a:pPr>
              <a:r>
                <a:rPr lang="en-US" sz="2115">
                  <a:solidFill>
                    <a:srgbClr val="343434"/>
                  </a:solidFill>
                  <a:latin typeface="Muli"/>
                  <a:ea typeface="Muli"/>
                  <a:cs typeface="Muli"/>
                  <a:sym typeface="Muli"/>
                </a:rPr>
                <a:t>Vòng tròn được mở rộng với các liên kết tắt đến các nút khác.</a:t>
              </a:r>
            </a:p>
            <a:p>
              <a:pPr algn="l">
                <a:lnSpc>
                  <a:spcPts val="2284"/>
                </a:lnSpc>
              </a:pPr>
            </a:p>
          </p:txBody>
        </p:sp>
      </p:gr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201626" y="418298"/>
            <a:ext cx="2377944" cy="503525"/>
            <a:chOff x="0" y="0"/>
            <a:chExt cx="3170592" cy="671366"/>
          </a:xfrm>
        </p:grpSpPr>
        <p:sp>
          <p:nvSpPr>
            <p:cNvPr name="Freeform 3" id="3"/>
            <p:cNvSpPr/>
            <p:nvPr/>
          </p:nvSpPr>
          <p:spPr>
            <a:xfrm flipH="false" flipV="false" rot="0">
              <a:off x="0" y="0"/>
              <a:ext cx="3170592" cy="671366"/>
            </a:xfrm>
            <a:custGeom>
              <a:avLst/>
              <a:gdLst/>
              <a:ahLst/>
              <a:cxnLst/>
              <a:rect r="r" b="b" t="t" l="l"/>
              <a:pathLst>
                <a:path h="671366" w="3170592">
                  <a:moveTo>
                    <a:pt x="0" y="0"/>
                  </a:moveTo>
                  <a:lnTo>
                    <a:pt x="3170592" y="0"/>
                  </a:lnTo>
                  <a:lnTo>
                    <a:pt x="3170592" y="671366"/>
                  </a:lnTo>
                  <a:lnTo>
                    <a:pt x="0" y="671366"/>
                  </a:lnTo>
                  <a:close/>
                </a:path>
              </a:pathLst>
            </a:custGeom>
            <a:solidFill>
              <a:srgbClr val="000000">
                <a:alpha val="0"/>
              </a:srgbClr>
            </a:solidFill>
          </p:spPr>
        </p:sp>
        <p:sp>
          <p:nvSpPr>
            <p:cNvPr name="TextBox 4" id="4"/>
            <p:cNvSpPr txBox="true"/>
            <p:nvPr/>
          </p:nvSpPr>
          <p:spPr>
            <a:xfrm>
              <a:off x="0" y="0"/>
              <a:ext cx="3170592" cy="671366"/>
            </a:xfrm>
            <a:prstGeom prst="rect">
              <a:avLst/>
            </a:prstGeom>
          </p:spPr>
          <p:txBody>
            <a:bodyPr anchor="t" rtlCol="false" tIns="0" lIns="0" bIns="0" rIns="0"/>
            <a:lstStyle/>
            <a:p>
              <a:pPr algn="l">
                <a:lnSpc>
                  <a:spcPts val="3046"/>
                </a:lnSpc>
              </a:pPr>
              <a:r>
                <a:rPr lang="en-US" b="true" sz="2538">
                  <a:solidFill>
                    <a:srgbClr val="513527"/>
                  </a:solidFill>
                  <a:latin typeface="Muli Ultra-Bold"/>
                  <a:ea typeface="Muli Ultra-Bold"/>
                  <a:cs typeface="Muli Ultra-Bold"/>
                  <a:sym typeface="Muli Ultra-Bold"/>
                </a:rPr>
                <a:t>Ví dụ: Chord</a:t>
              </a:r>
            </a:p>
          </p:txBody>
        </p:sp>
      </p:grpSp>
      <p:sp>
        <p:nvSpPr>
          <p:cNvPr name="Freeform 5" id="5"/>
          <p:cNvSpPr/>
          <p:nvPr/>
        </p:nvSpPr>
        <p:spPr>
          <a:xfrm flipH="false" flipV="false" rot="0">
            <a:off x="1140033" y="1121906"/>
            <a:ext cx="7882047" cy="5071388"/>
          </a:xfrm>
          <a:custGeom>
            <a:avLst/>
            <a:gdLst/>
            <a:ahLst/>
            <a:cxnLst/>
            <a:rect r="r" b="b" t="t" l="l"/>
            <a:pathLst>
              <a:path h="5071388" w="7882047">
                <a:moveTo>
                  <a:pt x="0" y="0"/>
                </a:moveTo>
                <a:lnTo>
                  <a:pt x="7882047" y="0"/>
                </a:lnTo>
                <a:lnTo>
                  <a:pt x="7882047" y="5071388"/>
                </a:lnTo>
                <a:lnTo>
                  <a:pt x="0" y="5071388"/>
                </a:lnTo>
                <a:lnTo>
                  <a:pt x="0" y="0"/>
                </a:lnTo>
                <a:close/>
              </a:path>
            </a:pathLst>
          </a:custGeom>
          <a:blipFill>
            <a:blip r:embed="rId2"/>
            <a:stretch>
              <a:fillRect l="0" t="-4" r="0" b="-4"/>
            </a:stretch>
          </a:blipFill>
        </p:spPr>
      </p:sp>
      <p:grpSp>
        <p:nvGrpSpPr>
          <p:cNvPr name="Group 6" id="6"/>
          <p:cNvGrpSpPr/>
          <p:nvPr/>
        </p:nvGrpSpPr>
        <p:grpSpPr>
          <a:xfrm rot="0">
            <a:off x="3515836" y="6592025"/>
            <a:ext cx="3552667" cy="377643"/>
            <a:chOff x="0" y="0"/>
            <a:chExt cx="4736890" cy="503525"/>
          </a:xfrm>
        </p:grpSpPr>
        <p:sp>
          <p:nvSpPr>
            <p:cNvPr name="Freeform 7" id="7"/>
            <p:cNvSpPr/>
            <p:nvPr/>
          </p:nvSpPr>
          <p:spPr>
            <a:xfrm flipH="false" flipV="false" rot="0">
              <a:off x="0" y="0"/>
              <a:ext cx="4736890" cy="503525"/>
            </a:xfrm>
            <a:custGeom>
              <a:avLst/>
              <a:gdLst/>
              <a:ahLst/>
              <a:cxnLst/>
              <a:rect r="r" b="b" t="t" l="l"/>
              <a:pathLst>
                <a:path h="503525" w="4736890">
                  <a:moveTo>
                    <a:pt x="0" y="0"/>
                  </a:moveTo>
                  <a:lnTo>
                    <a:pt x="4736890" y="0"/>
                  </a:lnTo>
                  <a:lnTo>
                    <a:pt x="4736890" y="503525"/>
                  </a:lnTo>
                  <a:lnTo>
                    <a:pt x="0" y="503525"/>
                  </a:lnTo>
                  <a:close/>
                </a:path>
              </a:pathLst>
            </a:custGeom>
            <a:solidFill>
              <a:srgbClr val="000000">
                <a:alpha val="0"/>
              </a:srgbClr>
            </a:solidFill>
          </p:spPr>
        </p:sp>
        <p:sp>
          <p:nvSpPr>
            <p:cNvPr name="TextBox 8" id="8"/>
            <p:cNvSpPr txBox="true"/>
            <p:nvPr/>
          </p:nvSpPr>
          <p:spPr>
            <a:xfrm>
              <a:off x="0" y="0"/>
              <a:ext cx="4736890" cy="503525"/>
            </a:xfrm>
            <a:prstGeom prst="rect">
              <a:avLst/>
            </a:prstGeom>
          </p:spPr>
          <p:txBody>
            <a:bodyPr anchor="t" rtlCol="false" tIns="0" lIns="0" bIns="0" rIns="0"/>
            <a:lstStyle/>
            <a:p>
              <a:pPr algn="l">
                <a:lnSpc>
                  <a:spcPts val="2284"/>
                </a:lnSpc>
              </a:pPr>
              <a:r>
                <a:rPr lang="en-US" sz="1904">
                  <a:solidFill>
                    <a:srgbClr val="343434"/>
                  </a:solidFill>
                  <a:latin typeface="Muli"/>
                  <a:ea typeface="Muli"/>
                  <a:cs typeface="Muli"/>
                  <a:sym typeface="Muli"/>
                </a:rPr>
                <a:t>tra cứu (3)@9 : 28 → 1 →  4</a:t>
              </a:r>
            </a:p>
          </p:txBody>
        </p:sp>
      </p:grpSp>
    </p:spTree>
  </p:cSld>
  <p:clrMapOvr>
    <a:masterClrMapping/>
  </p:clrMapOvr>
  <p:transition spd="fast">
    <p:fade/>
  </p:transition>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8" id="8"/>
          <p:cNvGrpSpPr/>
          <p:nvPr/>
        </p:nvGrpSpPr>
        <p:grpSpPr>
          <a:xfrm rot="0">
            <a:off x="363936" y="840271"/>
            <a:ext cx="8658144" cy="510618"/>
            <a:chOff x="0" y="0"/>
            <a:chExt cx="11544192" cy="680824"/>
          </a:xfrm>
        </p:grpSpPr>
        <p:sp>
          <p:nvSpPr>
            <p:cNvPr name="Freeform 9" id="9"/>
            <p:cNvSpPr/>
            <p:nvPr/>
          </p:nvSpPr>
          <p:spPr>
            <a:xfrm flipH="false" flipV="false" rot="0">
              <a:off x="0" y="0"/>
              <a:ext cx="11544191" cy="680824"/>
            </a:xfrm>
            <a:custGeom>
              <a:avLst/>
              <a:gdLst/>
              <a:ahLst/>
              <a:cxnLst/>
              <a:rect r="r" b="b" t="t" l="l"/>
              <a:pathLst>
                <a:path h="680824" w="11544191">
                  <a:moveTo>
                    <a:pt x="0" y="0"/>
                  </a:moveTo>
                  <a:lnTo>
                    <a:pt x="11544191" y="0"/>
                  </a:lnTo>
                  <a:lnTo>
                    <a:pt x="11544191" y="680824"/>
                  </a:lnTo>
                  <a:lnTo>
                    <a:pt x="0" y="680824"/>
                  </a:lnTo>
                  <a:close/>
                </a:path>
              </a:pathLst>
            </a:custGeom>
            <a:solidFill>
              <a:srgbClr val="000000">
                <a:alpha val="0"/>
              </a:srgbClr>
            </a:solidFill>
          </p:spPr>
        </p:sp>
        <p:sp>
          <p:nvSpPr>
            <p:cNvPr name="TextBox 10" id="10"/>
            <p:cNvSpPr txBox="true"/>
            <p:nvPr/>
          </p:nvSpPr>
          <p:spPr>
            <a:xfrm>
              <a:off x="0" y="0"/>
              <a:ext cx="11544192"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Mạng ngang hàng phi cấu trúc(Unstructured P2P)</a:t>
              </a:r>
            </a:p>
          </p:txBody>
        </p:sp>
      </p:grpSp>
      <p:grpSp>
        <p:nvGrpSpPr>
          <p:cNvPr name="Group 11" id="11"/>
          <p:cNvGrpSpPr/>
          <p:nvPr/>
        </p:nvGrpSpPr>
        <p:grpSpPr>
          <a:xfrm rot="0">
            <a:off x="684499" y="1916984"/>
            <a:ext cx="8337581" cy="4445546"/>
            <a:chOff x="0" y="0"/>
            <a:chExt cx="11116775" cy="5927394"/>
          </a:xfrm>
        </p:grpSpPr>
        <p:sp>
          <p:nvSpPr>
            <p:cNvPr name="Freeform 12" id="12"/>
            <p:cNvSpPr/>
            <p:nvPr/>
          </p:nvSpPr>
          <p:spPr>
            <a:xfrm flipH="false" flipV="false" rot="0">
              <a:off x="0" y="0"/>
              <a:ext cx="11116776" cy="5927394"/>
            </a:xfrm>
            <a:custGeom>
              <a:avLst/>
              <a:gdLst/>
              <a:ahLst/>
              <a:cxnLst/>
              <a:rect r="r" b="b" t="t" l="l"/>
              <a:pathLst>
                <a:path h="5927394" w="11116776">
                  <a:moveTo>
                    <a:pt x="0" y="0"/>
                  </a:moveTo>
                  <a:lnTo>
                    <a:pt x="11116776" y="0"/>
                  </a:lnTo>
                  <a:lnTo>
                    <a:pt x="11116776" y="5927394"/>
                  </a:lnTo>
                  <a:lnTo>
                    <a:pt x="0" y="5927394"/>
                  </a:lnTo>
                  <a:close/>
                </a:path>
              </a:pathLst>
            </a:custGeom>
            <a:solidFill>
              <a:srgbClr val="000000">
                <a:alpha val="0"/>
              </a:srgbClr>
            </a:solidFill>
          </p:spPr>
        </p:sp>
        <p:sp>
          <p:nvSpPr>
            <p:cNvPr name="TextBox 13" id="13"/>
            <p:cNvSpPr txBox="true"/>
            <p:nvPr/>
          </p:nvSpPr>
          <p:spPr>
            <a:xfrm>
              <a:off x="0" y="0"/>
              <a:ext cx="11116775" cy="5927394"/>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Bản chất</a:t>
              </a:r>
            </a:p>
            <a:p>
              <a:pPr algn="l">
                <a:lnSpc>
                  <a:spcPts val="2560"/>
                </a:lnSpc>
              </a:pPr>
              <a:r>
                <a:rPr lang="en-US" sz="1904">
                  <a:solidFill>
                    <a:srgbClr val="343434"/>
                  </a:solidFill>
                  <a:latin typeface="Muli"/>
                  <a:ea typeface="Muli"/>
                  <a:cs typeface="Muli"/>
                  <a:sym typeface="Muli"/>
                </a:rPr>
                <a:t>Mỗi nút duy trì một danh sách các nút lân cận ngẫu nhiên. Mạng lớp phủ (overlay) kết quả giống như một đồ thị ngẫu nhiên: một cạnh ⟨u,v⟩ chỉ tồn tại với một xác suất nhất định P[⟨u,v⟩].</a:t>
              </a:r>
            </a:p>
            <a:p>
              <a:pPr algn="l">
                <a:lnSpc>
                  <a:spcPts val="2538"/>
                </a:lnSpc>
              </a:pPr>
              <a:r>
                <a:rPr lang="en-US" b="true" sz="2115">
                  <a:solidFill>
                    <a:srgbClr val="343434"/>
                  </a:solidFill>
                  <a:latin typeface="Muli Ultra-Bold"/>
                  <a:ea typeface="Muli Ultra-Bold"/>
                  <a:cs typeface="Muli Ultra-Bold"/>
                  <a:sym typeface="Muli Ultra-Bold"/>
                </a:rPr>
                <a:t>Tìm kiếm</a:t>
              </a:r>
            </a:p>
            <a:p>
              <a:pPr algn="l" marL="819229" indent="-409614" lvl="1">
                <a:lnSpc>
                  <a:spcPts val="2550"/>
                </a:lnSpc>
                <a:buFont typeface="Arial"/>
                <a:buChar char="•"/>
              </a:pPr>
              <a:r>
                <a:rPr lang="en-US" sz="1904">
                  <a:solidFill>
                    <a:srgbClr val="343434"/>
                  </a:solidFill>
                  <a:latin typeface="Muli"/>
                  <a:ea typeface="Muli"/>
                  <a:cs typeface="Muli"/>
                  <a:sym typeface="Muli"/>
                </a:rPr>
                <a:t>Lan truyền (Flooding): nút phát u chuyển yêu cầu cho d đến tất cả các nút lân cận. Yêu cầu bị bỏ qua khi nút nhận v đã thấy nó trước đó. Nếu không, v tìm kiếm cục bộ cho d (đệ quy). Có thể bị giới hạn bởi Time-To-Live (TTL): số lượng bước nhảy tối đa.</a:t>
              </a:r>
            </a:p>
            <a:p>
              <a:pPr algn="l" marL="819229" indent="-409614" lvl="1">
                <a:lnSpc>
                  <a:spcPts val="2550"/>
                </a:lnSpc>
                <a:buFont typeface="Arial"/>
                <a:buChar char="•"/>
              </a:pPr>
              <a:r>
                <a:rPr lang="en-US" sz="1904">
                  <a:solidFill>
                    <a:srgbClr val="343434"/>
                  </a:solidFill>
                  <a:latin typeface="Muli"/>
                  <a:ea typeface="Muli"/>
                  <a:cs typeface="Muli"/>
                  <a:sym typeface="Muli"/>
                </a:rPr>
                <a:t>Bước ngẫu nhiên (Random walk): nút phát u chuyển yêu cầu cho d đến một nút lân cận v được chọn ngẫu nhiên. Nếu v không có d, nó chuyển tiếp yêu cầu đến một trong các nút lân cận được chọn ngẫu nhiên của nó, và cứ tiếp tục như vậy.</a:t>
              </a:r>
            </a:p>
          </p:txBody>
        </p:sp>
      </p:grpSp>
      <p:sp>
        <p:nvSpPr>
          <p:cNvPr name="Freeform 14" id="14"/>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8" id="8"/>
          <p:cNvGrpSpPr/>
          <p:nvPr/>
        </p:nvGrpSpPr>
        <p:grpSpPr>
          <a:xfrm rot="0">
            <a:off x="201626" y="418298"/>
            <a:ext cx="6345214" cy="510618"/>
            <a:chOff x="0" y="0"/>
            <a:chExt cx="8460285" cy="680824"/>
          </a:xfrm>
        </p:grpSpPr>
        <p:sp>
          <p:nvSpPr>
            <p:cNvPr name="Freeform 9" id="9"/>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0" id="10"/>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Lan truyền so với bước ngẫu nhiên</a:t>
              </a:r>
            </a:p>
          </p:txBody>
        </p:sp>
      </p:grpSp>
      <p:grpSp>
        <p:nvGrpSpPr>
          <p:cNvPr name="Group 11" id="11"/>
          <p:cNvGrpSpPr/>
          <p:nvPr/>
        </p:nvGrpSpPr>
        <p:grpSpPr>
          <a:xfrm rot="0">
            <a:off x="726843" y="1056743"/>
            <a:ext cx="7849899" cy="1909072"/>
            <a:chOff x="0" y="0"/>
            <a:chExt cx="10466532" cy="2545430"/>
          </a:xfrm>
        </p:grpSpPr>
        <p:sp>
          <p:nvSpPr>
            <p:cNvPr name="Freeform 12" id="12"/>
            <p:cNvSpPr/>
            <p:nvPr/>
          </p:nvSpPr>
          <p:spPr>
            <a:xfrm flipH="false" flipV="false" rot="0">
              <a:off x="0" y="0"/>
              <a:ext cx="10466532" cy="2545430"/>
            </a:xfrm>
            <a:custGeom>
              <a:avLst/>
              <a:gdLst/>
              <a:ahLst/>
              <a:cxnLst/>
              <a:rect r="r" b="b" t="t" l="l"/>
              <a:pathLst>
                <a:path h="2545430" w="10466532">
                  <a:moveTo>
                    <a:pt x="0" y="0"/>
                  </a:moveTo>
                  <a:lnTo>
                    <a:pt x="10466532" y="0"/>
                  </a:lnTo>
                  <a:lnTo>
                    <a:pt x="10466532" y="2545430"/>
                  </a:lnTo>
                  <a:lnTo>
                    <a:pt x="0" y="2545430"/>
                  </a:lnTo>
                  <a:close/>
                </a:path>
              </a:pathLst>
            </a:custGeom>
            <a:solidFill>
              <a:srgbClr val="000000">
                <a:alpha val="0"/>
              </a:srgbClr>
            </a:solidFill>
          </p:spPr>
        </p:sp>
        <p:sp>
          <p:nvSpPr>
            <p:cNvPr name="TextBox 13" id="13"/>
            <p:cNvSpPr txBox="true"/>
            <p:nvPr/>
          </p:nvSpPr>
          <p:spPr>
            <a:xfrm>
              <a:off x="0" y="-28575"/>
              <a:ext cx="10466532" cy="2574005"/>
            </a:xfrm>
            <a:prstGeom prst="rect">
              <a:avLst/>
            </a:prstGeom>
          </p:spPr>
          <p:txBody>
            <a:bodyPr anchor="t" rtlCol="false" tIns="0" lIns="0" bIns="0" rIns="0"/>
            <a:lstStyle/>
            <a:p>
              <a:pPr algn="l">
                <a:lnSpc>
                  <a:spcPts val="2559"/>
                </a:lnSpc>
              </a:pPr>
              <a:r>
                <a:rPr lang="en-US" sz="1904">
                  <a:solidFill>
                    <a:srgbClr val="343434"/>
                  </a:solidFill>
                  <a:latin typeface="Muli"/>
                  <a:ea typeface="Muli"/>
                  <a:cs typeface="Muli"/>
                  <a:sym typeface="Muli"/>
                </a:rPr>
                <a:t>Mô hình</a:t>
              </a:r>
            </a:p>
            <a:p>
              <a:pPr algn="l">
                <a:lnSpc>
                  <a:spcPts val="2284"/>
                </a:lnSpc>
              </a:pPr>
              <a:r>
                <a:rPr lang="en-US" sz="1904">
                  <a:solidFill>
                    <a:srgbClr val="343434"/>
                  </a:solidFill>
                  <a:latin typeface="Muli"/>
                  <a:ea typeface="Muli"/>
                  <a:cs typeface="Muli"/>
                  <a:sym typeface="Muli"/>
                </a:rPr>
                <a:t>Giả sử có N nút và mỗi mục dữ liệu được sao chép trên r nút được chọn ngẫu nhiên. Bước ngẫu nhiên P[k] là xác suất tìm thấy mục sau k lần thử:</a:t>
              </a:r>
            </a:p>
          </p:txBody>
        </p:sp>
      </p:grpSp>
      <p:sp>
        <p:nvSpPr>
          <p:cNvPr name="Freeform 14" id="14"/>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3083399" y="2479656"/>
            <a:ext cx="3043889" cy="790761"/>
          </a:xfrm>
          <a:custGeom>
            <a:avLst/>
            <a:gdLst/>
            <a:ahLst/>
            <a:cxnLst/>
            <a:rect r="r" b="b" t="t" l="l"/>
            <a:pathLst>
              <a:path h="790761" w="3043889">
                <a:moveTo>
                  <a:pt x="0" y="0"/>
                </a:moveTo>
                <a:lnTo>
                  <a:pt x="3043889" y="0"/>
                </a:lnTo>
                <a:lnTo>
                  <a:pt x="3043889" y="790761"/>
                </a:lnTo>
                <a:lnTo>
                  <a:pt x="0" y="790761"/>
                </a:lnTo>
                <a:lnTo>
                  <a:pt x="0" y="0"/>
                </a:lnTo>
                <a:close/>
              </a:path>
            </a:pathLst>
          </a:custGeom>
          <a:blipFill>
            <a:blip r:embed="rId4"/>
            <a:stretch>
              <a:fillRect l="0" t="0" r="0" b="0"/>
            </a:stretch>
          </a:blipFill>
        </p:spPr>
      </p:sp>
      <p:sp>
        <p:nvSpPr>
          <p:cNvPr name="Freeform 16" id="16"/>
          <p:cNvSpPr/>
          <p:nvPr/>
        </p:nvSpPr>
        <p:spPr>
          <a:xfrm flipH="false" flipV="false" rot="0">
            <a:off x="1970664" y="5080457"/>
            <a:ext cx="5807808" cy="876326"/>
          </a:xfrm>
          <a:custGeom>
            <a:avLst/>
            <a:gdLst/>
            <a:ahLst/>
            <a:cxnLst/>
            <a:rect r="r" b="b" t="t" l="l"/>
            <a:pathLst>
              <a:path h="876326" w="5807808">
                <a:moveTo>
                  <a:pt x="0" y="0"/>
                </a:moveTo>
                <a:lnTo>
                  <a:pt x="5807808" y="0"/>
                </a:lnTo>
                <a:lnTo>
                  <a:pt x="5807808" y="876326"/>
                </a:lnTo>
                <a:lnTo>
                  <a:pt x="0" y="876326"/>
                </a:lnTo>
                <a:lnTo>
                  <a:pt x="0" y="0"/>
                </a:lnTo>
                <a:close/>
              </a:path>
            </a:pathLst>
          </a:custGeom>
          <a:blipFill>
            <a:blip r:embed="rId5"/>
            <a:stretch>
              <a:fillRect l="0" t="0" r="0" b="0"/>
            </a:stretch>
          </a:blipFill>
        </p:spPr>
      </p:sp>
      <p:sp>
        <p:nvSpPr>
          <p:cNvPr name="TextBox 17" id="17"/>
          <p:cNvSpPr txBox="true"/>
          <p:nvPr/>
        </p:nvSpPr>
        <p:spPr>
          <a:xfrm rot="0">
            <a:off x="443653" y="4378469"/>
            <a:ext cx="7309366" cy="304800"/>
          </a:xfrm>
          <a:prstGeom prst="rect">
            <a:avLst/>
          </a:prstGeom>
        </p:spPr>
        <p:txBody>
          <a:bodyPr anchor="t" rtlCol="false" tIns="0" lIns="0" bIns="0" rIns="0">
            <a:spAutoFit/>
          </a:bodyPr>
          <a:lstStyle/>
          <a:p>
            <a:pPr algn="ctr">
              <a:lnSpc>
                <a:spcPts val="2326"/>
              </a:lnSpc>
              <a:spcBef>
                <a:spcPct val="0"/>
              </a:spcBef>
            </a:pPr>
            <a:r>
              <a:rPr lang="en-US" b="true" sz="1938">
                <a:solidFill>
                  <a:srgbClr val="343434"/>
                </a:solidFill>
                <a:latin typeface="Muli Ultra-Bold"/>
                <a:ea typeface="Muli Ultra-Bold"/>
                <a:cs typeface="Muli Ultra-Bold"/>
                <a:sym typeface="Muli Ultra-Bold"/>
              </a:rPr>
              <a:t>S (“kích thước tìm kiếm”) là số nút dự kiến cần được thăm dò:</a:t>
            </a:r>
          </a:p>
        </p:txBody>
      </p:sp>
    </p:spTree>
  </p:cSld>
  <p:clrMapOvr>
    <a:masterClrMapping/>
  </p:clrMapOvr>
  <p:transition spd="fast">
    <p:fade/>
  </p:transition>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8" id="8"/>
          <p:cNvGrpSpPr/>
          <p:nvPr/>
        </p:nvGrpSpPr>
        <p:grpSpPr>
          <a:xfrm rot="0">
            <a:off x="654163" y="1202545"/>
            <a:ext cx="7532842" cy="1956593"/>
            <a:chOff x="0" y="0"/>
            <a:chExt cx="10043790" cy="2608790"/>
          </a:xfrm>
        </p:grpSpPr>
        <p:sp>
          <p:nvSpPr>
            <p:cNvPr name="Freeform 9" id="9"/>
            <p:cNvSpPr/>
            <p:nvPr/>
          </p:nvSpPr>
          <p:spPr>
            <a:xfrm flipH="false" flipV="false" rot="0">
              <a:off x="0" y="0"/>
              <a:ext cx="10043790" cy="2608790"/>
            </a:xfrm>
            <a:custGeom>
              <a:avLst/>
              <a:gdLst/>
              <a:ahLst/>
              <a:cxnLst/>
              <a:rect r="r" b="b" t="t" l="l"/>
              <a:pathLst>
                <a:path h="2608790" w="10043790">
                  <a:moveTo>
                    <a:pt x="0" y="0"/>
                  </a:moveTo>
                  <a:lnTo>
                    <a:pt x="10043790" y="0"/>
                  </a:lnTo>
                  <a:lnTo>
                    <a:pt x="10043790" y="2608790"/>
                  </a:lnTo>
                  <a:lnTo>
                    <a:pt x="0" y="2608790"/>
                  </a:lnTo>
                  <a:close/>
                </a:path>
              </a:pathLst>
            </a:custGeom>
            <a:solidFill>
              <a:srgbClr val="000000">
                <a:alpha val="0"/>
              </a:srgbClr>
            </a:solidFill>
          </p:spPr>
        </p:sp>
        <p:sp>
          <p:nvSpPr>
            <p:cNvPr name="TextBox 10" id="10"/>
            <p:cNvSpPr txBox="true"/>
            <p:nvPr/>
          </p:nvSpPr>
          <p:spPr>
            <a:xfrm>
              <a:off x="0" y="0"/>
              <a:ext cx="10043790" cy="2608790"/>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Lan truyền</a:t>
              </a:r>
            </a:p>
            <a:p>
              <a:pPr algn="l" marL="819229" indent="-409614" lvl="1">
                <a:lnSpc>
                  <a:spcPts val="2284"/>
                </a:lnSpc>
                <a:buFont typeface="Arial"/>
                <a:buChar char="•"/>
              </a:pPr>
              <a:r>
                <a:rPr lang="en-US" sz="1904">
                  <a:solidFill>
                    <a:srgbClr val="343434"/>
                  </a:solidFill>
                  <a:latin typeface="Muli"/>
                  <a:ea typeface="Muli"/>
                  <a:cs typeface="Muli"/>
                  <a:sym typeface="Muli"/>
                </a:rPr>
                <a:t>Gửi lũ lụt đến d hàng xóm được chọn ngẫu nhiên</a:t>
              </a:r>
            </a:p>
            <a:p>
              <a:pPr algn="l" marL="819060" indent="-409530" lvl="1">
                <a:lnSpc>
                  <a:spcPts val="2549"/>
                </a:lnSpc>
                <a:buFont typeface="Arial"/>
                <a:buChar char="•"/>
              </a:pPr>
              <a:r>
                <a:rPr lang="en-US" sz="1904">
                  <a:solidFill>
                    <a:srgbClr val="343434"/>
                  </a:solidFill>
                  <a:latin typeface="Muli"/>
                  <a:ea typeface="Muli"/>
                  <a:cs typeface="Muli"/>
                  <a:sym typeface="Muli"/>
                </a:rPr>
                <a:t>Sau k bước, một số lượng R(k) = d ·(d −1)^(k−1) sẽ bị ảnh hưởng (giả sử k nhỏ).</a:t>
              </a:r>
            </a:p>
            <a:p>
              <a:pPr algn="l" marL="819231" indent="-409615" lvl="1">
                <a:lnSpc>
                  <a:spcPts val="2550"/>
                </a:lnSpc>
                <a:buFont typeface="Arial"/>
                <a:buChar char="•"/>
              </a:pPr>
              <a:r>
                <a:rPr lang="en-US" sz="1904">
                  <a:solidFill>
                    <a:srgbClr val="343434"/>
                  </a:solidFill>
                  <a:latin typeface="Muli"/>
                  <a:ea typeface="Muli"/>
                  <a:cs typeface="Muli"/>
                  <a:sym typeface="Muli"/>
                </a:rPr>
                <a:t>Với tỷ lệ r/N nút có dữ liệu, nếu r·R(k)/N ≥ 1, chúng ta sẽ tìm thấy mục dữ liệu.</a:t>
              </a:r>
            </a:p>
          </p:txBody>
        </p:sp>
      </p:grpSp>
      <p:grpSp>
        <p:nvGrpSpPr>
          <p:cNvPr name="Group 11" id="11"/>
          <p:cNvGrpSpPr/>
          <p:nvPr/>
        </p:nvGrpSpPr>
        <p:grpSpPr>
          <a:xfrm rot="0">
            <a:off x="654163" y="3447921"/>
            <a:ext cx="8313397" cy="1811175"/>
            <a:chOff x="0" y="0"/>
            <a:chExt cx="11084529" cy="2414900"/>
          </a:xfrm>
        </p:grpSpPr>
        <p:sp>
          <p:nvSpPr>
            <p:cNvPr name="Freeform 12" id="12"/>
            <p:cNvSpPr/>
            <p:nvPr/>
          </p:nvSpPr>
          <p:spPr>
            <a:xfrm flipH="false" flipV="false" rot="0">
              <a:off x="0" y="0"/>
              <a:ext cx="11084529" cy="2414900"/>
            </a:xfrm>
            <a:custGeom>
              <a:avLst/>
              <a:gdLst/>
              <a:ahLst/>
              <a:cxnLst/>
              <a:rect r="r" b="b" t="t" l="l"/>
              <a:pathLst>
                <a:path h="2414900" w="11084529">
                  <a:moveTo>
                    <a:pt x="0" y="0"/>
                  </a:moveTo>
                  <a:lnTo>
                    <a:pt x="11084529" y="0"/>
                  </a:lnTo>
                  <a:lnTo>
                    <a:pt x="11084529" y="2414900"/>
                  </a:lnTo>
                  <a:lnTo>
                    <a:pt x="0" y="2414900"/>
                  </a:lnTo>
                  <a:close/>
                </a:path>
              </a:pathLst>
            </a:custGeom>
            <a:solidFill>
              <a:srgbClr val="000000">
                <a:alpha val="0"/>
              </a:srgbClr>
            </a:solidFill>
          </p:spPr>
        </p:sp>
        <p:sp>
          <p:nvSpPr>
            <p:cNvPr name="TextBox 13" id="13"/>
            <p:cNvSpPr txBox="true"/>
            <p:nvPr/>
          </p:nvSpPr>
          <p:spPr>
            <a:xfrm>
              <a:off x="0" y="0"/>
              <a:ext cx="11084529" cy="2414900"/>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So sánh</a:t>
              </a:r>
            </a:p>
            <a:p>
              <a:pPr algn="l" marL="872968" indent="-436484" lvl="1">
                <a:lnSpc>
                  <a:spcPts val="2284"/>
                </a:lnSpc>
                <a:buFont typeface="Arial"/>
                <a:buChar char="•"/>
              </a:pPr>
              <a:r>
                <a:rPr lang="en-US" sz="1904">
                  <a:solidFill>
                    <a:srgbClr val="343434"/>
                  </a:solidFill>
                  <a:latin typeface="Muli"/>
                  <a:ea typeface="Muli"/>
                  <a:cs typeface="Muli"/>
                  <a:sym typeface="Muli"/>
                </a:rPr>
                <a:t>Nếu r/N = 0.001, thì S ≈ 1000</a:t>
              </a:r>
            </a:p>
            <a:p>
              <a:pPr algn="l" marL="872968" indent="-436484" lvl="1">
                <a:lnSpc>
                  <a:spcPts val="2284"/>
                </a:lnSpc>
                <a:buFont typeface="Arial"/>
                <a:buChar char="•"/>
              </a:pPr>
              <a:r>
                <a:rPr lang="en-US" sz="1904">
                  <a:solidFill>
                    <a:srgbClr val="343434"/>
                  </a:solidFill>
                  <a:latin typeface="Muli"/>
                  <a:ea typeface="Muli"/>
                  <a:cs typeface="Muli"/>
                  <a:sym typeface="Muli"/>
                </a:rPr>
                <a:t>Với lũ lụt và d = 10, k = 4, chúng ta liên lạc với 7290 nút.</a:t>
              </a:r>
            </a:p>
            <a:p>
              <a:pPr algn="l" marL="872968" indent="-436484" lvl="1">
                <a:lnSpc>
                  <a:spcPts val="2550"/>
                </a:lnSpc>
                <a:buFont typeface="Arial"/>
                <a:buChar char="•"/>
              </a:pPr>
              <a:r>
                <a:rPr lang="en-US" sz="1904">
                  <a:solidFill>
                    <a:srgbClr val="343434"/>
                  </a:solidFill>
                  <a:latin typeface="Muli"/>
                  <a:ea typeface="Muli"/>
                  <a:cs typeface="Muli"/>
                  <a:sym typeface="Muli"/>
                </a:rPr>
                <a:t>Bước ngẫu nhiên (Random walks) hiệu quả giao tiếp hơn, nhưng có thể mất nhiều thời gian hơn trước khi tìm thấy kết quả.</a:t>
              </a:r>
            </a:p>
          </p:txBody>
        </p:sp>
      </p:grpSp>
      <p:sp>
        <p:nvSpPr>
          <p:cNvPr name="Freeform 14" id="14"/>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201626" y="418298"/>
            <a:ext cx="6345214" cy="510618"/>
            <a:chOff x="0" y="0"/>
            <a:chExt cx="8460285" cy="680824"/>
          </a:xfrm>
        </p:grpSpPr>
        <p:sp>
          <p:nvSpPr>
            <p:cNvPr name="Freeform 16" id="16"/>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7" id="17"/>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Lan truyền so với bước ngẫu nhiên</a:t>
              </a:r>
            </a:p>
          </p:txBody>
        </p:sp>
      </p:grpSp>
    </p:spTree>
  </p:cSld>
  <p:clrMapOvr>
    <a:masterClrMapping/>
  </p:clrMapOvr>
  <p:transition spd="fast">
    <p:fade/>
  </p:transition>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8" id="8"/>
          <p:cNvGrpSpPr/>
          <p:nvPr/>
        </p:nvGrpSpPr>
        <p:grpSpPr>
          <a:xfrm rot="0">
            <a:off x="324463" y="499104"/>
            <a:ext cx="6345214" cy="510618"/>
            <a:chOff x="0" y="0"/>
            <a:chExt cx="8460285" cy="680824"/>
          </a:xfrm>
        </p:grpSpPr>
        <p:sp>
          <p:nvSpPr>
            <p:cNvPr name="Freeform 9" id="9"/>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0" id="10"/>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Mạng ngang hàng siêu cấp (Super-peer)</a:t>
              </a:r>
            </a:p>
          </p:txBody>
        </p:sp>
      </p:grpSp>
      <p:grpSp>
        <p:nvGrpSpPr>
          <p:cNvPr name="Group 11" id="11"/>
          <p:cNvGrpSpPr/>
          <p:nvPr/>
        </p:nvGrpSpPr>
        <p:grpSpPr>
          <a:xfrm rot="0">
            <a:off x="557767" y="1056743"/>
            <a:ext cx="8427259" cy="2242343"/>
            <a:chOff x="0" y="0"/>
            <a:chExt cx="11236346" cy="2989790"/>
          </a:xfrm>
        </p:grpSpPr>
        <p:sp>
          <p:nvSpPr>
            <p:cNvPr name="Freeform 12" id="12"/>
            <p:cNvSpPr/>
            <p:nvPr/>
          </p:nvSpPr>
          <p:spPr>
            <a:xfrm flipH="false" flipV="false" rot="0">
              <a:off x="0" y="0"/>
              <a:ext cx="11236346" cy="2989790"/>
            </a:xfrm>
            <a:custGeom>
              <a:avLst/>
              <a:gdLst/>
              <a:ahLst/>
              <a:cxnLst/>
              <a:rect r="r" b="b" t="t" l="l"/>
              <a:pathLst>
                <a:path h="2989790" w="11236346">
                  <a:moveTo>
                    <a:pt x="0" y="0"/>
                  </a:moveTo>
                  <a:lnTo>
                    <a:pt x="11236346" y="0"/>
                  </a:lnTo>
                  <a:lnTo>
                    <a:pt x="11236346" y="2989790"/>
                  </a:lnTo>
                  <a:lnTo>
                    <a:pt x="0" y="2989790"/>
                  </a:lnTo>
                  <a:close/>
                </a:path>
              </a:pathLst>
            </a:custGeom>
            <a:solidFill>
              <a:srgbClr val="000000">
                <a:alpha val="0"/>
              </a:srgbClr>
            </a:solidFill>
          </p:spPr>
        </p:sp>
        <p:sp>
          <p:nvSpPr>
            <p:cNvPr name="TextBox 13" id="13"/>
            <p:cNvSpPr txBox="true"/>
            <p:nvPr/>
          </p:nvSpPr>
          <p:spPr>
            <a:xfrm>
              <a:off x="0" y="0"/>
              <a:ext cx="11236346" cy="2989790"/>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Bản chất</a:t>
              </a:r>
            </a:p>
            <a:p>
              <a:pPr algn="l">
                <a:lnSpc>
                  <a:spcPts val="2284"/>
                </a:lnSpc>
              </a:pPr>
              <a:r>
                <a:rPr lang="en-US" sz="1904">
                  <a:solidFill>
                    <a:srgbClr val="343434"/>
                  </a:solidFill>
                  <a:latin typeface="Muli"/>
                  <a:ea typeface="Muli"/>
                  <a:cs typeface="Muli"/>
                  <a:sym typeface="Muli"/>
                </a:rPr>
                <a:t>Đôi khi, việc phá vỡ tính đối xứng trong các mạng ngang hàng thuần túy là hợp lý</a:t>
              </a:r>
            </a:p>
            <a:p>
              <a:pPr algn="l" marL="819060" indent="-409530" lvl="1">
                <a:lnSpc>
                  <a:spcPts val="2549"/>
                </a:lnSpc>
                <a:buFont typeface="Arial"/>
                <a:buChar char="•"/>
              </a:pPr>
              <a:r>
                <a:rPr lang="en-US" sz="1904">
                  <a:solidFill>
                    <a:srgbClr val="343434"/>
                  </a:solidFill>
                  <a:latin typeface="Muli"/>
                  <a:ea typeface="Muli"/>
                  <a:cs typeface="Muli"/>
                  <a:sym typeface="Muli"/>
                </a:rPr>
                <a:t>Khi tìm kiếm trong các hệ thống P2P phi cấu trúc, việc có các máy chủ chỉ mục sẽ cải thiện hiệu suất.</a:t>
              </a:r>
            </a:p>
            <a:p>
              <a:pPr algn="l" marL="819229" indent="-409614" lvl="1">
                <a:lnSpc>
                  <a:spcPts val="2550"/>
                </a:lnSpc>
                <a:buFont typeface="Arial"/>
                <a:buChar char="•"/>
              </a:pPr>
              <a:r>
                <a:rPr lang="en-US" sz="1904">
                  <a:solidFill>
                    <a:srgbClr val="343434"/>
                  </a:solidFill>
                  <a:latin typeface="Muli"/>
                  <a:ea typeface="Muli"/>
                  <a:cs typeface="Muli"/>
                  <a:sym typeface="Muli"/>
                </a:rPr>
                <a:t>Việc quyết định nơi lưu trữ dữ liệu thường có thể được thực hiện hiệu quả hơn thông qua các nhà môi giới.</a:t>
              </a:r>
            </a:p>
          </p:txBody>
        </p:sp>
      </p:grpSp>
      <p:sp>
        <p:nvSpPr>
          <p:cNvPr name="Freeform 14" id="14"/>
          <p:cNvSpPr/>
          <p:nvPr/>
        </p:nvSpPr>
        <p:spPr>
          <a:xfrm flipH="false" flipV="false" rot="0">
            <a:off x="1841701" y="3535154"/>
            <a:ext cx="5470595" cy="2501198"/>
          </a:xfrm>
          <a:custGeom>
            <a:avLst/>
            <a:gdLst/>
            <a:ahLst/>
            <a:cxnLst/>
            <a:rect r="r" b="b" t="t" l="l"/>
            <a:pathLst>
              <a:path h="2501198" w="5470595">
                <a:moveTo>
                  <a:pt x="0" y="0"/>
                </a:moveTo>
                <a:lnTo>
                  <a:pt x="5470595" y="0"/>
                </a:lnTo>
                <a:lnTo>
                  <a:pt x="5470595" y="2501198"/>
                </a:lnTo>
                <a:lnTo>
                  <a:pt x="0" y="2501198"/>
                </a:lnTo>
                <a:lnTo>
                  <a:pt x="0" y="0"/>
                </a:lnTo>
                <a:close/>
              </a:path>
            </a:pathLst>
          </a:custGeom>
          <a:blipFill>
            <a:blip r:embed="rId2"/>
            <a:stretch>
              <a:fillRect l="0" t="-25" r="0" b="-25"/>
            </a:stretch>
          </a:blipFill>
        </p:spPr>
      </p:sp>
      <p:sp>
        <p:nvSpPr>
          <p:cNvPr name="Freeform 15" id="15"/>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8" id="8"/>
          <p:cNvGrpSpPr/>
          <p:nvPr/>
        </p:nvGrpSpPr>
        <p:grpSpPr>
          <a:xfrm rot="0">
            <a:off x="201626" y="418298"/>
            <a:ext cx="6345214" cy="510618"/>
            <a:chOff x="0" y="0"/>
            <a:chExt cx="8460285" cy="680824"/>
          </a:xfrm>
        </p:grpSpPr>
        <p:sp>
          <p:nvSpPr>
            <p:cNvPr name="Freeform 9" id="9"/>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0" id="10"/>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Hợp tác: Trường hợp BitTorrent</a:t>
              </a:r>
            </a:p>
          </p:txBody>
        </p:sp>
      </p:grpSp>
      <p:grpSp>
        <p:nvGrpSpPr>
          <p:cNvPr name="Group 11" id="11"/>
          <p:cNvGrpSpPr/>
          <p:nvPr/>
        </p:nvGrpSpPr>
        <p:grpSpPr>
          <a:xfrm rot="0">
            <a:off x="707901" y="1089109"/>
            <a:ext cx="8109191" cy="2623343"/>
            <a:chOff x="0" y="0"/>
            <a:chExt cx="10812255" cy="3497790"/>
          </a:xfrm>
        </p:grpSpPr>
        <p:sp>
          <p:nvSpPr>
            <p:cNvPr name="Freeform 12" id="12"/>
            <p:cNvSpPr/>
            <p:nvPr/>
          </p:nvSpPr>
          <p:spPr>
            <a:xfrm flipH="false" flipV="false" rot="0">
              <a:off x="0" y="0"/>
              <a:ext cx="10812256" cy="3497790"/>
            </a:xfrm>
            <a:custGeom>
              <a:avLst/>
              <a:gdLst/>
              <a:ahLst/>
              <a:cxnLst/>
              <a:rect r="r" b="b" t="t" l="l"/>
              <a:pathLst>
                <a:path h="3497790" w="10812256">
                  <a:moveTo>
                    <a:pt x="0" y="0"/>
                  </a:moveTo>
                  <a:lnTo>
                    <a:pt x="10812256" y="0"/>
                  </a:lnTo>
                  <a:lnTo>
                    <a:pt x="10812256" y="3497790"/>
                  </a:lnTo>
                  <a:lnTo>
                    <a:pt x="0" y="3497790"/>
                  </a:lnTo>
                  <a:close/>
                </a:path>
              </a:pathLst>
            </a:custGeom>
            <a:solidFill>
              <a:srgbClr val="000000">
                <a:alpha val="0"/>
              </a:srgbClr>
            </a:solidFill>
          </p:spPr>
        </p:sp>
        <p:sp>
          <p:nvSpPr>
            <p:cNvPr name="TextBox 13" id="13"/>
            <p:cNvSpPr txBox="true"/>
            <p:nvPr/>
          </p:nvSpPr>
          <p:spPr>
            <a:xfrm>
              <a:off x="0" y="0"/>
              <a:ext cx="10812255" cy="3497790"/>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Nguyên tắc: Tìm kiếm tập tin F</a:t>
              </a:r>
            </a:p>
            <a:p>
              <a:pPr algn="l" marL="819229" indent="-409614" lvl="1">
                <a:lnSpc>
                  <a:spcPts val="2284"/>
                </a:lnSpc>
                <a:buFont typeface="Arial"/>
                <a:buChar char="•"/>
              </a:pPr>
              <a:r>
                <a:rPr lang="en-US" sz="1904">
                  <a:solidFill>
                    <a:srgbClr val="343434"/>
                  </a:solidFill>
                  <a:latin typeface="Muli"/>
                  <a:ea typeface="Muli"/>
                  <a:cs typeface="Muli"/>
                  <a:sym typeface="Muli"/>
                </a:rPr>
                <a:t>Tìm tập tin tại một thư mục toàn cục ⇒ trả về một tập tin torrent</a:t>
              </a:r>
            </a:p>
            <a:p>
              <a:pPr algn="l" marL="819229" indent="-409614" lvl="1">
                <a:lnSpc>
                  <a:spcPts val="2550"/>
                </a:lnSpc>
                <a:buFont typeface="Arial"/>
                <a:buChar char="•"/>
              </a:pPr>
              <a:r>
                <a:rPr lang="en-US" sz="1904">
                  <a:solidFill>
                    <a:srgbClr val="343434"/>
                  </a:solidFill>
                  <a:latin typeface="Muli"/>
                  <a:ea typeface="Muli"/>
                  <a:cs typeface="Muli"/>
                  <a:sym typeface="Muli"/>
                </a:rPr>
                <a:t>Tập tin torrent chứa tham chiếu đến tracker: một máy chủ theo dõi chính xác số lượng các nút đang hoạt động có (các phần) của F.</a:t>
              </a:r>
            </a:p>
            <a:p>
              <a:pPr algn="l" marL="819229" indent="-409614" lvl="1">
                <a:lnSpc>
                  <a:spcPts val="2550"/>
                </a:lnSpc>
                <a:buFont typeface="Arial"/>
                <a:buChar char="•"/>
              </a:pPr>
              <a:r>
                <a:rPr lang="en-US" sz="1904">
                  <a:solidFill>
                    <a:srgbClr val="343434"/>
                  </a:solidFill>
                  <a:latin typeface="Muli"/>
                  <a:ea typeface="Muli"/>
                  <a:cs typeface="Muli"/>
                  <a:sym typeface="Muli"/>
                </a:rPr>
                <a:t>P có thể tham gia bầy (swarm), nhận một phần miễn phí, và sau đó trao đổi bản sao của phần đó với một máy ngang hàng Q cũng trong bầy.</a:t>
              </a:r>
            </a:p>
          </p:txBody>
        </p:sp>
      </p:grpSp>
      <p:sp>
        <p:nvSpPr>
          <p:cNvPr name="Freeform 14" id="14"/>
          <p:cNvSpPr/>
          <p:nvPr/>
        </p:nvSpPr>
        <p:spPr>
          <a:xfrm flipH="false" flipV="false" rot="0">
            <a:off x="1054959" y="3580975"/>
            <a:ext cx="7655314" cy="2287191"/>
          </a:xfrm>
          <a:custGeom>
            <a:avLst/>
            <a:gdLst/>
            <a:ahLst/>
            <a:cxnLst/>
            <a:rect r="r" b="b" t="t" l="l"/>
            <a:pathLst>
              <a:path h="2287191" w="7655314">
                <a:moveTo>
                  <a:pt x="0" y="0"/>
                </a:moveTo>
                <a:lnTo>
                  <a:pt x="7655314" y="0"/>
                </a:lnTo>
                <a:lnTo>
                  <a:pt x="7655314" y="2287190"/>
                </a:lnTo>
                <a:lnTo>
                  <a:pt x="0" y="2287190"/>
                </a:lnTo>
                <a:lnTo>
                  <a:pt x="0" y="0"/>
                </a:lnTo>
                <a:close/>
              </a:path>
            </a:pathLst>
          </a:custGeom>
          <a:blipFill>
            <a:blip r:embed="rId2"/>
            <a:stretch>
              <a:fillRect l="0" t="-12" r="0" b="-12"/>
            </a:stretch>
          </a:blipFill>
        </p:spPr>
      </p:sp>
      <p:sp>
        <p:nvSpPr>
          <p:cNvPr name="Freeform 15" id="15"/>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4874568"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6" id="6"/>
          <p:cNvGrpSpPr/>
          <p:nvPr/>
        </p:nvGrpSpPr>
        <p:grpSpPr>
          <a:xfrm rot="0">
            <a:off x="201626" y="418298"/>
            <a:ext cx="3992564" cy="503525"/>
            <a:chOff x="0" y="0"/>
            <a:chExt cx="5323419" cy="671366"/>
          </a:xfrm>
        </p:grpSpPr>
        <p:sp>
          <p:nvSpPr>
            <p:cNvPr name="Freeform 7" id="7"/>
            <p:cNvSpPr/>
            <p:nvPr/>
          </p:nvSpPr>
          <p:spPr>
            <a:xfrm flipH="false" flipV="false" rot="0">
              <a:off x="0" y="0"/>
              <a:ext cx="5323419" cy="671366"/>
            </a:xfrm>
            <a:custGeom>
              <a:avLst/>
              <a:gdLst/>
              <a:ahLst/>
              <a:cxnLst/>
              <a:rect r="r" b="b" t="t" l="l"/>
              <a:pathLst>
                <a:path h="671366" w="5323419">
                  <a:moveTo>
                    <a:pt x="0" y="0"/>
                  </a:moveTo>
                  <a:lnTo>
                    <a:pt x="5323419" y="0"/>
                  </a:lnTo>
                  <a:lnTo>
                    <a:pt x="5323419" y="671366"/>
                  </a:lnTo>
                  <a:lnTo>
                    <a:pt x="0" y="671366"/>
                  </a:lnTo>
                  <a:close/>
                </a:path>
              </a:pathLst>
            </a:custGeom>
            <a:solidFill>
              <a:srgbClr val="000000">
                <a:alpha val="0"/>
              </a:srgbClr>
            </a:solidFill>
          </p:spPr>
        </p:sp>
        <p:sp>
          <p:nvSpPr>
            <p:cNvPr name="TextBox 8" id="8"/>
            <p:cNvSpPr txBox="true"/>
            <p:nvPr/>
          </p:nvSpPr>
          <p:spPr>
            <a:xfrm>
              <a:off x="0" y="0"/>
              <a:ext cx="5323419" cy="671366"/>
            </a:xfrm>
            <a:prstGeom prst="rect">
              <a:avLst/>
            </a:prstGeom>
          </p:spPr>
          <p:txBody>
            <a:bodyPr anchor="t" rtlCol="false" tIns="0" lIns="0" bIns="0" rIns="0"/>
            <a:lstStyle/>
            <a:p>
              <a:pPr algn="l">
                <a:lnSpc>
                  <a:spcPts val="3046"/>
                </a:lnSpc>
              </a:pPr>
              <a:r>
                <a:rPr lang="en-US" b="true" sz="2538">
                  <a:solidFill>
                    <a:srgbClr val="343434"/>
                  </a:solidFill>
                  <a:latin typeface="Muli Ultra-Bold"/>
                  <a:ea typeface="Muli Ultra-Bold"/>
                  <a:cs typeface="Muli Ultra-Bold"/>
                  <a:sym typeface="Muli Ultra-Bold"/>
                </a:rPr>
                <a:t>Điện toán đám mây</a:t>
              </a:r>
            </a:p>
          </p:txBody>
        </p:sp>
      </p:grpSp>
      <p:sp>
        <p:nvSpPr>
          <p:cNvPr name="Freeform 9" id="9"/>
          <p:cNvSpPr/>
          <p:nvPr/>
        </p:nvSpPr>
        <p:spPr>
          <a:xfrm flipH="false" flipV="false" rot="0">
            <a:off x="1079886" y="1180327"/>
            <a:ext cx="7584334" cy="3306672"/>
          </a:xfrm>
          <a:custGeom>
            <a:avLst/>
            <a:gdLst/>
            <a:ahLst/>
            <a:cxnLst/>
            <a:rect r="r" b="b" t="t" l="l"/>
            <a:pathLst>
              <a:path h="3306672" w="7584334">
                <a:moveTo>
                  <a:pt x="0" y="0"/>
                </a:moveTo>
                <a:lnTo>
                  <a:pt x="7584335" y="0"/>
                </a:lnTo>
                <a:lnTo>
                  <a:pt x="7584335" y="3306672"/>
                </a:lnTo>
                <a:lnTo>
                  <a:pt x="0" y="3306672"/>
                </a:lnTo>
                <a:lnTo>
                  <a:pt x="0" y="0"/>
                </a:lnTo>
                <a:close/>
              </a:path>
            </a:pathLst>
          </a:custGeom>
          <a:blipFill>
            <a:blip r:embed="rId2"/>
            <a:stretch>
              <a:fillRect l="0" t="-16" r="0" b="-16"/>
            </a:stretch>
          </a:blipFill>
        </p:spPr>
      </p:sp>
      <p:sp>
        <p:nvSpPr>
          <p:cNvPr name="Freeform 10" id="10"/>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0.xml><?xml version="1.0" encoding="utf-8"?>
<p:sld xmlns:p="http://schemas.openxmlformats.org/presentationml/2006/main" xmlns:a="http://schemas.openxmlformats.org/drawingml/2006/main">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731520" y="1568667"/>
            <a:ext cx="8308025" cy="4280693"/>
            <a:chOff x="0" y="0"/>
            <a:chExt cx="11077367" cy="5707590"/>
          </a:xfrm>
        </p:grpSpPr>
        <p:sp>
          <p:nvSpPr>
            <p:cNvPr name="Freeform 3" id="3"/>
            <p:cNvSpPr/>
            <p:nvPr/>
          </p:nvSpPr>
          <p:spPr>
            <a:xfrm flipH="false" flipV="false" rot="0">
              <a:off x="0" y="0"/>
              <a:ext cx="11077366" cy="5707590"/>
            </a:xfrm>
            <a:custGeom>
              <a:avLst/>
              <a:gdLst/>
              <a:ahLst/>
              <a:cxnLst/>
              <a:rect r="r" b="b" t="t" l="l"/>
              <a:pathLst>
                <a:path h="5707590" w="11077366">
                  <a:moveTo>
                    <a:pt x="0" y="0"/>
                  </a:moveTo>
                  <a:lnTo>
                    <a:pt x="11077366" y="0"/>
                  </a:lnTo>
                  <a:lnTo>
                    <a:pt x="11077366" y="5707590"/>
                  </a:lnTo>
                  <a:lnTo>
                    <a:pt x="0" y="5707590"/>
                  </a:lnTo>
                  <a:close/>
                </a:path>
              </a:pathLst>
            </a:custGeom>
            <a:solidFill>
              <a:srgbClr val="000000">
                <a:alpha val="0"/>
              </a:srgbClr>
            </a:solidFill>
          </p:spPr>
        </p:sp>
        <p:sp>
          <p:nvSpPr>
            <p:cNvPr name="TextBox 4" id="4"/>
            <p:cNvSpPr txBox="true"/>
            <p:nvPr/>
          </p:nvSpPr>
          <p:spPr>
            <a:xfrm>
              <a:off x="0" y="0"/>
              <a:ext cx="11077367" cy="5707590"/>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Phân biệt bốn lớp:</a:t>
              </a:r>
            </a:p>
            <a:p>
              <a:pPr algn="l" marL="819229" indent="-409614" lvl="1">
                <a:lnSpc>
                  <a:spcPts val="2550"/>
                </a:lnSpc>
                <a:buFont typeface="Arial"/>
                <a:buChar char="•"/>
              </a:pPr>
              <a:r>
                <a:rPr lang="en-US" sz="1904">
                  <a:solidFill>
                    <a:srgbClr val="343434"/>
                  </a:solidFill>
                  <a:latin typeface="Muli"/>
                  <a:ea typeface="Muli"/>
                  <a:cs typeface="Muli"/>
                  <a:sym typeface="Muli"/>
                </a:rPr>
                <a:t>Phần cứng: Bộ xử lý, bộ định tuyến, hệ thống điện và làm mát. Khách hàng thường không bao giờ thấy những thứ này.</a:t>
              </a:r>
            </a:p>
            <a:p>
              <a:pPr algn="l" marL="819229" indent="-409614" lvl="1">
                <a:lnSpc>
                  <a:spcPts val="2550"/>
                </a:lnSpc>
                <a:buFont typeface="Arial"/>
                <a:buChar char="•"/>
              </a:pPr>
              <a:r>
                <a:rPr lang="en-US" sz="1904">
                  <a:solidFill>
                    <a:srgbClr val="343434"/>
                  </a:solidFill>
                  <a:latin typeface="Muli"/>
                  <a:ea typeface="Muli"/>
                  <a:cs typeface="Muli"/>
                  <a:sym typeface="Muli"/>
                </a:rPr>
                <a:t>Hạ tầng: Triển khai các kỹ thuật ảo hóa. Phát triển xoay quanh việc phân bổ và quản lý các thiết bị lưu trữ ảo và máy chủ ảo.</a:t>
              </a:r>
            </a:p>
            <a:p>
              <a:pPr algn="l" marL="819229" indent="-409614" lvl="1">
                <a:lnSpc>
                  <a:spcPts val="2550"/>
                </a:lnSpc>
                <a:buFont typeface="Arial"/>
                <a:buChar char="•"/>
              </a:pPr>
              <a:r>
                <a:rPr lang="en-US" sz="1904">
                  <a:solidFill>
                    <a:srgbClr val="343434"/>
                  </a:solidFill>
                  <a:latin typeface="Muli"/>
                  <a:ea typeface="Muli"/>
                  <a:cs typeface="Muli"/>
                  <a:sym typeface="Muli"/>
                </a:rPr>
                <a:t>Nền tảng: Cung cấp các trừu tượng cấp cao hơn cho lưu trữ và các thứ tương tự. Ví dụ: Hệ thống lưu trữ Amazon S3 cung cấp API để các tệp (được tạo cục bộ) được tổ chức và lưu trữ trong các "bucket" (thùng chứa).</a:t>
              </a:r>
            </a:p>
            <a:p>
              <a:pPr algn="l" marL="819229" indent="-409614" lvl="1">
                <a:lnSpc>
                  <a:spcPts val="2550"/>
                </a:lnSpc>
                <a:buFont typeface="Arial"/>
                <a:buChar char="•"/>
              </a:pPr>
              <a:r>
                <a:rPr lang="en-US" sz="1904">
                  <a:solidFill>
                    <a:srgbClr val="343434"/>
                  </a:solidFill>
                  <a:latin typeface="Muli"/>
                  <a:ea typeface="Muli"/>
                  <a:cs typeface="Muli"/>
                  <a:sym typeface="Muli"/>
                </a:rPr>
                <a:t>Ứng dụng: Các ứng dụng thực tế, chẳng hạn như bộ ứng dụng văn phòng (trình xử lý văn bản, ứng dụng bảng tính, ứng dụng trình chiếu). Tương tự như bộ ứng dụng được đi kèm với các Hệ điều hành.</a:t>
              </a:r>
            </a:p>
          </p:txBody>
        </p:sp>
      </p:grpSp>
      <p:grpSp>
        <p:nvGrpSpPr>
          <p:cNvPr name="Group 5" id="5"/>
          <p:cNvGrpSpPr/>
          <p:nvPr/>
        </p:nvGrpSpPr>
        <p:grpSpPr>
          <a:xfrm rot="0">
            <a:off x="4861914" y="0"/>
            <a:ext cx="4875457" cy="228390"/>
            <a:chOff x="0" y="0"/>
            <a:chExt cx="6500609" cy="304520"/>
          </a:xfrm>
        </p:grpSpPr>
        <p:sp>
          <p:nvSpPr>
            <p:cNvPr name="Freeform 6" id="6"/>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7" id="7"/>
          <p:cNvGrpSpPr/>
          <p:nvPr/>
        </p:nvGrpSpPr>
        <p:grpSpPr>
          <a:xfrm rot="0">
            <a:off x="0" y="0"/>
            <a:ext cx="4875457" cy="228390"/>
            <a:chOff x="0" y="0"/>
            <a:chExt cx="6500609" cy="304520"/>
          </a:xfrm>
        </p:grpSpPr>
        <p:sp>
          <p:nvSpPr>
            <p:cNvPr name="Freeform 8" id="8"/>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9" id="9"/>
          <p:cNvGrpSpPr/>
          <p:nvPr/>
        </p:nvGrpSpPr>
        <p:grpSpPr>
          <a:xfrm rot="0">
            <a:off x="4861914" y="7159006"/>
            <a:ext cx="4875457" cy="152400"/>
            <a:chOff x="0" y="0"/>
            <a:chExt cx="6500609" cy="203200"/>
          </a:xfrm>
        </p:grpSpPr>
        <p:sp>
          <p:nvSpPr>
            <p:cNvPr name="Freeform 10" id="10"/>
            <p:cNvSpPr/>
            <p:nvPr/>
          </p:nvSpPr>
          <p:spPr>
            <a:xfrm flipH="false" flipV="false" rot="0">
              <a:off x="0" y="0"/>
              <a:ext cx="6499479" cy="202370"/>
            </a:xfrm>
            <a:custGeom>
              <a:avLst/>
              <a:gdLst/>
              <a:ahLst/>
              <a:cxnLst/>
              <a:rect r="r" b="b" t="t" l="l"/>
              <a:pathLst>
                <a:path h="202370" w="6499479">
                  <a:moveTo>
                    <a:pt x="6499479" y="0"/>
                  </a:moveTo>
                  <a:lnTo>
                    <a:pt x="0" y="0"/>
                  </a:lnTo>
                  <a:lnTo>
                    <a:pt x="0" y="202370"/>
                  </a:lnTo>
                  <a:lnTo>
                    <a:pt x="6499479" y="202370"/>
                  </a:lnTo>
                  <a:lnTo>
                    <a:pt x="6499479" y="0"/>
                  </a:lnTo>
                  <a:close/>
                </a:path>
              </a:pathLst>
            </a:custGeom>
            <a:solidFill>
              <a:srgbClr val="343434"/>
            </a:solidFill>
          </p:spPr>
        </p:sp>
      </p:grpSp>
      <p:grpSp>
        <p:nvGrpSpPr>
          <p:cNvPr name="Group 11" id="11"/>
          <p:cNvGrpSpPr/>
          <p:nvPr/>
        </p:nvGrpSpPr>
        <p:grpSpPr>
          <a:xfrm rot="0">
            <a:off x="-13543" y="7159006"/>
            <a:ext cx="4875457" cy="152400"/>
            <a:chOff x="0" y="0"/>
            <a:chExt cx="6500609" cy="203200"/>
          </a:xfrm>
        </p:grpSpPr>
        <p:sp>
          <p:nvSpPr>
            <p:cNvPr name="Freeform 12" id="12"/>
            <p:cNvSpPr/>
            <p:nvPr/>
          </p:nvSpPr>
          <p:spPr>
            <a:xfrm flipH="false" flipV="false" rot="0">
              <a:off x="0" y="0"/>
              <a:ext cx="6499479" cy="202370"/>
            </a:xfrm>
            <a:custGeom>
              <a:avLst/>
              <a:gdLst/>
              <a:ahLst/>
              <a:cxnLst/>
              <a:rect r="r" b="b" t="t" l="l"/>
              <a:pathLst>
                <a:path h="202370" w="6499479">
                  <a:moveTo>
                    <a:pt x="6499479" y="0"/>
                  </a:moveTo>
                  <a:lnTo>
                    <a:pt x="0" y="0"/>
                  </a:lnTo>
                  <a:lnTo>
                    <a:pt x="0" y="202370"/>
                  </a:lnTo>
                  <a:lnTo>
                    <a:pt x="6499479" y="202370"/>
                  </a:lnTo>
                  <a:lnTo>
                    <a:pt x="6499479" y="0"/>
                  </a:lnTo>
                  <a:close/>
                </a:path>
              </a:pathLst>
            </a:custGeom>
            <a:solidFill>
              <a:srgbClr val="FBFBFA"/>
            </a:solidFill>
          </p:spPr>
        </p:sp>
      </p:grpSp>
      <p:grpSp>
        <p:nvGrpSpPr>
          <p:cNvPr name="Group 13" id="13"/>
          <p:cNvGrpSpPr/>
          <p:nvPr/>
        </p:nvGrpSpPr>
        <p:grpSpPr>
          <a:xfrm rot="0">
            <a:off x="201626" y="418298"/>
            <a:ext cx="3992564" cy="510618"/>
            <a:chOff x="0" y="0"/>
            <a:chExt cx="5323419" cy="680824"/>
          </a:xfrm>
        </p:grpSpPr>
        <p:sp>
          <p:nvSpPr>
            <p:cNvPr name="Freeform 14" id="14"/>
            <p:cNvSpPr/>
            <p:nvPr/>
          </p:nvSpPr>
          <p:spPr>
            <a:xfrm flipH="false" flipV="false" rot="0">
              <a:off x="0" y="0"/>
              <a:ext cx="5323419" cy="680824"/>
            </a:xfrm>
            <a:custGeom>
              <a:avLst/>
              <a:gdLst/>
              <a:ahLst/>
              <a:cxnLst/>
              <a:rect r="r" b="b" t="t" l="l"/>
              <a:pathLst>
                <a:path h="680824" w="5323419">
                  <a:moveTo>
                    <a:pt x="0" y="0"/>
                  </a:moveTo>
                  <a:lnTo>
                    <a:pt x="5323419" y="0"/>
                  </a:lnTo>
                  <a:lnTo>
                    <a:pt x="5323419" y="680824"/>
                  </a:lnTo>
                  <a:lnTo>
                    <a:pt x="0" y="680824"/>
                  </a:lnTo>
                  <a:close/>
                </a:path>
              </a:pathLst>
            </a:custGeom>
            <a:solidFill>
              <a:srgbClr val="000000">
                <a:alpha val="0"/>
              </a:srgbClr>
            </a:solidFill>
          </p:spPr>
        </p:sp>
        <p:sp>
          <p:nvSpPr>
            <p:cNvPr name="TextBox 15" id="15"/>
            <p:cNvSpPr txBox="true"/>
            <p:nvPr/>
          </p:nvSpPr>
          <p:spPr>
            <a:xfrm>
              <a:off x="0" y="0"/>
              <a:ext cx="5323419"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Điện toán đám mây</a:t>
              </a:r>
            </a:p>
          </p:txBody>
        </p:sp>
      </p:grpSp>
    </p:spTree>
  </p:cSld>
  <p:clrMapOvr>
    <a:masterClrMapping/>
  </p:clrMapOvr>
  <p:transition spd="fast">
    <p:fade/>
  </p:transition>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8" id="8"/>
          <p:cNvGrpSpPr/>
          <p:nvPr/>
        </p:nvGrpSpPr>
        <p:grpSpPr>
          <a:xfrm rot="0">
            <a:off x="201626" y="418298"/>
            <a:ext cx="6345214" cy="510618"/>
            <a:chOff x="0" y="0"/>
            <a:chExt cx="8460285" cy="680824"/>
          </a:xfrm>
        </p:grpSpPr>
        <p:sp>
          <p:nvSpPr>
            <p:cNvPr name="Freeform 9" id="9"/>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0" id="10"/>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Kiến trúc máy chủ biên</a:t>
              </a:r>
            </a:p>
          </p:txBody>
        </p:sp>
      </p:grpSp>
      <p:grpSp>
        <p:nvGrpSpPr>
          <p:cNvPr name="Group 11" id="11"/>
          <p:cNvGrpSpPr/>
          <p:nvPr/>
        </p:nvGrpSpPr>
        <p:grpSpPr>
          <a:xfrm rot="0">
            <a:off x="734771" y="1056743"/>
            <a:ext cx="8278469" cy="1050594"/>
            <a:chOff x="0" y="0"/>
            <a:chExt cx="11037958" cy="1400793"/>
          </a:xfrm>
        </p:grpSpPr>
        <p:sp>
          <p:nvSpPr>
            <p:cNvPr name="Freeform 12" id="12"/>
            <p:cNvSpPr/>
            <p:nvPr/>
          </p:nvSpPr>
          <p:spPr>
            <a:xfrm flipH="false" flipV="false" rot="0">
              <a:off x="0" y="0"/>
              <a:ext cx="11037958" cy="1400793"/>
            </a:xfrm>
            <a:custGeom>
              <a:avLst/>
              <a:gdLst/>
              <a:ahLst/>
              <a:cxnLst/>
              <a:rect r="r" b="b" t="t" l="l"/>
              <a:pathLst>
                <a:path h="1400793" w="11037958">
                  <a:moveTo>
                    <a:pt x="0" y="0"/>
                  </a:moveTo>
                  <a:lnTo>
                    <a:pt x="11037958" y="0"/>
                  </a:lnTo>
                  <a:lnTo>
                    <a:pt x="11037958" y="1400793"/>
                  </a:lnTo>
                  <a:lnTo>
                    <a:pt x="0" y="1400793"/>
                  </a:lnTo>
                  <a:close/>
                </a:path>
              </a:pathLst>
            </a:custGeom>
            <a:solidFill>
              <a:srgbClr val="000000">
                <a:alpha val="0"/>
              </a:srgbClr>
            </a:solidFill>
          </p:spPr>
        </p:sp>
        <p:sp>
          <p:nvSpPr>
            <p:cNvPr name="TextBox 13" id="13"/>
            <p:cNvSpPr txBox="true"/>
            <p:nvPr/>
          </p:nvSpPr>
          <p:spPr>
            <a:xfrm>
              <a:off x="0" y="0"/>
              <a:ext cx="11037958" cy="1400793"/>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Bản chất</a:t>
              </a:r>
            </a:p>
            <a:p>
              <a:pPr algn="l">
                <a:lnSpc>
                  <a:spcPts val="2560"/>
                </a:lnSpc>
              </a:pPr>
              <a:r>
                <a:rPr lang="en-US" sz="1904">
                  <a:solidFill>
                    <a:srgbClr val="343434"/>
                  </a:solidFill>
                  <a:latin typeface="Muli"/>
                  <a:ea typeface="Muli"/>
                  <a:cs typeface="Muli"/>
                  <a:sym typeface="Muli"/>
                </a:rPr>
                <a:t>Các hệ thống được triển khai trên Internet, trong đó máy chủ được đặt ở biên của mạng: ranh giới giữa mạng doanh nghiệp và Internet thực tế.</a:t>
              </a:r>
              <a:r>
                <a:rPr lang="en-US" sz="1904">
                  <a:solidFill>
                    <a:srgbClr val="343434"/>
                  </a:solidFill>
                  <a:latin typeface="Muli"/>
                  <a:ea typeface="Muli"/>
                  <a:cs typeface="Muli"/>
                  <a:sym typeface="Muli"/>
                </a:rPr>
                <a:t>.</a:t>
              </a:r>
            </a:p>
          </p:txBody>
        </p:sp>
      </p:grpSp>
      <p:sp>
        <p:nvSpPr>
          <p:cNvPr name="Freeform 14" id="14"/>
          <p:cNvSpPr/>
          <p:nvPr/>
        </p:nvSpPr>
        <p:spPr>
          <a:xfrm flipH="false" flipV="false" rot="0">
            <a:off x="1237792" y="2323763"/>
            <a:ext cx="7273895" cy="3560827"/>
          </a:xfrm>
          <a:custGeom>
            <a:avLst/>
            <a:gdLst/>
            <a:ahLst/>
            <a:cxnLst/>
            <a:rect r="r" b="b" t="t" l="l"/>
            <a:pathLst>
              <a:path h="3560827" w="7273895">
                <a:moveTo>
                  <a:pt x="0" y="0"/>
                </a:moveTo>
                <a:lnTo>
                  <a:pt x="7273895" y="0"/>
                </a:lnTo>
                <a:lnTo>
                  <a:pt x="7273895" y="3560826"/>
                </a:lnTo>
                <a:lnTo>
                  <a:pt x="0" y="3560826"/>
                </a:lnTo>
                <a:lnTo>
                  <a:pt x="0" y="0"/>
                </a:lnTo>
                <a:close/>
              </a:path>
            </a:pathLst>
          </a:custGeom>
          <a:blipFill>
            <a:blip r:embed="rId2"/>
            <a:stretch>
              <a:fillRect l="0" t="-16" r="0" b="-16"/>
            </a:stretch>
          </a:blipFill>
        </p:spPr>
      </p:sp>
      <p:sp>
        <p:nvSpPr>
          <p:cNvPr name="Freeform 15" id="15"/>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8" id="8"/>
          <p:cNvGrpSpPr/>
          <p:nvPr/>
        </p:nvGrpSpPr>
        <p:grpSpPr>
          <a:xfrm rot="0">
            <a:off x="201626" y="418298"/>
            <a:ext cx="6345214" cy="510618"/>
            <a:chOff x="0" y="0"/>
            <a:chExt cx="8460285" cy="680824"/>
          </a:xfrm>
        </p:grpSpPr>
        <p:sp>
          <p:nvSpPr>
            <p:cNvPr name="Freeform 9" id="9"/>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0" id="10"/>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Lý do nên có cơ sở hạ tầng biên</a:t>
              </a:r>
            </a:p>
          </p:txBody>
        </p:sp>
      </p:grpSp>
      <p:grpSp>
        <p:nvGrpSpPr>
          <p:cNvPr name="Group 11" id="11"/>
          <p:cNvGrpSpPr/>
          <p:nvPr/>
        </p:nvGrpSpPr>
        <p:grpSpPr>
          <a:xfrm rot="0">
            <a:off x="641510" y="1664010"/>
            <a:ext cx="8380570" cy="3984735"/>
            <a:chOff x="0" y="0"/>
            <a:chExt cx="11174094" cy="5312980"/>
          </a:xfrm>
        </p:grpSpPr>
        <p:sp>
          <p:nvSpPr>
            <p:cNvPr name="Freeform 12" id="12"/>
            <p:cNvSpPr/>
            <p:nvPr/>
          </p:nvSpPr>
          <p:spPr>
            <a:xfrm flipH="false" flipV="false" rot="0">
              <a:off x="0" y="0"/>
              <a:ext cx="11174094" cy="5312980"/>
            </a:xfrm>
            <a:custGeom>
              <a:avLst/>
              <a:gdLst/>
              <a:ahLst/>
              <a:cxnLst/>
              <a:rect r="r" b="b" t="t" l="l"/>
              <a:pathLst>
                <a:path h="5312980" w="11174094">
                  <a:moveTo>
                    <a:pt x="0" y="0"/>
                  </a:moveTo>
                  <a:lnTo>
                    <a:pt x="11174094" y="0"/>
                  </a:lnTo>
                  <a:lnTo>
                    <a:pt x="11174094" y="5312980"/>
                  </a:lnTo>
                  <a:lnTo>
                    <a:pt x="0" y="5312980"/>
                  </a:lnTo>
                  <a:close/>
                </a:path>
              </a:pathLst>
            </a:custGeom>
            <a:solidFill>
              <a:srgbClr val="000000">
                <a:alpha val="0"/>
              </a:srgbClr>
            </a:solidFill>
          </p:spPr>
        </p:sp>
        <p:sp>
          <p:nvSpPr>
            <p:cNvPr name="TextBox 13" id="13"/>
            <p:cNvSpPr txBox="true"/>
            <p:nvPr/>
          </p:nvSpPr>
          <p:spPr>
            <a:xfrm>
              <a:off x="0" y="0"/>
              <a:ext cx="11174094" cy="5312980"/>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Các lập luận phổ biến (và thường bị hiểu sai)</a:t>
              </a:r>
            </a:p>
            <a:p>
              <a:pPr algn="l" marL="819229" indent="-409614" lvl="1">
                <a:lnSpc>
                  <a:spcPts val="2550"/>
                </a:lnSpc>
                <a:buFont typeface="Arial"/>
                <a:buChar char="•"/>
              </a:pPr>
              <a:r>
                <a:rPr lang="en-US" sz="1904">
                  <a:solidFill>
                    <a:srgbClr val="343434"/>
                  </a:solidFill>
                  <a:latin typeface="Muli"/>
                  <a:ea typeface="Muli"/>
                  <a:cs typeface="Muli"/>
                  <a:sym typeface="Muli"/>
                </a:rPr>
                <a:t>Độ trễ và băng thông: Đặc biệt quan trọng đối với một số ứng dụng thời gian thực nhất định, chẳng hạn như các ứng dụng thực tế tăng cường/thực tế ảo. Nhiều người đánh giá thấp độ trễ và băng thông khi kết nối lên đám mây.</a:t>
              </a:r>
            </a:p>
            <a:p>
              <a:pPr algn="l" marL="820572" indent="-410286" lvl="1">
                <a:lnSpc>
                  <a:spcPts val="2550"/>
                </a:lnSpc>
                <a:buFont typeface="Arial"/>
                <a:buChar char="•"/>
              </a:pPr>
              <a:r>
                <a:rPr lang="en-US" sz="1904">
                  <a:solidFill>
                    <a:srgbClr val="343434"/>
                  </a:solidFill>
                  <a:latin typeface="Muli"/>
                  <a:ea typeface="Muli"/>
                  <a:cs typeface="Muli"/>
                  <a:sym typeface="Muli"/>
                </a:rPr>
                <a:t>Độ tin cậy: Kết nối lên đám mây thường được cho là không đáng tin cậy, đây thường là một giả định sai lầm. Có thể có những tình huống quan trọng cần đảm bảo kết nối cực kỳ cao.</a:t>
              </a:r>
            </a:p>
            <a:p>
              <a:pPr algn="l" marL="819229" indent="-409614" lvl="1">
                <a:lnSpc>
                  <a:spcPts val="2550"/>
                </a:lnSpc>
                <a:buFont typeface="Arial"/>
                <a:buChar char="•"/>
              </a:pPr>
              <a:r>
                <a:rPr lang="en-US" sz="1904">
                  <a:solidFill>
                    <a:srgbClr val="343434"/>
                  </a:solidFill>
                  <a:latin typeface="Muli"/>
                  <a:ea typeface="Muli"/>
                  <a:cs typeface="Muli"/>
                  <a:sym typeface="Muli"/>
                </a:rPr>
                <a:t>Bảo mật và quyền riêng tư: Giả định ngầm là khi tài sản ở gần, chúng có thể được bảo vệ tốt hơn. Thực tế cho thấy giả định này thường sai. Tuy nhiên, việc xử lý an toàn các hoạt động dữ liệu trên đám mây có thể phức tạp hơn so với trong tổ chức của bạn.</a:t>
              </a:r>
            </a:p>
          </p:txBody>
        </p:sp>
      </p:grpSp>
      <p:sp>
        <p:nvSpPr>
          <p:cNvPr name="Freeform 14" id="14"/>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0"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6" id="6"/>
          <p:cNvGrpSpPr/>
          <p:nvPr/>
        </p:nvGrpSpPr>
        <p:grpSpPr>
          <a:xfrm rot="0">
            <a:off x="4874568" y="0"/>
            <a:ext cx="4875457" cy="228390"/>
            <a:chOff x="0" y="0"/>
            <a:chExt cx="6500609" cy="304520"/>
          </a:xfrm>
        </p:grpSpPr>
        <p:sp>
          <p:nvSpPr>
            <p:cNvPr name="Freeform 7" id="7"/>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8" id="8"/>
          <p:cNvGrpSpPr/>
          <p:nvPr/>
        </p:nvGrpSpPr>
        <p:grpSpPr>
          <a:xfrm rot="0">
            <a:off x="201626" y="418298"/>
            <a:ext cx="6345214" cy="510618"/>
            <a:chOff x="0" y="0"/>
            <a:chExt cx="8460285" cy="680824"/>
          </a:xfrm>
        </p:grpSpPr>
        <p:sp>
          <p:nvSpPr>
            <p:cNvPr name="Freeform 9" id="9"/>
            <p:cNvSpPr/>
            <p:nvPr/>
          </p:nvSpPr>
          <p:spPr>
            <a:xfrm flipH="false" flipV="false" rot="0">
              <a:off x="0" y="0"/>
              <a:ext cx="8460285" cy="680824"/>
            </a:xfrm>
            <a:custGeom>
              <a:avLst/>
              <a:gdLst/>
              <a:ahLst/>
              <a:cxnLst/>
              <a:rect r="r" b="b" t="t" l="l"/>
              <a:pathLst>
                <a:path h="680824" w="8460285">
                  <a:moveTo>
                    <a:pt x="0" y="0"/>
                  </a:moveTo>
                  <a:lnTo>
                    <a:pt x="8460285" y="0"/>
                  </a:lnTo>
                  <a:lnTo>
                    <a:pt x="8460285" y="680824"/>
                  </a:lnTo>
                  <a:lnTo>
                    <a:pt x="0" y="680824"/>
                  </a:lnTo>
                  <a:close/>
                </a:path>
              </a:pathLst>
            </a:custGeom>
            <a:solidFill>
              <a:srgbClr val="000000">
                <a:alpha val="0"/>
              </a:srgbClr>
            </a:solidFill>
          </p:spPr>
        </p:sp>
        <p:sp>
          <p:nvSpPr>
            <p:cNvPr name="TextBox 10" id="10"/>
            <p:cNvSpPr txBox="true"/>
            <p:nvPr/>
          </p:nvSpPr>
          <p:spPr>
            <a:xfrm>
              <a:off x="0" y="0"/>
              <a:ext cx="8460285" cy="680824"/>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Điều phối biên</a:t>
              </a:r>
            </a:p>
          </p:txBody>
        </p:sp>
      </p:grpSp>
      <p:grpSp>
        <p:nvGrpSpPr>
          <p:cNvPr name="Group 11" id="11"/>
          <p:cNvGrpSpPr/>
          <p:nvPr/>
        </p:nvGrpSpPr>
        <p:grpSpPr>
          <a:xfrm rot="0">
            <a:off x="681032" y="1089109"/>
            <a:ext cx="8387288" cy="4546758"/>
            <a:chOff x="0" y="0"/>
            <a:chExt cx="11183050" cy="6062345"/>
          </a:xfrm>
        </p:grpSpPr>
        <p:sp>
          <p:nvSpPr>
            <p:cNvPr name="Freeform 12" id="12"/>
            <p:cNvSpPr/>
            <p:nvPr/>
          </p:nvSpPr>
          <p:spPr>
            <a:xfrm flipH="false" flipV="false" rot="0">
              <a:off x="0" y="0"/>
              <a:ext cx="11183051" cy="6062345"/>
            </a:xfrm>
            <a:custGeom>
              <a:avLst/>
              <a:gdLst/>
              <a:ahLst/>
              <a:cxnLst/>
              <a:rect r="r" b="b" t="t" l="l"/>
              <a:pathLst>
                <a:path h="6062345" w="11183051">
                  <a:moveTo>
                    <a:pt x="0" y="0"/>
                  </a:moveTo>
                  <a:lnTo>
                    <a:pt x="11183051" y="0"/>
                  </a:lnTo>
                  <a:lnTo>
                    <a:pt x="11183051" y="6062345"/>
                  </a:lnTo>
                  <a:lnTo>
                    <a:pt x="0" y="6062345"/>
                  </a:lnTo>
                  <a:close/>
                </a:path>
              </a:pathLst>
            </a:custGeom>
            <a:solidFill>
              <a:srgbClr val="000000">
                <a:alpha val="0"/>
              </a:srgbClr>
            </a:solidFill>
          </p:spPr>
        </p:sp>
        <p:sp>
          <p:nvSpPr>
            <p:cNvPr name="TextBox 13" id="13"/>
            <p:cNvSpPr txBox="true"/>
            <p:nvPr/>
          </p:nvSpPr>
          <p:spPr>
            <a:xfrm>
              <a:off x="0" y="0"/>
              <a:ext cx="11183050" cy="6062345"/>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Quản lý tài nguyên ở biên có thể phức tạp hơn so với trên đám mây</a:t>
              </a:r>
            </a:p>
            <a:p>
              <a:pPr algn="l" marL="846098" indent="-423049" lvl="1">
                <a:lnSpc>
                  <a:spcPts val="2550"/>
                </a:lnSpc>
                <a:buFont typeface="Arial"/>
                <a:buChar char="•"/>
              </a:pPr>
              <a:r>
                <a:rPr lang="en-US" sz="1904">
                  <a:solidFill>
                    <a:srgbClr val="343434"/>
                  </a:solidFill>
                  <a:latin typeface="Muli"/>
                  <a:ea typeface="Muli"/>
                  <a:cs typeface="Muli"/>
                  <a:sym typeface="Muli"/>
                </a:rPr>
                <a:t>Phân bổ tài nguyên: chúng ta cần đảm bảo tính khả dụng của các tài</a:t>
              </a:r>
              <a:r>
                <a:rPr lang="en-US" sz="1904">
                  <a:solidFill>
                    <a:srgbClr val="343434"/>
                  </a:solidFill>
                  <a:latin typeface="Muli"/>
                  <a:ea typeface="Muli"/>
                  <a:cs typeface="Muli"/>
                  <a:sym typeface="Muli"/>
                </a:rPr>
                <a:t>.nguyên cần thiết để thực hiện một dịch vụ.</a:t>
              </a:r>
            </a:p>
            <a:p>
              <a:pPr algn="l" marL="846098" indent="-423049" lvl="1">
                <a:lnSpc>
                  <a:spcPts val="2550"/>
                </a:lnSpc>
                <a:buFont typeface="Arial"/>
                <a:buChar char="•"/>
              </a:pPr>
              <a:r>
                <a:rPr lang="en-US" sz="1904">
                  <a:solidFill>
                    <a:srgbClr val="343434"/>
                  </a:solidFill>
                  <a:latin typeface="Muli"/>
                  <a:ea typeface="Muli"/>
                  <a:cs typeface="Muli"/>
                  <a:sym typeface="Muli"/>
                </a:rPr>
                <a:t>Vị trí dịch vụ: chúng ta cần quyết định khi nào và ở đâu để đặt một dịch vụ. Điều này đặc biệt quan trọng đối với các ứng dụng di động.</a:t>
              </a:r>
            </a:p>
            <a:p>
              <a:pPr algn="l" marL="846098" indent="-423049" lvl="1">
                <a:lnSpc>
                  <a:spcPts val="2550"/>
                </a:lnSpc>
                <a:buFont typeface="Arial"/>
                <a:buChar char="•"/>
              </a:pPr>
              <a:r>
                <a:rPr lang="en-US" sz="1904">
                  <a:solidFill>
                    <a:srgbClr val="343434"/>
                  </a:solidFill>
                  <a:latin typeface="Muli"/>
                  <a:ea typeface="Muli"/>
                  <a:cs typeface="Muli"/>
                  <a:sym typeface="Muli"/>
                </a:rPr>
                <a:t> Lựa chọn biên: chúng ta cần quyết định cơ sở hạ tầng biên nào nên được sử dụng khi một dịch vụ cần được cung cấp. Cơ sở hạ tầng gần nhất có thể không phải là tốt nhất.</a:t>
              </a:r>
            </a:p>
            <a:p>
              <a:pPr algn="l" marL="846098" indent="-423049" lvl="1">
                <a:lnSpc>
                  <a:spcPts val="2284"/>
                </a:lnSpc>
              </a:pPr>
            </a:p>
            <a:p>
              <a:pPr algn="l" marL="940109" indent="-470054" lvl="1">
                <a:lnSpc>
                  <a:spcPts val="2538"/>
                </a:lnSpc>
              </a:pPr>
              <a:r>
                <a:rPr lang="en-US" b="true" sz="2115">
                  <a:solidFill>
                    <a:srgbClr val="343434"/>
                  </a:solidFill>
                  <a:latin typeface="Muli Ultra-Bold"/>
                  <a:ea typeface="Muli Ultra-Bold"/>
                  <a:cs typeface="Muli Ultra-Bold"/>
                  <a:sym typeface="Muli Ultra-Bold"/>
                </a:rPr>
                <a:t>Nhận xét</a:t>
              </a:r>
            </a:p>
            <a:p>
              <a:pPr algn="l" marL="846098" indent="-423049" lvl="1">
                <a:lnSpc>
                  <a:spcPts val="2560"/>
                </a:lnSpc>
              </a:pPr>
              <a:r>
                <a:rPr lang="en-US" sz="1904">
                  <a:solidFill>
                    <a:srgbClr val="343434"/>
                  </a:solidFill>
                  <a:latin typeface="Muli"/>
                  <a:ea typeface="Muli"/>
                  <a:cs typeface="Muli"/>
                  <a:sym typeface="Muli"/>
                </a:rPr>
                <a:t>Vẫn còn rất nhiều sự ồn ào về cơ sở hạ tầng và điện toán biên, tuy nhiên liệu tất cả những ồn ào đó có ý nghĩa hay không thì vẫn còn phải xem xét.</a:t>
              </a:r>
            </a:p>
          </p:txBody>
        </p:sp>
      </p:grpSp>
      <p:sp>
        <p:nvSpPr>
          <p:cNvPr name="Freeform 14" id="14"/>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4874568"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6" id="6"/>
          <p:cNvGrpSpPr/>
          <p:nvPr/>
        </p:nvGrpSpPr>
        <p:grpSpPr>
          <a:xfrm rot="0">
            <a:off x="201626" y="418298"/>
            <a:ext cx="7110670" cy="992825"/>
            <a:chOff x="0" y="0"/>
            <a:chExt cx="9480893" cy="1323767"/>
          </a:xfrm>
        </p:grpSpPr>
        <p:sp>
          <p:nvSpPr>
            <p:cNvPr name="Freeform 7" id="7"/>
            <p:cNvSpPr/>
            <p:nvPr/>
          </p:nvSpPr>
          <p:spPr>
            <a:xfrm flipH="false" flipV="false" rot="0">
              <a:off x="0" y="0"/>
              <a:ext cx="9480893" cy="1323767"/>
            </a:xfrm>
            <a:custGeom>
              <a:avLst/>
              <a:gdLst/>
              <a:ahLst/>
              <a:cxnLst/>
              <a:rect r="r" b="b" t="t" l="l"/>
              <a:pathLst>
                <a:path h="1323767" w="9480893">
                  <a:moveTo>
                    <a:pt x="0" y="0"/>
                  </a:moveTo>
                  <a:lnTo>
                    <a:pt x="9480893" y="0"/>
                  </a:lnTo>
                  <a:lnTo>
                    <a:pt x="9480893" y="1323767"/>
                  </a:lnTo>
                  <a:lnTo>
                    <a:pt x="0" y="1323767"/>
                  </a:lnTo>
                  <a:close/>
                </a:path>
              </a:pathLst>
            </a:custGeom>
            <a:solidFill>
              <a:srgbClr val="000000">
                <a:alpha val="0"/>
              </a:srgbClr>
            </a:solidFill>
          </p:spPr>
        </p:sp>
        <p:sp>
          <p:nvSpPr>
            <p:cNvPr name="TextBox 8" id="8"/>
            <p:cNvSpPr txBox="true"/>
            <p:nvPr/>
          </p:nvSpPr>
          <p:spPr>
            <a:xfrm>
              <a:off x="0" y="0"/>
              <a:ext cx="9480893" cy="1323767"/>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Blockchain</a:t>
              </a:r>
            </a:p>
            <a:p>
              <a:pPr algn="l">
                <a:lnSpc>
                  <a:spcPts val="2538"/>
                </a:lnSpc>
              </a:pPr>
              <a:r>
                <a:rPr lang="en-US" b="true" sz="2115">
                  <a:solidFill>
                    <a:srgbClr val="343434"/>
                  </a:solidFill>
                  <a:latin typeface="Muli Ultra-Bold"/>
                  <a:ea typeface="Muli Ultra-Bold"/>
                  <a:cs typeface="Muli Ultra-Bold"/>
                  <a:sym typeface="Muli Ultra-Bold"/>
                </a:rPr>
                <a:t>Nguyên tắc hoạt động của hệ thống blockchain</a:t>
              </a:r>
            </a:p>
          </p:txBody>
        </p:sp>
      </p:grpSp>
      <p:sp>
        <p:nvSpPr>
          <p:cNvPr name="Freeform 9" id="9"/>
          <p:cNvSpPr/>
          <p:nvPr/>
        </p:nvSpPr>
        <p:spPr>
          <a:xfrm flipH="false" flipV="false" rot="0">
            <a:off x="2068128" y="1922721"/>
            <a:ext cx="5380930" cy="3700558"/>
          </a:xfrm>
          <a:custGeom>
            <a:avLst/>
            <a:gdLst/>
            <a:ahLst/>
            <a:cxnLst/>
            <a:rect r="r" b="b" t="t" l="l"/>
            <a:pathLst>
              <a:path h="3700558" w="5380930">
                <a:moveTo>
                  <a:pt x="0" y="0"/>
                </a:moveTo>
                <a:lnTo>
                  <a:pt x="5380930" y="0"/>
                </a:lnTo>
                <a:lnTo>
                  <a:pt x="5380930" y="3700558"/>
                </a:lnTo>
                <a:lnTo>
                  <a:pt x="0" y="3700558"/>
                </a:lnTo>
                <a:lnTo>
                  <a:pt x="0" y="0"/>
                </a:lnTo>
                <a:close/>
              </a:path>
            </a:pathLst>
          </a:custGeom>
          <a:blipFill>
            <a:blip r:embed="rId2"/>
            <a:stretch>
              <a:fillRect l="0" t="0" r="0" b="0"/>
            </a:stretch>
          </a:blipFill>
        </p:spPr>
      </p:sp>
      <p:sp>
        <p:nvSpPr>
          <p:cNvPr name="Freeform 10" id="10"/>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4874568"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sp>
        <p:nvSpPr>
          <p:cNvPr name="Freeform 6" id="6"/>
          <p:cNvSpPr/>
          <p:nvPr/>
        </p:nvSpPr>
        <p:spPr>
          <a:xfrm flipH="false" flipV="false" rot="0">
            <a:off x="2184103" y="1241020"/>
            <a:ext cx="5380930" cy="3700558"/>
          </a:xfrm>
          <a:custGeom>
            <a:avLst/>
            <a:gdLst/>
            <a:ahLst/>
            <a:cxnLst/>
            <a:rect r="r" b="b" t="t" l="l"/>
            <a:pathLst>
              <a:path h="3700558" w="5380930">
                <a:moveTo>
                  <a:pt x="0" y="0"/>
                </a:moveTo>
                <a:lnTo>
                  <a:pt x="5380930" y="0"/>
                </a:lnTo>
                <a:lnTo>
                  <a:pt x="5380930" y="3700558"/>
                </a:lnTo>
                <a:lnTo>
                  <a:pt x="0" y="3700558"/>
                </a:lnTo>
                <a:lnTo>
                  <a:pt x="0" y="0"/>
                </a:lnTo>
                <a:close/>
              </a:path>
            </a:pathLst>
          </a:custGeom>
          <a:blipFill>
            <a:blip r:embed="rId2"/>
            <a:stretch>
              <a:fillRect l="0" t="0" r="0" b="0"/>
            </a:stretch>
          </a:blipFill>
        </p:spPr>
      </p:sp>
      <p:grpSp>
        <p:nvGrpSpPr>
          <p:cNvPr name="Group 7" id="7"/>
          <p:cNvGrpSpPr/>
          <p:nvPr/>
        </p:nvGrpSpPr>
        <p:grpSpPr>
          <a:xfrm rot="0">
            <a:off x="859573" y="4828421"/>
            <a:ext cx="7546277" cy="2125824"/>
            <a:chOff x="0" y="0"/>
            <a:chExt cx="10061703" cy="2834431"/>
          </a:xfrm>
        </p:grpSpPr>
        <p:sp>
          <p:nvSpPr>
            <p:cNvPr name="Freeform 8" id="8"/>
            <p:cNvSpPr/>
            <p:nvPr/>
          </p:nvSpPr>
          <p:spPr>
            <a:xfrm flipH="false" flipV="false" rot="0">
              <a:off x="0" y="0"/>
              <a:ext cx="10061703" cy="2834431"/>
            </a:xfrm>
            <a:custGeom>
              <a:avLst/>
              <a:gdLst/>
              <a:ahLst/>
              <a:cxnLst/>
              <a:rect r="r" b="b" t="t" l="l"/>
              <a:pathLst>
                <a:path h="2834431" w="10061703">
                  <a:moveTo>
                    <a:pt x="0" y="0"/>
                  </a:moveTo>
                  <a:lnTo>
                    <a:pt x="10061703" y="0"/>
                  </a:lnTo>
                  <a:lnTo>
                    <a:pt x="10061703" y="2834431"/>
                  </a:lnTo>
                  <a:lnTo>
                    <a:pt x="0" y="2834431"/>
                  </a:lnTo>
                  <a:close/>
                </a:path>
              </a:pathLst>
            </a:custGeom>
            <a:solidFill>
              <a:srgbClr val="000000">
                <a:alpha val="0"/>
              </a:srgbClr>
            </a:solidFill>
          </p:spPr>
        </p:sp>
        <p:sp>
          <p:nvSpPr>
            <p:cNvPr name="TextBox 9" id="9"/>
            <p:cNvSpPr txBox="true"/>
            <p:nvPr/>
          </p:nvSpPr>
          <p:spPr>
            <a:xfrm>
              <a:off x="0" y="0"/>
              <a:ext cx="10061703" cy="2834431"/>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Nhận xét</a:t>
              </a:r>
            </a:p>
            <a:p>
              <a:pPr algn="l" marL="846098" indent="-423049" lvl="1">
                <a:lnSpc>
                  <a:spcPts val="2284"/>
                </a:lnSpc>
                <a:buFont typeface="Arial"/>
                <a:buChar char="•"/>
              </a:pPr>
              <a:r>
                <a:rPr lang="en-US" sz="1904">
                  <a:solidFill>
                    <a:srgbClr val="343434"/>
                  </a:solidFill>
                  <a:latin typeface="Muli"/>
                  <a:ea typeface="Muli"/>
                  <a:cs typeface="Muli"/>
                  <a:sym typeface="Muli"/>
                </a:rPr>
                <a:t>Các khối được tổ chức thành một chuỗi chỉ cho phép thêm vào (append-only) và không thể giả mạo.</a:t>
              </a:r>
            </a:p>
            <a:p>
              <a:pPr algn="l" marL="846098" indent="-423049" lvl="1">
                <a:lnSpc>
                  <a:spcPts val="2284"/>
                </a:lnSpc>
                <a:buFont typeface="Arial"/>
                <a:buChar char="•"/>
              </a:pPr>
              <a:r>
                <a:rPr lang="en-US" sz="1904">
                  <a:solidFill>
                    <a:srgbClr val="343434"/>
                  </a:solidFill>
                  <a:latin typeface="Muli"/>
                  <a:ea typeface="Muli"/>
                  <a:cs typeface="Muli"/>
                  <a:sym typeface="Muli"/>
                </a:rPr>
                <a:t>Mỗi khối trong blockchain là bất biến ⇒ sao chép trên diện rộng.</a:t>
              </a:r>
            </a:p>
            <a:p>
              <a:pPr algn="l" marL="846100" indent="-423050" lvl="1">
                <a:lnSpc>
                  <a:spcPts val="2284"/>
                </a:lnSpc>
                <a:buFont typeface="Arial"/>
                <a:buChar char="•"/>
              </a:pPr>
              <a:r>
                <a:rPr lang="en-US" sz="1904">
                  <a:solidFill>
                    <a:srgbClr val="343434"/>
                  </a:solidFill>
                  <a:latin typeface="Muli"/>
                  <a:ea typeface="Muli"/>
                  <a:cs typeface="Muli"/>
                  <a:sym typeface="Muli"/>
                </a:rPr>
                <a:t>Vấn đề thực sự nằm ở việc ai được phép thêm một khối vào chuỗi.</a:t>
              </a:r>
            </a:p>
          </p:txBody>
        </p:sp>
      </p:grpSp>
      <p:sp>
        <p:nvSpPr>
          <p:cNvPr name="Freeform 10" id="10"/>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201626" y="418298"/>
            <a:ext cx="7110670" cy="992825"/>
            <a:chOff x="0" y="0"/>
            <a:chExt cx="9480893" cy="1323767"/>
          </a:xfrm>
        </p:grpSpPr>
        <p:sp>
          <p:nvSpPr>
            <p:cNvPr name="Freeform 12" id="12"/>
            <p:cNvSpPr/>
            <p:nvPr/>
          </p:nvSpPr>
          <p:spPr>
            <a:xfrm flipH="false" flipV="false" rot="0">
              <a:off x="0" y="0"/>
              <a:ext cx="9480893" cy="1323767"/>
            </a:xfrm>
            <a:custGeom>
              <a:avLst/>
              <a:gdLst/>
              <a:ahLst/>
              <a:cxnLst/>
              <a:rect r="r" b="b" t="t" l="l"/>
              <a:pathLst>
                <a:path h="1323767" w="9480893">
                  <a:moveTo>
                    <a:pt x="0" y="0"/>
                  </a:moveTo>
                  <a:lnTo>
                    <a:pt x="9480893" y="0"/>
                  </a:lnTo>
                  <a:lnTo>
                    <a:pt x="9480893" y="1323767"/>
                  </a:lnTo>
                  <a:lnTo>
                    <a:pt x="0" y="1323767"/>
                  </a:lnTo>
                  <a:close/>
                </a:path>
              </a:pathLst>
            </a:custGeom>
            <a:solidFill>
              <a:srgbClr val="000000">
                <a:alpha val="0"/>
              </a:srgbClr>
            </a:solidFill>
          </p:spPr>
        </p:sp>
        <p:sp>
          <p:nvSpPr>
            <p:cNvPr name="TextBox 13" id="13"/>
            <p:cNvSpPr txBox="true"/>
            <p:nvPr/>
          </p:nvSpPr>
          <p:spPr>
            <a:xfrm>
              <a:off x="0" y="0"/>
              <a:ext cx="9480893" cy="1323767"/>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Blockchain</a:t>
              </a:r>
            </a:p>
            <a:p>
              <a:pPr algn="l">
                <a:lnSpc>
                  <a:spcPts val="2538"/>
                </a:lnSpc>
              </a:pPr>
              <a:r>
                <a:rPr lang="en-US" b="true" sz="2115">
                  <a:solidFill>
                    <a:srgbClr val="343434"/>
                  </a:solidFill>
                  <a:latin typeface="Muli Ultra-Bold"/>
                  <a:ea typeface="Muli Ultra-Bold"/>
                  <a:cs typeface="Muli Ultra-Bold"/>
                  <a:sym typeface="Muli Ultra-Bold"/>
                </a:rPr>
                <a:t>Nguyên tắc hoạt động của hệ thống blockchain</a:t>
              </a:r>
            </a:p>
          </p:txBody>
        </p:sp>
      </p:grpSp>
    </p:spTree>
  </p:cSld>
  <p:clrMapOvr>
    <a:masterClrMapping/>
  </p:clrMapOvr>
  <p:transition spd="fast">
    <p:fade/>
  </p:transition>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4874568"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6" id="6"/>
          <p:cNvGrpSpPr/>
          <p:nvPr/>
        </p:nvGrpSpPr>
        <p:grpSpPr>
          <a:xfrm rot="0">
            <a:off x="201626" y="418298"/>
            <a:ext cx="5989194" cy="1046564"/>
            <a:chOff x="0" y="0"/>
            <a:chExt cx="7985592" cy="1395419"/>
          </a:xfrm>
        </p:grpSpPr>
        <p:sp>
          <p:nvSpPr>
            <p:cNvPr name="Freeform 7" id="7"/>
            <p:cNvSpPr/>
            <p:nvPr/>
          </p:nvSpPr>
          <p:spPr>
            <a:xfrm flipH="false" flipV="false" rot="0">
              <a:off x="0" y="0"/>
              <a:ext cx="7985592" cy="1395419"/>
            </a:xfrm>
            <a:custGeom>
              <a:avLst/>
              <a:gdLst/>
              <a:ahLst/>
              <a:cxnLst/>
              <a:rect r="r" b="b" t="t" l="l"/>
              <a:pathLst>
                <a:path h="1395419" w="7985592">
                  <a:moveTo>
                    <a:pt x="0" y="0"/>
                  </a:moveTo>
                  <a:lnTo>
                    <a:pt x="7985592" y="0"/>
                  </a:lnTo>
                  <a:lnTo>
                    <a:pt x="7985592" y="1395419"/>
                  </a:lnTo>
                  <a:lnTo>
                    <a:pt x="0" y="1395419"/>
                  </a:lnTo>
                  <a:close/>
                </a:path>
              </a:pathLst>
            </a:custGeom>
            <a:solidFill>
              <a:srgbClr val="000000">
                <a:alpha val="0"/>
              </a:srgbClr>
            </a:solidFill>
          </p:spPr>
        </p:sp>
        <p:sp>
          <p:nvSpPr>
            <p:cNvPr name="TextBox 8" id="8"/>
            <p:cNvSpPr txBox="true"/>
            <p:nvPr/>
          </p:nvSpPr>
          <p:spPr>
            <a:xfrm>
              <a:off x="0" y="0"/>
              <a:ext cx="7985592" cy="1395419"/>
            </a:xfrm>
            <a:prstGeom prst="rect">
              <a:avLst/>
            </a:prstGeom>
          </p:spPr>
          <p:txBody>
            <a:bodyPr anchor="t" rtlCol="false" tIns="0" lIns="0" bIns="0" rIns="0"/>
            <a:lstStyle/>
            <a:p>
              <a:pPr algn="l">
                <a:lnSpc>
                  <a:spcPts val="3046"/>
                </a:lnSpc>
              </a:pPr>
              <a:r>
                <a:rPr lang="en-US" sz="2538">
                  <a:solidFill>
                    <a:srgbClr val="343434"/>
                  </a:solidFill>
                  <a:latin typeface="Dancing Script"/>
                  <a:ea typeface="Dancing Script"/>
                  <a:cs typeface="Dancing Script"/>
                  <a:sym typeface="Dancing Script"/>
                </a:rPr>
                <a:t>Thêm một khối: đồng thuận phân tán </a:t>
              </a:r>
            </a:p>
            <a:p>
              <a:pPr algn="l">
                <a:lnSpc>
                  <a:spcPts val="3046"/>
                </a:lnSpc>
              </a:pPr>
              <a:r>
                <a:rPr lang="en-US" sz="2538">
                  <a:solidFill>
                    <a:srgbClr val="343434"/>
                  </a:solidFill>
                  <a:latin typeface="Dancing Script"/>
                  <a:ea typeface="Dancing Script"/>
                  <a:cs typeface="Dancing Script"/>
                  <a:sym typeface="Dancing Script"/>
                </a:rPr>
                <a:t>Giải pháp tập trung</a:t>
              </a:r>
            </a:p>
          </p:txBody>
        </p:sp>
      </p:grpSp>
      <p:sp>
        <p:nvSpPr>
          <p:cNvPr name="Freeform 9" id="9"/>
          <p:cNvSpPr/>
          <p:nvPr/>
        </p:nvSpPr>
        <p:spPr>
          <a:xfrm flipH="false" flipV="false" rot="0">
            <a:off x="2604963" y="1624193"/>
            <a:ext cx="4539204" cy="2383002"/>
          </a:xfrm>
          <a:custGeom>
            <a:avLst/>
            <a:gdLst/>
            <a:ahLst/>
            <a:cxnLst/>
            <a:rect r="r" b="b" t="t" l="l"/>
            <a:pathLst>
              <a:path h="2383002" w="4539204">
                <a:moveTo>
                  <a:pt x="0" y="0"/>
                </a:moveTo>
                <a:lnTo>
                  <a:pt x="4539204" y="0"/>
                </a:lnTo>
                <a:lnTo>
                  <a:pt x="4539204" y="2383003"/>
                </a:lnTo>
                <a:lnTo>
                  <a:pt x="0" y="2383003"/>
                </a:lnTo>
                <a:lnTo>
                  <a:pt x="0" y="0"/>
                </a:lnTo>
                <a:close/>
              </a:path>
            </a:pathLst>
          </a:custGeom>
          <a:blipFill>
            <a:blip r:embed="rId2"/>
            <a:stretch>
              <a:fillRect l="-20" t="0" r="-20" b="0"/>
            </a:stretch>
          </a:blipFill>
        </p:spPr>
      </p:sp>
      <p:grpSp>
        <p:nvGrpSpPr>
          <p:cNvPr name="Group 10" id="10"/>
          <p:cNvGrpSpPr/>
          <p:nvPr/>
        </p:nvGrpSpPr>
        <p:grpSpPr>
          <a:xfrm rot="0">
            <a:off x="726843" y="4269198"/>
            <a:ext cx="8193830" cy="1050594"/>
            <a:chOff x="0" y="0"/>
            <a:chExt cx="10925107" cy="1400793"/>
          </a:xfrm>
        </p:grpSpPr>
        <p:sp>
          <p:nvSpPr>
            <p:cNvPr name="Freeform 11" id="11"/>
            <p:cNvSpPr/>
            <p:nvPr/>
          </p:nvSpPr>
          <p:spPr>
            <a:xfrm flipH="false" flipV="false" rot="0">
              <a:off x="0" y="0"/>
              <a:ext cx="10925107" cy="1400793"/>
            </a:xfrm>
            <a:custGeom>
              <a:avLst/>
              <a:gdLst/>
              <a:ahLst/>
              <a:cxnLst/>
              <a:rect r="r" b="b" t="t" l="l"/>
              <a:pathLst>
                <a:path h="1400793" w="10925107">
                  <a:moveTo>
                    <a:pt x="0" y="0"/>
                  </a:moveTo>
                  <a:lnTo>
                    <a:pt x="10925107" y="0"/>
                  </a:lnTo>
                  <a:lnTo>
                    <a:pt x="10925107" y="1400793"/>
                  </a:lnTo>
                  <a:lnTo>
                    <a:pt x="0" y="1400793"/>
                  </a:lnTo>
                  <a:close/>
                </a:path>
              </a:pathLst>
            </a:custGeom>
            <a:solidFill>
              <a:srgbClr val="000000">
                <a:alpha val="0"/>
              </a:srgbClr>
            </a:solidFill>
          </p:spPr>
        </p:sp>
        <p:sp>
          <p:nvSpPr>
            <p:cNvPr name="TextBox 12" id="12"/>
            <p:cNvSpPr txBox="true"/>
            <p:nvPr/>
          </p:nvSpPr>
          <p:spPr>
            <a:xfrm>
              <a:off x="0" y="0"/>
              <a:ext cx="10925107" cy="1400793"/>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Nhận xét</a:t>
              </a:r>
            </a:p>
            <a:p>
              <a:pPr algn="l">
                <a:lnSpc>
                  <a:spcPts val="2560"/>
                </a:lnSpc>
              </a:pPr>
              <a:r>
                <a:rPr lang="en-US" sz="1904">
                  <a:solidFill>
                    <a:srgbClr val="343434"/>
                  </a:solidFill>
                  <a:latin typeface="Muli"/>
                  <a:ea typeface="Muli"/>
                  <a:cs typeface="Muli"/>
                  <a:sym typeface="Muli"/>
                </a:rPr>
                <a:t>Một thực thể duy nhất quyết định validator nào có thể tiếp tục và thêm một khối. Không phù hợp với các mục tiêu thiết kế của blockchain.</a:t>
              </a:r>
            </a:p>
          </p:txBody>
        </p:sp>
      </p:grpSp>
      <p:sp>
        <p:nvSpPr>
          <p:cNvPr name="Freeform 13" id="13"/>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4874568"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6" id="6"/>
          <p:cNvGrpSpPr/>
          <p:nvPr/>
        </p:nvGrpSpPr>
        <p:grpSpPr>
          <a:xfrm rot="0">
            <a:off x="201626" y="418298"/>
            <a:ext cx="5989194" cy="1046564"/>
            <a:chOff x="0" y="0"/>
            <a:chExt cx="7985592" cy="1395419"/>
          </a:xfrm>
        </p:grpSpPr>
        <p:sp>
          <p:nvSpPr>
            <p:cNvPr name="Freeform 7" id="7"/>
            <p:cNvSpPr/>
            <p:nvPr/>
          </p:nvSpPr>
          <p:spPr>
            <a:xfrm flipH="false" flipV="false" rot="0">
              <a:off x="0" y="0"/>
              <a:ext cx="7985592" cy="1395419"/>
            </a:xfrm>
            <a:custGeom>
              <a:avLst/>
              <a:gdLst/>
              <a:ahLst/>
              <a:cxnLst/>
              <a:rect r="r" b="b" t="t" l="l"/>
              <a:pathLst>
                <a:path h="1395419" w="7985592">
                  <a:moveTo>
                    <a:pt x="0" y="0"/>
                  </a:moveTo>
                  <a:lnTo>
                    <a:pt x="7985592" y="0"/>
                  </a:lnTo>
                  <a:lnTo>
                    <a:pt x="7985592" y="1395419"/>
                  </a:lnTo>
                  <a:lnTo>
                    <a:pt x="0" y="1395419"/>
                  </a:lnTo>
                  <a:close/>
                </a:path>
              </a:pathLst>
            </a:custGeom>
            <a:solidFill>
              <a:srgbClr val="000000">
                <a:alpha val="0"/>
              </a:srgbClr>
            </a:solidFill>
          </p:spPr>
        </p:sp>
        <p:sp>
          <p:nvSpPr>
            <p:cNvPr name="TextBox 8" id="8"/>
            <p:cNvSpPr txBox="true"/>
            <p:nvPr/>
          </p:nvSpPr>
          <p:spPr>
            <a:xfrm>
              <a:off x="0" y="0"/>
              <a:ext cx="7985592" cy="1395419"/>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Thêm một khối: đồng thuận phân tán </a:t>
              </a:r>
            </a:p>
            <a:p>
              <a:pPr algn="l">
                <a:lnSpc>
                  <a:spcPts val="2538"/>
                </a:lnSpc>
              </a:pPr>
              <a:r>
                <a:rPr lang="en-US" b="true" sz="2115">
                  <a:solidFill>
                    <a:srgbClr val="343434"/>
                  </a:solidFill>
                  <a:latin typeface="Muli Ultra-Bold"/>
                  <a:ea typeface="Muli Ultra-Bold"/>
                  <a:cs typeface="Muli Ultra-Bold"/>
                  <a:sym typeface="Muli Ultra-Bold"/>
                </a:rPr>
                <a:t>Giải pháp phân tán (có quyền)</a:t>
              </a:r>
            </a:p>
          </p:txBody>
        </p:sp>
      </p:grpSp>
      <p:sp>
        <p:nvSpPr>
          <p:cNvPr name="Freeform 9" id="9"/>
          <p:cNvSpPr/>
          <p:nvPr/>
        </p:nvSpPr>
        <p:spPr>
          <a:xfrm flipH="false" flipV="false" rot="0">
            <a:off x="2604963" y="1675594"/>
            <a:ext cx="4539204" cy="2383002"/>
          </a:xfrm>
          <a:custGeom>
            <a:avLst/>
            <a:gdLst/>
            <a:ahLst/>
            <a:cxnLst/>
            <a:rect r="r" b="b" t="t" l="l"/>
            <a:pathLst>
              <a:path h="2383002" w="4539204">
                <a:moveTo>
                  <a:pt x="0" y="0"/>
                </a:moveTo>
                <a:lnTo>
                  <a:pt x="4539204" y="0"/>
                </a:lnTo>
                <a:lnTo>
                  <a:pt x="4539204" y="2383002"/>
                </a:lnTo>
                <a:lnTo>
                  <a:pt x="0" y="2383002"/>
                </a:lnTo>
                <a:lnTo>
                  <a:pt x="0" y="0"/>
                </a:lnTo>
                <a:close/>
              </a:path>
            </a:pathLst>
          </a:custGeom>
          <a:blipFill>
            <a:blip r:embed="rId2"/>
            <a:stretch>
              <a:fillRect l="-20" t="0" r="-20" b="0"/>
            </a:stretch>
          </a:blipFill>
        </p:spPr>
      </p:sp>
      <p:grpSp>
        <p:nvGrpSpPr>
          <p:cNvPr name="Group 10" id="10"/>
          <p:cNvGrpSpPr/>
          <p:nvPr/>
        </p:nvGrpSpPr>
        <p:grpSpPr>
          <a:xfrm rot="0">
            <a:off x="681592" y="4268146"/>
            <a:ext cx="8385946" cy="2408844"/>
            <a:chOff x="0" y="0"/>
            <a:chExt cx="11181262" cy="3211792"/>
          </a:xfrm>
        </p:grpSpPr>
        <p:sp>
          <p:nvSpPr>
            <p:cNvPr name="Freeform 11" id="11"/>
            <p:cNvSpPr/>
            <p:nvPr/>
          </p:nvSpPr>
          <p:spPr>
            <a:xfrm flipH="false" flipV="false" rot="0">
              <a:off x="0" y="0"/>
              <a:ext cx="11181262" cy="3211792"/>
            </a:xfrm>
            <a:custGeom>
              <a:avLst/>
              <a:gdLst/>
              <a:ahLst/>
              <a:cxnLst/>
              <a:rect r="r" b="b" t="t" l="l"/>
              <a:pathLst>
                <a:path h="3211792" w="11181262">
                  <a:moveTo>
                    <a:pt x="0" y="0"/>
                  </a:moveTo>
                  <a:lnTo>
                    <a:pt x="11181262" y="0"/>
                  </a:lnTo>
                  <a:lnTo>
                    <a:pt x="11181262" y="3211792"/>
                  </a:lnTo>
                  <a:lnTo>
                    <a:pt x="0" y="3211792"/>
                  </a:lnTo>
                  <a:close/>
                </a:path>
              </a:pathLst>
            </a:custGeom>
            <a:solidFill>
              <a:srgbClr val="000000">
                <a:alpha val="0"/>
              </a:srgbClr>
            </a:solidFill>
          </p:spPr>
        </p:sp>
        <p:sp>
          <p:nvSpPr>
            <p:cNvPr name="TextBox 12" id="12"/>
            <p:cNvSpPr txBox="true"/>
            <p:nvPr/>
          </p:nvSpPr>
          <p:spPr>
            <a:xfrm>
              <a:off x="0" y="0"/>
              <a:ext cx="11181262" cy="3211792"/>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Nhận xét</a:t>
              </a:r>
            </a:p>
            <a:p>
              <a:pPr algn="l" marL="845902" indent="-422951" lvl="1">
                <a:lnSpc>
                  <a:spcPts val="2549"/>
                </a:lnSpc>
                <a:buFont typeface="Arial"/>
                <a:buChar char="•"/>
              </a:pPr>
              <a:r>
                <a:rPr lang="en-US" sz="1904">
                  <a:solidFill>
                    <a:srgbClr val="343434"/>
                  </a:solidFill>
                  <a:latin typeface="Muli"/>
                  <a:ea typeface="Muli"/>
                  <a:cs typeface="Muli"/>
                  <a:sym typeface="Muli"/>
                </a:rPr>
                <a:t>Một nhóm máy chủ được chọn, tương đối nhỏ, cùng nhau đạt được đồng thuận về việc trình xác thực nào có thể tiến hành.</a:t>
              </a:r>
            </a:p>
            <a:p>
              <a:pPr algn="l" marL="846098" indent="-423049" lvl="1">
                <a:lnSpc>
                  <a:spcPts val="2550"/>
                </a:lnSpc>
                <a:buFont typeface="Arial"/>
                <a:buChar char="•"/>
              </a:pPr>
              <a:r>
                <a:rPr lang="en-US" sz="1904">
                  <a:solidFill>
                    <a:srgbClr val="343434"/>
                  </a:solidFill>
                  <a:latin typeface="Muli"/>
                  <a:ea typeface="Muli"/>
                  <a:cs typeface="Muli"/>
                  <a:sym typeface="Muli"/>
                </a:rPr>
                <a:t>Không máy chủ nào trong số này cần phải được tin cậy, miễn là khoảng hai phần ba hoạt động theo đúng đặc tả của chúng.</a:t>
              </a:r>
            </a:p>
            <a:p>
              <a:pPr algn="l" marL="846098" indent="-423049" lvl="1">
                <a:lnSpc>
                  <a:spcPts val="2284"/>
                </a:lnSpc>
                <a:buFont typeface="Arial"/>
                <a:buChar char="•"/>
              </a:pPr>
              <a:r>
                <a:rPr lang="en-US" sz="1904">
                  <a:solidFill>
                    <a:srgbClr val="343434"/>
                  </a:solidFill>
                  <a:latin typeface="Muli"/>
                  <a:ea typeface="Muli"/>
                  <a:cs typeface="Muli"/>
                  <a:sym typeface="Muli"/>
                </a:rPr>
                <a:t>Trong thực tế, chỉ có thể chứa được vài chục máy chủ.</a:t>
              </a:r>
            </a:p>
          </p:txBody>
        </p:sp>
      </p:grpSp>
      <p:sp>
        <p:nvSpPr>
          <p:cNvPr name="Freeform 13" id="13"/>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D8BA7C"/>
        </a:solidFill>
      </p:bgPr>
    </p:bg>
    <p:spTree>
      <p:nvGrpSpPr>
        <p:cNvPr id="1" name=""/>
        <p:cNvGrpSpPr/>
        <p:nvPr/>
      </p:nvGrpSpPr>
      <p:grpSpPr>
        <a:xfrm>
          <a:off x="0" y="0"/>
          <a:ext cx="0" cy="0"/>
          <a:chOff x="0" y="0"/>
          <a:chExt cx="0" cy="0"/>
        </a:xfrm>
      </p:grpSpPr>
      <p:grpSp>
        <p:nvGrpSpPr>
          <p:cNvPr name="Group 2" id="2"/>
          <p:cNvGrpSpPr/>
          <p:nvPr/>
        </p:nvGrpSpPr>
        <p:grpSpPr>
          <a:xfrm rot="0">
            <a:off x="0" y="0"/>
            <a:ext cx="4875457" cy="228390"/>
            <a:chOff x="0" y="0"/>
            <a:chExt cx="6500609" cy="304520"/>
          </a:xfrm>
        </p:grpSpPr>
        <p:sp>
          <p:nvSpPr>
            <p:cNvPr name="Freeform 3" id="3"/>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FBFBFA"/>
            </a:solidFill>
          </p:spPr>
        </p:sp>
      </p:grpSp>
      <p:grpSp>
        <p:nvGrpSpPr>
          <p:cNvPr name="Group 4" id="4"/>
          <p:cNvGrpSpPr/>
          <p:nvPr/>
        </p:nvGrpSpPr>
        <p:grpSpPr>
          <a:xfrm rot="0">
            <a:off x="4874568" y="0"/>
            <a:ext cx="4875457" cy="228390"/>
            <a:chOff x="0" y="0"/>
            <a:chExt cx="6500609" cy="304520"/>
          </a:xfrm>
        </p:grpSpPr>
        <p:sp>
          <p:nvSpPr>
            <p:cNvPr name="Freeform 5" id="5"/>
            <p:cNvSpPr/>
            <p:nvPr/>
          </p:nvSpPr>
          <p:spPr>
            <a:xfrm flipH="false" flipV="false" rot="0">
              <a:off x="0" y="0"/>
              <a:ext cx="6499479" cy="303276"/>
            </a:xfrm>
            <a:custGeom>
              <a:avLst/>
              <a:gdLst/>
              <a:ahLst/>
              <a:cxnLst/>
              <a:rect r="r" b="b" t="t" l="l"/>
              <a:pathLst>
                <a:path h="303276" w="6499479">
                  <a:moveTo>
                    <a:pt x="6499479" y="0"/>
                  </a:moveTo>
                  <a:lnTo>
                    <a:pt x="0" y="0"/>
                  </a:lnTo>
                  <a:lnTo>
                    <a:pt x="0" y="303276"/>
                  </a:lnTo>
                  <a:lnTo>
                    <a:pt x="6499479" y="303276"/>
                  </a:lnTo>
                  <a:lnTo>
                    <a:pt x="6499479" y="0"/>
                  </a:lnTo>
                  <a:close/>
                </a:path>
              </a:pathLst>
            </a:custGeom>
            <a:solidFill>
              <a:srgbClr val="343434"/>
            </a:solidFill>
          </p:spPr>
        </p:sp>
      </p:grpSp>
      <p:grpSp>
        <p:nvGrpSpPr>
          <p:cNvPr name="Group 6" id="6"/>
          <p:cNvGrpSpPr/>
          <p:nvPr/>
        </p:nvGrpSpPr>
        <p:grpSpPr>
          <a:xfrm rot="0">
            <a:off x="201626" y="418298"/>
            <a:ext cx="5989194" cy="1046564"/>
            <a:chOff x="0" y="0"/>
            <a:chExt cx="7985592" cy="1395419"/>
          </a:xfrm>
        </p:grpSpPr>
        <p:sp>
          <p:nvSpPr>
            <p:cNvPr name="Freeform 7" id="7"/>
            <p:cNvSpPr/>
            <p:nvPr/>
          </p:nvSpPr>
          <p:spPr>
            <a:xfrm flipH="false" flipV="false" rot="0">
              <a:off x="0" y="0"/>
              <a:ext cx="7985592" cy="1395419"/>
            </a:xfrm>
            <a:custGeom>
              <a:avLst/>
              <a:gdLst/>
              <a:ahLst/>
              <a:cxnLst/>
              <a:rect r="r" b="b" t="t" l="l"/>
              <a:pathLst>
                <a:path h="1395419" w="7985592">
                  <a:moveTo>
                    <a:pt x="0" y="0"/>
                  </a:moveTo>
                  <a:lnTo>
                    <a:pt x="7985592" y="0"/>
                  </a:lnTo>
                  <a:lnTo>
                    <a:pt x="7985592" y="1395419"/>
                  </a:lnTo>
                  <a:lnTo>
                    <a:pt x="0" y="1395419"/>
                  </a:lnTo>
                  <a:close/>
                </a:path>
              </a:pathLst>
            </a:custGeom>
            <a:solidFill>
              <a:srgbClr val="000000">
                <a:alpha val="0"/>
              </a:srgbClr>
            </a:solidFill>
          </p:spPr>
        </p:sp>
        <p:sp>
          <p:nvSpPr>
            <p:cNvPr name="TextBox 8" id="8"/>
            <p:cNvSpPr txBox="true"/>
            <p:nvPr/>
          </p:nvSpPr>
          <p:spPr>
            <a:xfrm>
              <a:off x="0" y="0"/>
              <a:ext cx="7985592" cy="1395419"/>
            </a:xfrm>
            <a:prstGeom prst="rect">
              <a:avLst/>
            </a:prstGeom>
          </p:spPr>
          <p:txBody>
            <a:bodyPr anchor="t" rtlCol="false" tIns="0" lIns="0" bIns="0" rIns="0"/>
            <a:lstStyle/>
            <a:p>
              <a:pPr algn="l">
                <a:lnSpc>
                  <a:spcPts val="2538"/>
                </a:lnSpc>
              </a:pPr>
              <a:r>
                <a:rPr lang="en-US" sz="2115">
                  <a:solidFill>
                    <a:srgbClr val="343434"/>
                  </a:solidFill>
                  <a:latin typeface="Muli"/>
                  <a:ea typeface="Muli"/>
                  <a:cs typeface="Muli"/>
                  <a:sym typeface="Muli"/>
                </a:rPr>
                <a:t>Thêm một khối: đồng thuận phân tán </a:t>
              </a:r>
            </a:p>
            <a:p>
              <a:pPr algn="l">
                <a:lnSpc>
                  <a:spcPts val="2538"/>
                </a:lnSpc>
              </a:pPr>
              <a:r>
                <a:rPr lang="en-US" sz="2115">
                  <a:solidFill>
                    <a:srgbClr val="343434"/>
                  </a:solidFill>
                  <a:latin typeface="Muli"/>
                  <a:ea typeface="Muli"/>
                  <a:cs typeface="Muli"/>
                  <a:sym typeface="Muli"/>
                </a:rPr>
                <a:t>Giải pháp phi tập trung (không cần cấp phép)</a:t>
              </a:r>
            </a:p>
          </p:txBody>
        </p:sp>
      </p:grpSp>
      <p:sp>
        <p:nvSpPr>
          <p:cNvPr name="Freeform 9" id="9"/>
          <p:cNvSpPr/>
          <p:nvPr/>
        </p:nvSpPr>
        <p:spPr>
          <a:xfrm flipH="false" flipV="false" rot="0">
            <a:off x="2604963" y="1675594"/>
            <a:ext cx="4539204" cy="2383002"/>
          </a:xfrm>
          <a:custGeom>
            <a:avLst/>
            <a:gdLst/>
            <a:ahLst/>
            <a:cxnLst/>
            <a:rect r="r" b="b" t="t" l="l"/>
            <a:pathLst>
              <a:path h="2383002" w="4539204">
                <a:moveTo>
                  <a:pt x="0" y="0"/>
                </a:moveTo>
                <a:lnTo>
                  <a:pt x="4539204" y="0"/>
                </a:lnTo>
                <a:lnTo>
                  <a:pt x="4539204" y="2383002"/>
                </a:lnTo>
                <a:lnTo>
                  <a:pt x="0" y="2383002"/>
                </a:lnTo>
                <a:lnTo>
                  <a:pt x="0" y="0"/>
                </a:lnTo>
                <a:close/>
              </a:path>
            </a:pathLst>
          </a:custGeom>
          <a:blipFill>
            <a:blip r:embed="rId2"/>
            <a:stretch>
              <a:fillRect l="-20" t="0" r="-20" b="0"/>
            </a:stretch>
          </a:blipFill>
        </p:spPr>
      </p:sp>
      <p:grpSp>
        <p:nvGrpSpPr>
          <p:cNvPr name="Group 10" id="10"/>
          <p:cNvGrpSpPr/>
          <p:nvPr/>
        </p:nvGrpSpPr>
        <p:grpSpPr>
          <a:xfrm rot="0">
            <a:off x="681032" y="4201629"/>
            <a:ext cx="8387288" cy="2004457"/>
            <a:chOff x="0" y="0"/>
            <a:chExt cx="11183050" cy="2672609"/>
          </a:xfrm>
        </p:grpSpPr>
        <p:sp>
          <p:nvSpPr>
            <p:cNvPr name="Freeform 11" id="11"/>
            <p:cNvSpPr/>
            <p:nvPr/>
          </p:nvSpPr>
          <p:spPr>
            <a:xfrm flipH="false" flipV="false" rot="0">
              <a:off x="0" y="0"/>
              <a:ext cx="11183051" cy="2672609"/>
            </a:xfrm>
            <a:custGeom>
              <a:avLst/>
              <a:gdLst/>
              <a:ahLst/>
              <a:cxnLst/>
              <a:rect r="r" b="b" t="t" l="l"/>
              <a:pathLst>
                <a:path h="2672609" w="11183051">
                  <a:moveTo>
                    <a:pt x="0" y="0"/>
                  </a:moveTo>
                  <a:lnTo>
                    <a:pt x="11183051" y="0"/>
                  </a:lnTo>
                  <a:lnTo>
                    <a:pt x="11183051" y="2672609"/>
                  </a:lnTo>
                  <a:lnTo>
                    <a:pt x="0" y="2672609"/>
                  </a:lnTo>
                  <a:close/>
                </a:path>
              </a:pathLst>
            </a:custGeom>
            <a:solidFill>
              <a:srgbClr val="000000">
                <a:alpha val="0"/>
              </a:srgbClr>
            </a:solidFill>
          </p:spPr>
        </p:sp>
        <p:sp>
          <p:nvSpPr>
            <p:cNvPr name="TextBox 12" id="12"/>
            <p:cNvSpPr txBox="true"/>
            <p:nvPr/>
          </p:nvSpPr>
          <p:spPr>
            <a:xfrm>
              <a:off x="0" y="0"/>
              <a:ext cx="11183050" cy="2672609"/>
            </a:xfrm>
            <a:prstGeom prst="rect">
              <a:avLst/>
            </a:prstGeom>
          </p:spPr>
          <p:txBody>
            <a:bodyPr anchor="t" rtlCol="false" tIns="0" lIns="0" bIns="0" rIns="0"/>
            <a:lstStyle/>
            <a:p>
              <a:pPr algn="l">
                <a:lnSpc>
                  <a:spcPts val="2538"/>
                </a:lnSpc>
              </a:pPr>
              <a:r>
                <a:rPr lang="en-US" b="true" sz="2115">
                  <a:solidFill>
                    <a:srgbClr val="343434"/>
                  </a:solidFill>
                  <a:latin typeface="Muli Ultra-Bold"/>
                  <a:ea typeface="Muli Ultra-Bold"/>
                  <a:cs typeface="Muli Ultra-Bold"/>
                  <a:sym typeface="Muli Ultra-Bold"/>
                </a:rPr>
                <a:t>Nhận xét</a:t>
              </a:r>
            </a:p>
            <a:p>
              <a:pPr algn="l" marL="845902" indent="-422951" lvl="1">
                <a:lnSpc>
                  <a:spcPts val="2549"/>
                </a:lnSpc>
                <a:buFont typeface="Arial"/>
                <a:buChar char="•"/>
              </a:pPr>
              <a:r>
                <a:rPr lang="en-US" sz="1904">
                  <a:solidFill>
                    <a:srgbClr val="343434"/>
                  </a:solidFill>
                  <a:latin typeface="Muli"/>
                  <a:ea typeface="Muli"/>
                  <a:cs typeface="Muli"/>
                  <a:sym typeface="Muli"/>
                </a:rPr>
                <a:t>Các thành viên tham gia vào việc bầu chọn người dẫn đầu một cách tập thể. Chỉ người dẫn đầu được bầu mới được phép thêm một khối các giao dịch đã được xác thực.</a:t>
              </a:r>
            </a:p>
            <a:p>
              <a:pPr algn="l" marL="846098" indent="-423049" lvl="1">
                <a:lnSpc>
                  <a:spcPts val="2550"/>
                </a:lnSpc>
                <a:buFont typeface="Arial"/>
                <a:buChar char="•"/>
              </a:pPr>
              <a:r>
                <a:rPr lang="en-US" sz="1904">
                  <a:solidFill>
                    <a:srgbClr val="343434"/>
                  </a:solidFill>
                  <a:latin typeface="Muli"/>
                  <a:ea typeface="Muli"/>
                  <a:cs typeface="Muli"/>
                  <a:sym typeface="Muli"/>
                </a:rPr>
                <a:t>Việc bầu chọn người dẫn đầu phi tập trung, quy mô lớn, công bằng, mạnh mẽ, an toàn, v.v., là một việc không hề đơn giản.</a:t>
              </a:r>
            </a:p>
          </p:txBody>
        </p:sp>
      </p:grpSp>
      <p:sp>
        <p:nvSpPr>
          <p:cNvPr name="Freeform 13" id="13"/>
          <p:cNvSpPr/>
          <p:nvPr/>
        </p:nvSpPr>
        <p:spPr>
          <a:xfrm flipH="false" flipV="false" rot="0">
            <a:off x="0" y="7084364"/>
            <a:ext cx="9750024" cy="228390"/>
          </a:xfrm>
          <a:custGeom>
            <a:avLst/>
            <a:gdLst/>
            <a:ahLst/>
            <a:cxnLst/>
            <a:rect r="r" b="b" t="t" l="l"/>
            <a:pathLst>
              <a:path h="228390" w="9750024">
                <a:moveTo>
                  <a:pt x="0" y="0"/>
                </a:moveTo>
                <a:lnTo>
                  <a:pt x="9750024" y="0"/>
                </a:lnTo>
                <a:lnTo>
                  <a:pt x="9750024" y="228390"/>
                </a:lnTo>
                <a:lnTo>
                  <a:pt x="0" y="22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DAGexpHAHE8</dc:identifier>
  <dcterms:modified xsi:type="dcterms:W3CDTF">2011-08-01T06:04:30Z</dcterms:modified>
  <cp:revision>1</cp:revision>
  <dc:title>slides.02-1.pptx</dc:title>
</cp:coreProperties>
</file>